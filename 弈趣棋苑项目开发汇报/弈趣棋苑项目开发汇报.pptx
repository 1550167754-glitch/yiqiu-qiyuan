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svg" ContentType="image/svg+xml"/>
  <Default Extension="png" ContentType="image/png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46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0.xml" ContentType="application/vnd.openxmlformats-officedocument.presentationml.slide+xml"/>
  <Override PartName="/ppt/slides/slide21.xml" ContentType="application/vnd.openxmlformats-officedocument.presentationml.slide+xml"/>
  <Override PartName="/ppt/slides/slide43.xml" ContentType="application/vnd.openxmlformats-officedocument.presentationml.slide+xml"/>
  <Override PartName="/ppt/slides/slide10.xml" ContentType="application/vnd.openxmlformats-officedocument.presentationml.slide+xml"/>
  <Override PartName="/ppt/slides/slide42.xml" ContentType="application/vnd.openxmlformats-officedocument.presentationml.slide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3.xml" ContentType="application/vnd.openxmlformats-officedocument.presentationml.slide+xml"/>
  <Override PartName="/ppt/slides/slide47.xml" ContentType="application/vnd.openxmlformats-officedocument.presentationml.slide+xml"/>
  <Override PartName="/ppt/slides/slide14.xml" ContentType="application/vnd.openxmlformats-officedocument.presentationml.slide+xml"/>
  <Override PartName="/ppt/slides/slide39.xml" ContentType="application/vnd.openxmlformats-officedocument.presentationml.slide+xml"/>
  <Override PartName="/ppt/slides/slide5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45.xml" ContentType="application/vnd.openxmlformats-officedocument.presentationml.slide+xml"/>
  <Override PartName="/ppt/slides/slide16.xml" ContentType="application/vnd.openxmlformats-officedocument.presentationml.slide+xml"/>
  <Override PartName="/ppt/slides/slide52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.xml" ContentType="application/vnd.openxmlformats-officedocument.presentationml.slide+xml"/>
  <Override PartName="/ppt/slides/slide57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53.xml" ContentType="application/vnd.openxmlformats-officedocument.presentationml.slide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s/slide20.xml" ContentType="application/vnd.openxmlformats-officedocument.presentationml.slide+xml"/>
  <Override PartName="/ppt/slides/slide62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59.xml" ContentType="application/vnd.openxmlformats-officedocument.presentationml.slide+xml"/>
  <Override PartName="/ppt/slides/slide4.xml" ContentType="application/vnd.openxmlformats-officedocument.presentationml.slide+xml"/>
  <Override PartName="/ppt/slides/slide55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56.xml" ContentType="application/vnd.openxmlformats-officedocument.presentationml.slide+xml"/>
  <Override PartName="/ppt/slides/slide27.xml" ContentType="application/vnd.openxmlformats-officedocument.presentationml.slide+xml"/>
  <Override PartName="/ppt/slides/slide60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8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9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8.xml" ContentType="application/vnd.openxmlformats-officedocument.presentationml.slide+xml"/>
  <Override PartName="/ppt/slides/slide9.xml" ContentType="application/vnd.openxmlformats-officedocument.presentationml.slide+xml"/>
  <Override PartName="/ppt/slides/slide58.xml" ContentType="application/vnd.openxmlformats-officedocument.presentationml.slide+xml"/>
  <Override PartName="/ppt/slides/slide61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4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6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66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41" Type="http://schemas.openxmlformats.org/officeDocument/2006/relationships/slide" Target="slides/slide41.xml" /><Relationship Id="rId14" Type="http://schemas.openxmlformats.org/officeDocument/2006/relationships/slide" Target="slides/slide14.xml" /><Relationship Id="rId39" Type="http://schemas.openxmlformats.org/officeDocument/2006/relationships/slide" Target="slides/slide39.xml" /><Relationship Id="rId25" Type="http://schemas.openxmlformats.org/officeDocument/2006/relationships/slide" Target="slides/slide25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52" Type="http://schemas.openxmlformats.org/officeDocument/2006/relationships/slide" Target="slides/slide52.xml" /><Relationship Id="rId17" Type="http://schemas.openxmlformats.org/officeDocument/2006/relationships/slide" Target="slides/slide17.xml" /><Relationship Id="rId23" Type="http://schemas.openxmlformats.org/officeDocument/2006/relationships/slide" Target="slides/slide23.xml" /><Relationship Id="rId18" Type="http://schemas.openxmlformats.org/officeDocument/2006/relationships/slide" Target="slides/slide18.xml" /><Relationship Id="rId6" Type="http://schemas.openxmlformats.org/officeDocument/2006/relationships/slide" Target="slides/slide6.xml" /><Relationship Id="rId45" Type="http://schemas.openxmlformats.org/officeDocument/2006/relationships/slide" Target="slides/slide45.xml" /><Relationship Id="rId19" Type="http://schemas.openxmlformats.org/officeDocument/2006/relationships/slide" Target="slides/slide19.xml" /><Relationship Id="rId47" Type="http://schemas.openxmlformats.org/officeDocument/2006/relationships/slide" Target="slides/slide47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62" Type="http://schemas.openxmlformats.org/officeDocument/2006/relationships/slide" Target="slides/slide62.xml" /><Relationship Id="rId59" Type="http://schemas.openxmlformats.org/officeDocument/2006/relationships/slide" Target="slides/slide59.xml" /><Relationship Id="rId22" Type="http://schemas.openxmlformats.org/officeDocument/2006/relationships/slide" Target="slides/slide22.xml" /><Relationship Id="rId24" Type="http://schemas.openxmlformats.org/officeDocument/2006/relationships/slide" Target="slides/slide24.xml" /><Relationship Id="rId54" Type="http://schemas.openxmlformats.org/officeDocument/2006/relationships/slide" Target="slides/slide54.xml" /><Relationship Id="rId26" Type="http://schemas.openxmlformats.org/officeDocument/2006/relationships/slide" Target="slides/slide26.xml" /><Relationship Id="rId57" Type="http://schemas.openxmlformats.org/officeDocument/2006/relationships/slide" Target="slides/slide57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60" Type="http://schemas.openxmlformats.org/officeDocument/2006/relationships/slide" Target="slides/slide60.xml" /><Relationship Id="rId44" Type="http://schemas.openxmlformats.org/officeDocument/2006/relationships/slide" Target="slides/slide44.xml" /><Relationship Id="rId29" Type="http://schemas.openxmlformats.org/officeDocument/2006/relationships/slide" Target="slides/slide29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38" Type="http://schemas.openxmlformats.org/officeDocument/2006/relationships/slide" Target="slides/slide38.xml" /><Relationship Id="rId33" Type="http://schemas.openxmlformats.org/officeDocument/2006/relationships/slide" Target="slides/slide33.xml" /><Relationship Id="rId34" Type="http://schemas.openxmlformats.org/officeDocument/2006/relationships/slide" Target="slides/slide34.xml" /><Relationship Id="rId46" Type="http://schemas.openxmlformats.org/officeDocument/2006/relationships/slide" Target="slides/slide46.xml" /><Relationship Id="rId35" Type="http://schemas.openxmlformats.org/officeDocument/2006/relationships/slide" Target="slides/slide35.xml" /><Relationship Id="rId49" Type="http://schemas.openxmlformats.org/officeDocument/2006/relationships/slide" Target="slides/slide49.xml" /><Relationship Id="rId36" Type="http://schemas.openxmlformats.org/officeDocument/2006/relationships/slide" Target="slides/slide36.xml" /><Relationship Id="rId37" Type="http://schemas.openxmlformats.org/officeDocument/2006/relationships/slide" Target="slides/slide37.xml" /><Relationship Id="rId4" Type="http://schemas.openxmlformats.org/officeDocument/2006/relationships/slide" Target="slides/slide4.xml" /><Relationship Id="rId40" Type="http://schemas.openxmlformats.org/officeDocument/2006/relationships/slide" Target="slides/slide40.xml" /><Relationship Id="rId42" Type="http://schemas.openxmlformats.org/officeDocument/2006/relationships/slide" Target="slides/slide42.xml" /><Relationship Id="rId43" Type="http://schemas.openxmlformats.org/officeDocument/2006/relationships/slide" Target="slides/slide43.xml" /><Relationship Id="rId48" Type="http://schemas.openxmlformats.org/officeDocument/2006/relationships/slide" Target="slides/slide48.xml" /><Relationship Id="rId5" Type="http://schemas.openxmlformats.org/officeDocument/2006/relationships/slide" Target="slides/slide5.xml" /><Relationship Id="rId50" Type="http://schemas.openxmlformats.org/officeDocument/2006/relationships/slide" Target="slides/slide50.xml" /><Relationship Id="rId51" Type="http://schemas.openxmlformats.org/officeDocument/2006/relationships/slide" Target="slides/slide51.xml" /><Relationship Id="rId53" Type="http://schemas.openxmlformats.org/officeDocument/2006/relationships/slide" Target="slides/slide53.xml" /><Relationship Id="rId55" Type="http://schemas.openxmlformats.org/officeDocument/2006/relationships/slide" Target="slides/slide55.xml" /><Relationship Id="rId56" Type="http://schemas.openxmlformats.org/officeDocument/2006/relationships/slide" Target="slides/slide56.xml" /><Relationship Id="rId58" Type="http://schemas.openxmlformats.org/officeDocument/2006/relationships/slide" Target="slides/slide58.xml" /><Relationship Id="rId61" Type="http://schemas.openxmlformats.org/officeDocument/2006/relationships/slide" Target="slides/slide61.xml" /><Relationship Id="rId63" Type="http://schemas.openxmlformats.org/officeDocument/2006/relationships/slide" Target="slides/slide63.xml" /><Relationship Id="rId65" Type="http://schemas.openxmlformats.org/officeDocument/2006/relationships/notesMaster" Target="notesMasters/notesMaster1.xml" /><Relationship Id="rId64" Type="http://schemas.openxmlformats.org/officeDocument/2006/relationships/slide" Target="slides/slide64.xml" /><Relationship Id="rId67" Type="http://schemas.openxmlformats.org/officeDocument/2006/relationships/tableStyles" Target="tableStyles.xml" /><Relationship Id="rId68" Type="http://schemas.openxmlformats.org/officeDocument/2006/relationships/viewProps" Target="viewProps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4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4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1.xml" /></Relationships>
</file>

<file path=ppt/slides/_rels/slide4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/Relationships>
</file>

<file path=ppt/slides/_rels/slide4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png" /></Relationships>
</file>

<file path=ppt/slides/_rels/slide4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5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5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3.png" /><Relationship Id="rId3" Type="http://schemas.openxmlformats.org/officeDocument/2006/relationships/image" Target="media/image3.png" /></Relationships>
</file>

<file path=ppt/slides/_rels/slide5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5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jp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position: &quot;relative&quot;, padding: &quot;0px&quot;, background: &quot;#2A2118&quot;, overflow: &quot;hidden&quot; }}&gt;&#10;  &lt;Image src=&quot;assets/wood_dark.jpg&quot; style={{ position: &quot;absolute&quot;, top: 0, left: 0, width: 1280, height: 720, objectFit: &quot;cover&quot; }} /&gt;&#10;  &lt;Box style={{ position: &quot;absolute&quot;, top: 0, left: 0, width: 1280, height: 720, background: &quot;linear-gradient(90deg, rgba(42,33,24,0.95) 0%, rgba(42,33,24,0.80) 42%, rgba(42,33,24,0.34) 72%, rgba(42,33,24,0.10) 100%)&quot; }} /&gt;&#10;  &lt;svg width=&quot;360&quot; height=&quot;360&quot; viewBox=&quot;0 0 360 360&quot; style={{ position: &quot;absolute&quot;, right: 54, bottom: 46 }} opacity=&quot;0.20&quot;&gt;&#10;    &lt;g stroke=&quot;#F5E3BE&quot; strokeWidth=&quot;1&quot; fill=&quot;none&quot;&gt;&#10;      &lt;line x1=&quot;40&quot; y1=&quot;0&quot; x2=&quot;40&quot; y2=&quot;360&quot; /&gt;&lt;line x1=&quot;120&quot; y1=&quot;0&quot; x2=&quot;120&quot; y2=&quot;360&quot; /&gt;&lt;line x1=&quot;200&quot; y1=&quot;0&quot; x2=&quot;200&quot; y2=&quot;360&quot; /&gt;&lt;line x1=&quot;280&quot; y1=&quot;0&quot; x2=&quot;280&quot; y2=&quot;360&quot; /&gt;&lt;line x1=&quot;360&quot; y1=&quot;0&quot; x2=&quot;360&quot; y2=&quot;360&quot; /&gt;&#10;      &lt;line x1=&quot;0&quot; y1=&quot;40&quot; x2=&quot;360&quot; y2=&quot;40&quot; /&gt;&lt;line x1=&quot;0&quot; y1=&quot;120&quot; x2=&quot;360&quot; y2=&quot;120&quot; /&gt;&lt;line x1=&quot;0&quot; y1=&quot;200&quot; x2=&quot;360&quot; y2=&quot;200&quot; /&gt;&lt;line x1=&quot;0&quot; y1=&quot;280&quot; x2=&quot;360&quot; y2=&quot;280&quot; /&gt;&lt;line x1=&quot;0&quot; y1=&quot;360&quot; x2=&quot;360&quot; y2=&quot;360&quot; /&gt;&#10;    &lt;/g&gt;&#10;    &lt;circle cx=&quot;200&quot; cy=&quot;200&quot; r=&quot;13&quot; fill=&quot;#B3271E&quot; opacity=&quot;0.85&quot; /&gt;&lt;circle cx=&quot;120&quot; cy=&quot;120&quot; r=&quot;13&quot; fill=&quot;#F5E3BE&quot; opacity=&quot;0.75&quot; /&gt;&lt;circle cx=&quot;280&quot; cy=&quot;280&quot; r=&quot;13&quot; fill=&quot;#F5E3BE&quot; opacity=&quot;0.55&quot; /&gt;&#10;  &lt;/svg&gt;&#10;  &lt;Box style={{ position: &quot;relative&quot;, zIndex: 2, width: 1280, height: 720, padding: &quot;0px 0px 0px 96px&quot;, flexDirection: &quot;column&quot;, justifyContent: &quot;center&quot; }}&gt;&#10;    &lt;Box style={{ flexDirection: &quot;row&quot;, alignItems: &quot;center&quot;, gap: 14, marginBottom: 26 }}&gt;&#10;      &lt;Box style={{ width: 46, height: 3, background: &quot;#B3271E&quot; }} /&gt;&#10;      &lt;Text style={{ fontSize: 19, color: &quot;rgba(245,227,190,0.72)&quot;, fontFamily: &quot;'PingFang SC', 'Microsoft YaHei', sans-serif&quot;, letterSpacing: 3 }}&gt;个人独立开发 · 项目开发汇报&lt;/Text&gt;&#10;    &lt;/Box&gt;&#10;    &lt;Text style={{ fontSize: 74, fontWeight: &quot;bold&quot;, lineHeight: 1.15, color: &quot;#F5E3BE&quot;, fontFamily: &quot;'Songti SC', 'STSong', 'SimSun', serif&quot;, letterSpacing: 8 }}&gt;弈趣棋苑&lt;/Text&gt;&#10;    &lt;Text style={{ fontSize: 24, color: &quot;rgba(245,227,190,0.86)&quot;, fontFamily: &quot;'PingFang SC', 'Microsoft YaHei', sans-serif&quot;, letterSpacing: 2, marginTop: 20 }}&gt;Connect6 · Gomoku · 中国象棋&lt;/Text&gt;&#10;    &lt;Text style={{ fontSize: 21, lineHeight: 1.7, color: &quot;rgba(245,227,190,0.62)&quot;, fontFamily: &quot;'PingFang SC', 'Microsoft YaHei', sans-serif&quot;, marginTop: 34, width: 640 }}&gt;&#10;      一份从「能跑」走到「可交付」的棋类合集开发纪实——把每一个决定拆开讲清楚：为什么这么画、为什么这么响、为什么这么搜。&lt;/Text&gt;&#10;  &lt;/Box&gt;&#10;  &lt;Box style={{ position: &quot;absolute&quot;, left: 96, bottom: 54, flexDirection: &quot;row&quot;, alignItems: &quot;center&quot;, gap: 16 }}&gt;&#10;    &lt;Box style={{ width: 46, height: 46, borderRadius: 6, background: &quot;#B3271E&quot;, justifyContent: &quot;center&quot;, alignItems: &quot;center&quot; }}&gt;&#10;      &lt;Text style={{ fontSize: 24, fontWeight: &quot;bold&quot;, color: &quot;#F5E3BE&quot;, fontFamily: &quot;'Songti SC', 'STSong', 'SimSun', serif&quot; }}&gt;弈&lt;/Text&gt;&#10;    &lt;/Box&gt;&#10;    &lt;Box style={{ flexDirection: &quot;column&quot;, gap: 4 }}&gt;&#10;      &lt;Text style={{ fontSize: 16, color: &quot;rgba(245,227,190,0.80)&quot;, fontFamily: &quot;'PingFang SC', 'Microsoft YaHei', sans-serif&quot; }}&gt;弈趣棋苑 · 项目开发汇报&lt;/Text&gt;&#10;      &lt;Text style={{ fontSize: 14, color: &quot;rgba(245,227,190,0.48)&quot;, fontFamily: &quot;'PingFang SC', 'Microsoft YaHei', sans-serif&quot; }}&gt;个人独立开发 · 20+ 模块 · 64 页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95000"/>
                </a:srgbClr>
              </a:gs>
              <a:gs pos="42000">
                <a:srgbClr val="2A2118">
                  <a:alpha val="80000"/>
                </a:srgbClr>
              </a:gs>
              <a:gs pos="72000">
                <a:srgbClr val="2A2118">
                  <a:alpha val="34000"/>
                </a:srgbClr>
              </a:gs>
              <a:gs pos="100000">
                <a:srgbClr val="2A2118">
                  <a:alpha val="1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pic>
        <p:nvPicPr>
          <p:cNvPr id="5" name=""/>
          <p:cNvPicPr>
            <a:picLocks noChangeAspect="1"/>
          </p:cNvPicPr>
          <p:nvPr/>
        </p:nvPicPr>
        <p:blipFill>
          <a:blip>
            <a:alphaModFix amt="20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248650" y="2990850"/>
            <a:ext cx="3429000" cy="34290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914400" y="5905500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19175" y="59912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504950" y="5934075"/>
            <a:ext cx="1914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504950" y="6162675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>个人独立开发</a:t>
            </a:r>
            <a:r>
              <a:rPr lang="en-US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 xml:space="preserve"> · 20+ </a:t>
            </a:r>
            <a:r>
              <a:rPr lang="zh-CN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>模块</a:t>
            </a:r>
            <a:r>
              <a:rPr lang="en-US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 xml:space="preserve"> · 64 </a:t>
            </a:r>
            <a:r>
              <a:rPr lang="zh-CN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>页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914400" y="2000250"/>
            <a:ext cx="4381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485900" y="1905000"/>
            <a:ext cx="2752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spc="225">
                <a:solidFill>
                  <a:srgbClr val="F5E3BE">
                    <a:alpha val="72000"/>
                  </a:srgbClr>
                </a:solidFill>
                <a:latin typeface="PingFang SC"/>
                <a:ea typeface="PingFang SC"/>
              </a:rPr>
              <a:t>个人独立开发</a:t>
            </a:r>
            <a:r>
              <a:rPr lang="en-US" sz="1425" spc="225">
                <a:solidFill>
                  <a:srgbClr val="F5E3BE">
                    <a:alpha val="72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425" spc="225">
                <a:solidFill>
                  <a:srgbClr val="F5E3BE">
                    <a:alpha val="72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14400" y="2371725"/>
            <a:ext cx="11277600" cy="9810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550" b="1" spc="600">
                <a:solidFill>
                  <a:srgbClr val="F5E3BE"/>
                </a:solidFill>
                <a:latin typeface="Songti SC"/>
                <a:ea typeface="Songti SC"/>
              </a:rPr>
              <a:t>弈趣棋苑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14400" y="3543300"/>
            <a:ext cx="11277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150">
                <a:solidFill>
                  <a:srgbClr val="F5E3BE">
                    <a:alpha val="86000"/>
                  </a:srgbClr>
                </a:solidFill>
                <a:latin typeface="PingFang SC"/>
                <a:ea typeface="PingFang SC"/>
              </a:rPr>
              <a:t xml:space="preserve">Connect6 · Gomoku · </a:t>
            </a:r>
            <a:r>
              <a:rPr lang="zh-CN" sz="1800" spc="150">
                <a:solidFill>
                  <a:srgbClr val="F5E3BE">
                    <a:alpha val="86000"/>
                  </a:srgbClr>
                </a:solidFill>
                <a:latin typeface="PingFang SC"/>
                <a:ea typeface="PingFang SC"/>
              </a:rPr>
              <a:t>中国象棋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14400" y="4143375"/>
            <a:ext cx="6096000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F5E3BE">
                    <a:alpha val="62000"/>
                  </a:srgbClr>
                </a:solidFill>
                <a:latin typeface="PingFang SC"/>
                <a:ea typeface="PingFang SC"/>
              </a:rPr>
              <a:t>一份从「能跑」走到「可交付」的棋类合集开发纪实——把每一个决定拆开讲清楚：为什么这么画、为什么这么响、为什么这么搜。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92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目录 / CONTENTS&lt;/Text&gt;&#10;    &lt;Box style={{ width: 56, height: 2, background: &quot;#B3271E&quot;, marginTop: 10 }} /&gt;&#10;  &lt;/Box&gt;&#10;  &lt;Box style={{ width: &quot;100%&quot;, height: 516, flexDirection: &quot;row&quot;, gap: 24 }}&gt;  &lt;Box style={{ width: 340, height: &quot;100%&quot;, background: &quot;#2A2118&quot;, borderRadius: 10, padding: &quot;40px 32px&quot;, flexDirection: &quot;column&quot;, justifyContent: &quot;center&quot;, gap: 8 }}&gt;&#10;    &lt;Text style={{ fontSize: 40, fontWeight: &quot;bold&quot;, color: &quot;#F5E3BE&quot;, fontFamily: &quot;'Songti SC', 'STSong', 'SimSun', serif&quot; }}&gt;目录&lt;/Text&gt;&#10;    &lt;Text style={{ fontSize: 15, color: &quot;rgba(245,227,190,0.6)&quot;, fontFamily: &quot;'PingFang SC', 'Microsoft YaHei', sans-serif&quot;, letterSpacing: 4 }}&gt;CONTENTS&lt;/Text&gt;&#10;    &lt;Box style={{ width: 52, height: 3, background: &quot;#B3271E&quot;, marginTop: 6 }} /&gt;&#10;  &lt;/Box&gt;&#10;  &lt;Box style={{ flex: 1, height: &quot;100%&quot;, flexDirection: &quot;column&quot;, justifyContent: &quot;center&quot;, gap: 11, paddingLeft: 40 }}&gt;&#10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1&lt;/Text&gt;&#10;      &lt;Text style={{ fontSize: 20, fontWeight: &quot;bold&quot;, color: &quot;#2A2118&quot;, fontFamily: &quot;'Songti SC', 'STSong', 'SimSun', serif&quot;, width: 150 }}&gt;项目概述&lt;/Text&gt;&#10;      &lt;Text style={{ fontSize: 14, color: &quot;rgba(42,33,24,0.6)&quot;, fontFamily: &quot;'PingFang SC', 'Microsoft YaHei', sans-serif&quot; }}&gt;先讲清楚这到底是个什么东西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2&lt;/Text&gt;&#10;      &lt;Text style={{ fontSize: 20, fontWeight: &quot;bold&quot;, color: &quot;#2A2118&quot;, fontFamily: &quot;'Songti SC', 'STSong', 'SimSun', serif&quot;, width: 150 }}&gt;核心功能&lt;/Text&gt;&#10;      &lt;Text style={{ fontSize: 14, color: &quot;rgba(42,33,24,0.6)&quot;, fontFamily: &quot;'PingFang SC', 'Microsoft YaHei', sans-serif&quot; }}&gt;一场对局要同时成立哪些事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3&lt;/Text&gt;&#10;      &lt;Text style={{ fontSize: 20, fontWeight: &quot;bold&quot;, color: &quot;#2A2118&quot;, fontFamily: &quot;'Songti SC', 'STSong', 'SimSun', serif&quot;, width: 150 }}&gt;技术架构&lt;/Text&gt;&#10;      &lt;Text style={{ fontSize: 14, color: &quot;rgba(42,33,24,0.6)&quot;, fontFamily: &quot;'PingFang SC', 'Microsoft YaHei', sans-serif&quot; }}&gt;渲染·音频·AI 三条主线的原理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4&lt;/Text&gt;&#10;      &lt;Text style={{ fontSize: 20, fontWeight: &quot;bold&quot;, color: &quot;#2A2118&quot;, fontFamily: &quot;'Songti SC', 'STSong', 'SimSun', serif&quot;, width: 150 }}&gt;开发流程&lt;/Text&gt;&#10;      &lt;Text style={{ fontSize: 14, color: &quot;rgba(42,33,24,0.6)&quot;, fontFamily: &quot;'PingFang SC', 'Microsoft YaHei', sans-serif&quot; }}&gt;五轮迭代，每轮都是完整闭环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5&lt;/Text&gt;&#10;      &lt;Text style={{ fontSize: 20, fontWeight: &quot;bold&quot;, color: &quot;#2A2118&quot;, fontFamily: &quot;'Songti SC', 'STSong', 'SimSun', serif&quot;, width: 150 }}&gt;难点与解法&lt;/Text&gt;&#10;      &lt;Text style={{ fontSize: 14, color: &quot;rgba(42,33,24,0.6)&quot;, fontFamily: &quot;'PingFang SC', 'Microsoft YaHei', sans-serif&quot; }}&gt;把「看起来不对」变成可定位的根因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6&lt;/Text&gt;&#10;      &lt;Text style={{ fontSize: 20, fontWeight: &quot;bold&quot;, color: &quot;#2A2118&quot;, fontFamily: &quot;'Songti SC', 'STSong', 'SimSun', serif&quot;, width: 150 }}&gt;功能演示&lt;/Text&gt;&#10;      &lt;Text style={{ fontSize: 14, color: &quot;rgba(42,33,24,0.6)&quot;, fontFamily: &quot;'PingFang SC', 'Microsoft YaHei', sans-serif&quot; }}&gt;七步走通一局真实对弈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7&lt;/Text&gt;&#10;      &lt;Text style={{ fontSize: 20, fontWeight: &quot;bold&quot;, color: &quot;#2A2118&quot;, fontFamily: &quot;'Songti SC', 'STSong', 'SimSun', serif&quot;, width: 150 }}&gt;成果展示&lt;/Text&gt;&#10;      &lt;Text style={{ fontSize: 14, color: &quot;rgba(42,33,24,0.6)&quot;, fontFamily: &quot;'PingFang SC', 'Microsoft YaHei', sans-serif&quot; }}&gt;13 项改动，13 项验证&lt;/Text&gt;&#10;    &lt;/Box&gt;    &lt;Box style={{ flexDirection: &quot;row&quot;, alignItems: &quot;baseline&quot;, gap: 16 }}&gt;&#10;      &lt;Text style={{ fontSize: 22, fontWeight: &quot;bold&quot;, color: &quot;#B3271E&quot;, fontFamily: &quot;'Songti SC', 'STSong', 'SimSun', serif&quot;, width: 34 }}&gt;08&lt;/Text&gt;&#10;      &lt;Text style={{ fontSize: 20, fontWeight: &quot;bold&quot;, color: &quot;#2A2118&quot;, fontFamily: &quot;'Songti SC', 'STSong', 'SimSun', serif&quot;, width: 150 }}&gt;未来规划&lt;/Text&gt;&#10;      &lt;Text style={{ fontSize: 14, color: &quot;rgba(42,33,24,0.6)&quot;, fontFamily: &quot;'PingFang SC', 'Microsoft YaHei', sans-serif&quot; }}&gt;从可交付，走向可发布&lt;/Text&gt;&#10;    &lt;/Box&gt;  &lt;/Box&gt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目录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/ CONTENTS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685800" y="1104900"/>
            <a:ext cx="3238500" cy="4914900"/>
          </a:xfrm>
          <a:prstGeom prst="roundRect">
            <a:avLst>
              <a:gd name="adj" fmla="val 2941"/>
            </a:avLst>
          </a:prstGeom>
          <a:solidFill>
            <a:srgbClr val="2A2118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90600" y="3133725"/>
            <a:ext cx="26289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5E3BE"/>
                </a:solidFill>
                <a:latin typeface="Songti SC"/>
                <a:ea typeface="Songti SC"/>
              </a:rPr>
              <a:t>目录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90600" y="3667125"/>
            <a:ext cx="2628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F5E3BE">
                    <a:alpha val="60000"/>
                  </a:srgbClr>
                </a:solidFill>
                <a:latin typeface="PingFang SC"/>
                <a:ea typeface="PingFang SC"/>
              </a:rPr>
              <a:t>CONTENTS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990600" y="3971925"/>
            <a:ext cx="49530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533900" y="217170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01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010150" y="217170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项目概述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591300" y="217170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先讲清楚这到底是个什么东西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533900" y="253365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02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010150" y="253365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核心功能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591300" y="2533650"/>
            <a:ext cx="1600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一场对局要同时成立哪些事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533900" y="289560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03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010150" y="289560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技术架构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591300" y="2895600"/>
            <a:ext cx="1704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渲染·音频·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三条主线的原理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533900" y="325755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04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010150" y="325755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开发流程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591300" y="325755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五轮迭代，每轮都是完整闭环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533900" y="361950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05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010150" y="361950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难点与解法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591300" y="3619500"/>
            <a:ext cx="2133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把「看起来不对」变成可定位的根因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533900" y="398145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06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010150" y="398145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功能演示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591300" y="3981450"/>
            <a:ext cx="1333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七步走通一局真实对弈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533900" y="434340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07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010150" y="434340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成果展示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591300" y="4343400"/>
            <a:ext cx="1333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13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项改动，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13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项验证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533900" y="470535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B3271E"/>
                </a:solidFill>
                <a:latin typeface="Songti SC"/>
                <a:ea typeface="Songti SC"/>
              </a:rPr>
              <a:t>08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010150" y="4705350"/>
            <a:ext cx="142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2118"/>
                </a:solidFill>
                <a:latin typeface="Songti SC"/>
                <a:ea typeface="Songti SC"/>
              </a:rPr>
              <a:t>未来规划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591300" y="4705350"/>
            <a:ext cx="1333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从可交付，走向可发布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85800" y="61722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049000" y="61722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02 / 64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21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这一份汇报在讲什么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八章结构：是什么 → 有什么 → 怎么做的 → 怎么推进 → 难在哪 → 演示 → 做到了什么 → 往哪走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六子棋、五子棋、中国象棋，三者的棋盘尺寸、连子规则、每轮落子数、AI 后端都不一样。六子棋 19×19 每轮落 1~2 子、连六取胜；五子棋 15×15 每轮落 1 子、连五取胜；中国象棋 9×10、以将死为目标。规则层面它们几乎毫无共性。&lt;/Text&gt;&#10;    &lt;Text style={{ fontSize: 17, lineHeight: 1.68, color: &quot;#2A2118&quot;, fontFamily: &quot;'PingFang SC', 'Microsoft YaHei', sans-serif&quot;, marginBottom: 11 }}&gt;但在规则之下，它们共用同一份渲染代码、同一套音频系统、同一套主题与存档体系。棋盘怎么画、棋子怎么抗锯齿、落子声怎么不延迟、对局怎么存进数据库——这些代码只写了一遍，三个棋种都在跑。&lt;/Text&gt;&#10;    &lt;Text style={{ fontSize: 17, lineHeight: 1.68, color: &quot;#2A2118&quot;, fontFamily: &quot;'PingFang SC', 'Microsoft YaHei', sans-serif&quot;, marginBottom: 11 }}&gt;所以真正要新增一个棋种，需要动的只有两件事：写一套规则，接一个 AI 后端。界面、基础设施、美术资源全部复用，不必推倒重来。&lt;/Text&gt;&#10;    &lt;Text style={{ fontSize: 17, lineHeight: 1.68, color: &quot;#2A2118&quot;, fontFamily: &quot;'PingFang SC', 'Microsoft YaHei', sans-serif&quot;, marginBottom: 11 }}&gt;这正是「棋苑」这个名字的由来——它不是一个游戏，而是一组能一起长起来的棋。下面八章，先交代它是什么，再把它怎么画、怎么响、怎么搜逐层拆开讲透，最后用一局真实对弈完整演示一遍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判断：这是从「能跑」走到「可交付」的完整纪实，重点不是功能清单，而是每个技术决定背后的依据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这一份汇报在讲什么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八章结构：是什么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有什么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怎么做的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怎么推进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难在哪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演示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做到了什么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往哪走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85800" y="21812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六子棋、五子棋、中国象棋，三者的棋盘尺寸、连子规则、每轮落子数、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后端都不一样。六子棋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19×19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每轮落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1~2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子、连六取胜；五子棋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15×15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每轮落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子、连五取胜；中国象棋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9×10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、以将死为目标。规则层面它们几乎毫无共性。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85800" y="29432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但在规则之下，它们共用同一份渲染代码、同一套音频系统、同一套主题与存档体系。棋盘怎么画、棋子怎么抗锯齿、落子声怎么不延迟、对局怎么存进数据库——这些代码只写了一遍，三个棋种都在跑。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85800" y="37052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所以真正要新增一个棋种，需要动的只有两件事：写一套规则，接一个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后端。界面、基础设施、美术资源全部复用，不必推倒重来。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85800" y="414337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这正是「棋苑」这个名字的由来——它不是一个游戏，而是一组能一起长起来的棋。下面八章，先交代它是什么，再把它怎么画、怎么响、怎么搜逐层拆开讲透，最后用一局真实对弈完整演示一遍。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733425" y="494347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733425" y="494347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923925" y="503872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判断：这是从「能跑」走到「可交付」的完整纪实，重点不是功能清单，而是每个技术决定背后的依据。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03 / 64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73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1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1 章&lt;/Text&gt;&#10;    &lt;Text style={{ fontSize: 62, fontWeight: &quot;bold&quot;, color: &quot;#F5E3BE&quot;, fontFamily: &quot;'Songti SC', 'STSong', 'SimSun', serif&quot;, marginTop: 12 }}&gt;项目概述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从一款棋，到一座棋苑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575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01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01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项目概述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从一款棋，到一座棋苑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739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起点：先让六子棋能玩、好看、不卡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从单棋种到三棋种，复用发生在哪一层、差异被压缩在哪几处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这个项目开始得很朴素：把六子棋做成一个能下、好看、不卡顿的小游戏。最初它只有一个棋盘和一个落子逻辑，连主题切换都没有，界面是 Tkinter 的默认灰。&lt;/Text&gt;&#10;    &lt;Text style={{ fontSize: 17, lineHeight: 1.68, color: &quot;#2A2118&quot;, fontFamily: &quot;'PingFang SC', 'Microsoft YaHei', sans-serif&quot;, marginBottom: 11 }}&gt;真正的转折发生在接入第二个棋种的时候。当时以为要给五子棋重写一套界面，动手才发现——渲染层、音效层、难度选择、存档逻辑，几乎没有一行需要改。差异全被收敛在棋盘尺寸、连子规则和 AI 后端这三个点上。&lt;/Text&gt;&#10;    &lt;Text style={{ fontSize: 17, lineHeight: 1.68, color: &quot;#2A2118&quot;, fontFamily: &quot;'PingFang SC', 'Microsoft YaHei', sans-serif&quot;, marginBottom: 11 }}&gt;于是一个判断成立了：把这三处做成可替换的「插槽」，剩下的全部沉到公共底座。这在后来接象棋时得到验证——象棋规则和落子方式（翻山炮、飞将、将死）与前两者差异极大，但界面层只补了一个窗口类。&lt;/Text&gt;&#10;    &lt;Text style={{ fontSize: 17, lineHeight: 1.68, color: &quot;#2A2118&quot;, fontFamily: &quot;'PingFang SC', 'Microsoft YaHei', sans-serif&quot;, marginBottom: 11 }}&gt;最有价值的产出因此不是某个算法，而是一套可复用的「界面语言」：左边棋盘、右边控制台（音乐、双方身份、轮到谁、胜率、难度、主题）。用户学会一个棋种，就等于学会了三个。&lt;/Text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复用层：渲染 / 音频 / 主题 / 存档 / 难度 / 侧栏布局——三棋种跑同一份代码。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差异层：棋盘尺寸、连子规则、每轮落子数、AI 后端——只有这四处需要各写一份。&lt;/Text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结论：接第二个棋种的成本，比接第一个低了将近一个数量级——这是「棋苑」架构成立的直接证据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起点：先让六子棋能玩、好看、不卡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从单棋种到三棋种，复用发生在哪一层、差异被压缩在哪几处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85800" y="16097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这个项目开始得很朴素：把六子棋做成一个能下、好看、不卡顿的小游戏。最初它只有一个棋盘和一个落子逻辑，连主题切换都没有，界面是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Tkinter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的默认灰。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685800" y="23717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真正的转折发生在接入第二个棋种的时候。当时以为要给五子棋重写一套界面，动手才发现——渲染层、音效层、难度选择、存档逻辑，几乎没有一行需要改。差异全被收敛在棋盘尺寸、连子规则和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后端这三个点上。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685800" y="31337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于是一个判断成立了：把这三处做成可替换的「插槽」，剩下的全部沉到公共底座。这在后来接象棋时得到验证——象棋规则和落子方式（翻山炮、飞将、将死）与前两者差异极大，但界面层只补了一个窗口类。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685800" y="38957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最有价值的产出因此不是某个算法，而是一套可复用的「界面语言」：左边棋盘、右边控制台（音乐、双方身份、轮到谁、胜率、难度、主题）。用户学会一个棋种，就等于学会了三个。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685800" y="47434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866775" y="4657725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复用层：渲染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音频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主题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存档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难度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侧栏布局——三棋种跑同一份代码。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685800" y="51530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866775" y="5067300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差异层：棋盘尺寸、连子规则、每轮落子数、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后端——只有这四处需要各写一份。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733425" y="551497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753" name=""/>
          <p:cNvSpPr/>
          <p:nvPr/>
        </p:nvSpPr>
        <p:spPr>
          <a:xfrm rot="0" flipH="0" flipV="0">
            <a:off x="733425" y="551497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923925" y="561022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结论：接第二个棋种的成本，比接第一个低了将近一个数量级——这是「棋苑」架构成立的直接证据。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05 / 64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957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体量：三个数字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规模不是目标，是可维护性的自然结果：模块数多，是因为每条技术线都被单独抽出来治理过&lt;/Text&gt;&#10;  &lt;/Box&gt;&#10;  &lt;Box style={{ width: &quot;100%&quot;, height: 510, flexDirection: &quot;column&quot; }}&gt;&#10;  &lt;Box style={{ flexDirection: &quot;column&quot;, height: &quot;100%&quot;, justifyContent: &quot;center&quot;, gap: 18 }}&gt;&#10;    &lt;Box style={{ flexDirection: &quot;row&quot;, alignItems: &quot;flex-end&quot;, gap: 28 }}&gt;&#10;      &lt;Text style={{ fontSize: 92, fontWeight: &quot;bold&quot;, lineHeight: 1.0, color: &quot;#B3271E&quot;, fontFamily: &quot;'Songti SC', 'STSong', 'SimSun', serif&quot;, width: 200 }}&gt;3&lt;/Text&gt;&#10;      &lt;Box style={{ flex: 1, flexDirection: &quot;column&quot;, gap: 8, paddingBottom: 10 }}&gt;&#10;        &lt;Text style={{ fontSize: 21, fontWeight: &quot;bold&quot;, color: &quot;#2A2118&quot;, fontFamily: &quot;'Songti SC', 'STSong', 'SimSun', serif&quot; }}&gt;个棋种，共享一套引擎&lt;/Text&gt;&#10;        &lt;Text style={{ fontSize: 16, lineHeight: 1.7, color: &quot;rgba(42,33,24,0.75)&quot;, fontFamily: &quot;'PingFang SC', 'Microsoft YaHei', sans-serif&quot; }}&gt;六子棋 / 五子棋 / 中国象棋。差异被严格约束在棋盘尺寸、连子数、每轮子数、AI 后端四个维度，其余全部复用同一份代码。&lt;/Text&gt;&#10;      &lt;/Box&gt;&#10;    &lt;/Box&gt;&#10;    &lt;Box style={{ flexDirection: &quot;row&quot;, alignItems: &quot;flex-end&quot;, gap: 28 }}&gt;&#10;      &lt;Text style={{ fontSize: 92, fontWeight: &quot;bold&quot;, lineHeight: 1.0, color: &quot;#8C5A2B&quot;, fontFamily: &quot;'Songti SC', 'STSong', 'SimSun', serif&quot;, width: 200 }}&gt;20+&lt;/Text&gt;&#10;      &lt;Box style={{ flex: 1, flexDirection: &quot;column&quot;, gap: 8, paddingBottom: 10 }}&gt;&#10;        &lt;Text style={{ fontSize: 21, fontWeight: &quot;bold&quot;, color: &quot;#2A2118&quot;, fontFamily: &quot;'Songti SC', 'STSong', 'SimSun', serif&quot; }}&gt;个模块，全链路自研&lt;/Text&gt;&#10;        &lt;Text style={{ fontSize: 16, lineHeight: 1.7, color: &quot;rgba(42,33,24,0.75)&quot;, fontFamily: &quot;'PingFang SC', 'Microsoft YaHei', sans-serif&quot; }}&gt;覆盖渲染、音频、AI 引擎、数据存档与打包分发，从界面到算法没有借任何外部游戏框架。&lt;/Text&gt;&#10;      &lt;/Box&gt;&#10;    &lt;/Box&gt;&#10;    &lt;Box style={{ flexDirection: &quot;row&quot;, alignItems: &quot;flex-end&quot;, gap: 28 }}&gt;&#10;      &lt;Text style={{ fontSize: 92, fontWeight: &quot;bold&quot;, lineHeight: 1.0, color: &quot;#8C5A2B&quot;, fontFamily: &quot;'Songti SC', 'STSong', 'SimSun', serif&quot;, width: 200 }}&gt;5&lt;/Text&gt;&#10;      &lt;Box style={{ flex: 1, flexDirection: &quot;column&quot;, gap: 8, paddingBottom: 10 }}&gt;&#10;        &lt;Text style={{ fontSize: 21, fontWeight: &quot;bold&quot;, color: &quot;#2A2118&quot;, fontFamily: &quot;'Songti SC', 'STSong', 'SimSun', serif&quot; }}&gt;轮迭代，每轮走完整闭环&lt;/Text&gt;&#10;        &lt;Text style={{ fontSize: 16, lineHeight: 1.7, color: &quot;rgba(42,33,24,0.75)&quot;, fontFamily: &quot;'PingFang SC', 'Microsoft YaHei', sans-serif&quot; }}&gt;每一轮都走完「现象 → 根因 → 修复 → 验证」，没有一轮是表面修补。&lt;/Text&gt;&#10;      &lt;/Box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三个数字的真正含义：3 代表复用成立，20+ 代表职责分离，5 代表方法可重复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6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体量：三个数字</a:t>
            </a:r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规模不是目标，是可维护性的自然结果：模块数多，是因为每条技术线都被单独抽出来治理过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685800" y="1695450"/>
            <a:ext cx="19050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B3271E"/>
                </a:solidFill>
                <a:latin typeface="Songti SC"/>
                <a:ea typeface="Songti SC"/>
              </a:rPr>
              <a:t>3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2857500" y="2019300"/>
            <a:ext cx="8648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8"/>
                </a:solidFill>
                <a:latin typeface="Songti SC"/>
                <a:ea typeface="Songti SC"/>
              </a:rPr>
              <a:t>个棋种，共享一套引擎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2857500" y="2343150"/>
            <a:ext cx="86487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六子棋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五子棋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中国象棋。差异被严格约束在棋盘尺寸、连子数、每轮子数、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后端四个维度，其余全部复用同一份代码。</a:t>
            </a:r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685800" y="2924175"/>
            <a:ext cx="19050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8C5A2B"/>
                </a:solidFill>
                <a:latin typeface="Songti SC"/>
                <a:ea typeface="Songti SC"/>
              </a:rPr>
              <a:t>20+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2857500" y="3248025"/>
            <a:ext cx="8648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8"/>
                </a:solidFill>
                <a:latin typeface="Songti SC"/>
                <a:ea typeface="Songti SC"/>
              </a:rPr>
              <a:t>个模块，全链路自研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2857500" y="3571875"/>
            <a:ext cx="86487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覆盖渲染、音频、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引擎、数据存档与打包分发，从界面到算法没有借任何外部游戏框架。</a:t>
            </a:r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19050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8C5A2B"/>
                </a:solidFill>
                <a:latin typeface="Songti SC"/>
                <a:ea typeface="Songti SC"/>
              </a:rPr>
              <a:t>5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2857500" y="4476750"/>
            <a:ext cx="8648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8"/>
                </a:solidFill>
                <a:latin typeface="Songti SC"/>
                <a:ea typeface="Songti SC"/>
              </a:rPr>
              <a:t>轮迭代，每轮走完整闭环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2857500" y="4800600"/>
            <a:ext cx="86487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每一轮都走完「现象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根因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修复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验证」，没有一轮是表面修补。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733425" y="54197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972" name=""/>
          <p:cNvSpPr/>
          <p:nvPr/>
        </p:nvSpPr>
        <p:spPr>
          <a:xfrm rot="0" flipH="0" flipV="0">
            <a:off x="733425" y="54197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923925" y="55149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这三个数字的真正含义：</a:t>
            </a:r>
            <a:r>
              <a:rPr lang="en-US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 xml:space="preserve">3 </a:t>
            </a: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代表复用成立，</a:t>
            </a:r>
            <a:r>
              <a:rPr lang="en-US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 xml:space="preserve">20+ </a:t>
            </a: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代表职责分离，</a:t>
            </a:r>
            <a:r>
              <a:rPr lang="en-US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 xml:space="preserve">5 </a:t>
            </a: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代表方法可重复。</a:t>
            </a:r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06 / 64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034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三种棋，一套引擎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三个棋种在四个维度上不同，在其余所有维度上相同&lt;/Text&gt;&#10;  &lt;/Box&gt;&#10;  &lt;Box style={{ width: &quot;100%&quot;, height: 510, flexDirection: &quot;column&quot; }}&gt;&#10;  &lt;Box style={{ width: &quot;100%&quot;, height: &quot;100%&quot;, flexDirection: &quot;column&quot; }}&gt;&#10;  &lt;Box style={{ flexDirection: &quot;row&quot;, height: &quot;100%&quot;, gap: 28, alignItems: &quot;center&quot; }}&gt;&#10;    &lt;Box style={{ width: 700, flexDirection: &quot;column&quot;, justifyContent: &quot;center&quot; }}&gt;&#10;&lt;Box style={{ width: &quot;100%&quot;, flexDirection: &quot;column&quot;, gap: 0 }}&gt;&#10;&lt;Box style={{ width: &quot;100%&quot;, height: 44, flexDirection: &quot;row&quot; }}&gt;&#10;&lt;Box style={{ width: 13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棋种&lt;/Text&gt;&#10;&lt;/Box&gt;&#10;&lt;Box style={{ width: 20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棋盘 / 胜利&lt;/Text&gt;&#10;&lt;/Box&gt;&#10;&lt;Box style={{ width: 14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每轮落子&lt;/Text&gt;&#10;&lt;/Box&gt;&#10;&lt;Box style={{ width: 22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AI 后端&lt;/Text&gt;&#10;&lt;/Box&gt;&#10;&lt;/Box&gt;&#10;&lt;Box style={{ width: &quot;100%&quot;, height: 64, flexDirection: &quot;row&quot; }}&gt;&#10;&lt;Box style={{ width: 13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六子棋 Connect6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9×19 · 连六&lt;/Text&gt;&#10;&lt;/Box&gt;&#10;&lt;Box style={{ width: 1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~2 子&lt;/Text&gt;&#10;&lt;/Box&gt;&#10;&lt;Box style={{ width: 22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自研 AlphaBeta + TSS&lt;/Text&gt;&#10;&lt;/Box&gt;&#10;&lt;/Box&gt;&#10;&lt;Box style={{ width: &quot;100%&quot;, height: 64, flexDirection: &quot;row&quot; }}&gt;&#10;&lt;Box style={{ width: 13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五子棋 Gomoku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5×15 · 连五&lt;/Text&gt;&#10;&lt;/Box&gt;&#10;&lt;Box style={{ width: 1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 子&lt;/Text&gt;&#10;&lt;/Box&gt;&#10;&lt;Box style={{ width: 22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自研 AlphaBeta + VCF/VCT&lt;/Text&gt;&#10;&lt;/Box&gt;&#10;&lt;/Box&gt;&#10;&lt;Box style={{ width: &quot;100%&quot;, height: 64, flexDirection: &quot;row&quot; }}&gt;&#10;&lt;Box style={{ width: 13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中国象棋 Xiangqi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9×10 · 将死&lt;/Text&gt;&#10;&lt;/Box&gt;&#10;&lt;Box style={{ width: 1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 子&lt;/Text&gt;&#10;&lt;/Box&gt;&#10;&lt;Box style={{ width: 22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本地 Pikafish NNUE&lt;/Text&gt;&#10;&lt;/Box&gt;&#10;&lt;/Box&gt;&#10;&lt;/Box&gt;&#10;    &lt;/Box&gt;&#10;    &lt;Box style={{ flex: 1, flexDirection: &quot;column&quot;, justifyContent: &quot;center&quot;, gap: 12 }}&gt;&#10;    &lt;Box style={{ flexDirection: &quot;row&quot;, alignItems: &quot;flex-start&quot;, gap: 12, marginBottom: 6 }}&gt;&#10;      &lt;Box style={{ width: 7, height: 7, borderRadius: 2, background: &quot;#B3271E&quot;, marginTop: 9 }} /&gt;&#10;      &lt;Text style={{ fontSize: 17, lineHeight: 1.64, color: &quot;#2A2118&quot;, fontFamily: &quot;'PingFang SC', 'Microsoft YaHei', sans-serif&quot;, flex: 1 }}&gt;差异被严格约束在四个维度——棋盘尺寸 / 连子数 / 每轮子数 / AI 后端。&lt;/Text&gt;&#10;    &lt;/Box&gt;&#10;    &lt;Box style={{ flexDirection: &quot;row&quot;, alignItems: &quot;flex-start&quot;, gap: 12, marginBottom: 6 }}&gt;&#10;      &lt;Box style={{ width: 7, height: 7, borderRadius: 2, background: &quot;#B3271E&quot;, marginTop: 9 }} /&gt;&#10;      &lt;Text style={{ fontSize: 16, lineHeight: 1.64, color: &quot;rgba(42,33,24,0.78)&quot;, fontFamily: &quot;'PingFang SC', 'Microsoft YaHei', sans-serif&quot;, flex: 1 }}&gt;渲染、音效、主题、存档这四块，三棋种跑的是同一份代码。&lt;/Text&gt;&#10;    &lt;/Box&gt;&#10;    &lt;Box style={{ flexDirection: &quot;row&quot;, alignItems: &quot;flex-start&quot;, gap: 12, marginBottom: 6 }}&gt;&#10;      &lt;Box style={{ width: 7, height: 7, borderRadius: 2, background: &quot;#B3271E&quot;, marginTop: 9 }} /&gt;&#10;      &lt;Text style={{ fontSize: 16, lineHeight: 1.64, color: &quot;rgba(42,33,24,0.78)&quot;, fontFamily: &quot;'PingFang SC', 'Microsoft YaHei', sans-serif&quot;, flex: 1 }}&gt;新增棋种 ≈ 接入规则 + 选后端，界面零重复建设。&lt;/Text&gt;&#10;    &lt;/Box&gt;&#10;    &lt;Box style={{ flexDirection: &quot;row&quot;, alignItems: &quot;flex-start&quot;, gap: 12, marginBottom: 0 }}&gt;&#10;      &lt;Box style={{ width: 7, height: 7, borderRadius: 2, background: &quot;#B3271E&quot;, marginTop: 9 }} /&gt;&#10;      &lt;Text style={{ fontSize: 16, lineHeight: 1.64, color: &quot;rgba(42,33,24,0.78)&quot;, fontFamily: &quot;'PingFang SC', 'Microsoft YaHei', sans-serif&quot;, flex: 1 }}&gt;AI 后端可替换：五子棋用自研引擎，象棋直接挂本地皮卡鱼。&lt;/Text&gt;&#10;    &lt;/Box&gt;&#10;    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正是三棋种能以低成本并存的关键：差异被主动收窄，复用才成为默认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7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三种棋，一套引擎</a:t>
            </a:r>
            <a:endParaRPr/>
          </a:p>
        </p:txBody>
      </p:sp>
      <p:sp>
        <p:nvSpPr>
          <p:cNvPr id="1037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三个棋种在四个维度上不同，在其余所有维度上相同</a:t>
            </a:r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685800" y="2419350"/>
            <a:ext cx="1238250" cy="4191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819150" y="2505075"/>
            <a:ext cx="971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棋种</a:t>
            </a:r>
            <a:endParaRPr/>
          </a:p>
        </p:txBody>
      </p:sp>
      <p:sp>
        <p:nvSpPr>
          <p:cNvPr id="1041" name=""/>
          <p:cNvSpPr/>
          <p:nvPr/>
        </p:nvSpPr>
        <p:spPr>
          <a:xfrm rot="0" flipH="0" flipV="0">
            <a:off x="1924050" y="2419350"/>
            <a:ext cx="1905000" cy="4191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2057400" y="250507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棋盘</a:t>
            </a:r>
            <a:r>
              <a:rPr lang="en-US" sz="1125" b="1">
                <a:solidFill>
                  <a:srgbClr val="F5E3BE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胜利</a:t>
            </a:r>
            <a:endParaRPr/>
          </a:p>
        </p:txBody>
      </p:sp>
      <p:sp>
        <p:nvSpPr>
          <p:cNvPr id="1043" name=""/>
          <p:cNvSpPr/>
          <p:nvPr/>
        </p:nvSpPr>
        <p:spPr>
          <a:xfrm rot="0" flipH="0" flipV="0">
            <a:off x="3829050" y="2419350"/>
            <a:ext cx="1333500" cy="4191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3962400" y="2505075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每轮落子</a:t>
            </a:r>
            <a:endParaRPr/>
          </a:p>
        </p:txBody>
      </p:sp>
      <p:sp>
        <p:nvSpPr>
          <p:cNvPr id="1045" name=""/>
          <p:cNvSpPr/>
          <p:nvPr/>
        </p:nvSpPr>
        <p:spPr>
          <a:xfrm rot="0" flipH="0" flipV="0">
            <a:off x="5162550" y="2419350"/>
            <a:ext cx="2095500" cy="4191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5295900" y="250507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 b="1">
                <a:solidFill>
                  <a:srgbClr val="F5E3BE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后端</a:t>
            </a:r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685800" y="2838450"/>
            <a:ext cx="12382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819150" y="2895600"/>
            <a:ext cx="9715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六子棋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Connect6</a:t>
            </a:r>
            <a:endParaRPr/>
          </a:p>
        </p:txBody>
      </p:sp>
      <p:sp>
        <p:nvSpPr>
          <p:cNvPr id="1049" name=""/>
          <p:cNvSpPr/>
          <p:nvPr/>
        </p:nvSpPr>
        <p:spPr>
          <a:xfrm rot="0" flipH="0" flipV="0">
            <a:off x="1924050" y="2838450"/>
            <a:ext cx="1905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0" name="" descr="{&quot;isTemplate&quot;:true,&quot;type&quot;:&quot;text&quot;}"/>
          <p:cNvSpPr txBox="1"/>
          <p:nvPr/>
        </p:nvSpPr>
        <p:spPr>
          <a:xfrm rot="0" flipH="0" flipV="0">
            <a:off x="2057400" y="30194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19×19 ·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连六</a:t>
            </a:r>
            <a:endParaRPr/>
          </a:p>
        </p:txBody>
      </p:sp>
      <p:sp>
        <p:nvSpPr>
          <p:cNvPr id="1051" name=""/>
          <p:cNvSpPr/>
          <p:nvPr/>
        </p:nvSpPr>
        <p:spPr>
          <a:xfrm rot="0" flipH="0" flipV="0">
            <a:off x="3829050" y="2838450"/>
            <a:ext cx="13335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3962400" y="3019425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1~2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子</a:t>
            </a:r>
            <a:endParaRPr/>
          </a:p>
        </p:txBody>
      </p:sp>
      <p:sp>
        <p:nvSpPr>
          <p:cNvPr id="1053" name=""/>
          <p:cNvSpPr/>
          <p:nvPr/>
        </p:nvSpPr>
        <p:spPr>
          <a:xfrm rot="0" flipH="0" flipV="0">
            <a:off x="5162550" y="2838450"/>
            <a:ext cx="20955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5295900" y="301942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自研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AlphaBeta + TSS</a:t>
            </a:r>
            <a:endParaRPr/>
          </a:p>
        </p:txBody>
      </p:sp>
      <p:sp>
        <p:nvSpPr>
          <p:cNvPr id="1055" name=""/>
          <p:cNvSpPr/>
          <p:nvPr/>
        </p:nvSpPr>
        <p:spPr>
          <a:xfrm rot="0" flipH="0" flipV="0">
            <a:off x="685800" y="3448050"/>
            <a:ext cx="12382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819150" y="3505200"/>
            <a:ext cx="9715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五子棋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Gomoku</a:t>
            </a:r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1924050" y="3448050"/>
            <a:ext cx="1905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2057400" y="36290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15×15 ·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连五</a:t>
            </a:r>
            <a:endParaRPr/>
          </a:p>
        </p:txBody>
      </p:sp>
      <p:sp>
        <p:nvSpPr>
          <p:cNvPr id="1059" name=""/>
          <p:cNvSpPr/>
          <p:nvPr/>
        </p:nvSpPr>
        <p:spPr>
          <a:xfrm rot="0" flipH="0" flipV="0">
            <a:off x="3829050" y="3448050"/>
            <a:ext cx="13335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3962400" y="3629025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子</a:t>
            </a:r>
            <a:endParaRPr/>
          </a:p>
        </p:txBody>
      </p:sp>
      <p:sp>
        <p:nvSpPr>
          <p:cNvPr id="1061" name=""/>
          <p:cNvSpPr/>
          <p:nvPr/>
        </p:nvSpPr>
        <p:spPr>
          <a:xfrm rot="0" flipH="0" flipV="0">
            <a:off x="5162550" y="3448050"/>
            <a:ext cx="20955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5295900" y="362902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自研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AlphaBeta + VCF/VCT</a:t>
            </a:r>
            <a:endParaRPr/>
          </a:p>
        </p:txBody>
      </p:sp>
      <p:sp>
        <p:nvSpPr>
          <p:cNvPr id="1063" name=""/>
          <p:cNvSpPr/>
          <p:nvPr/>
        </p:nvSpPr>
        <p:spPr>
          <a:xfrm rot="0" flipH="0" flipV="0">
            <a:off x="685800" y="4057650"/>
            <a:ext cx="12382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819150" y="4114800"/>
            <a:ext cx="9715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中国象棋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Xiangqi</a:t>
            </a:r>
            <a:endParaRPr/>
          </a:p>
        </p:txBody>
      </p:sp>
      <p:sp>
        <p:nvSpPr>
          <p:cNvPr id="1065" name=""/>
          <p:cNvSpPr/>
          <p:nvPr/>
        </p:nvSpPr>
        <p:spPr>
          <a:xfrm rot="0" flipH="0" flipV="0">
            <a:off x="1924050" y="4057650"/>
            <a:ext cx="1905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2057400" y="42386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9×10 ·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将死</a:t>
            </a:r>
            <a:endParaRPr/>
          </a:p>
        </p:txBody>
      </p:sp>
      <p:sp>
        <p:nvSpPr>
          <p:cNvPr id="1067" name=""/>
          <p:cNvSpPr/>
          <p:nvPr/>
        </p:nvSpPr>
        <p:spPr>
          <a:xfrm rot="0" flipH="0" flipV="0">
            <a:off x="3829050" y="4057650"/>
            <a:ext cx="13335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3962400" y="4238625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子</a:t>
            </a:r>
            <a:endParaRPr/>
          </a:p>
        </p:txBody>
      </p:sp>
      <p:sp>
        <p:nvSpPr>
          <p:cNvPr id="1069" name=""/>
          <p:cNvSpPr/>
          <p:nvPr/>
        </p:nvSpPr>
        <p:spPr>
          <a:xfrm rot="0" flipH="0" flipV="0">
            <a:off x="5162550" y="4057650"/>
            <a:ext cx="20955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5295900" y="423862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本地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Pikafish NNUE</a:t>
            </a:r>
            <a:endParaRPr/>
          </a:p>
        </p:txBody>
      </p:sp>
      <p:sp>
        <p:nvSpPr>
          <p:cNvPr id="1071" name=""/>
          <p:cNvSpPr/>
          <p:nvPr/>
        </p:nvSpPr>
        <p:spPr>
          <a:xfrm rot="0" flipH="0" flipV="0">
            <a:off x="7620000" y="22955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7800975" y="2209800"/>
            <a:ext cx="37052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4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差异被严格约束在四个维度——棋盘尺寸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连子数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每轮子数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后端。</a:t>
            </a:r>
            <a:endParaRPr/>
          </a:p>
        </p:txBody>
      </p:sp>
      <p:sp>
        <p:nvSpPr>
          <p:cNvPr id="1073" name=""/>
          <p:cNvSpPr/>
          <p:nvPr/>
        </p:nvSpPr>
        <p:spPr>
          <a:xfrm rot="0" flipH="0" flipV="0">
            <a:off x="7620000" y="31051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7800975" y="3019425"/>
            <a:ext cx="370522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渲染、音效、主题、存档这四块，三棋种跑的是同一份代码。</a:t>
            </a:r>
            <a:endParaRPr/>
          </a:p>
        </p:txBody>
      </p:sp>
      <p:sp>
        <p:nvSpPr>
          <p:cNvPr id="1075" name=""/>
          <p:cNvSpPr/>
          <p:nvPr/>
        </p:nvSpPr>
        <p:spPr>
          <a:xfrm rot="0" flipH="0" flipV="0">
            <a:off x="7620000" y="38766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7800975" y="3790950"/>
            <a:ext cx="37052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新增棋种</a:t>
            </a:r>
            <a:r>
              <a:rPr lang="en-US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 ≈ </a:t>
            </a:r>
            <a:r>
              <a:rPr lang="zh-CN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接入规则</a:t>
            </a:r>
            <a:r>
              <a:rPr lang="en-US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选后端，界面零重复建设。</a:t>
            </a:r>
            <a:endParaRPr/>
          </a:p>
        </p:txBody>
      </p:sp>
      <p:sp>
        <p:nvSpPr>
          <p:cNvPr id="1077" name=""/>
          <p:cNvSpPr/>
          <p:nvPr/>
        </p:nvSpPr>
        <p:spPr>
          <a:xfrm rot="0" flipH="0" flipV="0">
            <a:off x="7620000" y="43529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7800975" y="4267200"/>
            <a:ext cx="370522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4000"/>
              </a:lnSpc>
            </a:pPr>
            <a:r>
              <a:rPr lang="en-US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后端可替换：五子棋用自研引擎，象棋直接挂本地皮卡鱼。</a:t>
            </a:r>
            <a:endParaRPr/>
          </a:p>
        </p:txBody>
      </p:sp>
      <p:sp>
        <p:nvSpPr>
          <p:cNvPr id="1079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1080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这正是三棋种能以低成本并存的关键：差异被主动收窄，复用才成为默认。</a:t>
            </a:r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07 / 64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084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技术底座：五条线，各管一摊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五条线各自独立、互不阻塞，任何一条出问题都不会拖垮界面主线程&lt;/Text&gt;&#10;  &lt;/Box&gt;&#10;  &lt;Box style={{ width: &quot;100%&quot;, height: 510, flexDirection: &quot;column&quot; }}&gt;&#10;  &lt;Box style={{ width: &quot;100%&quot;, height: &quot;100%&quot;, flexDirection: &quot;column&quot;, justifyContent: &quot;center&quot;, gap: 14 }}&gt;&#10;  &lt;Box style={{ flexDirection: &quot;row&quot;, alignItems: &quot;stretch&quot;, justifyContent: &quot;center&quot;, gap: 8 }}&gt;&#10;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1. 渲染层&lt;/Text&gt;&#10;        &lt;Text style={{ fontSize: 12, lineHeight: 1.45, color: &quot;rgba(42,33,24,0.72)&quot;, fontFamily: &quot;'PingFang SC', 'Microsoft YaHei', sans-serif&quot; }}&gt;PIL 4× 超采样绘制，BOX 降采样，预渲染精灵运行期零重绘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2. 音频层&lt;/Text&gt;&#10;        &lt;Text style={{ fontSize: 12, lineHeight: 1.45, color: &quot;rgba(42,33,24,0.72)&quot;, fontFamily: &quot;'PingFang SC', 'Microsoft YaHei', sans-serif&quot; }}&gt;MCI 独立线程，双轨队列，常驻 alias，锁泄漏自愈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3. AI 层&lt;/Text&gt;&#10;        &lt;Text style={{ fontSize: 12, lineHeight: 1.45, color: &quot;rgba(42,33,24,0.72)&quot;, fontFamily: &quot;'PingFang SC', 'Microsoft YaHei', sans-serif&quot; }}&gt;AlphaBeta + VCF/VCT 算杀，象棋接皮卡鱼 NNUE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4. 数据层&lt;/Text&gt;&#10;        &lt;Text style={{ fontSize: 12, lineHeight: 1.45, color: &quot;rgba(42,33,24,0.72)&quot;, fontFamily: &quot;'PingFang SC', 'Microsoft YaHei', sans-serif&quot; }}&gt;PostgreSQL 自动存档，状态栏 + Toast 双反馈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5. 分发层&lt;/Text&gt;&#10;        &lt;Text style={{ fontSize: 12, lineHeight: 1.45, color: &quot;rgba(42,33,24,0.72)&quot;, fontFamily: &quot;'PingFang SC', 'Microsoft YaHei', sans-serif&quot; }}&gt;PyInstaller 打包 myapp.exe，venv 隔离依赖&lt;/Text&gt;&#10;      &lt;/Box&gt;&#10;  &lt;/Box&gt;&#10;    &lt;Box style={{ width: &quot;100%&quot;, flexDirection: &quot;column&quot;, gap: 8 }}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渲染与音频都做了异步或预渲染，主线程只负责画和响应点击。&lt;/Text&gt;&#10;    &lt;/Box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AI 走子进程 / 工作线程，界面在下棋思考期间仍然流畅可交互。&lt;/Text&gt;&#10;    &lt;/Box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数据层失败不阻断对局，只降级为提示，不让玩家卡在存档上。&lt;/Text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底座设计的唯一目标：把「不可控的外部调用」从 UI 线程和全局锁上剥离出去。&lt;/Text&gt;&#10;  &lt;/Box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08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技术底座：五条线，各管一摊</a:t>
            </a:r>
            <a:endParaRPr/>
          </a:p>
        </p:txBody>
      </p:sp>
      <p:sp>
        <p:nvSpPr>
          <p:cNvPr id="1087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五条线各自独立、互不阻塞，任何一条出问题都不会拖垮界面主线程</a:t>
            </a:r>
            <a:endParaRPr/>
          </a:p>
        </p:txBody>
      </p:sp>
      <p:sp>
        <p:nvSpPr>
          <p:cNvPr id="1089" name=""/>
          <p:cNvSpPr/>
          <p:nvPr/>
        </p:nvSpPr>
        <p:spPr>
          <a:xfrm rot="0" flipH="0" flipV="0">
            <a:off x="1685925" y="2305050"/>
            <a:ext cx="1466850" cy="1028700"/>
          </a:xfrm>
          <a:prstGeom prst="roundRect">
            <a:avLst>
              <a:gd name="adj" fmla="val 5556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1090" name=""/>
          <p:cNvSpPr/>
          <p:nvPr/>
        </p:nvSpPr>
        <p:spPr>
          <a:xfrm rot="0" flipH="0" flipV="0">
            <a:off x="1685925" y="2305050"/>
            <a:ext cx="1466850" cy="1028700"/>
          </a:xfrm>
          <a:custGeom>
            <a:pathLst>
              <a:path w="154" h="10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6"/>
                </a:lnTo>
                <a:cubicBezTo>
                  <a:pt x="4" y="107"/>
                  <a:pt x="5" y="108"/>
                  <a:pt x="6" y="108"/>
                </a:cubicBezTo>
                <a:cubicBezTo>
                  <a:pt x="3" y="108"/>
                  <a:pt x="0" y="105"/>
                  <a:pt x="0" y="10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1790700" y="241935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1.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渲染层</a:t>
            </a:r>
            <a:endParaRPr/>
          </a:p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1790700" y="2619375"/>
            <a:ext cx="1257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PIL 4×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超采样绘制，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BOX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降采样，预渲染精灵运行期零重绘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322897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1094" name=""/>
          <p:cNvSpPr/>
          <p:nvPr/>
        </p:nvSpPr>
        <p:spPr>
          <a:xfrm rot="0" flipH="0" flipV="0">
            <a:off x="3533775" y="2305050"/>
            <a:ext cx="1466850" cy="1028700"/>
          </a:xfrm>
          <a:prstGeom prst="roundRect">
            <a:avLst>
              <a:gd name="adj" fmla="val 5556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1095" name=""/>
          <p:cNvSpPr/>
          <p:nvPr/>
        </p:nvSpPr>
        <p:spPr>
          <a:xfrm rot="0" flipH="0" flipV="0">
            <a:off x="3533775" y="2305050"/>
            <a:ext cx="1466850" cy="1028700"/>
          </a:xfrm>
          <a:custGeom>
            <a:pathLst>
              <a:path w="154" h="10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6"/>
                </a:lnTo>
                <a:cubicBezTo>
                  <a:pt x="4" y="107"/>
                  <a:pt x="5" y="108"/>
                  <a:pt x="6" y="108"/>
                </a:cubicBezTo>
                <a:cubicBezTo>
                  <a:pt x="3" y="108"/>
                  <a:pt x="0" y="105"/>
                  <a:pt x="0" y="10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3638550" y="241935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2.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音频层</a:t>
            </a:r>
            <a:endParaRPr/>
          </a:p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3638550" y="2619375"/>
            <a:ext cx="1257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MCI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独立线程，双轨队列，常驻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alias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，锁泄漏自愈</a:t>
            </a:r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507682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1099" name=""/>
          <p:cNvSpPr/>
          <p:nvPr/>
        </p:nvSpPr>
        <p:spPr>
          <a:xfrm rot="0" flipH="0" flipV="0">
            <a:off x="5381625" y="2305050"/>
            <a:ext cx="1466850" cy="1028700"/>
          </a:xfrm>
          <a:prstGeom prst="roundRect">
            <a:avLst>
              <a:gd name="adj" fmla="val 5556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1100" name=""/>
          <p:cNvSpPr/>
          <p:nvPr/>
        </p:nvSpPr>
        <p:spPr>
          <a:xfrm rot="0" flipH="0" flipV="0">
            <a:off x="5381625" y="2305050"/>
            <a:ext cx="1466850" cy="1028700"/>
          </a:xfrm>
          <a:custGeom>
            <a:pathLst>
              <a:path w="154" h="10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6"/>
                </a:lnTo>
                <a:cubicBezTo>
                  <a:pt x="4" y="107"/>
                  <a:pt x="5" y="108"/>
                  <a:pt x="6" y="108"/>
                </a:cubicBezTo>
                <a:cubicBezTo>
                  <a:pt x="3" y="108"/>
                  <a:pt x="0" y="105"/>
                  <a:pt x="0" y="10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5486400" y="241935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3. AI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层</a:t>
            </a:r>
            <a:endParaRPr/>
          </a:p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5486400" y="2619375"/>
            <a:ext cx="1257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AlphaBeta + VCF/VCT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算杀，象棋接皮卡鱼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NNUE</a:t>
            </a:r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692467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1104" name=""/>
          <p:cNvSpPr/>
          <p:nvPr/>
        </p:nvSpPr>
        <p:spPr>
          <a:xfrm rot="0" flipH="0" flipV="0">
            <a:off x="7229475" y="2305050"/>
            <a:ext cx="1466850" cy="1028700"/>
          </a:xfrm>
          <a:prstGeom prst="roundRect">
            <a:avLst>
              <a:gd name="adj" fmla="val 5556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1105" name=""/>
          <p:cNvSpPr/>
          <p:nvPr/>
        </p:nvSpPr>
        <p:spPr>
          <a:xfrm rot="0" flipH="0" flipV="0">
            <a:off x="7229475" y="2305050"/>
            <a:ext cx="1466850" cy="1028700"/>
          </a:xfrm>
          <a:custGeom>
            <a:pathLst>
              <a:path w="154" h="10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6"/>
                </a:lnTo>
                <a:cubicBezTo>
                  <a:pt x="4" y="107"/>
                  <a:pt x="5" y="108"/>
                  <a:pt x="6" y="108"/>
                </a:cubicBezTo>
                <a:cubicBezTo>
                  <a:pt x="3" y="108"/>
                  <a:pt x="0" y="105"/>
                  <a:pt x="0" y="10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7334250" y="241935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4.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数据层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7334250" y="2619375"/>
            <a:ext cx="12573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PostgreSQL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自动存档，状态栏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+ Toast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双反馈</a:t>
            </a:r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877252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1109" name=""/>
          <p:cNvSpPr/>
          <p:nvPr/>
        </p:nvSpPr>
        <p:spPr>
          <a:xfrm rot="0" flipH="0" flipV="0">
            <a:off x="9077325" y="2305050"/>
            <a:ext cx="1466850" cy="1028700"/>
          </a:xfrm>
          <a:prstGeom prst="roundRect">
            <a:avLst>
              <a:gd name="adj" fmla="val 5556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1110" name=""/>
          <p:cNvSpPr/>
          <p:nvPr/>
        </p:nvSpPr>
        <p:spPr>
          <a:xfrm rot="0" flipH="0" flipV="0">
            <a:off x="9077325" y="2305050"/>
            <a:ext cx="1466850" cy="1028700"/>
          </a:xfrm>
          <a:custGeom>
            <a:pathLst>
              <a:path w="154" h="108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06"/>
                </a:lnTo>
                <a:cubicBezTo>
                  <a:pt x="4" y="107"/>
                  <a:pt x="5" y="108"/>
                  <a:pt x="6" y="108"/>
                </a:cubicBezTo>
                <a:cubicBezTo>
                  <a:pt x="3" y="108"/>
                  <a:pt x="0" y="105"/>
                  <a:pt x="0" y="10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9182100" y="241935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5.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分发层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9182100" y="2619375"/>
            <a:ext cx="1257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PyInstaller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打包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myapp.exe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，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venv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隔离依赖</a:t>
            </a:r>
            <a:endParaRPr/>
          </a:p>
        </p:txBody>
      </p:sp>
      <p:sp>
        <p:nvSpPr>
          <p:cNvPr id="1113" name=""/>
          <p:cNvSpPr/>
          <p:nvPr/>
        </p:nvSpPr>
        <p:spPr>
          <a:xfrm rot="0" flipH="0" flipV="0">
            <a:off x="685800" y="35528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866775" y="3467100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渲染与音频都做了异步或预渲染，主线程只负责画和响应点击。</a:t>
            </a:r>
            <a:endParaRPr/>
          </a:p>
        </p:txBody>
      </p:sp>
      <p:sp>
        <p:nvSpPr>
          <p:cNvPr id="1115" name=""/>
          <p:cNvSpPr/>
          <p:nvPr/>
        </p:nvSpPr>
        <p:spPr>
          <a:xfrm rot="0" flipH="0" flipV="0">
            <a:off x="685800" y="39909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866775" y="3905250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走子进程</a:t>
            </a:r>
            <a:r>
              <a:rPr lang="en-US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工作线程，界面在下棋思考期间仍然流畅可交互。</a:t>
            </a:r>
            <a:endParaRPr/>
          </a:p>
        </p:txBody>
      </p:sp>
      <p:sp>
        <p:nvSpPr>
          <p:cNvPr id="1117" name=""/>
          <p:cNvSpPr/>
          <p:nvPr/>
        </p:nvSpPr>
        <p:spPr>
          <a:xfrm rot="0" flipH="0" flipV="0">
            <a:off x="685800" y="44291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866775" y="4343400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数据层失败不阻断对局，只降级为提示，不让玩家卡在存档上。</a:t>
            </a:r>
            <a:endParaRPr/>
          </a:p>
        </p:txBody>
      </p:sp>
      <p:sp>
        <p:nvSpPr>
          <p:cNvPr id="1119" name=""/>
          <p:cNvSpPr/>
          <p:nvPr/>
        </p:nvSpPr>
        <p:spPr>
          <a:xfrm rot="0" flipH="0" flipV="0">
            <a:off x="733425" y="48196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1120" name=""/>
          <p:cNvSpPr/>
          <p:nvPr/>
        </p:nvSpPr>
        <p:spPr>
          <a:xfrm rot="0" flipH="0" flipV="0">
            <a:off x="733425" y="48196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923925" y="49149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底座设计的唯一目标：把「不可控的外部调用」从</a:t>
            </a:r>
            <a:r>
              <a:rPr lang="en-US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 xml:space="preserve"> UI </a:t>
            </a: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线程和全局锁上剥离出去。</a:t>
            </a:r>
            <a:endParaRPr/>
          </a:p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08 / 64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124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2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2 章&lt;/Text&gt;&#10;    &lt;Text style={{ fontSize: 62, fontWeight: &quot;bold&quot;, color: &quot;#F5E3BE&quot;, fontFamily: &quot;'Songti SC', 'STSong', 'SimSun', serif&quot;, marginTop: 12 }}&gt;核心功能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对局闭环、交互反馈与氛围系统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1126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02</a:t>
            </a:r>
            <a:endParaRPr/>
          </a:p>
        </p:txBody>
      </p:sp>
      <p:sp>
        <p:nvSpPr>
          <p:cNvPr id="1129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02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核心功能</a:t>
            </a:r>
            <a:endParaRPr/>
          </a:p>
        </p:txBody>
      </p:sp>
      <p:sp>
        <p:nvSpPr>
          <p:cNvPr id="1133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对局闭环、交互反馈与氛围系统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5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一场能玩的对局，至少要同时成立这几件事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对局闭环 = 落子可预期 + 操作可回退 + 状态可读 + 氛围可调&lt;/Text&gt;&#10;  &lt;/Box&gt;&#10;  &lt;Box style={{ width: &quot;100%&quot;, height: 510, flexDirection: &quot;column&quot; }}&gt;&#10;  &lt;Box style={{ flexDirection: &quot;row&quot;, width: &quot;100%&quot;, height: &quot;100%&quot;, gap: 36, overflow: &quot;hidden&quot; }}&gt;          &lt;Box style={{ flexDirection: &quot;column&quot;, gap: 10 }}&gt;&#10;      &lt;Image src=&quot;assets/shot_connect6.png&quot; style={{ width: 420, height: 20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实机 · 六子棋对局（侧栏含胜率曲线与主题）&lt;/Text&gt;&#10;    &lt;/Box&gt;&#10;        &lt;Box style={{ flex: 1, flexDirection: &quot;column&quot;, justifyContent: &quot;center&quot; }}&gt;&#10;    &lt;Text style={{ fontSize: 17, lineHeight: 1.68, color: &quot;#2A2118&quot;, fontFamily: &quot;'PingFang SC', 'Microsoft YaHei', sans-serif&quot;, marginBottom: 11 }}&gt;点哪落哪的两步式交互、随时可退的悔棋、听得见的落子音、切得动的棋盘主题——缺任何一环，「能玩」都会打折扣。&lt;/Text&gt;&#10;    &lt;Text style={{ fontSize: 17, lineHeight: 1.68, color: &quot;#2A2118&quot;, fontFamily: &quot;'PingFang SC', 'Microsoft YaHei', sans-serif&quot;, marginBottom: 11 }}&gt;右边这张对局界面元素并不密，但每一步操作都有明确反馈、每一步都可回退。这才是真正的「完整」——完整不等于按钮多，而是没有死路、没有不确定。&lt;/Text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落子：两步式（选格 → 确认），误触不落子。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回退：悔棋一次撤一整轮，撤到我方落子之前。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氛围：音乐、音效、主题三个系统各归各、可独立切换。&lt;/Text&gt;&#10;    &lt;/Box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一场能玩的对局，至少要同时成立这几件事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对局闭环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=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落子可预期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操作可回退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状态可读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氛围可调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85800" y="1352550"/>
            <a:ext cx="4000500" cy="19050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1" name=""/>
          <p:cNvPicPr>
            <a:picLocks noChangeAspect="1"/>
          </p:cNvPicPr>
          <p:nvPr/>
        </p:nvPicPr>
        <p:blipFill>
          <a:blip r:embed="rId1"/>
          <a:srcRect l="0" t="13995" r="0" b="13995"/>
          <a:stretch>
            <a:fillRect/>
          </a:stretch>
        </p:blipFill>
        <p:spPr>
          <a:xfrm rot="0" flipH="0" flipV="0">
            <a:off x="685800" y="1352550"/>
            <a:ext cx="4000500" cy="190500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85800" y="3352800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实机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六子棋对局（侧栏含胜率曲线与主题）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029200" y="2409825"/>
            <a:ext cx="64770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点哪落哪的两步式交互、随时可退的悔棋、听得见的落子音、切得动的棋盘主题——缺任何一环，「能玩」都会打折扣。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029200" y="3171825"/>
            <a:ext cx="64770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右边这张对局界面元素并不密，但每一步操作都有明确反馈、每一步都可回退。这才是真正的「完整」——完整不等于按钮多，而是没有死路、没有不确定。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029200" y="40195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210175" y="3933825"/>
            <a:ext cx="62960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落子：两步式（选格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确认），误触不落子。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5029200" y="44291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210175" y="4343400"/>
            <a:ext cx="62960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回退：悔棋一次撤一整轮，撤到我方落子之前。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029200" y="483870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210175" y="4752975"/>
            <a:ext cx="62960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氛围：音乐、音效、主题三个系统各归各、可独立切换。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10 / 64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3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两步式落子为什么可靠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状态机只有三个态，每个态都有明确的进入与退出条件&lt;/Text&gt;&#10;  &lt;/Box&gt;&#10;  &lt;Box style={{ width: &quot;100%&quot;, height: 510, flexDirection: &quot;column&quot; }}&gt;&#10;  &lt;Box style={{ flexDirection: &quot;row&quot;, width: &quot;100%&quot;, height: &quot;100%&quot;, gap: 36, overflow: &quot;hidden&quot; }}&gt;        &lt;Box style={{ flex: 1, flexDirection: &quot;column&quot;, justifyContent: &quot;center&quot; }}&gt;&#10;    &lt;Text style={{ fontSize: 17, lineHeight: 1.68, color: &quot;#2A2118&quot;, fontFamily: &quot;'PingFang SC', 'Microsoft YaHei', sans-serif&quot;, marginBottom: 11 }}&gt;落子被拆成「选格 → 确认」两步。先点目标格，棋盘高亮候选点、状态条提示本回合还剩几子；只有再点「确认」才真正落子。误触一格的代价从「下错棋」降到「重新选」。&lt;/Text&gt;&#10;    &lt;Text style={{ fontSize: 17, lineHeight: 1.68, color: &quot;#2A2118&quot;, fontFamily: &quot;'PingFang SC', 'Microsoft YaHei', sans-serif&quot;, marginBottom: 11 }}&gt;这个设计背后是一个只有三个态的状态机：idle（轮到你）→ selected（已选、待确认）→ placed（已落）。状态迁移的每一条边都对应一次明确的用户操作，没有隐式跳转。&lt;/Text&gt;&#10;    &lt;Text style={{ fontSize: 17, lineHeight: 1.68, color: &quot;#2A2118&quot;, fontFamily: &quot;'PingFang SC', 'Microsoft YaHei', sans-serif&quot;, marginBottom: 11 }}&gt;它带来的收益是可测的：任意 placed 态都能经悔棋回到「上一次落子之前」，状态机和撤销链一一对应。六子棋每轮可落 1~2 子，两步式还能顺带处理「这一轮还剩几个子」的计数问题。&lt;/Text&gt;&#10;  &lt;/Box&gt;&#10;          &lt;Box style={{ flexDirection: &quot;column&quot;, gap: 10 }}&gt;&#10;      &lt;Image src=&quot;assets/shot_connect6.png&quot; style={{ width: 400, height: 205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两步式：先选格高亮，再点确认落子&lt;/Text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1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两步式落子为什么可靠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状态机只有三个态，每个态都有明确的进入与退出条件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85800" y="2476500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落子被拆成「选格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确认」两步。先点目标格，棋盘高亮候选点、状态条提示本回合还剩几子；只有再点「确认」才真正落子。误触一格的代价从「下错棋」降到「重新选」。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85800" y="3238500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这个设计背后是一个只有三个态的状态机：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>idle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（轮到你）→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selected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（已选、待确认）→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placed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（已落）。状态迁移的每一条边都对应一次明确的用户操作，没有隐式跳转。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85800" y="4000500"/>
            <a:ext cx="66675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它带来的收益是可测的：任意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placed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态都能经悔棋回到「上一次落子之前」，状态机和撤销链一一对应。六子棋每轮可落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1~2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子，两步式还能顺带处理「这一轮还剩几个子」的计数问题。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696200" y="1352550"/>
            <a:ext cx="3810000" cy="1952625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2" name=""/>
          <p:cNvPicPr>
            <a:picLocks noChangeAspect="1"/>
          </p:cNvPicPr>
          <p:nvPr/>
        </p:nvPicPr>
        <p:blipFill>
          <a:blip r:embed="rId1"/>
          <a:srcRect l="0" t="11250" r="0" b="11250"/>
          <a:stretch>
            <a:fillRect/>
          </a:stretch>
        </p:blipFill>
        <p:spPr>
          <a:xfrm rot="0" flipH="0" flipV="0">
            <a:off x="7696200" y="1352550"/>
            <a:ext cx="3810000" cy="1952625"/>
          </a:xfrm>
          <a:prstGeom prst="roundRect">
            <a:avLst>
              <a:gd name="adj" fmla="val 3902"/>
            </a:avLst>
          </a:prstGeom>
          <a:ln/>
        </p:spPr>
      </p:pic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696200" y="3400425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两步式：先选格高亮，再点确认落子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11 / 64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6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悔棋整轮：一个真实 bug 的来龙去脉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表面看是「悔棋没反应」，实际是「一轮」的语义在人机/人人两种模式下发生了冲突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悔棋原本按 round_no 撤「最近一轮」。人机模式下，最近一轮恰好是 AI 的回合——撤完又轮到 AI，等于没撤。用户点悔棋，棋盘纹丝不动。&lt;/Text&gt;&#10;    &lt;Text style={{ fontSize: 17, lineHeight: 1.68, color: &quot;#2A2118&quot;, fontFamily: &quot;'PingFang SC', 'Microsoft YaHei', sans-serif&quot;, marginBottom: 11 }}&gt;根因是「一轮」的语义在两种模式下不一致：人人对战撤一轮就等于撤一回合，人机对战撤一轮只撤了 AI 那一手，玩家的棋还在。&lt;/Text&gt;&#10;    &lt;Text style={{ fontSize: 17, lineHeight: 1.68, color: &quot;#2A2118&quot;, fontFamily: &quot;'PingFang SC', 'Microsoft YaHei', sans-serif&quot;, marginBottom: 11 }}&gt;修法是给 undo_round 加 to_human 参数：循环撤销，直到当前行棋方是 human，也就是撤到「我上一次落子之前」。末尾再补一句 _schedule_ai_turn，万一 AI 先手被撤光就重新调度，人类回合则自动跳过。&lt;/Text&gt;&#10;    &lt;Text style={{ fontSize: 17, lineHeight: 1.68, color: &quot;#2A2118&quot;, fontFamily: &quot;'PingFang SC', 'Microsoft YaHei', sans-serif&quot;, marginBottom: 11 }}&gt;值得注意的是缺陷的出身：从初始 commit 就埋着。git show 逐字比对可见，注释写的是「撤到人类可控局面」，实现却是无参的「撤最近一轮」——注释和代码从第一版就对不上，光读注释永远发现不了。&lt;/Text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修复点：undo_round(to_human=True) 循环撤到当前行棋方为人类；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配套：末尾补 _schedule_ai_turn()，处理 AI 先手被撤光的边界；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调用方共 3 处，全部带模式判定，避免只修一处留下暗坑。&lt;/Text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教训：逻辑类缺陷不能靠改，必须先做版本取证——确认「它是怎么进来的」，才敢动它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悔棋整轮：一个真实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bug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的来龙去脉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表面看是「悔棋没反应」，实际是「一轮」的语义在人机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人人两种模式下发生了冲突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17240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悔棋原本按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round_no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撤「最近一轮」。人机模式下，最近一轮恰好是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的回合——撤完又轮到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AI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，等于没撤。用户点悔棋，棋盘纹丝不动。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根因是「一轮」的语义在两种模式下不一致：人人对战撤一轮就等于撤一回合，人机对战撤一轮只撤了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那一手，玩家的棋还在。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85800" y="26003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修法是给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undo_round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加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to_human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参数：循环撤销，直到当前行棋方是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human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，也就是撤到「我上一次落子之前」。末尾再补一句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_schedule_ai_turn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，万一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先手被撤光就重新调度，人类回合则自动跳过。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85800" y="33623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值得注意的是缺陷的出身：从初始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commit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就埋着。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git show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逐字比对可见，注释写的是「撤到人类可控局面」，实现却是无参的「撤最近一轮」——注释和代码从第一版就对不上，光读注释永远发现不了。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85800" y="42100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66775" y="4124325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修复点：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undo_round(to_human=True)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循环撤到当前行棋方为人类；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85800" y="46196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66775" y="4533900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配套：末尾补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_schedule_ai_turn()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，处理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先手被撤光的边界；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85800" y="502920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66775" y="4943475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调用方共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3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处，全部带模式判定，避免只修一处留下暗坑。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733425" y="53911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733425" y="53911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23925" y="54864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教训：逻辑类缺陷不能靠改，必须先做版本取证——确认「它是怎么进来的」，才敢动它。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12 / 64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6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氛围系统：音乐、音效、主题各归各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三个子系统各管一摊：音乐管播放、音效管延迟、主题管外观&lt;/Text&gt;&#10;  &lt;/Box&gt;&#10;  &lt;Box style={{ width: &quot;100%&quot;, height: 510, flexDirection: &quot;column&quot; }}&gt;&#10;  &lt;Box style={{ flexDirection: &quot;row&quot;, width: &quot;100%&quot;, height: &quot;100%&quot;, gap: 36, overflow: &quot;hidden&quot; }}&gt;          &lt;Box style={{ flexDirection: &quot;column&quot;, gap: 10 }}&gt;&#10;      &lt;Image src=&quot;assets/shot_launcher.png&quot; style={{ width: 410, height: 20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启动器：音乐入口与主题切换都在这里&lt;/Text&gt;&#10;    &lt;/Box&gt;&#10;        &lt;Box style={{ flex: 1, flexDirection: &quot;column&quot;, justifyContent: &quot;center&quot; }}&gt;&#10;    &lt;Text style={{ fontSize: 17, lineHeight: 1.68, color: &quot;#2A2118&quot;, fontFamily: &quot;'PingFang SC', 'Microsoft YaHei', sans-serif&quot;, marginBottom: 11 }}&gt;音乐有两个入口：启动页和对局侧栏都能点歌，点完高亮当前曲。两处背后是同一个 MusicPlayer 实例，绝不自建第二个 MCI 引擎——否则两条播放链一起抢设备，必然出问题。&lt;/Text&gt;&#10;    &lt;Text style={{ fontSize: 17, lineHeight: 1.68, color: &quot;#2A2118&quot;, fontFamily: &quot;'PingFang SC', 'Microsoft YaHei', sans-serif&quot;, marginBottom: 11 }}&gt;落子音走双轨：mp3 走异步快轨、wav 走同步慢轨，按扩展名自动分流。原因是 wav 的播放命令在 MCI 命令串层是同步阻塞的，和落子音同队列串行会把落子拖后 300ms 以上。&lt;/Text&gt;&#10;    &lt;Text style={{ fontSize: 17, lineHeight: 1.68, color: &quot;#2A2118&quot;, fontFamily: &quot;'PingFang SC', 'Microsoft YaHei', sans-serif&quot;, marginBottom: 11 }}&gt;主题系统做了关键的一次解耦：棋盘配色与棋子材质各是各的下拉框，5 套配色和 5 种材质可以自由组合。切换时只重建精灵，不碰底板，代价从「整屏重绘」降到「局部替换」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氛围系统：音乐、音效、主题各归各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三个子系统各管一摊：音乐管播放、音效管延迟、主题管外观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85800" y="1352550"/>
            <a:ext cx="3905250" cy="19050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2" name=""/>
          <p:cNvPicPr>
            <a:picLocks noChangeAspect="1"/>
          </p:cNvPicPr>
          <p:nvPr/>
        </p:nvPicPr>
        <p:blipFill>
          <a:blip r:embed="rId1"/>
          <a:srcRect l="0" t="13117" r="0" b="13117"/>
          <a:stretch>
            <a:fillRect/>
          </a:stretch>
        </p:blipFill>
        <p:spPr>
          <a:xfrm rot="0" flipH="0" flipV="0">
            <a:off x="685800" y="1352550"/>
            <a:ext cx="3905250" cy="190500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85800" y="335280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启动器：音乐入口与主题切换都在这里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933950" y="2476500"/>
            <a:ext cx="657225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音乐有两个入口：启动页和对局侧栏都能点歌，点完高亮当前曲。两处背后是同一个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MusicPlayer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实例，绝不自建第二个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MCI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引擎——否则两条播放链一起抢设备，必然出问题。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933950" y="3562350"/>
            <a:ext cx="65722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落子音走双轨：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mp3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走异步快轨、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wav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走同步慢轨，按扩展名自动分流。原因是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wav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的播放命令在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MCI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命令串层是同步阻塞的，和落子音同队列串行会把落子拖后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300ms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以上。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933950" y="4324350"/>
            <a:ext cx="65722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主题系统做了关键的一次解耦：棋盘配色与棋子材质各是各的下拉框，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5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套配色和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5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种材质可以自由组合。切换时只重建精灵，不碰底板，代价从「整屏重绘」降到「局部替换」。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13 / 64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9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3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3 章&lt;/Text&gt;&#10;    &lt;Text style={{ fontSize: 62, fontWeight: &quot;bold&quot;, color: &quot;#F5E3BE&quot;, fontFamily: &quot;'Songti SC', 'STSong', 'SimSun', serif&quot;, marginTop: 12 }}&gt;技术架构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渲染 · 音频 · AI 三条主线的原理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81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03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03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技术架构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渲染</a:t>
            </a:r>
            <a:r>
              <a:rPr lang="en-US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音频</a:t>
            </a:r>
            <a:r>
              <a:rPr lang="en-US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 xml:space="preserve"> · AI </a:t>
            </a: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三条主线的原理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0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总体分层与依赖方向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四层职责单一，依赖方向单向，任何一层都可以被单独替换或测试&lt;/Text&gt;&#10;  &lt;/Box&gt;&#10;  &lt;Box style={{ width: &quot;100%&quot;, height: 510, flexDirection: &quot;column&quot; }}&gt;&#10;  &lt;Box style={{ width: &quot;100%&quot;, height: &quot;100%&quot;, flexDirection: &quot;column&quot; }}&gt;&#10;  &lt;Box style={{ flexDirection: &quot;row&quot;, height: &quot;100%&quot;, gap: 30, alignItems: &quot;center&quot; }}&gt;&#10;    &lt;Box style={{ width: 520, flexDirection: &quot;column&quot;, justifyContent: &quot;center&quot;, gap: 10, alignItems: &quot;center&quot; }}&gt;&#10;    &lt;svg width=&quot;920&quot; height=&quot;300&quot; viewBox=&quot;0 0 920 300&quot; style={{ background: &quot;rgba(140,90,43,0.05)&quot;, borderRadius: 10, maxWidth: &quot;100%&quot;, height: &quot;auto&quot; }}&gt;&#10;      &lt;rect x=&quot;40&quot; y=&quot;22&quot; width=&quot;840&quot; height=&quot;46&quot; rx=&quot;8&quot; fill=&quot;#8C5A2B&quot;/&gt;&lt;text x=&quot;60&quot; y=&quot;51&quot; font-size=&quot;17&quot; fill=&quot;#F5E3BE&quot; font-family=&quot;sans-serif&quot;&gt;表现层  gui / xiangqi_gui —— 只负责画与响应，不写规则&lt;/text&gt;&#10;      &lt;rect x=&quot;40&quot; y=&quot;86&quot; width=&quot;840&quot; height=&quot;46&quot; rx=&quot;8&quot; fill=&quot;#B3271E&quot;/&gt;&lt;text x=&quot;60&quot; y=&quot;115&quot; font-size=&quot;17&quot; fill=&quot;#F5E3BE&quot; font-family=&quot;sans-serif&quot;&gt;逻辑层  game / board / xiangqi —— 规则、胜负、合法着法&lt;/text&gt;&#10;      &lt;rect x=&quot;40&quot; y=&quot;150&quot; width=&quot;840&quot; height=&quot;46&quot; rx=&quot;8&quot; fill=&quot;#2A2118&quot;/&gt;&lt;text x=&quot;60&quot; y=&quot;179&quot; font-size=&quot;17&quot; fill=&quot;#F5E3BE&quot; font-family=&quot;sans-serif&quot;&gt;智能层  ai / kill_search / pikafish_engine —— 只吃棋盘出着法&lt;/text&gt;&#10;      &lt;rect x=&quot;40&quot; y=&quot;214&quot; width=&quot;840&quot; height=&quot;46&quot; rx=&quot;8&quot; fill=&quot;#8C5A2B&quot; opacity=&quot;0.72&quot;/&gt;&lt;text x=&quot;60&quot; y=&quot;243&quot; font-size=&quot;17&quot; fill=&quot;#F5E3BE&quot; font-family=&quot;sans-serif&quot;&gt;基础层  paths / fonts / music / sounds / winmm / database&lt;/text&gt;&#10;      &lt;line x1=&quot;460&quot; y1=&quot;68&quot; x2=&quot;460&quot; y2=&quot;86&quot; stroke=&quot;#2A2118&quot; stroke-width=&quot;2&quot;/&gt;&#10;      &lt;line x1=&quot;460&quot; y1=&quot;132&quot; x2=&quot;460&quot; y2=&quot;150&quot; stroke=&quot;#2A2118&quot; stroke-width=&quot;2&quot;/&gt;&#10;      &lt;line x1=&quot;460&quot; y1=&quot;196&quot; x2=&quot;460&quot; y2=&quot;214&quot; stroke=&quot;#2A2118&quot; stroke-width=&quot;2&quot;/&gt;&#10;    &lt;/svg&gt;&#10;      &lt;Text style={{ fontSize: 14, lineHeight: 1.4, color: &quot;rgba(42,33,24,0.6)&quot;, fontFamily: &quot;'PingFang SC', 'Microsoft YaHei', sans-serif&quot; }}&gt;依赖只向下：上层消费下层服务，下层永不反向调用上层&lt;/Text&gt;&#10;    &lt;/Box&gt;&#10;    &lt;Box style={{ flex: 1, flexDirection: &quot;column&quot;, justifyContent: &quot;center&quot;, gap: 6 }}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表现层不含规则：换个界面，棋照样能下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智能层只有一个入口 get_move(board, color, stones)，换引擎不动上层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基础层无业务语义，谁都能调，但它谁也不调。&lt;/Text&gt;&#10;    &lt;/Box&gt;&#10;    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分层的收益是可验证性：逻辑层与渲染解耦后，规则可以脱离界面单独跑测试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总体分层与依赖方向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四层职责单一，依赖方向单向，任何一层都可以被单独替换或测试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5800" y="1952625"/>
            <a:ext cx="8763000" cy="2857500"/>
          </a:xfrm>
          <a:prstGeom prst="roundRect">
            <a:avLst>
              <a:gd name="adj" fmla="val 3333"/>
            </a:avLst>
          </a:prstGeom>
          <a:ln/>
        </p:spPr>
        <p:txBody>
          <a:bodyPr/>
          <a:p/>
        </p:txBody>
      </p:sp>
      <p:pic>
        <p:nvPicPr>
          <p:cNvPr id="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952625"/>
            <a:ext cx="4953000" cy="2857500"/>
          </a:xfrm>
          <a:prstGeom prst="rect">
            <a:avLst/>
          </a:prstGeom>
          <a:ln/>
        </p:spPr>
      </p:pic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495425" y="4905375"/>
            <a:ext cx="3333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依赖只向下：上层消费下层服务，下层永不反向调用上层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5924550" y="29241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105525" y="283845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表现层不含规则：换个界面，棋照样能下。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5924550" y="34099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105525" y="3324225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智能层只有一个入口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get_move(board, color, stones)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，换引擎不动上层。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924550" y="38957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105525" y="381000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基础层无业务语义，谁都能调，但它谁也不调。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分层的收益是可验证性：逻辑层与渲染解耦后，规则可以脱离界面单独跑测试。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15 / 64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09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4× 超采样渲染管线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四段管线解决同一个问题：让边缘在小尺寸下不糊、放大后不脏&lt;/Text&gt;&#10;  &lt;/Box&gt;&#10;  &lt;Box style={{ width: &quot;100%&quot;, height: 510, flexDirection: &quot;column&quot; }}&gt;&#10;  &lt;Box style={{ width: &quot;100%&quot;, height: &quot;100%&quot;, flexDirection: &quot;column&quot;, justifyContent: &quot;center&quot;, gap: 14 }}&gt;&#10;  &lt;Box style={{ flexDirection: &quot;row&quot;, alignItems: &quot;stretch&quot;, justifyContent: &quot;center&quot;, gap: 8 }}&gt;&#10;&lt;Box style={{ width: 186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1. SS=4 绘制&lt;/Text&gt;&#10;        &lt;Text style={{ fontSize: 12, lineHeight: 1.45, color: &quot;rgba(42,33,24,0.72)&quot;, fontFamily: &quot;'PingFang SC', 'Microsoft YaHei', sans-serif&quot; }}&gt;在 4 倍分辨率空间画棋盘/棋子，天然抗锯齿&lt;/Text&gt;&#10;      &lt;/Box&gt;&#10;      &lt;Text style={{ fontSize: 20, color: &quot;#B3271E&quot;, fontFamily: &quot;'Songti SC', 'STSong', 'SimSun', serif&quot;, alignSelf: &quot;center&quot; }}&gt;→&lt;/Text&gt;&#10;      &lt;Box style={{ width: 186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2. BOX 降采样&lt;/Text&gt;&#10;        &lt;Text style={{ fontSize: 12, lineHeight: 1.45, color: &quot;rgba(42,33,24,0.72)&quot;, fontFamily: &quot;'PingFang SC', 'Microsoft YaHei', sans-serif&quot; }}&gt;面积平均，无负瓣，边界无振铃&lt;/Text&gt;&#10;      &lt;/Box&gt;&#10;      &lt;Text style={{ fontSize: 20, color: &quot;#B3271E&quot;, fontFamily: &quot;'Songti SC', 'STSong', 'SimSun', serif&quot;, alignSelf: &quot;center&quot; }}&gt;→&lt;/Text&gt;&#10;      &lt;Box style={{ width: 186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3. UnsharpMask&lt;/Text&gt;&#10;        &lt;Text style={{ fontSize: 12, lineHeight: 1.45, color: &quot;rgba(42,33,24,0.72)&quot;, fontFamily: &quot;'PingFang SC', 'Microsoft YaHei', sans-serif&quot; }}&gt;radius 1.1 / 60% / 阈值 2 找回锐度&lt;/Text&gt;&#10;      &lt;/Box&gt;&#10;      &lt;Text style={{ fontSize: 20, color: &quot;#B3271E&quot;, fontFamily: &quot;'Songti SC', 'STSong', 'SimSun', serif&quot;, alignSelf: &quot;center&quot; }}&gt;→&lt;/Text&gt;&#10;      &lt;Box style={{ width: 186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4. 重建 Alpha&lt;/Text&gt;&#10;        &lt;Text style={{ fontSize: 12, lineHeight: 1.45, color: &quot;rgba(42,33,24,0.72)&quot;, fontFamily: &quot;'PingFang SC', 'Microsoft YaHei', sans-serif&quot; }}&gt;圆内不透明 + 最外羽化，与内容取 lighter&lt;/Text&gt;&#10;      &lt;/Box&gt;&#10;  &lt;/Box&gt;&#10;    &lt;Box style={{ width: &quot;100%&quot;, flexDirection: &quot;column&quot;, gap: 8 }}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先在 4× 空间画，等于把「锯齿」这一先天问题降级成「采样」这一确定问题。&lt;/Text&gt;&#10;    &lt;/Box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降采样用面积平均而非插值核，为了从根上避开振铃（详见下页对比）。&lt;/Text&gt;&#10;    &lt;/Box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降采样会把圆外透明像素混进内部，所以最后必须重建 alpha。&lt;/Text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条管线的每一段都不是设计出来的，而是被具体的画质问题一步步逼出来的。&lt;/Text&gt;&#10;  &lt;/Box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6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4×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超采样渲染管线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四段管线解决同一个问题：让边缘在小尺寸下不糊、放大后不脏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2076450" y="2400300"/>
            <a:ext cx="1733550" cy="828675"/>
          </a:xfrm>
          <a:prstGeom prst="roundRect">
            <a:avLst>
              <a:gd name="adj" fmla="val 6897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2076450" y="2400300"/>
            <a:ext cx="1733550" cy="828675"/>
          </a:xfrm>
          <a:custGeom>
            <a:pathLst>
              <a:path w="182" h="8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5"/>
                </a:lnTo>
                <a:cubicBezTo>
                  <a:pt x="4" y="86"/>
                  <a:pt x="5" y="87"/>
                  <a:pt x="6" y="87"/>
                </a:cubicBezTo>
                <a:cubicBezTo>
                  <a:pt x="3" y="87"/>
                  <a:pt x="0" y="84"/>
                  <a:pt x="0" y="8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2181225" y="2514600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1. SS=4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绘制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2181225" y="2714625"/>
            <a:ext cx="15240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在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4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倍分辨率空间画棋盘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棋子，天然抗锯齿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886200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191000" y="2400300"/>
            <a:ext cx="1733550" cy="828675"/>
          </a:xfrm>
          <a:prstGeom prst="roundRect">
            <a:avLst>
              <a:gd name="adj" fmla="val 6897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4191000" y="2400300"/>
            <a:ext cx="1733550" cy="828675"/>
          </a:xfrm>
          <a:custGeom>
            <a:pathLst>
              <a:path w="182" h="8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5"/>
                </a:lnTo>
                <a:cubicBezTo>
                  <a:pt x="4" y="86"/>
                  <a:pt x="5" y="87"/>
                  <a:pt x="6" y="87"/>
                </a:cubicBezTo>
                <a:cubicBezTo>
                  <a:pt x="3" y="87"/>
                  <a:pt x="0" y="84"/>
                  <a:pt x="0" y="8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295775" y="2514600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2. BOX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降采样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295775" y="2714625"/>
            <a:ext cx="15240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面积平均，无负瓣，边界无振铃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00750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305550" y="2400300"/>
            <a:ext cx="1733550" cy="828675"/>
          </a:xfrm>
          <a:prstGeom prst="roundRect">
            <a:avLst>
              <a:gd name="adj" fmla="val 6897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305550" y="2400300"/>
            <a:ext cx="1733550" cy="828675"/>
          </a:xfrm>
          <a:custGeom>
            <a:pathLst>
              <a:path w="182" h="8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5"/>
                </a:lnTo>
                <a:cubicBezTo>
                  <a:pt x="4" y="86"/>
                  <a:pt x="5" y="87"/>
                  <a:pt x="6" y="87"/>
                </a:cubicBezTo>
                <a:cubicBezTo>
                  <a:pt x="3" y="87"/>
                  <a:pt x="0" y="84"/>
                  <a:pt x="0" y="8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410325" y="2514600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>3. UnsharpMask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410325" y="2714625"/>
            <a:ext cx="15240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radius 1.1 / 60%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阈值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2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找回锐度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115300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8420100" y="2400300"/>
            <a:ext cx="1733550" cy="828675"/>
          </a:xfrm>
          <a:prstGeom prst="roundRect">
            <a:avLst>
              <a:gd name="adj" fmla="val 6897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130" name=""/>
          <p:cNvSpPr/>
          <p:nvPr/>
        </p:nvSpPr>
        <p:spPr>
          <a:xfrm rot="0" flipH="0" flipV="0">
            <a:off x="8420100" y="2400300"/>
            <a:ext cx="1733550" cy="828675"/>
          </a:xfrm>
          <a:custGeom>
            <a:pathLst>
              <a:path w="182" h="8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5"/>
                </a:lnTo>
                <a:cubicBezTo>
                  <a:pt x="4" y="86"/>
                  <a:pt x="5" y="87"/>
                  <a:pt x="6" y="87"/>
                </a:cubicBezTo>
                <a:cubicBezTo>
                  <a:pt x="3" y="87"/>
                  <a:pt x="0" y="84"/>
                  <a:pt x="0" y="8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8524875" y="2514600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4.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重建</a:t>
            </a: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 Alpha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524875" y="2714625"/>
            <a:ext cx="15240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圆内不透明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最外羽化，与内容取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lighter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85800" y="34480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66775" y="3362325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先在</a:t>
            </a:r>
            <a:r>
              <a:rPr lang="en-US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 4× </a:t>
            </a: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空间画，等于把「锯齿」这一先天问题降级成「采样」这一确定问题。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85800" y="388620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66775" y="3800475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降采样用面积平均而非插值核，为了从根上避开振铃（详见下页对比）。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85800" y="43243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66775" y="4238625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降采样会把圆外透明像素混进内部，所以最后必须重建</a:t>
            </a:r>
            <a:r>
              <a:rPr lang="en-US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 alpha</a:t>
            </a: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33425" y="471487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733425" y="471487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23925" y="481012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这条管线的每一段都不是设计出来的，而是被具体的画质问题一步步逼出来的。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16 / 64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44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为什么不用 LANCZOS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同一个降采样步骤，换一种核，画质问题的性质就完全不同&lt;/Text&gt;&#10;  &lt;/Box&gt;&#10;  &lt;Box style={{ width: &quot;100%&quot;, height: 510, flexDirection: &quot;column&quot; }}&gt;&#10;  &lt;Box style={{ width: &quot;100%&quot;, height: &quot;100%&quot;, flexDirection: &quot;column&quot;, gap: 14 }}&gt;&#10;  &lt;Box style={{ flexDirection: &quot;row&quot;, height: &quot;100%&quot;, gap: 24, alignItems: &quot;stretch&quot; }}&gt;&#10;    &lt;Box style={{ flex: 1, height: &quot;100%&quot;, background: &quot;rgba(140,90,43,0.06)&quot;, border: &quot;1px solid rgba(140,90,43,0.2)&quot;, borderRadius: 8, padding: &quot;22px 24px&quot;, flexDirection: &quot;column&quot;, gap: 12 }}&gt;&#10;      &lt;Text style={{ fontSize: 18, fontWeight: &quot;bold&quot;, color: &quot;rgba(42,33,24,0.5)&quot;, fontFamily: &quot;'Songti SC', 'STSong', 'SimSun', serif&quot; }}&gt;之前：LANCZOS 降采样&lt;/Text&gt;&#10;      &lt;Text style={{ fontSize: 17, lineHeight: 1.78, color: &quot;rgba(42,33,24,0.78)&quot;, fontFamily: &quot;'PingFang SC', 'Microsoft YaHei', sans-serif&quot; }}&gt;LANCZOS 的重采样核带负瓣，在「描边 ↔ 透明」这类高对比边界会过冲，产生彩色振铃：边缘泛出一圈青紫色毛边。小尺寸看不清，一旦棋盘铺到全屏大格子就非常明显，棋面看起来发虚发彩。这是它数学性质决定的，不是参数没调好。&lt;/Text&gt;&#10;    &lt;/Box&gt;&#10;    &lt;Box style={{ flex: 1, height: &quot;100%&quot;, background: &quot;rgba(179,39,30,0.06)&quot;, border: &quot;1px solid rgba(179,39,30,0.28)&quot;, borderRadius: 8, padding: &quot;22px 24px&quot;, flexDirection: &quot;column&quot;, gap: 12 }}&gt;&#10;      &lt;Text style={{ fontSize: 18, fontWeight: &quot;bold&quot;, color: &quot;#B3271E&quot;, fontFamily: &quot;'Songti SC', 'STSong', 'SimSun', serif&quot; }}&gt;现在：BOX + UnsharpMask&lt;/Text&gt;&#10;      &lt;Text style={{ fontSize: 17, lineHeight: 1.78, color: &quot;rgba(42,33,24,0.84)&quot;, fontFamily: &quot;'PingFang SC', 'Microsoft YaHei', sans-serif&quot; }}&gt;BOX（面积平均）核全为正、无负瓣，从根上不产生振铃，边界干净。代价是会略软，于是补一段 UnsharpMask(radius 1.1 / 60% / 阈值 2) 找回锐度。降采样前还要先给圆外透明区填上底色，否则卷积会把黑色卷进边缘，形成断续黑斑。&lt;/Text&gt;&#10;    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选择依据：负瓣是振铃的必要条件，去掉负瓣就根治了彩边——比事后加滤波补丁更可靠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7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为什么不用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LANCZOS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同一个降采样步骤，换一种核，画质问题的性质就完全不同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85800" y="1352550"/>
            <a:ext cx="5295900" cy="4238625"/>
          </a:xfrm>
          <a:prstGeom prst="roundRect">
            <a:avLst>
              <a:gd name="adj" fmla="val 1798"/>
            </a:avLst>
          </a:prstGeom>
          <a:solidFill>
            <a:srgbClr val="8C5A2B">
              <a:alpha val="6000"/>
            </a:srgbClr>
          </a:solidFill>
          <a:ln w="12700">
            <a:solidFill>
              <a:srgbClr val="8C5A2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14400" y="1562100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2118">
                    <a:alpha val="50000"/>
                  </a:srgbClr>
                </a:solidFill>
                <a:latin typeface="Songti SC"/>
                <a:ea typeface="Songti SC"/>
              </a:rPr>
              <a:t>之前：</a:t>
            </a:r>
            <a:r>
              <a:rPr lang="en-US" sz="1350" b="1">
                <a:solidFill>
                  <a:srgbClr val="2A2118">
                    <a:alpha val="50000"/>
                  </a:srgbClr>
                </a:solidFill>
                <a:latin typeface="Songti SC"/>
                <a:ea typeface="Songti SC"/>
              </a:rPr>
              <a:t xml:space="preserve">LANCZOS </a:t>
            </a:r>
            <a:r>
              <a:rPr lang="zh-CN" sz="1350" b="1">
                <a:solidFill>
                  <a:srgbClr val="2A2118">
                    <a:alpha val="50000"/>
                  </a:srgbClr>
                </a:solidFill>
                <a:latin typeface="Songti SC"/>
                <a:ea typeface="Songti SC"/>
              </a:rPr>
              <a:t>降采样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14400" y="1885950"/>
            <a:ext cx="48387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8000"/>
              </a:lnSpc>
            </a:pPr>
            <a:r>
              <a:rPr lang="en-US" sz="127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LANCZOS </a:t>
            </a:r>
            <a:r>
              <a:rPr lang="zh-CN" sz="127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的重采样核带负瓣，在「描边</a:t>
            </a:r>
            <a:r>
              <a:rPr lang="en-US" sz="127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 ↔ </a:t>
            </a:r>
            <a:r>
              <a:rPr lang="zh-CN" sz="127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透明」这类高对比边界会过冲，产生彩色振铃：边缘泛出一圈青紫色毛边。小尺寸看不清，一旦棋盘铺到全屏大格子就非常明显，棋面看起来发虚发彩。这是它数学性质决定的，不是参数没调好。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210300" y="1352550"/>
            <a:ext cx="5295900" cy="4238625"/>
          </a:xfrm>
          <a:prstGeom prst="roundRect">
            <a:avLst>
              <a:gd name="adj" fmla="val 1798"/>
            </a:avLst>
          </a:prstGeom>
          <a:solidFill>
            <a:srgbClr val="B3271E">
              <a:alpha val="6000"/>
            </a:srgbClr>
          </a:solidFill>
          <a:ln w="12700">
            <a:solidFill>
              <a:srgbClr val="B3271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438900" y="1562100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3271E"/>
                </a:solidFill>
                <a:latin typeface="Songti SC"/>
                <a:ea typeface="Songti SC"/>
              </a:rPr>
              <a:t>现在：</a:t>
            </a:r>
            <a:r>
              <a:rPr lang="en-US" sz="1350" b="1">
                <a:solidFill>
                  <a:srgbClr val="B3271E"/>
                </a:solidFill>
                <a:latin typeface="Songti SC"/>
                <a:ea typeface="Songti SC"/>
              </a:rPr>
              <a:t>BOX + UnsharpMask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438900" y="1885950"/>
            <a:ext cx="48387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8000"/>
              </a:lnSpc>
            </a:pPr>
            <a:r>
              <a:rPr lang="en-US" sz="1275">
                <a:solidFill>
                  <a:srgbClr val="2A2118">
                    <a:alpha val="84000"/>
                  </a:srgbClr>
                </a:solidFill>
                <a:latin typeface="PingFang SC"/>
                <a:ea typeface="PingFang SC"/>
              </a:rPr>
              <a:t>BOX</a:t>
            </a:r>
            <a:r>
              <a:rPr lang="zh-CN" sz="1275">
                <a:solidFill>
                  <a:srgbClr val="2A2118">
                    <a:alpha val="84000"/>
                  </a:srgbClr>
                </a:solidFill>
                <a:latin typeface="PingFang SC"/>
                <a:ea typeface="PingFang SC"/>
              </a:rPr>
              <a:t>（面积平均）核全为正、无负瓣，从根上不产生振铃，边界干净。代价是会略软，于是补一段</a:t>
            </a:r>
            <a:r>
              <a:rPr lang="en-US" sz="1275">
                <a:solidFill>
                  <a:srgbClr val="2A2118">
                    <a:alpha val="84000"/>
                  </a:srgbClr>
                </a:solidFill>
                <a:latin typeface="PingFang SC"/>
                <a:ea typeface="PingFang SC"/>
              </a:rPr>
              <a:t xml:space="preserve"> UnsharpMask(radius 1.1 / 60% / </a:t>
            </a:r>
            <a:r>
              <a:rPr lang="zh-CN" sz="1275">
                <a:solidFill>
                  <a:srgbClr val="2A2118">
                    <a:alpha val="84000"/>
                  </a:srgbClr>
                </a:solidFill>
                <a:latin typeface="PingFang SC"/>
                <a:ea typeface="PingFang SC"/>
              </a:rPr>
              <a:t>阈值</a:t>
            </a:r>
            <a:r>
              <a:rPr lang="en-US" sz="1275">
                <a:solidFill>
                  <a:srgbClr val="2A2118">
                    <a:alpha val="84000"/>
                  </a:srgbClr>
                </a:solidFill>
                <a:latin typeface="PingFang SC"/>
                <a:ea typeface="PingFang SC"/>
              </a:rPr>
              <a:t xml:space="preserve"> 2) </a:t>
            </a:r>
            <a:r>
              <a:rPr lang="zh-CN" sz="1275">
                <a:solidFill>
                  <a:srgbClr val="2A2118">
                    <a:alpha val="84000"/>
                  </a:srgbClr>
                </a:solidFill>
                <a:latin typeface="PingFang SC"/>
                <a:ea typeface="PingFang SC"/>
              </a:rPr>
              <a:t>找回锐度。降采样前还要先给圆外透明区填上底色，否则卷积会把黑色卷进边缘，形成断续黑斑。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选择依据：负瓣是振铃的必要条件，去掉负瓣就根治了彩边——比事后加滤波补丁更可靠。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17 / 64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0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棋子材质渲染的八层管线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顺序不可乱：每一层都建立在前一层的结果之上，光照类图层必须压在纹理之后&lt;/Text&gt;&#10;  &lt;/Box&gt;&#10;  &lt;Box style={{ width: &quot;100%&quot;, height: 510, flexDirection: &quot;column&quot; }}&gt;&#10;  &lt;Box style={{ width: &quot;100%&quot;, height: &quot;100%&quot;, flexDirection: &quot;column&quot; }}&gt;&#10;  &lt;Box style={{ flexDirection: &quot;row&quot;, height: &quot;100%&quot;, gap: 30, alignItems: &quot;center&quot; }}&gt;&#10;    &lt;Box style={{ width: 520, flexDirection: &quot;column&quot;, justifyContent: &quot;center&quot;, gap: 10, alignItems: &quot;center&quot; }}&gt;&#10;    &lt;svg width=&quot;470&quot; height=&quot;300&quot; viewBox=&quot;0 0 470 300&quot; style={{ background: &quot;rgba(140,90,43,0.05)&quot;, borderRadius: 10, maxWidth: &quot;100%&quot;, height: &quot;auto&quot; }}&gt;&#10;      &lt;rect x=&quot;30&quot; y=&quot;12&quot; width=&quot;410&quot; height=&quot;26&quot; rx=&quot;4&quot; fill=&quot;#8C5A2B&quot;/&gt;&lt;text x=&quot;44&quot; y=&quot;30&quot; font-size=&quot;13&quot; fill=&quot;#F5E3BE&quot; font-family=&quot;sans-serif&quot;&gt;1 侧壁&lt;/text&gt;&#10;      &lt;rect x=&quot;30&quot; y=&quot;44&quot; width=&quot;410&quot; height=&quot;26&quot; rx=&quot;4&quot; fill=&quot;#B3271E&quot;/&gt;&lt;text x=&quot;44&quot; y=&quot;62&quot; font-size=&quot;13&quot; fill=&quot;#F5E3BE&quot; font-family=&quot;sans-serif&quot;&gt;2 盘面渐变 · 3 年轮(只画外环) · 4 环境暗角&lt;/text&gt;&#10;      &lt;rect x=&quot;30&quot; y=&quot;76&quot; width=&quot;410&quot; height=&quot;26&quot; rx=&quot;4&quot; fill=&quot;#2A2118&quot;/&gt;&lt;text x=&quot;44&quot; y=&quot;94&quot; font-size=&quot;13&quot; fill=&quot;#F5E3BE&quot; font-family=&quot;sans-serif&quot;&gt;5 倒角明暗 · 6 底部反光 · 7 丝光(左上象限)&lt;/text&gt;&#10;      &lt;rect x=&quot;30&quot; y=&quot;108&quot; width=&quot;410&quot; height=&quot;26&quot; rx=&quot;4&quot; fill=&quot;#8C5A2B&quot;/&gt;&lt;text x=&quot;44&quot; y=&quot;126&quot; font-size=&quot;13&quot; fill=&quot;#F5E3BE&quot; font-family=&quot;sans-serif&quot;&gt;8 描边 · 9 阴刻字（0.62 格大小）&lt;/text&gt;&#10;      &lt;rect x=&quot;160&quot; y=&quot;152&quot; width=&quot;150&quot; height=&quot;130&quot; rx=&quot;75&quot; fill=&quot;#8C5A2B&quot; opacity=&quot;0.26&quot;/&gt;&#10;      &lt;text x=&quot;235&quot; y=&quot;224&quot; font-size=&quot;14&quot; fill=&quot;#2A2118&quot; text-anchor=&quot;middle&quot; font-family=&quot;sans-serif&quot;&gt;圆形 · 不透明 · 木纹真实&lt;/text&gt;&#10;    &lt;/svg&gt;&#10;      &lt;Text style={{ fontSize: 14, lineHeight: 1.4, color: &quot;rgba(42,33,24,0.6)&quot;, fontFamily: &quot;'PingFang SC', 'Microsoft YaHei', sans-serif&quot; }}&gt;侧壁→盘面→年轮→暗角→倒角→反光→丝光→描边→阴刻字&lt;/Text&gt;&#10;    &lt;/Box&gt;&#10;    &lt;Box style={{ flex: 1, flexDirection: &quot;column&quot;, justifyContent: &quot;center&quot;, gap: 6 }}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年轮只画 0.74r~0.99r 的外环带，中心留给字，避免纹理冲掉刻字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丝光是唯一的各向异性高光，只在左上象限，宽度约 (10+30g)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所有高光/纹理都避开中心字区——这是硬约束，不是可调项。&lt;/Text&gt;&#10;    &lt;/Box&gt;&#10;    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八层叠出来的才是「木头」，少任何一层都会退回「色块」或「玻璃」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8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棋子材质渲染的八层管线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顺序不可乱：每一层都建立在前一层的结果之上，光照类图层必须压在纹理之后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923925" y="1952625"/>
            <a:ext cx="4476750" cy="2857500"/>
          </a:xfrm>
          <a:prstGeom prst="roundRect">
            <a:avLst>
              <a:gd name="adj" fmla="val 3333"/>
            </a:avLst>
          </a:prstGeom>
          <a:ln/>
        </p:spPr>
        <p:txBody>
          <a:bodyPr/>
          <a:p/>
        </p:txBody>
      </p:sp>
      <p:pic>
        <p:nvPicPr>
          <p:cNvPr id="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1952625"/>
            <a:ext cx="4476750" cy="2857500"/>
          </a:xfrm>
          <a:prstGeom prst="rect">
            <a:avLst/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362075" y="4905375"/>
            <a:ext cx="36004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侧壁→盘面→年轮→暗角→倒角→反光→丝光→描边→阴刻字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924550" y="29241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105525" y="283845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年轮只画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0.74r~0.99r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的外环带，中心留给字，避免纹理冲掉刻字。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5924550" y="34099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105525" y="3324225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丝光是唯一的各向异性高光，只在左上象限，宽度约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(10+30g)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924550" y="38957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105525" y="381000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所有高光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纹理都避开中心字区——这是硬约束，不是可调项。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八层叠出来的才是「木头」，少任何一层都会退回「色块」或「玻璃」。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18 / 64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棋子材质的三个真实翻车点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三个坑分属绘制、采样、合成三个阶段，都是「小尺寸看不出、大尺寸才暴露」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① 渐变留缝：`_vbar` 原本用 1 像素间隔的细线逐行画渐变，行与行之间留了缝。小格子上被降采样盖住看不出，全屏大格子立刻爆出横向条纹和摩尔纹。改成连续矩形逐行填充才彻底消掉。&lt;/Text&gt;&#10;    &lt;Text style={{ fontSize: 17, lineHeight: 1.68, color: &quot;#2A2118&quot;, fontFamily: &quot;'PingFang SC', 'Microsoft YaHei', sans-serif&quot;, marginBottom: 11 }}&gt;② 降采样振铃：LANCZOS 让描边在高对比边界发彩，换成 BOX 面积平均加 UnsharpMask 补锐度才干净（与 P17 同源）。&lt;/Text&gt;&#10;    &lt;Text style={{ fontSize: 17, lineHeight: 1.68, color: &quot;#2A2118&quot;, fontFamily: &quot;'PingFang SC', 'Microsoft YaHei', sans-serif&quot;, marginBottom: 11 }}&gt;③ alpha 掉值：降采样会把圆外的透明像素混进内部，棋面 alpha 从 255 掉到 236~238，观感就是「发虚」。解法是在 4× 超采样空间画圆再降采样，最后与内容 alpha 取 lighter 合成，内部补回 255，最外一圈做 1px 羽化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共同规律：画质缺陷往往被缩略图掩盖，所以每一层都要在真实分辨率下用放大截图验收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19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棋子材质的三个真实翻车点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三个坑分属绘制、采样、合成三个阶段，都是「小尺寸看不出、大尺寸才暴露」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85800" y="25622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渐变留缝：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`_vbar`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原本用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像素间隔的细线逐行画渐变，行与行之间留了缝。小格子上被降采样盖住看不出，全屏大格子立刻爆出横向条纹和摩尔纹。改成连续矩形逐行填充才彻底消掉。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85800" y="33242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②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降采样振铃：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LANCZOS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让描边在高对比边界发彩，换成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BOX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面积平均加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UnsharpMask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补锐度才干净（与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P17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同源）。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85800" y="376237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③ alpha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掉值：降采样会把圆外的透明像素混进内部，棋面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alpha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从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255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掉到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236~238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，观感就是「发虚」。解法是在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4×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超采样空间画圆再降采样，最后与内容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alpha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取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lighter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合成，内部补回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255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，最外一圈做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1px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羽化。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733425" y="456247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733425" y="456247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923925" y="465772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共同规律：画质缺陷往往被缩略图掩盖，所以每一层都要在真实分辨率下用放大截图验收。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19 / 64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6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音频系统的异步化与双轨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一条主线程、两条工作轨、一份共享设备——用分流换回主线程的即时响应&lt;/Text&gt;&#10;  &lt;/Box&gt;&#10;  &lt;Box style={{ width: &quot;100%&quot;, height: 510, flexDirection: &quot;column&quot; }}&gt;&#10;  &lt;Box style={{ width: &quot;100%&quot;, height: &quot;100%&quot;, flexDirection: &quot;column&quot; }}&gt;&#10;  &lt;Box style={{ flexDirection: &quot;row&quot;, height: &quot;100%&quot;, gap: 30, alignItems: &quot;center&quot; }}&gt;&#10;    &lt;Box style={{ width: 520, flexDirection: &quot;column&quot;, justifyContent: &quot;center&quot;, gap: 10, alignItems: &quot;center&quot; }}&gt;&#10;    &lt;svg width=&quot;900&quot; height=&quot;200&quot; viewBox=&quot;0 0 900 200&quot; style={{ background: &quot;rgba(140,90,43,0.05)&quot;, borderRadius: 10, maxWidth: &quot;100%&quot;, height: &quot;auto&quot; }}&gt;&#10;      &lt;rect x=&quot;30&quot; y=&quot;80&quot; width=&quot;150&quot; height=&quot;44&quot; rx=&quot;8&quot; fill=&quot;#8C5A2B&quot;/&gt;&lt;text x=&quot;105&quot; y=&quot;107&quot; font-size=&quot;14&quot; fill=&quot;#F5E3BE&quot; text-anchor=&quot;middle&quot; font-family=&quot;sans-serif&quot;&gt;UI 入队即返回&lt;/text&gt;&#10;      &lt;rect x=&quot;220&quot; y=&quot;80&quot; width=&quot;150&quot; height=&quot;44&quot; rx=&quot;8&quot; fill=&quot;#B3271E&quot;/&gt;&lt;text x=&quot;295&quot; y=&quot;107&quot; font-size=&quot;14&quot; fill=&quot;#F5E3BE&quot; text-anchor=&quot;middle&quot; font-family=&quot;sans-serif&quot;&gt;按扩展名分流&lt;/text&gt;&#10;      &lt;rect x=&quot;410&quot; y=&quot;18&quot; width=&quot;180&quot; height=&quot;44&quot; rx=&quot;8&quot; fill=&quot;#2A2118&quot;/&gt;&lt;text x=&quot;500&quot; y=&quot;45&quot; font-size=&quot;14&quot; fill=&quot;#F5E3BE&quot; text-anchor=&quot;middle&quot; font-family=&quot;sans-serif&quot;&gt;worker·mp3 快轨&lt;/text&gt;&#10;      &lt;rect x=&quot;410&quot; y=&quot;142&quot; width=&quot;180&quot; height=&quot;44&quot; rx=&quot;8&quot; fill=&quot;#2A2118&quot;/&gt;&lt;text x=&quot;500&quot; y=&quot;169&quot; font-size=&quot;14&quot; fill=&quot;#F5E3BE&quot; text-anchor=&quot;middle&quot; font-family=&quot;sans-serif&quot;&gt;worker·wav 慢轨&lt;/text&gt;&#10;      &lt;rect x=&quot;640&quot; y=&quot;80&quot; width=&quot;210&quot; height=&quot;44&quot; rx=&quot;8&quot; fill=&quot;#8C5A2B&quot; opacity=&quot;0.72&quot;/&gt;&lt;text x=&quot;745&quot; y=&quot;107&quot; font-size=&quot;14&quot; fill=&quot;#F5E3BE&quot; text-anchor=&quot;middle&quot; font-family=&quot;sans-serif&quot;&gt;MCI(winmm) 设备&lt;/text&gt;&#10;      &lt;line x1=&quot;180&quot; y1=&quot;102&quot; x2=&quot;220&quot; y2=&quot;102&quot; stroke=&quot;#2A2118&quot; stroke-width=&quot;2&quot;/&gt;&#10;      &lt;line x1=&quot;370&quot; y1=&quot;102&quot; x2=&quot;410&quot; y2=&quot;40&quot; stroke=&quot;#2A2118&quot; stroke-width=&quot;2&quot;/&gt;&#10;      &lt;line x1=&quot;370&quot; y1=&quot;102&quot; x2=&quot;410&quot; y2=&quot;164&quot; stroke=&quot;#2A2118&quot; stroke-width=&quot;2&quot;/&gt;&#10;      &lt;line x1=&quot;590&quot; y1=&quot;40&quot; x2=&quot;640&quot; y2=&quot;102&quot; stroke=&quot;#2A2118&quot; stroke-width=&quot;2&quot;/&gt;&#10;      &lt;line x1=&quot;590&quot; y1=&quot;164&quot; x2=&quot;640&quot; y2=&quot;102&quot; stroke=&quot;#2A2118&quot; stroke-width=&quot;2&quot;/&gt;&#10;    &lt;/svg&gt;&#10;      &lt;Text style={{ fontSize: 14, lineHeight: 1.4, color: &quot;rgba(42,33,24,0.6)&quot;, fontFamily: &quot;'PingFang SC', 'Microsoft YaHei', sans-serif&quot; }}&gt;UI 只入队即返回；mp3/wav 分两条 worker，避免 wav 阻塞拖慢落子音&lt;/Text&gt;&#10;    &lt;/Box&gt;&#10;    &lt;Box style={{ flex: 1, flexDirection: &quot;column&quot;, justifyContent: &quot;center&quot;, gap: 6 }}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UI 线程只做「入队」，播放开销全部转移到 worker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wav 的 play 在命令串层同步阻塞，必须单独一条轨，不能和 mp3 混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深底色的设备只开一次，两条轨共享，避免重复 open 的开销。&lt;/Text&gt;&#10;    &lt;/Box&gt;&#10;    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异步化的目的不是「更快」，而是「不阻塞」——主线程一旦被音频占住，整个界面都会顿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音频系统的异步化与双轨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一条主线程、两条工作轨、一份共享设备——用分流换回主线程的即时响应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85800" y="2428875"/>
            <a:ext cx="8572500" cy="1905000"/>
          </a:xfrm>
          <a:prstGeom prst="roundRect">
            <a:avLst>
              <a:gd name="adj" fmla="val 5000"/>
            </a:avLst>
          </a:prstGeom>
          <a:ln/>
        </p:spPr>
        <p:txBody>
          <a:bodyPr/>
          <a:p/>
        </p:txBody>
      </p:sp>
      <p:pic>
        <p:nvPicPr>
          <p:cNvPr id="2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2428875"/>
            <a:ext cx="4953000" cy="1905000"/>
          </a:xfrm>
          <a:prstGeom prst="rect">
            <a:avLst/>
          </a:prstGeom>
          <a:ln/>
        </p:spPr>
      </p:pic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019175" y="4429125"/>
            <a:ext cx="42862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UI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只入队即返回；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mp3/wav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分两条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worker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，避免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wav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阻塞拖慢落子音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5924550" y="29241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105525" y="283845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UI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线程只做「入队」，播放开销全部转移到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worker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924550" y="34099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105525" y="3324225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wav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的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play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在命令串层同步阻塞，必须单独一条轨，不能和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mp3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混。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5924550" y="38957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105525" y="381000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深底色的设备只开一次，两条轨共享，避免重复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open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的开销。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异步化的目的不是「更快」，而是「不阻塞」——主线程一旦被音频占住，整个界面都会顿。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20 / 64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245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音频锁死了怎么救回来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根因不在「锁的等待时间」，而在「拿到锁之后永久不返回」这一无解情况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锁用的是 winmm.locked(timeout)，但 timeout 只限制「等锁」的时间。真正麻烦的地方在拿到锁之后：万一 mciSendStringW 因为设备被独占或驱动异常而永久不返回，finally 块永远执行不到，这把锁就被那个死线程永久持有。&lt;/Text&gt;&#10;    &lt;Text style={{ fontSize: 17, lineHeight: 1.68, color: &quot;#2A2118&quot;, fontFamily: &quot;'PingFang SC', 'Microsoft YaHei', sans-serif&quot;, marginBottom: 11 }}&gt;后果是连锁的：后续音效 worker 全部卡在等锁上，队列越积越多直到填满，最后音效和背景音乐一起永久静默——而界面上看不出任何报错。&lt;/Text&gt;&#10;    &lt;Text style={{ fontSize: 17, lineHeight: 1.68, color: &quot;#2A2118&quot;, fontFamily: &quot;'PingFang SC', 'Microsoft YaHei', sans-serif&quot;, marginBottom: 11 }}&gt;所以补了两层保护。第一层是 force_unlock：探测到锁仍被占用，就整体换一把全新的 Lock，把死锁对象直接抛弃。第二层是 recover：清掉所有常驻 alias，重新开局，保证音效链路从干净状态恢复。&lt;/Text&gt;&#10;    &lt;Text style={{ fontSize: 17, lineHeight: 1.68, color: &quot;#2A2118&quot;, fontFamily: &quot;'PingFang SC', 'Microsoft YaHei', sans-serif&quot;, marginBottom: 11 }}&gt;这条自愈链路是踩过实机死锁之后才补上的。在它之前，任何一次设备异常都可能让整个音频系统永久失声，而且必须重启程序才能恢复。&lt;/Text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force_unlock：判定锁被死线程持有后，整体换新锁对象；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recover：关闭全部常驻 alias 并清空映射表，链路重新初始化；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健康检查：队列积压持续 3 秒不降才触发恢复，避免误判正常播放。&lt;/Text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防御性设计的核心：假定外部调用一定会失败，并给出「不重启也能自愈」的路径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1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音频锁死了怎么救回来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根因不在「锁的等待时间」，而在「拿到锁之后永久不返回」这一无解情况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85800" y="17240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锁用的是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winmm.locked(timeout)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，但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timeout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只限制「等锁」的时间。真正麻烦的地方在拿到锁之后：万一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mciSendStringW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因为设备被独占或驱动异常而永久不返回，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finally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块永远执行不到，这把锁就被那个死线程永久持有。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后果是连锁的：后续音效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worker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全部卡在等锁上，队列越积越多直到填满，最后音效和背景音乐一起永久静默——而界面上看不出任何报错。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85800" y="292417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所以补了两层保护。第一层是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force_unlock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：探测到锁仍被占用，就整体换一把全新的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Lock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，把死锁对象直接抛弃。第二层是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recover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：清掉所有常驻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alias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，重新开局，保证音效链路从干净状态恢复。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85800" y="368617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这条自愈链路是踩过实机死锁之后才补上的。在它之前，任何一次设备异常都可能让整个音频系统永久失声，而且必须重启程序才能恢复。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85800" y="42100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66775" y="4124325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force_unlock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：判定锁被死线程持有后，整体换新锁对象；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85800" y="46196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66775" y="4533900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recover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：关闭全部常驻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alias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并清空映射表，链路重新初始化；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85800" y="502920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66775" y="4943475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健康检查：队列积压持续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3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秒不降才触发恢复，避免误判正常播放。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733425" y="53911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733425" y="53911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23925" y="54864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防御性设计的核心：假定外部调用一定会失败，并给出「不重启也能自愈」的路径。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21 / 64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5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AI 引擎：搜索、评估与剪枝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核心不是「搜得全」，而是「把明显不行的分支尽早砍掉」&lt;/Text&gt;&#10;  &lt;/Box&gt;&#10;  &lt;Box style={{ width: &quot;100%&quot;, height: 510, flexDirection: &quot;column&quot; }}&gt;&#10;  &lt;Box style={{ width: &quot;100%&quot;, height: &quot;100%&quot;, flexDirection: &quot;column&quot; }}&gt;&#10;  &lt;Box style={{ flexDirection: &quot;row&quot;, height: &quot;100%&quot;, gap: 30, alignItems: &quot;center&quot; }}&gt;&#10;    &lt;Box style={{ width: 520, flexDirection: &quot;column&quot;, justifyContent: &quot;center&quot;, gap: 10, alignItems: &quot;center&quot; }}&gt;&#10;    &lt;svg width=&quot;420&quot; height=&quot;290&quot; viewBox=&quot;0 0 420 290&quot; style={{ background: &quot;rgba(140,90,43,0.06)&quot;, borderRadius: 10, maxWidth: &quot;100%&quot;, height: &quot;auto&quot; }}&gt;&#10;      &lt;circle cx=&quot;210&quot; cy=&quot;40&quot; r=&quot;24&quot; fill=&quot;#8C5A2B&quot;/&gt;&lt;text x=&quot;210&quot; y=&quot;47&quot; font-size=&quot;14&quot; fill=&quot;#F5E3BE&quot; text-anchor=&quot;middle&quot; font-family=&quot;sans-serif&quot;&gt;根&lt;/text&gt;&#10;      &lt;circle cx=&quot;105&quot; cy=&quot;135&quot; r=&quot;21&quot; fill=&quot;#2A2118&quot;/&gt;&lt;circle cx=&quot;315&quot; cy=&quot;135&quot; r=&quot;21&quot; fill=&quot;#2A2118&quot;/&gt;&#10;      &lt;text x=&quot;105&quot; y=&quot;141&quot; font-size=&quot;12&quot; fill=&quot;#F5E3BE&quot; text-anchor=&quot;middle&quot; font-family=&quot;sans-serif&quot;&gt;MAX&lt;/text&gt;&#10;      &lt;text x=&quot;315&quot; y=&quot;141&quot; font-size=&quot;12&quot; fill=&quot;#F5E3BE&quot; text-anchor=&quot;middle&quot; font-family=&quot;sans-serif&quot;&gt;MAX&lt;/text&gt;&#10;      &lt;circle cx=&quot;55&quot; cy=&quot;235&quot; r=&quot;18&quot; fill=&quot;#B3271E&quot;/&gt;&lt;circle cx=&quot;155&quot; cy=&quot;235&quot; r=&quot;18&quot; fill=&quot;#B3271E&quot;/&gt;&lt;circle cx=&quot;265&quot; cy=&quot;235&quot; r=&quot;18&quot; fill=&quot;#B3271E&quot;/&gt;&lt;circle cx=&quot;365&quot; cy=&quot;235&quot; r=&quot;18&quot; fill=&quot;#B3271E&quot;/&gt;&#10;      &lt;line x1=&quot;210&quot; y1=&quot;64&quot; x2=&quot;105&quot; y2=&quot;114&quot; stroke=&quot;#8C5A2B&quot; stroke-width=&quot;2&quot;/&gt;&lt;line x1=&quot;210&quot; y1=&quot;64&quot; x2=&quot;315&quot; y2=&quot;114&quot; stroke=&quot;#8C5A2B&quot; stroke-width=&quot;2&quot;/&gt;&#10;      &lt;line x1=&quot;105&quot; y1=&quot;156&quot; x2=&quot;55&quot; y2=&quot;217&quot; stroke=&quot;#B3271E&quot; stroke-width=&quot;2&quot;/&gt;&lt;line x1=&quot;105&quot; y1=&quot;156&quot; x2=&quot;155&quot; y2=&quot;217&quot; stroke=&quot;#B3271E&quot; stroke-width=&quot;2&quot;/&gt;&#10;      &lt;line x1=&quot;315&quot; y1=&quot;156&quot; x2=&quot;265&quot; y2=&quot;217&quot; stroke=&quot;#B3271E&quot; stroke-width=&quot;2&quot;/&gt;&lt;line x1=&quot;315&quot; y1=&quot;156&quot; x2=&quot;365&quot; y2=&quot;217&quot; stroke=&quot;#B3271E&quot; stroke-width=&quot;2&quot;/&gt;&#10;    &lt;/svg&gt;&#10;      &lt;Text style={{ fontSize: 14, lineHeight: 1.4, color: &quot;rgba(42,33,24,0.6)&quot;, fontFamily: &quot;'PingFang SC', 'Microsoft YaHei', sans-serif&quot; }}&gt;Negamax + α/β 剪枝：搜索宽度从 b^d 降到约 b^(d/2)&lt;/Text&gt;&#10;    &lt;/Box&gt;&#10;    &lt;Box style={{ flex: 1, flexDirection: &quot;column&quot;, justifyContent: &quot;center&quot;, gap: 6 }}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Negamax：己方取最大、对方取最小，用同一套递归写双方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α/β 剪枝：一旦证明某分支不可能更好，立即整枝放弃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迭代加深：先浅后深，保证时限内总能给出「最深的已完成层」。&lt;/Text&gt;&#10;    &lt;/Box&gt;&#10;    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效果：同样的时限内能多看将近一倍深度——而深度直接决定棋力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AI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引擎：搜索、评估与剪枝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核心不是「搜得全」，而是「把明显不行的分支尽早砍掉」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1162050" y="2000250"/>
            <a:ext cx="4000500" cy="2762250"/>
          </a:xfrm>
          <a:prstGeom prst="roundRect">
            <a:avLst>
              <a:gd name="adj" fmla="val 3448"/>
            </a:avLst>
          </a:prstGeom>
          <a:ln/>
        </p:spPr>
        <p:txBody>
          <a:bodyPr/>
          <a:p/>
        </p:txBody>
      </p:sp>
      <p:pic>
        <p:nvPicPr>
          <p:cNvPr id="2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62050" y="2000250"/>
            <a:ext cx="4000500" cy="2762250"/>
          </a:xfrm>
          <a:prstGeom prst="rect">
            <a:avLst/>
          </a:prstGeom>
          <a:ln/>
        </p:spPr>
      </p:pic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457325" y="4857750"/>
            <a:ext cx="34099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Negamax + α/β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剪枝：搜索宽度从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b^d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降到约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b^(d/2)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5924550" y="29241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105525" y="283845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Negamax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：己方取最大、对方取最小，用同一套递归写双方。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5924550" y="34099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105525" y="3324225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α/β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剪枝：一旦证明某分支不可能更好，立即整枝放弃。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5924550" y="38957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105525" y="381000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迭代加深：先浅后深，保证时限内总能给出「最深的已完成层」。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效果：同样的时限内能多看将近一倍深度——而深度直接决定棋力。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22 / 64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284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评估与剪枝怎么做到不爆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四条优化分别针对「评估成本 / 重复搜索 / 剪枝时机 / 超时安全」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评估函数不整盘扫描。GomokuEval 只重算被这一步落子影响到的 ≤4 条线（横、竖、两条斜），其余部分的分数直接沿用上一手结果。这一步把每节点的评估开销从 O(棋盘面积) 降到 O(4×线长)。&lt;/Text&gt;&#10;    &lt;Text style={{ fontSize: 17, lineHeight: 1.68, color: &quot;#2A2118&quot;, fontFamily: &quot;'PingFang SC', 'Microsoft YaHei', sans-serif&quot;, marginBottom: 11 }}&gt;Zobrist 哈希加置换表用来吃「重复局面」：不同搜索路径经常走到同一个局面，置换表缓存子树结果，第二次遇到直接取用，不再重搜。&lt;/Text&gt;&#10;    &lt;Text style={{ fontSize: 17, lineHeight: 1.68, color: &quot;#2A2118&quot;, fontFamily: &quot;'PingFang SC', 'Microsoft YaHei', sans-serif&quot;, marginBottom: 11 }}&gt;Killer / History 启发式把历史上容易触发剪枝的强着排到前面，剪枝越早，省下的节点越多。迭代加深则保证在时限内返回「最深的已完成层」，而不是搜到一半被强制砍断、给出一个半成品结果。&lt;/Text&gt;&#10;    &lt;Text style={{ fontSize: 17, lineHeight: 1.68, color: &quot;#2A2118&quot;, fontFamily: &quot;'PingFang SC', 'Microsoft YaHei', sans-serif&quot;, marginBottom: 11 }}&gt;最后是兜底：每个节点都查 deadline，一旦超限就放弃当前分支。宁可搜得浅一点，也绝不烧满时间把界面卡死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工程取舍：所有优化的前提都是「不能卡界面」——宁可牺牲一点棋力，也不牺牲响应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评估与剪枝怎么做到不爆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四条优化分别针对「评估成本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重复搜索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剪枝时机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超时安全」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85800" y="234315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评估函数不整盘扫描。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GomokuEval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只重算被这一步落子影响到的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≤4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条线（横、竖、两条斜），其余部分的分数直接沿用上一手结果。这一步把每节点的评估开销从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O(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棋盘面积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)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降到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O(4×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线长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>)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85800" y="31051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Zobrist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哈希加置换表用来吃「重复局面」：不同搜索路径经常走到同一个局面，置换表缓存子树结果，第二次遇到直接取用，不再重搜。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85800" y="354330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Killer / History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启发式把历史上容易触发剪枝的强着排到前面，剪枝越早，省下的节点越多。迭代加深则保证在时限内返回「最深的已完成层」，而不是搜到一半被强制砍断、给出一个半成品结果。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85800" y="43053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最后是兜底：每个节点都查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deadline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，一旦超限就放弃当前分支。宁可搜得浅一点，也绝不烧满时间把界面卡死。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733425" y="47815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733425" y="47815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23925" y="48768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工程取舍：所有优化的前提都是「不能卡界面」——宁可牺牲一点棋力，也不牺牲响应。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23 / 64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8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五子棋 VCF / VCT 算杀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把「我能不能必胜」变成一棵 AND-OR 树的枚举问题，而不是靠评估分猜&lt;/Text&gt;&#10;  &lt;/Box&gt;&#10;  &lt;Box style={{ width: &quot;100%&quot;, height: 510, flexDirection: &quot;column&quot; }}&gt;&#10;  &lt;Box style={{ width: &quot;100%&quot;, height: &quot;100%&quot;, flexDirection: &quot;column&quot; }}&gt;&#10;  &lt;Box style={{ flexDirection: &quot;row&quot;, height: &quot;100%&quot;, gap: 30, alignItems: &quot;center&quot; }}&gt;&#10;    &lt;Box style={{ width: 520, flexDirection: &quot;column&quot;, justifyContent: &quot;center&quot;, gap: 10, alignItems: &quot;center&quot; }}&gt;&#10;    &lt;svg width=&quot;430&quot; height=&quot;280&quot; viewBox=&quot;0 0 430 280&quot; style={{ background: &quot;rgba(140,90,43,0.06)&quot;, borderRadius: 10, maxWidth: &quot;100%&quot;, height: &quot;auto&quot; }}&gt;&#10;      &lt;rect x=&quot;185&quot; y=&quot;18&quot; width=&quot;70&quot; height=&quot;40&quot; rx=&quot;8&quot; fill=&quot;#B3271E&quot;/&gt;&lt;text x=&quot;220&quot; y=&quot;43&quot; font-size=&quot;14&quot; fill=&quot;#F5E3BE&quot; text-anchor=&quot;middle&quot; font-family=&quot;sans-serif&quot;&gt;攻·冲四&lt;/text&gt;&#10;      &lt;rect x=&quot;85&quot; y=&quot;110&quot; width=&quot;70&quot; height=&quot;40&quot; rx=&quot;8&quot; fill=&quot;#2A2118&quot;/&gt;&lt;rect x=&quot;285&quot; y=&quot;110&quot; width=&quot;70&quot; height=&quot;40&quot; rx=&quot;8&quot; fill=&quot;#2A2118&quot;/&gt;&#10;      &lt;text x=&quot;120&quot; y=&quot;135&quot; font-size=&quot;13&quot; fill=&quot;#F5E3BE&quot; text-anchor=&quot;middle&quot; font-family=&quot;sans-serif&quot;&gt;守·堵A&lt;/text&gt;&lt;text x=&quot;320&quot; y=&quot;135&quot; font-size=&quot;13&quot; fill=&quot;#F5E3BE&quot; text-anchor=&quot;middle&quot; font-family=&quot;sans-serif&quot;&gt;守·堵B&lt;/text&gt;&#10;      &lt;rect x=&quot;35&quot; y=&quot;210&quot; width=&quot;70&quot; height=&quot;40&quot; rx=&quot;8&quot; fill=&quot;#8C5A2B&quot;/&gt;&lt;rect x=&quot;195&quot; y=&quot;210&quot; width=&quot;70&quot; height=&quot;40&quot; rx=&quot;8&quot; fill=&quot;#8C5A2B&quot;/&gt;&lt;rect x=&quot;335&quot; y=&quot;210&quot; width=&quot;70&quot; height=&quot;40&quot; rx=&quot;8&quot; fill=&quot;#8C5A2B&quot;/&gt;&#10;      &lt;text x=&quot;70&quot; y=&quot;235&quot; font-size=&quot;12&quot; fill=&quot;#F5E3BE&quot; text-anchor=&quot;middle&quot; font-family=&quot;sans-serif&quot;&gt;胜&lt;/text&gt;&lt;text x=&quot;230&quot; y=&quot;235&quot; font-size=&quot;12&quot; fill=&quot;#F5E3BE&quot; text-anchor=&quot;middle&quot; font-family=&quot;sans-serif&quot;&gt;胜&lt;/text&gt;&lt;text x=&quot;370&quot; y=&quot;235&quot; font-size=&quot;12&quot; fill=&quot;#F5E3BE&quot; text-anchor=&quot;middle&quot; font-family=&quot;sans-serif&quot;&gt;胜&lt;/text&gt;&#10;      &lt;line x1=&quot;210&quot; y1=&quot;58&quot; x2=&quot;125&quot; y2=&quot;110&quot; stroke=&quot;#8C5A2B&quot; stroke-width=&quot;2&quot;/&gt;&lt;line x1=&quot;230&quot; y1=&quot;58&quot; x2=&quot;315&quot; y2=&quot;110&quot; stroke=&quot;#8C5A2B&quot; stroke-width=&quot;2&quot;/&gt;&#10;      &lt;line x1=&quot;110&quot; y1=&quot;150&quot; x2=&quot;70&quot; y2=&quot;210&quot; stroke=&quot;#B3271E&quot; stroke-width=&quot;2&quot;/&gt;&lt;line x1=&quot;140&quot; y1=&quot;150&quot; x2=&quot;225&quot; y2=&quot;210&quot; stroke=&quot;#B3271E&quot; stroke-width=&quot;2&quot;/&gt;&#10;      &lt;line x1=&quot;300&quot; y1=&quot;150&quot; x2=&quot;230&quot; y2=&quot;210&quot; stroke=&quot;#B3271E&quot; stroke-width=&quot;2&quot;/&gt;&lt;line x1=&quot;330&quot; y1=&quot;150&quot; x2=&quot;370&quot; y2=&quot;210&quot; stroke=&quot;#B3271E&quot; stroke-width=&quot;2&quot;/&gt;&#10;    &lt;/svg&gt;&#10;      &lt;Text style={{ fontSize: 14, lineHeight: 1.4, color: &quot;rgba(42,33,24,0.6)&quot;, fontFamily: &quot;'PingFang SC', 'Microsoft YaHei', sans-serif&quot; }}&gt;攻方是「或」节点（任一成五即胜），守方是「与」节点（须堵住全部威胁）&lt;/Text&gt;&#10;    &lt;/Box&gt;&#10;    &lt;Box style={{ flex: 1, flexDirection: &quot;column&quot;, justifyContent: &quot;center&quot;, gap: 6 }}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VCF 只算「连续冲四」的强制序列，深度可控、速度快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VCT 允许活三，树更大但能抓到更隐蔽的杀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MIN 层只生成堵点，不给守方生成无用着法，树宽被有效收窄。&lt;/Text&gt;&#10;    &lt;/Box&gt;&#10;    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就是「算杀」与「评估」的分工：评估分说谁好，算杀直接证明谁赢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4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五子棋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VCF / VCT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算杀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把「我能不能必胜」变成一棵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AND-OR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树的枚举问题，而不是靠评估分猜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1114425" y="2047875"/>
            <a:ext cx="4095750" cy="2667000"/>
          </a:xfrm>
          <a:prstGeom prst="roundRect">
            <a:avLst>
              <a:gd name="adj" fmla="val 3571"/>
            </a:avLst>
          </a:prstGeom>
          <a:ln/>
        </p:spPr>
        <p:txBody>
          <a:bodyPr/>
          <a:p/>
        </p:txBody>
      </p:sp>
      <p:pic>
        <p:nvPicPr>
          <p:cNvPr id="3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14425" y="2047875"/>
            <a:ext cx="4095750" cy="2667000"/>
          </a:xfrm>
          <a:prstGeom prst="rect">
            <a:avLst/>
          </a:prstGeom>
          <a:ln/>
        </p:spPr>
      </p:pic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95350" y="4810125"/>
            <a:ext cx="45339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攻方是「或」节点（任一成五即胜），守方是「与」节点（须堵住全部威胁）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924550" y="29241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105525" y="283845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VCF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只算「连续冲四」的强制序列，深度可控、速度快。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5924550" y="34099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105525" y="3324225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VCT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允许活三，树更大但能抓到更隐蔽的杀。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5924550" y="38957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105525" y="381000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MIN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层只生成堵点，不给守方生成无用着法，树宽被有效收窄。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这就是「算杀」与「评估」的分工：评估分说谁好，算杀直接证明谁赢。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24 / 64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算杀层的四个真实 bug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四个 bug 都不是「算法错」，而是「规则细节写错」——每一个都会伪造出假的胜利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① 奇偶校验让 foe5 分支连着堵两手，等于跳过了对手整个回合，于是制造出根本不存在的「假必胜」。改成遇到双成五点直接返回 None，单点不跳回合。&lt;/Text&gt;&#10;    &lt;Text style={{ fontSize: 17, lineHeight: 1.68, color: &quot;#2A2118&quot;, fontFamily: &quot;'PingFang SC', 'Microsoft YaHei', sans-serif&quot;, marginBottom: 11 }}&gt;② `_find_groups` 把隔着对方棋子的两段误连成一个「跳形」，凭空造出威胁。修法是给联合条件补上 cells[gap]==0，中间有子就不许连。&lt;/Text&gt;&#10;    &lt;Text style={{ fontSize: 17, lineHeight: 1.68, color: &quot;#2A2118&quot;, fontFamily: &quot;'PingFang SC', 'Microsoft YaHei', sans-serif&quot;, marginBottom: 11 }}&gt;③ 三三 / 四三的捷径判断没验证对手反手是否有冲四，导致谎报胜势。收窄为只在 not foe_fours 时才成立。&lt;/Text&gt;&#10;    &lt;Text style={{ fontSize: 17, lineHeight: 1.68, color: &quot;#2A2118&quot;, fontFamily: &quot;'PingFang SC', 'Microsoft YaHei', sans-serif&quot;, marginBottom: 11 }}&gt;④ 活三识别里己方子被误记 2（应为 1），使威胁被高估，VCT 直接退化。改记 1 之后，双活三才被判为必胜——这一点与 Allis《Go-Moku and Threat-Space Search》的结论一致：双成五点若无解即为必败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修法一律是「收紧条件」而不是「放宽判断」：宁可算不出杀，也不能报告一个假杀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算杀层的四个真实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bug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四个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bug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都不是「算法错」，而是「规则细节写错」——每一个都会伪造出假的胜利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85800" y="234315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奇偶校验让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foe5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分支连着堵两手，等于跳过了对手整个回合，于是制造出根本不存在的「假必胜」。改成遇到双成五点直接返回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None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，单点不跳回合。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85800" y="31051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② `_find_groups`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把隔着对方棋子的两段误连成一个「跳形」，凭空造出威胁。修法是给联合条件补上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cells[gap]==0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，中间有子就不许连。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85800" y="35433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③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三三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四三的捷径判断没验证对手反手是否有冲四，导致谎报胜势。收窄为只在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not foe_fours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时才成立。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85800" y="398145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④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活三识别里己方子被误记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2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（应为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），使威胁被高估，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VCT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直接退化。改记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之后，双活三才被判为必胜——这一点与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Allis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《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>Go-Moku and Threat-Space Search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》的结论一致：双成五点若无解即为必败。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733425" y="47815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733425" y="47815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23925" y="48768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修法一律是「收紧条件」而不是「放宽判断」：宁可算不出杀，也不能报告一个假杀。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25 / 64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1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象棋接入本地 Pikafish NNUE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象棋不用自研引擎，而是把本地皮卡鱼当成一个说 UCI 协议的外部进程来用&lt;/Text&gt;&#10;  &lt;/Box&gt;&#10;  &lt;Box style={{ width: &quot;100%&quot;, height: 510, flexDirection: &quot;column&quot; }}&gt;&#10;  &lt;Box style={{ width: &quot;100%&quot;, height: &quot;100%&quot;, flexDirection: &quot;column&quot; }}&gt;&#10;  &lt;Box style={{ flexDirection: &quot;row&quot;, height: &quot;100%&quot;, gap: 30, alignItems: &quot;center&quot; }}&gt;&#10;    &lt;Box style={{ width: 520, flexDirection: &quot;column&quot;, justifyContent: &quot;center&quot;, gap: 10, alignItems: &quot;center&quot; }}&gt;&#10;    &lt;svg width=&quot;900&quot; height=&quot;150&quot; viewBox=&quot;0 0 900 150&quot; style={{ background: &quot;rgba(140,90,43,0.05)&quot;, borderRadius: 10, maxWidth: &quot;100%&quot;, height: &quot;auto&quot; }}&gt;&#10;      &lt;rect x=&quot;20&quot; y=&quot;55&quot; width=&quot;130&quot; height=&quot;40&quot; rx=&quot;8&quot; fill=&quot;#8C5A2B&quot;/&gt;&lt;text x=&quot;85&quot; y=&quot;80&quot; font-size=&quot;13&quot; fill=&quot;#F5E3BE&quot; text-anchor=&quot;middle&quot; font-family=&quot;sans-serif&quot;&gt;主线程&lt;/text&gt;&#10;      &lt;rect x=&quot;175&quot; y=&quot;55&quot; width=&quot;150&quot; height=&quot;40&quot; rx=&quot;8&quot; fill=&quot;#B3271E&quot;/&gt;&lt;text x=&quot;250&quot; y=&quot;80&quot; font-size=&quot;13&quot; fill=&quot;#F5E3BE&quot; text-anchor=&quot;middle&quot; font-family=&quot;sans-serif&quot;&gt;起 UCI 子进程&lt;/text&gt;&#10;      &lt;rect x=&quot;350&quot; y=&quot;55&quot; width=&quot;130&quot; height=&quot;40&quot; rx=&quot;8&quot; fill=&quot;#2A2118&quot;/&gt;&lt;text x=&quot;415&quot; y=&quot;80&quot; font-size=&quot;13&quot; fill=&quot;#F5E3BE&quot; text-anchor=&quot;middle&quot; font-family=&quot;sans-serif&quot;&gt;uci → isready&lt;/text&gt;&#10;      &lt;rect x=&quot;505&quot; y=&quot;55&quot; width=&quot;120&quot; height=&quot;40&quot; rx=&quot;8&quot; fill=&quot;#2A2118&quot;/&gt;&lt;text x=&quot;565&quot; y=&quot;80&quot; font-size=&quot;13&quot; fill=&quot;#F5E3BE&quot; text-anchor=&quot;middle&quot; font-family=&quot;sans-serif&quot;&gt;position&lt;/text&gt;&#10;      &lt;rect x=&quot;650&quot; y=&quot;55&quot; width=&quot;90&quot; height=&quot;40&quot; rx=&quot;8&quot; fill=&quot;#2A2118&quot;/&gt;&lt;text x=&quot;695&quot; y=&quot;80&quot; font-size=&quot;13&quot; fill=&quot;#F5E3BE&quot; text-anchor=&quot;middle&quot; font-family=&quot;sans-serif&quot;&gt;go&lt;/text&gt;&#10;      &lt;rect x=&quot;765&quot; y=&quot;55&quot; width=&quot;115&quot; height=&quot;40&quot; rx=&quot;8&quot; fill=&quot;#8C5A2B&quot; opacity=&quot;0.72&quot;/&gt;&lt;text x=&quot;822&quot; y=&quot;80&quot; font-size=&quot;13&quot; fill=&quot;#F5E3BE&quot; text-anchor=&quot;middle&quot; font-family=&quot;sans-serif&quot;&gt;bestmove&lt;/text&gt;&#10;      &lt;line x1=&quot;150&quot; y1=&quot;75&quot; x2=&quot;175&quot; y2=&quot;75&quot; stroke=&quot;#2A2118&quot; stroke-width=&quot;2&quot;/&gt;&lt;line x1=&quot;325&quot; y1=&quot;75&quot; x2=&quot;350&quot; y2=&quot;75&quot; stroke=&quot;#2A2118&quot; stroke-width=&quot;2&quot;/&gt;&lt;line x1=&quot;480&quot; y1=&quot;75&quot; x2=&quot;505&quot; y2=&quot;75&quot; stroke=&quot;#2A2118&quot; stroke-width=&quot;2&quot;/&gt;&lt;line x1=&quot;625&quot; y1=&quot;75&quot; x2=&quot;650&quot; y2=&quot;75&quot; stroke=&quot;#2A2118&quot; stroke-width=&quot;2&quot;/&gt;&lt;line x1=&quot;740&quot; y1=&quot;75&quot; x2=&quot;765&quot; y2=&quot;75&quot; stroke=&quot;#2A2118&quot; stroke-width=&quot;2&quot;/&gt;&#10;    &lt;/svg&gt;&#10;      &lt;Text style={{ fontSize: 14, lineHeight: 1.4, color: &quot;rgba(42,33,24,0.6)&quot;, fontFamily: &quot;'PingFang SC', 'Microsoft YaHei', sans-serif&quot; }}&gt;UCI 协议封装：起子进程走 uci→isready→position→go，三档难度=搜索深度&lt;/Text&gt;&#10;    &lt;/Box&gt;&#10;    &lt;Box style={{ flex: 1, flexDirection: &quot;column&quot;, justifyContent: &quot;center&quot;, gap: 6 }}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通信走标准 UCI 文本协议，引擎可随时替换、可单独升级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子进程隔离：引擎崩溃不会连带主程序，只是这一手走不出来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三档难度通过 go depth / movetime 调节，不改编引擎本身。&lt;/Text&gt;&#10;    &lt;/Box&gt;&#10;    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接入原则：能用成熟引擎的地方不重复造轮子，把精力留给界面与体验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6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象棋接入本地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Pikafish NNUE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象棋不用自研引擎，而是把本地皮卡鱼当成一个说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UCI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协议的外部进程来用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85800" y="2667000"/>
            <a:ext cx="8572500" cy="1428750"/>
          </a:xfrm>
          <a:prstGeom prst="roundRect">
            <a:avLst>
              <a:gd name="adj" fmla="val 6667"/>
            </a:avLst>
          </a:prstGeom>
          <a:ln/>
        </p:spPr>
        <p:txBody>
          <a:bodyPr/>
          <a:p/>
        </p:txBody>
      </p:sp>
      <p:pic>
        <p:nvPicPr>
          <p:cNvPr id="3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2667000"/>
            <a:ext cx="4953000" cy="1428750"/>
          </a:xfrm>
          <a:prstGeom prst="rect">
            <a:avLst/>
          </a:prstGeom>
          <a:ln/>
        </p:spPr>
      </p:pic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28675" y="4191000"/>
            <a:ext cx="46672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UCI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协议封装：起子进程走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uci→isready→position→go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，三档难度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=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搜索深度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5924550" y="29241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105525" y="283845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通信走标准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UCI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文本协议，引擎可随时替换、可单独升级。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5924550" y="34099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105525" y="3324225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子进程隔离：引擎崩溃不会连带主程序，只是这一手走不出来。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5924550" y="38957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105525" y="381000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三档难度通过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go depth / movetime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调节，不改编引擎本身。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接入原则：能用成熟引擎的地方不重复造轮子，把精力留给界面与体验。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26 / 64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350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原理 · 分数怎么变成胜率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从「引擎的 cp 分」到「玩家看得懂的百分比」，中间要过公式、封顶、平滑、归一四道关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象棋 AI 返回的是评估分 cp（厘兵分），不是人话。要变成能读懂的胜率，用标准 Elo 换算：P = 1 / (1 + 10^(-cp/400))，锚点取自 Pikafish 官方说明中的 D=400——即评估分每多 400 厘兵，胜率翻一个量级。&lt;/Text&gt;&#10;    &lt;Text style={{ fontSize: 17, lineHeight: 1.68, color: &quot;#2A2118&quot;, fontFamily: &quot;'PingFang SC', 'Microsoft YaHei', sans-serif&quot;, marginBottom: 11 }}&gt;但象棋和棋率极高，直接套公式会给出「0% / 100%」这种不可能的结论。所以做了封顶：胜率限制在 [5%, 95%] 区间，绝不显示绝对数字。&lt;/Text&gt;&#10;    &lt;Text style={{ fontSize: 17, lineHeight: 1.68, color: &quot;#2A2118&quot;, fontFamily: &quot;'PingFang SC', 'Microsoft YaHei', sans-serif&quot;, marginBottom: 11 }}&gt;显示层的曲线还要平滑：横轴是真实 ply，纵轴在概率域做 EMA(α=0.45) 平滑，再叠加单步限幅 10 个百分点，避免一步棋让曲线上下跳。这里有个容易忽略的坑——平滑绝不能「最后一点不平滑」，否则最新的原始值直接上屏，就是一次肉眼可见的跳变。&lt;/Text&gt;&#10;    &lt;Text style={{ fontSize: 17, lineHeight: 1.68, color: &quot;#2A2118&quot;, fontFamily: &quot;'PingFang SC', 'Microsoft YaHei', sans-serif&quot;, marginBottom: 11 }}&gt;横轴按真实 ply 而非回合数展开，窗口取最近 120 步。机机模式下 AI 可能执红，所以换算前必须先按行棋方归一到黑方视角，否则胜率会整体反相。&lt;/Text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公式：P = 1/(1+10^(-cp/400))，D=400 取自 Pikafish 官方口径；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封顶：[5%, 95%]，承认象棋高和棋率，不显示 0/100；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平滑：概率域 EMA + 单步限幅，且最新点也参与平滑。&lt;/Text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一步的意义：把「这步棋好不好」翻译成「我大概几成胜算」，让评委和玩家都能一眼看懂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7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原理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分数怎么变成胜率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从「引擎的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cp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分」到「玩家看得懂的百分比」，中间要过公式、封顶、平滑、归一四道关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85800" y="17240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象棋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返回的是评估分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cp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（厘兵分），不是人话。要变成能读懂的胜率，用标准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Elo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换算：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>P = 1 / (1 + 10^(-cp/400))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，锚点取自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Pikafish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官方说明中的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D=400——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即评估分每多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400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厘兵，胜率翻一个量级。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但象棋和棋率极高，直接套公式会给出「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>0% / 100%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」这种不可能的结论。所以做了封顶：胜率限制在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[5%, 95%]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区间，绝不显示绝对数字。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85800" y="292417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显示层的曲线还要平滑：横轴是真实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ply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，纵轴在概率域做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EMA(α=0.45)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平滑，再叠加单步限幅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个百分点，避免一步棋让曲线上下跳。这里有个容易忽略的坑——平滑绝不能「最后一点不平滑」，否则最新的原始值直接上屏，就是一次肉眼可见的跳变。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85800" y="368617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横轴按真实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ply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而非回合数展开，窗口取最近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120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步。机机模式下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可能执红，所以换算前必须先按行棋方归一到黑方视角，否则胜率会整体反相。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85800" y="42100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66775" y="4124325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公式：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P = 1/(1+10^(-cp/400))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，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D=400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取自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Pikafish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官方口径；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85800" y="46196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66775" y="4533900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封顶：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[5%, 95%]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，承认象棋高和棋率，不显示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0/100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；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85800" y="502920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66775" y="4943475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平滑：概率域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EMA +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单步限幅，且最新点也参与平滑。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733425" y="53911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733425" y="53911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923925" y="54864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这一步的意义：把「这步棋好不好」翻译成「我大概几成胜算」，让评委和玩家都能一眼看懂。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27 / 64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70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4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4 章&lt;/Text&gt;&#10;    &lt;Text style={{ fontSize: 62, fontWeight: &quot;bold&quot;, color: &quot;#F5E3BE&quot;, fontFamily: &quot;'Songti SC', 'STSong', 'SimSun', serif&quot;, marginTop: 12 }}&gt;开发流程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五轮迭代，每轮都是完整闭环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372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04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04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开发流程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五轮迭代，每轮都是完整闭环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381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五轮迭代：从画面修到交付物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五轮的工作对象逐轮外移：从画面 → 音效 → 运行环境 → 磁盘体积 → 交付文档&lt;/Text&gt;&#10;  &lt;/Box&gt;&#10;  &lt;Box style={{ width: &quot;100%&quot;, height: 510, flexDirection: &quot;column&quot; }}&gt;&#10;  &lt;Box style={{ width: &quot;100%&quot;, height: &quot;100%&quot;, flexDirection: &quot;column&quot;, justifyContent: &quot;center&quot;, gap: 14 }}&gt;&#10;  &lt;Box style={{ flexDirection: &quot;row&quot;, alignItems: &quot;stretch&quot;, justifyContent: &quot;center&quot;, gap: 8 }}&gt;&#10;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1. 迭代一 · 画面&lt;/Text&gt;&#10;        &lt;Text style={{ fontSize: 12, lineHeight: 1.45, color: &quot;rgba(42,33,24,0.72)&quot;, fontFamily: &quot;'PingFang SC', 'Microsoft YaHei', sans-serif&quot; }}&gt;刮痕 / 方形光环 / 落子音 / 歌单 / 侧栏滚动 / 缩放验证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2. 迭代二 · 音效图标&lt;/Text&gt;&#10;        &lt;Text style={{ fontSize: 12, lineHeight: 1.45, color: &quot;rgba(42,33,24,0.72)&quot;, fontFamily: &quot;'PingFang SC', 'Microsoft YaHei', sans-serif&quot; }}&gt;MP3 落子音 / 上下首图标方向 / 歌单乱码 / 侧栏稳定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3. 迭代三 · PG 配置&lt;/Text&gt;&#10;        &lt;Text style={{ fontSize: 12, lineHeight: 1.45, color: &quot;rgba(42,33,24,0.72)&quot;, fontFamily: &quot;'PingFang SC', 'Microsoft YaHei', sans-serif&quot; }}&gt;PostgreSQL 安装引导 + 启动检测一键化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4. 迭代四 · 体积清理&lt;/Text&gt;&#10;        &lt;Text style={{ fontSize: 12, lineHeight: 1.45, color: &quot;rgba(42,33,24,0.72)&quot;, fontFamily: &quot;'PingFang SC', 'Microsoft YaHei', sans-serif&quot; }}&gt;定位 935MB 中 627MB 重复副本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5. 迭代五 · 文档&lt;/Text&gt;&#10;        &lt;Text style={{ fontSize: 12, lineHeight: 1.45, color: &quot;rgba(42,33,24,0.72)&quot;, fontFamily: &quot;'PingFang SC', 'Microsoft YaHei', sans-serif&quot; }}&gt;产品说明 / 算法实现 / 讲义 / 报告 四份 Word&lt;/Text&gt;&#10;      &lt;/Box&gt;&#10;  &lt;/Box&gt;&#10;    &lt;Box style={{ width: &quot;100%&quot;, flexDirection: &quot;column&quot;, gap: 8 }}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第一、二轮打磨「打开就能玩」的体验。&lt;/Text&gt;&#10;    &lt;/Box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第三、四轮解决「换台机器能不能跑、装不装得下」。&lt;/Text&gt;&#10;    &lt;/Box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第五轮把成果变成可分发、可阅读的文档。&lt;/Text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条曲线说明项目重心已从「功能实现」转向「产品化」。&lt;/Text&gt;&#10;  &lt;/Box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29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五轮迭代：从画面修到交付物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五轮的工作对象逐轮外移：从画面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音效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运行环境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磁盘体积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交付文档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1685925" y="2219325"/>
            <a:ext cx="1466850" cy="1190625"/>
          </a:xfrm>
          <a:prstGeom prst="roundRect">
            <a:avLst>
              <a:gd name="adj" fmla="val 4800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1685925" y="2219325"/>
            <a:ext cx="1466850" cy="1190625"/>
          </a:xfrm>
          <a:custGeom>
            <a:pathLst>
              <a:path w="154" h="125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23"/>
                </a:lnTo>
                <a:cubicBezTo>
                  <a:pt x="4" y="124"/>
                  <a:pt x="5" y="125"/>
                  <a:pt x="6" y="125"/>
                </a:cubicBezTo>
                <a:cubicBezTo>
                  <a:pt x="3" y="125"/>
                  <a:pt x="0" y="122"/>
                  <a:pt x="0" y="11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1790700" y="2333625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1.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迭代一</a:t>
            </a: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画面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790700" y="2533650"/>
            <a:ext cx="1257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刮痕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方形光环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落子音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歌单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侧栏滚动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缩放验证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322897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3533775" y="2219325"/>
            <a:ext cx="1466850" cy="1190625"/>
          </a:xfrm>
          <a:prstGeom prst="roundRect">
            <a:avLst>
              <a:gd name="adj" fmla="val 4800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392" name=""/>
          <p:cNvSpPr/>
          <p:nvPr/>
        </p:nvSpPr>
        <p:spPr>
          <a:xfrm rot="0" flipH="0" flipV="0">
            <a:off x="3533775" y="2219325"/>
            <a:ext cx="1466850" cy="1190625"/>
          </a:xfrm>
          <a:custGeom>
            <a:pathLst>
              <a:path w="154" h="125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23"/>
                </a:lnTo>
                <a:cubicBezTo>
                  <a:pt x="4" y="124"/>
                  <a:pt x="5" y="125"/>
                  <a:pt x="6" y="125"/>
                </a:cubicBezTo>
                <a:cubicBezTo>
                  <a:pt x="3" y="125"/>
                  <a:pt x="0" y="122"/>
                  <a:pt x="0" y="11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3638550" y="2333625"/>
            <a:ext cx="12573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2.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迭代二</a:t>
            </a: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音效图标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3638550" y="2695575"/>
            <a:ext cx="12573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MP3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落子音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上下首图标方向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歌单乱码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侧栏稳定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507682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5381625" y="2219325"/>
            <a:ext cx="1466850" cy="1190625"/>
          </a:xfrm>
          <a:prstGeom prst="roundRect">
            <a:avLst>
              <a:gd name="adj" fmla="val 4800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5381625" y="2219325"/>
            <a:ext cx="1466850" cy="1190625"/>
          </a:xfrm>
          <a:custGeom>
            <a:pathLst>
              <a:path w="154" h="125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23"/>
                </a:lnTo>
                <a:cubicBezTo>
                  <a:pt x="4" y="124"/>
                  <a:pt x="5" y="125"/>
                  <a:pt x="6" y="125"/>
                </a:cubicBezTo>
                <a:cubicBezTo>
                  <a:pt x="3" y="125"/>
                  <a:pt x="0" y="122"/>
                  <a:pt x="0" y="11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486400" y="2333625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3.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迭代三</a:t>
            </a: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 · PG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配置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486400" y="2533650"/>
            <a:ext cx="12573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PostgreSQL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安装引导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启动检测一键化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92467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7229475" y="2219325"/>
            <a:ext cx="1466850" cy="1190625"/>
          </a:xfrm>
          <a:prstGeom prst="roundRect">
            <a:avLst>
              <a:gd name="adj" fmla="val 4800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7229475" y="2219325"/>
            <a:ext cx="1466850" cy="1190625"/>
          </a:xfrm>
          <a:custGeom>
            <a:pathLst>
              <a:path w="154" h="125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23"/>
                </a:lnTo>
                <a:cubicBezTo>
                  <a:pt x="4" y="124"/>
                  <a:pt x="5" y="125"/>
                  <a:pt x="6" y="125"/>
                </a:cubicBezTo>
                <a:cubicBezTo>
                  <a:pt x="3" y="125"/>
                  <a:pt x="0" y="122"/>
                  <a:pt x="0" y="11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334250" y="2333625"/>
            <a:ext cx="12573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4.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迭代四</a:t>
            </a: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体积清理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334250" y="2695575"/>
            <a:ext cx="12573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定位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935MB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中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627MB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重复副本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77252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9077325" y="2219325"/>
            <a:ext cx="1466850" cy="1190625"/>
          </a:xfrm>
          <a:prstGeom prst="roundRect">
            <a:avLst>
              <a:gd name="adj" fmla="val 4800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9077325" y="2219325"/>
            <a:ext cx="1466850" cy="1190625"/>
          </a:xfrm>
          <a:custGeom>
            <a:pathLst>
              <a:path w="154" h="125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23"/>
                </a:lnTo>
                <a:cubicBezTo>
                  <a:pt x="4" y="124"/>
                  <a:pt x="5" y="125"/>
                  <a:pt x="6" y="125"/>
                </a:cubicBezTo>
                <a:cubicBezTo>
                  <a:pt x="3" y="125"/>
                  <a:pt x="0" y="122"/>
                  <a:pt x="0" y="11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9182100" y="2333625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5.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迭代五</a:t>
            </a: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文档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9182100" y="2533650"/>
            <a:ext cx="12573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产品说明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算法实现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讲义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报告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四份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Word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85800" y="36290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66775" y="3543300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第一、二轮打磨「打开就能玩」的体验。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685800" y="40671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66775" y="3981450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第三、四轮解决「换台机器能不能跑、装不装得下」。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85800" y="45053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66775" y="4419600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第五轮把成果变成可分发、可阅读的文档。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733425" y="48958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417" name=""/>
          <p:cNvSpPr/>
          <p:nvPr/>
        </p:nvSpPr>
        <p:spPr>
          <a:xfrm rot="0" flipH="0" flipV="0">
            <a:off x="733425" y="48958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923925" y="49911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这条曲线说明项目重心已从「功能实现」转向「产品化」。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29 / 64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435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迭代一：先让画面能看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第一轮的目标不是好看，是「不丑、不卡」——先把地基铺平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这一轮全部围绕画面：移除棋盘上多余的「刮痕」绘制、修掉大棋子外圈的方形阴影光环、加上嗒嗒嗒的落子音、接通歌单、稳住侧栏滚动、并验证棋盘在不同窗口尺寸下都能正确居中。&lt;/Text&gt;&#10;    &lt;Text style={{ fontSize: 17, lineHeight: 1.68, color: &quot;#2A2118&quot;, fontFamily: &quot;'PingFang SC', 'Microsoft YaHei', sans-serif&quot;, marginBottom: 11 }}&gt;其中「方形光环」的根因很有代表性：投影先做高斯模糊、再被裁在一张正方形图像的边界之内，留白不足导致模糊晕开的边缘被切齐，于是圆形的影子变成了方形。修法是按模糊半径反推所需留白（shadow_extent），并把投影拆成环境层与接触层分别绘制。&lt;/Text&gt;&#10;    &lt;Text style={{ fontSize: 17, lineHeight: 1.68, color: &quot;#2A2118&quot;, fontFamily: &quot;'PingFang SC', 'Microsoft YaHei', sans-serif&quot;, marginBottom: 11 }}&gt;目标很朴素——打开不丑、下了不卡。它是后面所有打磨的地基，也是「现象 → 根因 → 修复」这套方法第一次被完整跑通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一轮确立的工作方式：每一个视觉问题都追到绘制代码里的具体一行，而不是调参数碰运气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迭代一：先让画面能看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第一轮的目标不是好看，是「不丑、不卡」——先把地基铺平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85800" y="25622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这一轮全部围绕画面：移除棋盘上多余的「刮痕」绘制、修掉大棋子外圈的方形阴影光环、加上嗒嗒嗒的落子音、接通歌单、稳住侧栏滚动、并验证棋盘在不同窗口尺寸下都能正确居中。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85800" y="33242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其中「方形光环」的根因很有代表性：投影先做高斯模糊、再被裁在一张正方形图像的边界之内，留白不足导致模糊晕开的边缘被切齐，于是圆形的影子变成了方形。修法是按模糊半径反推所需留白（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>shadow_extent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），并把投影拆成环境层与接触层分别绘制。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85800" y="40862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目标很朴素——打开不丑、下了不卡。它是后面所有打磨的地基，也是「现象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根因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修复」这套方法第一次被完整跑通。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733425" y="456247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733425" y="456247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923925" y="465772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这一轮确立的工作方式：每一个视觉问题都追到绘制代码里的具体一行，而不是调参数碰运气。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30 / 64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448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迭代二：音效与图标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第二轮把音频与图标的「细节正确性」补齐：方向、编码、稳定性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把旧音效整体换成 MP3 落子音，声音更清脆、体积更小。同时修正了上下首图标的指向——之前两个箭头的方向是反的，点「下一首」实际跳到上一首。&lt;/Text&gt;&#10;    &lt;Text style={{ fontSize: 17, lineHeight: 1.68, color: &quot;#2A2118&quot;, fontFamily: &quot;'PingFang SC', 'Microsoft YaHei', sans-serif&quot;, marginBottom: 11 }}&gt;修掉了歌单里的中文乱码，根因是文本编码在读取时没有按 UTF-8 解码；并让侧栏在各种操作（切歌、悔棋、换主题）下不再抖动——抖动的来源是滚动区域的尺寸计算没有把新增内容算进去。&lt;/Text&gt;&#10;    &lt;Text style={{ fontSize: 17, lineHeight: 1.68, color: &quot;#2A2118&quot;, fontFamily: &quot;'PingFang SC', 'Microsoft YaHei', sans-serif&quot;, marginBottom: 11 }}&gt;这一轮之后，音频从「能响」走到了「不刺耳、不乱码、不跳」——听感和观感同时上了台阶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规律：交互细节的错误往往很小，但用户一眼就能发现——所以每一处都要实测点一遍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1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迭代二：音效与图标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第二轮把音频与图标的「细节正确性」补齐：方向、编码、稳定性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85800" y="25622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把旧音效整体换成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MP3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落子音，声音更清脆、体积更小。同时修正了上下首图标的指向——之前两个箭头的方向是反的，点「下一首」实际跳到上一首。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85800" y="33242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修掉了歌单里的中文乱码，根因是文本编码在读取时没有按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UTF-8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解码；并让侧栏在各种操作（切歌、悔棋、换主题）下不再抖动——抖动的来源是滚动区域的尺寸计算没有把新增内容算进去。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85800" y="40862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这一轮之后，音频从「能响」走到了「不刺耳、不乱码、不跳」——听感和观感同时上了台阶。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733425" y="456247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733425" y="456247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923925" y="465772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规律：交互细节的错误往往很小，但用户一眼就能发现——所以每一处都要实测点一遍。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31 / 64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461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迭代三：PostgreSQL 一键配置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第三轮把「环境配置」从用户负担变成了程序自己的责任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数据库是很多人上手的门槛：要装服务、建库、配连接串，任何一步出错都会让存档功能失效。而存档本身又不是核心玩法，卡在这里非常不划算。&lt;/Text&gt;&#10;    &lt;Text style={{ fontSize: 17, lineHeight: 1.68, color: &quot;#2A2118&quot;, fontFamily: &quot;'PingFang SC', 'Microsoft YaHei', sans-serif&quot;, marginBottom: 11 }}&gt;这一轮写了一个安装引导脚本加启动时的环境检测：脚本负责把该装的装好，检测负责判断连不连得上。把「自己配连接串」降级成「点一下就行」，把可能出错的地方全部前置到启动阶段。&lt;/Text&gt;&#10;    &lt;Text style={{ fontSize: 17, lineHeight: 1.68, color: &quot;#2A2118&quot;, fontFamily: &quot;'PingFang SC', 'Microsoft YaHei', sans-serif&quot;, marginBottom: 11 }}&gt;配套加了状态栏与 Toast 双反馈：存档成功、失败、降级三种情况都看得见，不会出现「以为存了其实没存」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产品化的重要一课：把用户可能踩的坑，用一个脚本提前填平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迭代三：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PostgreSQL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一键配置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第三轮把「环境配置」从用户负担变成了程序自己的责任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685800" y="27241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数据库是很多人上手的门槛：要装服务、建库、配连接串，任何一步出错都会让存档功能失效。而存档本身又不是核心玩法，卡在这里非常不划算。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85800" y="316230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这一轮写了一个安装引导脚本加启动时的环境检测：脚本负责把该装的装好，检测负责判断连不连得上。把「自己配连接串」降级成「点一下就行」，把可能出错的地方全部前置到启动阶段。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85800" y="39243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配套加了状态栏与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Toast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双反馈：存档成功、失败、降级三种情况都看得见，不会出现「以为存了其实没存」。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733425" y="44005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733425" y="44005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923925" y="44958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产品化的重要一课：把用户可能踩的坑，用一个脚本提前填平。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32 / 64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474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迭代四：体积清理诊断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第四轮解决的是「工程存不下、发不出」的问题，靠的是诊断而不是凭感觉删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935MB 的工程在磁盘上太臃肿，复制、备份、打包都很累赘。这一轮做了一次体积诊断，逐目录扫描并按大小排序。&lt;/Text&gt;&#10;    &lt;Text style={{ fontSize: 17, lineHeight: 1.68, color: &quot;#2A2118&quot;, fontFamily: &quot;'PingFang SC', 'Microsoft YaHei', sans-serif&quot;, marginBottom: 11 }}&gt;结论很明确：627MB 是同一份素材在多个位置留下的重复副本，另外还有 PyInstaller 打包产生的中间目录。清理之后工程体积降到约 308MB，目录结构一眼可读。&lt;/Text&gt;&#10;    &lt;Text style={{ fontSize: 17, lineHeight: 1.68, color: &quot;#2A2118&quot;, fontFamily: &quot;'PingFang SC', 'Microsoft YaHei', sans-serif&quot;, marginBottom: 11 }}&gt;这次清理不只是「省空间」——它同时让发布体积可控、让 .gitignore 规则更清楚，为后面「可发布」这个目标扫掉了一个硬障碍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先测量、再动手：没有体积扫描，就不知道 627MB 到底是素材、缓存还是重复副本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迭代四：体积清理诊断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第四轮解决的是「工程存不下、发不出」的问题，靠的是诊断而不是凭感觉删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85800" y="27241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935MB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的工程在磁盘上太臃肿，复制、备份、打包都很累赘。这一轮做了一次体积诊断，逐目录扫描并按大小排序。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85800" y="316230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结论很明确：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627MB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是同一份素材在多个位置留下的重复副本，另外还有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PyInstaller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打包产生的中间目录。清理之后工程体积降到约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308MB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，目录结构一眼可读。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85800" y="39243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这次清理不只是「省空间」——它同时让发布体积可控、让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.gitignore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规则更清楚，为后面「可发布」这个目标扫掉了一个硬障碍。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733425" y="44005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733425" y="44005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23925" y="44958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先测量、再动手：没有体积扫描，就不知道</a:t>
            </a:r>
            <a:r>
              <a:rPr lang="en-US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 xml:space="preserve"> 627MB </a:t>
            </a: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到底是素材、缓存还是重复副本。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33 / 64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487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迭代五：Word 交付文档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第五轮把工程事实翻译成四套面向不同读者的叙述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代码之外，按不同受众写了四份 Word 文档：面向用户的产品说明、面向开发者的算法实现、面向本科生的算法讲义、面向课程的课程设计报告。&lt;/Text&gt;&#10;    &lt;Text style={{ fontSize: 17, lineHeight: 1.68, color: &quot;#2A2118&quot;, fontFamily: &quot;'PingFang SC', 'Microsoft YaHei', sans-serif&quot;, marginBottom: 11 }}&gt;四份文档共用同一份工程事实，但口径完全不同：产品说明讲怎么用，算法实现讲怎么写的，讲义讲怎么讲明白，报告讲怎么对齐课程要求。&lt;/Text&gt;&#10;    &lt;Text style={{ fontSize: 17, lineHeight: 1.68, color: &quot;#2A2118&quot;, fontFamily: &quot;'PingFang SC', 'Microsoft YaHei', sans-serif&quot;, marginBottom: 11 }}&gt;同一份工程，给评审、给同学、给老师各有一份合适的材料——这是「可交付」的最后一环，也是把个人项目变成「别人能看懂、能复现、能验收」的成品的关键一步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判断：文档不是附属品——它决定了别人能不能独立复现你的成果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4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迭代五：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Word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交付文档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第五轮把工程事实翻译成四套面向不同读者的叙述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85800" y="27241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代码之外，按不同受众写了四份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Word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文档：面向用户的产品说明、面向开发者的算法实现、面向本科生的算法讲义、面向课程的课程设计报告。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85800" y="31623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四份文档共用同一份工程事实，但口径完全不同：产品说明讲怎么用，算法实现讲怎么写的，讲义讲怎么讲明白，报告讲怎么对齐课程要求。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85800" y="360045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同一份工程，给评审、给同学、给老师各有一份合适的材料——这是「可交付」的最后一环，也是把个人项目变成「别人能看懂、能复现、能验收」的成品的关键一步。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733425" y="44005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733425" y="44005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923925" y="44958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判断：文档不是附属品——它决定了别人能不能独立复现你的成果。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34 / 64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500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方法：现象 → 根因 → 修复 → 验证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四步闭环的核心是「可测量」与「可复现」，把主观感受转成客观证据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每一个改动都走四步。第一步盯可观察的现象，比如用户说「圈圈太大了」；第二步下探到能测量的层面找根因，比如用 MCI 直测发现播一条 255ms 的 wav，播放命令要 309~460ms 才返回；第三步选最小改动面去修，不顺手重构无关代码；第四步用可复现的方式证明修对了。&lt;/Text&gt;&#10;    &lt;Text style={{ fontSize: 17, lineHeight: 1.68, color: &quot;#2A2118&quot;, fontFamily: &quot;'PingFang SC', 'Microsoft YaHei', sans-serif&quot;, marginBottom: 11 }}&gt;验证手段是多样的：几何自检脚本跑 10 种窗口尺寸、端到端脚本用真实 Tk 实例驱动一次完整对局、数学推导校验胜率公式的锚点、git 取证确认缺陷的引入时间。&lt;/Text&gt;&#10;    &lt;Text style={{ fontSize: 17, lineHeight: 1.68, color: &quot;#2A2118&quot;, fontFamily: &quot;'PingFang SC', 'Microsoft YaHei', sans-serif&quot;, marginBottom: 11 }}&gt;关键不是「改完了」，而是「改完且证明改对了」。比如「落子音 16ms」这句话，是 MCI 直测计时算出来的数字，不是主观感觉——它可以被任何人在同一台机器上复现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方法的价值在于可迁移：换了问题、换了模块，这四步依然成立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方法：现象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→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根因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→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修复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→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验证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四步闭环的核心是「可测量」与「可复现」，把主观感受转成客观证据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85800" y="240030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每一个改动都走四步。第一步盯可观察的现象，比如用户说「圈圈太大了」；第二步下探到能测量的层面找根因，比如用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MCI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直测发现播一条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255ms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wav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，播放命令要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309~460ms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才返回；第三步选最小改动面去修，不顺手重构无关代码；第四步用可复现的方式证明修对了。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85800" y="316230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验证手段是多样的：几何自检脚本跑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种窗口尺寸、端到端脚本用真实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Tk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实例驱动一次完整对局、数学推导校验胜率公式的锚点、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git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取证确认缺陷的引入时间。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85800" y="392430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关键不是「改完了」，而是「改完且证明改对了」。比如「落子音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16ms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」这句话，是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MCI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直测计时算出来的数字，不是主观感觉——它可以被任何人在同一台机器上复现。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733425" y="472440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509" name=""/>
          <p:cNvSpPr/>
          <p:nvPr/>
        </p:nvSpPr>
        <p:spPr>
          <a:xfrm rot="0" flipH="0" flipV="0">
            <a:off x="733425" y="472440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923925" y="481965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方法的价值在于可迁移：换了问题、换了模块，这四步依然成立。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35 / 64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513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质量保障：四道验证手段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四条手段分别覆盖「空间几何 / 交互流程 / 数值正确 / 历史追溯」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① 几何自检：覆盖 640×520 到 1920×1080 共 10 种窗口尺寸，验证棋盘居中、点击映射可逆（点哪是哪）、棋子不重叠。这是最容易被忽略、也最容易出 bug 的一类问题。&lt;/Text&gt;&#10;    &lt;Text style={{ fontSize: 17, lineHeight: 1.68, color: &quot;#2A2118&quot;, fontFamily: &quot;'PingFang SC', 'Microsoft YaHei', sans-serif&quot;, marginBottom: 11 }}&gt;② 端到端脚本：用 venv 里的真实 Tk 实例驱动对话与落子，断言状态、控件引用与可见性，而不是只测纯函数。这样能抓到「逻辑对但界面没刷新」这类问题。&lt;/Text&gt;&#10;    &lt;Text style={{ fontSize: 17, lineHeight: 1.68, color: &quot;#2A2118&quot;, fontFamily: &quot;'PingFang SC', 'Microsoft YaHei', sans-serif&quot;, marginBottom: 11 }}&gt;③ 数学推导：胜率的 Elo 锚点、评估函数的对称性，用公式验证而不是凭感觉。凡是能用公式说清的地方，就不留主观判断。&lt;/Text&gt;&#10;    &lt;Text style={{ fontSize: 17, lineHeight: 1.68, color: &quot;#2A2118&quot;, fontFamily: &quot;'PingFang SC', 'Microsoft YaHei', sans-serif&quot;, marginBottom: 11 }}&gt;④ 版本取证：用 git show / git log -S 比对历史，定位「这个缺陷从哪一次提交开始存在」，避免在错误的前提上乱改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四条不是流程规定，而是被真实 bug 逼出来的——每一条背后都有一次翻车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6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质量保障：四道验证手段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四条手段分别覆盖「空间几何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交互流程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数值正确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历史追溯」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85800" y="234315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几何自检：覆盖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640×520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到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1920×1080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共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种窗口尺寸，验证棋盘居中、点击映射可逆（点哪是哪）、棋子不重叠。这是最容易被忽略、也最容易出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bug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的一类问题。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85800" y="310515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②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端到端脚本：用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venv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里的真实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Tk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实例驱动对话与落子，断言状态、控件引用与可见性，而不是只测纯函数。这样能抓到「逻辑对但界面没刷新」这类问题。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685800" y="38671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③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数学推导：胜率的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Elo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锚点、评估函数的对称性，用公式验证而不是凭感觉。凡是能用公式说清的地方，就不留主观判断。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85800" y="43053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④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版本取证：用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git show / git log -S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比对历史，定位「这个缺陷从哪一次提交开始存在」，避免在错误的前提上乱改。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733425" y="47815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523" name=""/>
          <p:cNvSpPr/>
          <p:nvPr/>
        </p:nvSpPr>
        <p:spPr>
          <a:xfrm rot="0" flipH="0" flipV="0">
            <a:off x="733425" y="47815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923925" y="48768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这四条不是流程规定，而是被真实</a:t>
            </a:r>
            <a:r>
              <a:rPr lang="en-US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 xml:space="preserve"> bug </a:t>
            </a: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逼出来的——每一条背后都有一次翻车。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36 / 64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27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5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5 章&lt;/Text&gt;&#10;    &lt;Text style={{ fontSize: 62, fontWeight: &quot;bold&quot;, color: &quot;#F5E3BE&quot;, fontFamily: &quot;'Songti SC', 'STSong', 'SimSun', serif&quot;, marginTop: 12 }}&gt;难点与解决方案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把「看起来不对」变成可定位的根因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529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05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05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难点与解决方案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把「看起来不对」变成可定位的根因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538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难点一 · 棋盘像被划了一道道伤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看上去是「材质不好」，实际是「多画了一层不该画的高频线段」&lt;/Text&gt;&#10;  &lt;/Box&gt;&#10;  &lt;Box style={{ width: &quot;100%&quot;, height: 510, flexDirection: &quot;column&quot; }}&gt;&#10;  &lt;Box style={{ width: &quot;100%&quot;, height: &quot;100%&quot;, flexDirection: &quot;column&quot;, gap: 14 }}&gt;&#10;  &lt;Box style={{ flexDirection: &quot;row&quot;, height: &quot;100%&quot;, gap: 24, alignItems: &quot;stretch&quot; }}&gt;&#10;    &lt;Box style={{ flex: 1, height: &quot;100%&quot;, background: &quot;rgba(140,90,43,0.06)&quot;, border: &quot;1px solid rgba(140,90,43,0.2)&quot;, borderRadius: 8, padding: &quot;22px 24px&quot;, flexDirection: &quot;column&quot;, gap: 12 }}&gt;&#10;      &lt;Text style={{ fontSize: 18, fontWeight: &quot;bold&quot;, color: &quot;rgba(42,33,24,0.5)&quot;, fontFamily: &quot;'Songti SC', 'STSong', 'SimSun', serif&quot; }}&gt;现象与根因&lt;/Text&gt;&#10;      &lt;Text style={{ fontSize: 17, lineHeight: 1.78, color: &quot;rgba(42,33,24,0.78)&quot;, fontFamily: &quot;'PingFang SC', 'Microsoft YaHei', sans-serif&quot; }}&gt;棋盘看起来像被划伤。根因不是材质贴图有问题，而是：网格线画完之后，代码又叠了一层约 110 条固定种子的短线段——长度在 0.6~2.4 格之间、方向含斜向。这些线段高频、杂乱、且每次生成的位置完全一样，于是读起来就像永久的刀痕，而不像自然的木纹。&lt;/Text&gt;&#10;    &lt;/Box&gt;&#10;    &lt;Box style={{ flex: 1, height: &quot;100%&quot;, background: &quot;rgba(179,39,30,0.06)&quot;, border: &quot;1px solid rgba(179,39,30,0.28)&quot;, borderRadius: 8, padding: &quot;22px 24px&quot;, flexDirection: &quot;column&quot;, gap: 12 }}&gt;&#10;      &lt;Text style={{ fontSize: 18, fontWeight: &quot;bold&quot;, color: &quot;#B3271E&quot;, fontFamily: &quot;'Songti SC', 'STSong', 'SimSun', serif&quot; }}&gt;解法&lt;/Text&gt;&#10;      &lt;Text style={{ fontSize: 17, lineHeight: 1.78, color: &quot;rgba(42,33,24,0.84)&quot;, fontFamily: &quot;'PingFang SC', 'Microsoft YaHei', sans-serif&quot; }}&gt;删掉那段多余的绘制，改成 16 级纯净的竖向渐变。划痕立刻消失，棋盘恢复成一块干净木面。这说明问题不在「加得不够」，而在「加得过头」——多出来的那层高频特征，正是「假」的来源。&lt;/Text&gt;&#10;    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规律：视觉上的「假」，常常来自叠了一层真实材质本不具有的高频特征——解法是做减法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8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难点一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棋盘像被划了一道道伤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看上去是「材质不好」，实际是「多画了一层不该画的高频线段」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85800" y="1352550"/>
            <a:ext cx="5295900" cy="4238625"/>
          </a:xfrm>
          <a:prstGeom prst="roundRect">
            <a:avLst>
              <a:gd name="adj" fmla="val 1798"/>
            </a:avLst>
          </a:prstGeom>
          <a:solidFill>
            <a:srgbClr val="8C5A2B">
              <a:alpha val="6000"/>
            </a:srgbClr>
          </a:solidFill>
          <a:ln w="12700">
            <a:solidFill>
              <a:srgbClr val="8C5A2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914400" y="1562100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2118">
                    <a:alpha val="50000"/>
                  </a:srgbClr>
                </a:solidFill>
                <a:latin typeface="Songti SC"/>
                <a:ea typeface="Songti SC"/>
              </a:rPr>
              <a:t>现象与根因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14400" y="1885950"/>
            <a:ext cx="48387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8000"/>
              </a:lnSpc>
            </a:pPr>
            <a:r>
              <a:rPr lang="zh-CN" sz="127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棋盘看起来像被划伤。根因不是材质贴图有问题，而是：网格线画完之后，代码又叠了一层约</a:t>
            </a:r>
            <a:r>
              <a:rPr lang="en-US" sz="127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 110 </a:t>
            </a:r>
            <a:r>
              <a:rPr lang="zh-CN" sz="127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条固定种子的短线段——长度在</a:t>
            </a:r>
            <a:r>
              <a:rPr lang="en-US" sz="127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 0.6~2.4 </a:t>
            </a:r>
            <a:r>
              <a:rPr lang="zh-CN" sz="127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格之间、方向含斜向。这些线段高频、杂乱、且每次生成的位置完全一样，于是读起来就像永久的刀痕，而不像自然的木纹。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210300" y="1352550"/>
            <a:ext cx="5295900" cy="4238625"/>
          </a:xfrm>
          <a:prstGeom prst="roundRect">
            <a:avLst>
              <a:gd name="adj" fmla="val 1798"/>
            </a:avLst>
          </a:prstGeom>
          <a:solidFill>
            <a:srgbClr val="B3271E">
              <a:alpha val="6000"/>
            </a:srgbClr>
          </a:solidFill>
          <a:ln w="12700">
            <a:solidFill>
              <a:srgbClr val="B3271E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438900" y="1562100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3271E"/>
                </a:solidFill>
                <a:latin typeface="Songti SC"/>
                <a:ea typeface="Songti SC"/>
              </a:rPr>
              <a:t>解法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438900" y="1885950"/>
            <a:ext cx="4838700" cy="1038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8000"/>
              </a:lnSpc>
            </a:pPr>
            <a:r>
              <a:rPr lang="zh-CN" sz="1275">
                <a:solidFill>
                  <a:srgbClr val="2A2118">
                    <a:alpha val="84000"/>
                  </a:srgbClr>
                </a:solidFill>
                <a:latin typeface="PingFang SC"/>
                <a:ea typeface="PingFang SC"/>
              </a:rPr>
              <a:t>删掉那段多余的绘制，改成</a:t>
            </a:r>
            <a:r>
              <a:rPr lang="en-US" sz="1275">
                <a:solidFill>
                  <a:srgbClr val="2A2118">
                    <a:alpha val="84000"/>
                  </a:srgbClr>
                </a:solidFill>
                <a:latin typeface="PingFang SC"/>
                <a:ea typeface="PingFang SC"/>
              </a:rPr>
              <a:t xml:space="preserve"> 16 </a:t>
            </a:r>
            <a:r>
              <a:rPr lang="zh-CN" sz="1275">
                <a:solidFill>
                  <a:srgbClr val="2A2118">
                    <a:alpha val="84000"/>
                  </a:srgbClr>
                </a:solidFill>
                <a:latin typeface="PingFang SC"/>
                <a:ea typeface="PingFang SC"/>
              </a:rPr>
              <a:t>级纯净的竖向渐变。划痕立刻消失，棋盘恢复成一块干净木面。这说明问题不在「加得不够」，而在「加得过头」——多出来的那层高频特征，正是「假」的来源。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550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规律：视觉上的「假」，常常来自叠了一层真实材质本不具有的高频特征——解法是做减法。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38 / 64</a:t>
            </a:r>
            <a:endParaRPr/>
          </a:p>
        </p:txBody>
      </p:sp>
    </p:spTree>
  </p:cSld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554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难点一续 · 棋子一度像塑料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塑料感的根因是「加了一层木头没有的东西」：点状高光与过亮倒角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棋子一度被评价为「塑料感」：原因是叠加了一个白色点状高光加上过亮的倒角，看着像玻璃球或塑料钮扣，而不是木头。&lt;/Text&gt;&#10;    &lt;Text style={{ fontSize: 17, lineHeight: 1.68, color: &quot;#2A2118&quot;, fontFamily: &quot;'PingFang SC', 'Microsoft YaHei', sans-serif&quot;, marginBottom: 11 }}&gt;真实的木材表面不会有圆点状的镜面高光，它只有各向异性的丝光——一道贴着纹理方向的、很窄的柔光带。所以处理上做了三件事：删掉整层点状高光；把定向光的 α 峰值压到 28 以下；暗部颜色不再用固定深棕，而是按每种材质各自的基色去混（否则浅色材质上会泛出脏褐色）。&lt;/Text&gt;&#10;    &lt;Text style={{ fontSize: 17, lineHeight: 1.68, color: &quot;#2A2118&quot;, fontFamily: &quot;'PingFang SC', 'Microsoft YaHei', sans-serif&quot;, marginBottom: 11 }}&gt;倒角的亮边也收窄了，过亮会像金属包边。这一轮改动全部是「减」，没有任何「加」——但木头感反而立起来了。&lt;/Text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删除整层白色点状高光（这是塑料/玻璃的典型特征）；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定向光 α 上限压到 28，暗部按材质基色取色；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丝光、倒角的参数全部回落到克制区间。&lt;/Text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木头只有各向异性丝光，没有镜面亮点——把这两者分清，材质才真实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39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难点一续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棋子一度像塑料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塑料感的根因是「加了一层木头没有的东西」：点状高光与过亮倒角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85800" y="21050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棋子一度被评价为「塑料感」：原因是叠加了一个白色点状高光加上过亮的倒角，看着像玻璃球或塑料钮扣，而不是木头。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85800" y="254317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真实的木材表面不会有圆点状的镜面高光，它只有各向异性的丝光——一道贴着纹理方向的、很窄的柔光带。所以处理上做了三件事：删掉整层点状高光；把定向光的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α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峰值压到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28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以下；暗部颜色不再用固定深棕，而是按每种材质各自的基色去混（否则浅色材质上会泛出脏褐色）。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85800" y="330517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倒角的亮边也收窄了，过亮会像金属包边。这一轮改动全部是「减」，没有任何「加」——但木头感反而立起来了。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85800" y="38290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66775" y="3743325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删除整层白色点状高光（这是塑料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玻璃的典型特征）；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685800" y="42386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66775" y="4152900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定向光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α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上限压到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 28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，暗部按材质基色取色；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685800" y="464820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66775" y="4562475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丝光、倒角的参数全部回落到克制区间。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733425" y="50101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733425" y="50101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923925" y="51054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木头只有各向异性丝光，没有镜面亮点——把这两者分清，材质才真实。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39 / 64</a:t>
            </a:r>
            <a:endParaRPr/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84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难点二 · 落子音链路 110ms → 16ms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用户只说「下棋音效有延迟」，测量后定位到两个叠加的根因&lt;/Text&gt;&#10;  &lt;/Box&gt;&#10;  &lt;Box style={{ width: &quot;100%&quot;, height: 510, flexDirection: &quot;column&quot; }}&gt;&#10;  &lt;Box style={{ width: &quot;100%&quot;, height: &quot;100%&quot;, flexDirection: &quot;column&quot; }}&gt;&#10;  &lt;Box style={{ flexDirection: &quot;row&quot;, height: &quot;100%&quot;, gap: 30, alignItems: &quot;center&quot; }}&gt;&#10;    &lt;Box style={{ width: 520, flexDirection: &quot;column&quot;, justifyContent: &quot;center&quot;, gap: 10, alignItems: &quot;center&quot; }}&gt;&#10;    &lt;svg width=&quot;780&quot; height=&quot;210&quot; viewBox=&quot;0 0 780 210&quot; style={{ background: &quot;rgba(140,90,43,0.05)&quot;, borderRadius: 10, maxWidth: &quot;100%&quot;, height: &quot;auto&quot; }}&gt;&#10;      &lt;rect x=&quot;20&quot; y=&quot;40&quot; width=&quot;320&quot; height=&quot;56&quot; rx=&quot;8&quot; fill=&quot;#8C5A2B&quot;/&gt;&lt;text x=&quot;180&quot; y=&quot;74&quot; font-size=&quot;16&quot; fill=&quot;#F5E3BE&quot; text-anchor=&quot;middle&quot; font-family=&quot;sans-serif&quot;&gt;旧链路 110ms+&lt;/text&gt;&#10;      &lt;rect x=&quot;440&quot; y=&quot;122&quot; width=&quot;320&quot; height=&quot;56&quot; rx=&quot;8&quot; fill=&quot;#B3271E&quot;/&gt;&lt;text x=&quot;600&quot; y=&quot;156&quot; font-size=&quot;16&quot; fill=&quot;#F5E3BE&quot; text-anchor=&quot;middle&quot; font-family=&quot;sans-serif&quot;&gt;新链路 16ms&lt;/text&gt;&#10;      &lt;text x=&quot;180&quot; y=&quot;118&quot; font-size=&quot;12&quot; fill=&quot;#2A2118&quot; text-anchor=&quot;middle&quot; font-family=&quot;sans-serif&quot;&gt;wav 同步阻塞 + 每次重开设备&lt;/text&gt;&#10;      &lt;text x=&quot;600&quot; y=&quot;200&quot; font-size=&quot;12&quot; fill=&quot;#2A2118&quot; text-anchor=&quot;middle&quot; font-family=&quot;sans-serif&quot;&gt;双轨队列 + 常驻 alias + 锁外发&lt;/text&gt;&#10;      &lt;path d=&quot;M340 68 C 430 68, 400 150, 440 150&quot; stroke=&quot;#2A2118&quot; stroke-width=&quot;2&quot; fill=&quot;none&quot; stroke-dasharray=&quot;5,4&quot;/&gt;&#10;    &lt;/svg&gt;&#10;      &lt;Text style={{ fontSize: 14, lineHeight: 1.4, color: &quot;rgba(42,33,24,0.6)&quot;, fontFamily: &quot;'PingFang SC', 'Microsoft YaHei', sans-serif&quot; }}&gt;wav 的 play 同步阻塞 + 每次重开设备 = 延迟主因&lt;/Text&gt;&#10;    &lt;/Box&gt;&#10;    &lt;Box style={{ flex: 1, flexDirection: &quot;column&quot;, justifyContent: &quot;center&quot;, gap: 6 }}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根因一：waveaudio 的 play 在命令串层同步阻塞，309~460ms 才返回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根因二：每次播放都 close→open 设备，初始化再花 15~45ms。&lt;/Text&gt;&#10;    &lt;/Box&gt;&#10;    &lt;Box style={{ flexDirection: &quot;row&quot;, alignItems: &quot;flex-start&quot;, gap: 12, marginBottom: 13 }}&gt;&#10;      &lt;Box style={{ width: 7, height: 7, borderRadius: 2, background: &quot;#B3271E&quot;, marginTop: 9 }} /&gt;&#10;      &lt;Text style={{ fontSize: 16, lineHeight: 1.64, color: &quot;rgba(42,33,24,0.8)&quot;, fontFamily: &quot;'PingFang SC', 'Microsoft YaHei', sans-serif&quot;, flex: 1 }}&gt;修法：按扩展名双轨分流 + 常驻 alias 只 seek+play + play 锁外发。&lt;/Text&gt;&#10;    &lt;/Box&gt;&#10;    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两个根因都藏在系统调用层——不测量就永远只能靠猜，猜不出真正的 300ms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难点二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落子音链路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110ms → 16ms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用户只说「下棋音效有延迟」，测量后定位到两个叠加的根因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685800" y="2381250"/>
            <a:ext cx="7429500" cy="2000250"/>
          </a:xfrm>
          <a:prstGeom prst="roundRect">
            <a:avLst>
              <a:gd name="adj" fmla="val 4762"/>
            </a:avLst>
          </a:prstGeom>
          <a:ln/>
        </p:spPr>
        <p:txBody>
          <a:bodyPr/>
          <a:p/>
        </p:txBody>
      </p:sp>
      <p:pic>
        <p:nvPicPr>
          <p:cNvPr id="5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2381250"/>
            <a:ext cx="4953000" cy="2000250"/>
          </a:xfrm>
          <a:prstGeom prst="rect">
            <a:avLst/>
          </a:prstGeom>
          <a:ln/>
        </p:spPr>
      </p:pic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666875" y="4476750"/>
            <a:ext cx="29908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wav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的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play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同步阻塞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每次重开设备</a:t>
            </a:r>
            <a:r>
              <a:rPr lang="en-US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 xml:space="preserve"> = </a:t>
            </a:r>
            <a:r>
              <a:rPr lang="zh-CN" sz="1050">
                <a:solidFill>
                  <a:srgbClr val="2A2118">
                    <a:alpha val="60000"/>
                  </a:srgbClr>
                </a:solidFill>
                <a:latin typeface="PingFang SC"/>
                <a:ea typeface="PingFang SC"/>
              </a:rPr>
              <a:t>延迟主因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5924550" y="29241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105525" y="283845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根因一：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waveaudio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的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play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在命令串层同步阻塞，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309~460ms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才返回。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5924550" y="34099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6105525" y="3324225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根因二：每次播放都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close→open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设备，初始化再花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15~45ms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5924550" y="38957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105525" y="3810000"/>
            <a:ext cx="540067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修法：按扩展名双轨分流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常驻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alias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只</a:t>
            </a:r>
            <a:r>
              <a:rPr lang="en-US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 xml:space="preserve"> seek+play + play </a:t>
            </a:r>
            <a:r>
              <a:rPr lang="zh-CN" sz="1200">
                <a:solidFill>
                  <a:srgbClr val="2A2118">
                    <a:alpha val="80000"/>
                  </a:srgbClr>
                </a:solidFill>
                <a:latin typeface="PingFang SC"/>
                <a:ea typeface="PingFang SC"/>
              </a:rPr>
              <a:t>锁外发。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599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两个根因都藏在系统调用层——不测量就永远只能靠猜，猜不出真正的</a:t>
            </a:r>
            <a:r>
              <a:rPr lang="en-US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 xml:space="preserve"> 300ms</a:t>
            </a: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40 / 64</a:t>
            </a:r>
            <a:endParaRPr/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603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难点三 · AI 不堵乱走（用户视角）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表面是「AI 太笨」，实际是「算杀层报告了假的胜利」，把评估带偏了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用户反馈 AI「不堵乱走」，看着像完全没在防守。第一反应是「评估函数权重不对」，但按 P35 的方法往下查，真正的问题在算杀层。&lt;/Text&gt;&#10;    &lt;Text style={{ fontSize: 17, lineHeight: 1.68, color: &quot;#2A2118&quot;, fontFamily: &quot;'PingFang SC', 'Microsoft YaHei', sans-serif&quot;, marginBottom: 11 }}&gt;拆开看是四个 bug（机制见原理 P25）：奇偶校验跳回合造出假必胜、跨子误连造出假跳形、三三捷径忽略对手反手冲四、活三误记使威胁被高估。每一个都会让引擎判断出一个根本不存在的好局面，于是「该堵的地方不堵」。&lt;/Text&gt;&#10;    &lt;Text style={{ fontSize: 17, lineHeight: 1.68, color: &quot;#2A2118&quot;, fontFamily: &quot;'PingFang SC', 'Microsoft YaHei', sans-serif&quot;, marginBottom: 11 }}&gt;修复没有一个是凭感觉改的：先 git 取证定位每个缺陷的引入点，再按 Allis 关于威胁空间搜索的规则逐条对齐修法。修完之后，AI 该堵的地方才真的会堵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重要经验：棋力问题要分层定位——先分清是评估错、搜索错，还是算杀错，再动手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1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难点三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AI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不堵乱走（用户视角）</a:t>
            </a:r>
            <a:endParaRPr/>
          </a:p>
        </p:txBody>
      </p:sp>
      <p:sp>
        <p:nvSpPr>
          <p:cNvPr id="606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表面是「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太笨」，实际是「算杀层报告了假的胜利」，把评估带偏了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85800" y="25622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用户反馈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AI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「不堵乱走」，看着像完全没在防守。第一反应是「评估函数权重不对」，但按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P35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的方法往下查，真正的问题在算杀层。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85800" y="300037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拆开看是四个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bug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（机制见原理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P25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）：奇偶校验跳回合造出假必胜、跨子误连造出假跳形、三三捷径忽略对手反手冲四、活三误记使威胁被高估。每一个都会让引擎判断出一个根本不存在的好局面，于是「该堵的地方不堵」。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85800" y="376237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修复没有一个是凭感觉改的：先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git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取证定位每个缺陷的引入点，再按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Allis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关于威胁空间搜索的规则逐条对齐修法。修完之后，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该堵的地方才真的会堵。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733425" y="456247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612" name=""/>
          <p:cNvSpPr/>
          <p:nvPr/>
        </p:nvSpPr>
        <p:spPr>
          <a:xfrm rot="0" flipH="0" flipV="0">
            <a:off x="733425" y="456247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923925" y="465772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重要经验：棋力问题要分层定位——先分清是评估错、搜索错，还是算杀错，再动手。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41 / 64</a:t>
            </a:r>
            <a:endParaRPr/>
          </a:p>
        </p:txBody>
      </p:sp>
    </p:spTree>
  </p:cSld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616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难点四 · 棋子外观推翻了十几轮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同一处外观被反复推翻十余次，每一次都留下一条可复用的铁律&lt;/Text&gt;&#10;  &lt;/Box&gt;&#10;  &lt;Box style={{ width: &quot;100%&quot;, height: 510, flexDirection: &quot;column&quot; }}&gt;&#10;  &lt;Box style={{ width: &quot;100%&quot;, height: &quot;100%&quot;, flexDirection: &quot;column&quot;, justifyContent: &quot;center&quot;, gap: 14 }}&gt;&#10;  &lt;Box style={{ flexDirection: &quot;row&quot;, alignItems: &quot;stretch&quot;, justifyContent: &quot;center&quot;, gap: 8 }}&gt;&#10;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1. v8 · 九层立体&lt;/Text&gt;&#10;        &lt;Text style={{ fontSize: 12, lineHeight: 1.45, color: &quot;rgba(42,33,24,0.72)&quot;, fontFamily: &quot;'PingFang SC', 'Microsoft YaHei', sans-serif&quot; }}&gt;球面 + 木纹 + 双圈 + 镜面光，被直接否决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2. v9 · 扁平木片&lt;/Text&gt;&#10;        &lt;Text style={{ fontSize: 12, lineHeight: 1.45, color: &quot;rgba(42,33,24,0.72)&quot;, fontFamily: &quot;'PingFang SC', 'Microsoft YaHei', sans-serif&quot; }}&gt;推翻 3D，改素色木片 + 细描边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3. v10 / v11&lt;/Text&gt;&#10;        &lt;Text style={{ fontSize: 12, lineHeight: 1.45, color: &quot;rgba(42,33,24,0.72)&quot;, fontFamily: &quot;'PingFang SC', 'Microsoft YaHei', sans-serif&quot; }}&gt;5 套主题 + 书法字，定下红繁黑简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4. v13 系&lt;/Text&gt;&#10;        &lt;Text style={{ fontSize: 12, lineHeight: 1.45, color: &quot;rgba(42,33,24,0.72)&quot;, fontFamily: &quot;'PingFang SC', 'Microsoft YaHei', sans-serif&quot; }}&gt;解耦材质与配色，修字形乱码与边缘锯齿&lt;/Text&gt;&#10;      &lt;/Box&gt;&#10;      &lt;Text style={{ fontSize: 20, color: &quot;#B3271E&quot;, fontFamily: &quot;'Songti SC', 'STSong', 'SimSun', serif&quot;, alignSelf: &quot;center&quot; }}&gt;→&lt;/Text&gt;&#10;      &lt;Box style={{ width: 158, background: &quot;rgba(140,90,43,0.10)&quot;, borderLeft: &quot;4px solid #8C5A2B&quot;, borderRadius: 6, padding: &quot;12px 11px&quot;, flexDirection: &quot;column&quot;, gap: 4 }}&gt;&#10;        &lt;Text style={{ fontSize: 14, fontWeight: &quot;bold&quot;, color: &quot;#2A2118&quot;, fontFamily: &quot;'Songti SC', 'STSong', 'SimSun', serif&quot; }}&gt;5. v15 · 光泽收敛&lt;/Text&gt;&#10;        &lt;Text style={{ fontSize: 12, lineHeight: 1.45, color: &quot;rgba(42,33,24,0.72)&quot;, fontFamily: &quot;'PingFang SC', 'Microsoft YaHei', sans-serif&quot; }}&gt;去点状高光，压暗定向光，定稿&lt;/Text&gt;&#10;      &lt;/Box&gt;&#10;  &lt;/Box&gt;&#10;    &lt;Box style={{ width: &quot;100%&quot;, flexDirection: &quot;column&quot;, gap: 8 }}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v9 的信息：用户要的不是「立体」，是「真实且克制」。&lt;/Text&gt;&#10;    &lt;/Box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v13 的信息：材质与配色必须解耦，否则组合爆炸且无法维护。&lt;/Text&gt;&#10;    &lt;/Box&gt;&#10;    &lt;Box style={{ flexDirection: &quot;row&quot;, alignItems: &quot;flex-start&quot;, gap: 12, marginBottom: 8 }}&gt;&#10;      &lt;Box style={{ width: 7, height: 7, borderRadius: 2, background: &quot;#B3271E&quot;, marginTop: 9 }} /&gt;&#10;      &lt;Text style={{ fontSize: 15, lineHeight: 1.64, color: &quot;rgba(42,33,24,0.78)&quot;, fontFamily: &quot;'PingFang SC', 'Microsoft YaHei', sans-serif&quot;, flex: 1 }}&gt;v15 的信息：光泽要自然——宁少勿多，宁暗勿亮。&lt;/Text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十几轮证明：外观打磨不是一次成型，而是靠一次次否决把边界试出来。&lt;/Text&gt;&#10;  &lt;/Box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难点四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棋子外观推翻了十几轮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同一处外观被反复推翻十余次，每一次都留下一条可复用的铁律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1685925" y="2400300"/>
            <a:ext cx="1466850" cy="828675"/>
          </a:xfrm>
          <a:prstGeom prst="roundRect">
            <a:avLst>
              <a:gd name="adj" fmla="val 6897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622" name=""/>
          <p:cNvSpPr/>
          <p:nvPr/>
        </p:nvSpPr>
        <p:spPr>
          <a:xfrm rot="0" flipH="0" flipV="0">
            <a:off x="1685925" y="2400300"/>
            <a:ext cx="1466850" cy="828675"/>
          </a:xfrm>
          <a:custGeom>
            <a:pathLst>
              <a:path w="154" h="8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5"/>
                </a:lnTo>
                <a:cubicBezTo>
                  <a:pt x="4" y="86"/>
                  <a:pt x="5" y="87"/>
                  <a:pt x="6" y="87"/>
                </a:cubicBezTo>
                <a:cubicBezTo>
                  <a:pt x="3" y="87"/>
                  <a:pt x="0" y="84"/>
                  <a:pt x="0" y="8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1790700" y="25146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1. v8 ·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九层立体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790700" y="2714625"/>
            <a:ext cx="12573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球面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木纹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双圈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镜面光，被直接否决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322897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3533775" y="2400300"/>
            <a:ext cx="1466850" cy="828675"/>
          </a:xfrm>
          <a:prstGeom prst="roundRect">
            <a:avLst>
              <a:gd name="adj" fmla="val 6897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3533775" y="2400300"/>
            <a:ext cx="1466850" cy="828675"/>
          </a:xfrm>
          <a:custGeom>
            <a:pathLst>
              <a:path w="154" h="8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5"/>
                </a:lnTo>
                <a:cubicBezTo>
                  <a:pt x="4" y="86"/>
                  <a:pt x="5" y="87"/>
                  <a:pt x="6" y="87"/>
                </a:cubicBezTo>
                <a:cubicBezTo>
                  <a:pt x="3" y="87"/>
                  <a:pt x="0" y="84"/>
                  <a:pt x="0" y="8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3638550" y="25146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2. v9 ·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扁平木片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3638550" y="2714625"/>
            <a:ext cx="12573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推翻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3D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，改素色木片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细描边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507682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5381625" y="2400300"/>
            <a:ext cx="1466850" cy="828675"/>
          </a:xfrm>
          <a:prstGeom prst="roundRect">
            <a:avLst>
              <a:gd name="adj" fmla="val 6897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632" name=""/>
          <p:cNvSpPr/>
          <p:nvPr/>
        </p:nvSpPr>
        <p:spPr>
          <a:xfrm rot="0" flipH="0" flipV="0">
            <a:off x="5381625" y="2400300"/>
            <a:ext cx="1466850" cy="828675"/>
          </a:xfrm>
          <a:custGeom>
            <a:pathLst>
              <a:path w="154" h="8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5"/>
                </a:lnTo>
                <a:cubicBezTo>
                  <a:pt x="4" y="86"/>
                  <a:pt x="5" y="87"/>
                  <a:pt x="6" y="87"/>
                </a:cubicBezTo>
                <a:cubicBezTo>
                  <a:pt x="3" y="87"/>
                  <a:pt x="0" y="84"/>
                  <a:pt x="0" y="8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5486400" y="25146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>3. v10 / v11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5486400" y="2714625"/>
            <a:ext cx="12573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5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套主题</a:t>
            </a:r>
            <a:r>
              <a:rPr lang="en-US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书法字，定下红繁黑简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92467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7229475" y="2400300"/>
            <a:ext cx="1466850" cy="828675"/>
          </a:xfrm>
          <a:prstGeom prst="roundRect">
            <a:avLst>
              <a:gd name="adj" fmla="val 6897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7229475" y="2400300"/>
            <a:ext cx="1466850" cy="828675"/>
          </a:xfrm>
          <a:custGeom>
            <a:pathLst>
              <a:path w="154" h="8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5"/>
                </a:lnTo>
                <a:cubicBezTo>
                  <a:pt x="4" y="86"/>
                  <a:pt x="5" y="87"/>
                  <a:pt x="6" y="87"/>
                </a:cubicBezTo>
                <a:cubicBezTo>
                  <a:pt x="3" y="87"/>
                  <a:pt x="0" y="84"/>
                  <a:pt x="0" y="8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7334250" y="25146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4. v13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系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7334250" y="2714625"/>
            <a:ext cx="12573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解耦材质与配色，修字形乱码与边缘锯齿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8772525" y="2705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B3271E"/>
                </a:solidFill>
                <a:latin typeface="Songti SC"/>
                <a:ea typeface="Songti SC"/>
              </a:rPr>
              <a:t>→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9077325" y="2400300"/>
            <a:ext cx="1466850" cy="828675"/>
          </a:xfrm>
          <a:prstGeom prst="roundRect">
            <a:avLst>
              <a:gd name="adj" fmla="val 6897"/>
            </a:avLst>
          </a:prstGeom>
          <a:solidFill>
            <a:srgbClr val="8C5A2B">
              <a:alpha val="10000"/>
            </a:srgbClr>
          </a:solidFill>
          <a:ln/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9077325" y="2400300"/>
            <a:ext cx="1466850" cy="828675"/>
          </a:xfrm>
          <a:custGeom>
            <a:pathLst>
              <a:path w="154" h="8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85"/>
                </a:lnTo>
                <a:cubicBezTo>
                  <a:pt x="4" y="86"/>
                  <a:pt x="5" y="87"/>
                  <a:pt x="6" y="87"/>
                </a:cubicBezTo>
                <a:cubicBezTo>
                  <a:pt x="3" y="87"/>
                  <a:pt x="0" y="84"/>
                  <a:pt x="0" y="8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8C5A2B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9182100" y="251460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A2118"/>
                </a:solidFill>
                <a:latin typeface="Songti SC"/>
                <a:ea typeface="Songti SC"/>
              </a:rPr>
              <a:t xml:space="preserve">5. v15 · </a:t>
            </a:r>
            <a:r>
              <a:rPr lang="zh-CN" sz="1050" b="1">
                <a:solidFill>
                  <a:srgbClr val="2A2118"/>
                </a:solidFill>
                <a:latin typeface="Songti SC"/>
                <a:ea typeface="Songti SC"/>
              </a:rPr>
              <a:t>光泽收敛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9182100" y="2714625"/>
            <a:ext cx="12573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2A2118">
                    <a:alpha val="72000"/>
                  </a:srgbClr>
                </a:solidFill>
                <a:latin typeface="PingFang SC"/>
                <a:ea typeface="PingFang SC"/>
              </a:rPr>
              <a:t>去点状高光，压暗定向光，定稿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85800" y="34480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66775" y="3362325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v9 </a:t>
            </a: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的信息：用户要的不是「立体」，是「真实且克制」。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85800" y="388620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66775" y="3800475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v13 </a:t>
            </a: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的信息：材质与配色必须解耦，否则组合爆炸且无法维护。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685800" y="432435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866775" y="4238625"/>
            <a:ext cx="10639425" cy="28575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en-US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v15 </a:t>
            </a:r>
            <a:r>
              <a:rPr lang="zh-CN" sz="1125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的信息：光泽要自然——宁少勿多，宁暗勿亮。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733425" y="471487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652" name=""/>
          <p:cNvSpPr/>
          <p:nvPr/>
        </p:nvSpPr>
        <p:spPr>
          <a:xfrm rot="0" flipH="0" flipV="0">
            <a:off x="733425" y="471487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923925" y="481012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这十几轮证明：外观打磨不是一次成型，而是靠一次次否决把边界试出来。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42 / 64</a:t>
            </a:r>
            <a:endParaRPr/>
          </a:p>
        </p:txBody>
      </p:sp>
    </p:spTree>
  </p:cSld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56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6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6 章&lt;/Text&gt;&#10;    &lt;Text style={{ fontSize: 62, fontWeight: &quot;bold&quot;, color: &quot;#F5E3BE&quot;, fontFamily: &quot;'Songti SC', 'STSong', 'SimSun', serif&quot;, marginTop: 12 }}&gt;功能演示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七步走通一局真实对弈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658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06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06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功能演示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七步走通一局真实对弈</a:t>
            </a:r>
            <a:endParaRPr/>
          </a:p>
        </p:txBody>
      </p:sp>
    </p:spTree>
  </p:cSld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67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演示一 · 启动器与新建对局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统一入口 + 各棋种独立开局窗，是「一个棋苑、三种棋」的第一印象&lt;/Text&gt;&#10;  &lt;/Box&gt;&#10;  &lt;Box style={{ width: &quot;100%&quot;, height: 510, flexDirection: &quot;column&quot; }}&gt;&#10;  &lt;Box style={{ flexDirection: &quot;row&quot;, width: &quot;100%&quot;, height: &quot;100%&quot;, gap: 36, overflow: &quot;hidden&quot; }}&gt;          &lt;Box style={{ flexDirection: &quot;column&quot;, gap: 10 }}&gt;&#10;      &lt;Image src=&quot;assets/shot_launcher.png&quot; style={{ width: 410, height: 212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① 启动器：三棋种入口 + 音乐栏&lt;/Text&gt;&#10;    &lt;/Box&gt;&#10;        &lt;Box style={{ flex: 1, flexDirection: &quot;column&quot;, justifyContent: &quot;center&quot; }}&gt;&#10;    &lt;Text style={{ fontSize: 17, lineHeight: 1.68, color: &quot;#2A2118&quot;, fontFamily: &quot;'PingFang SC', 'Microsoft YaHei', sans-serif&quot;, marginBottom: 11 }}&gt;启动页中央是六子棋 / 五子棋 / 中国象棋三个入口，进入后分别是各自的新建对局窗口；角落另有音乐与设置入口。&lt;/Text&gt;&#10;    &lt;Text style={{ fontSize: 17, lineHeight: 1.68, color: &quot;#2A2118&quot;, fontFamily: &quot;'PingFang SC', 'Microsoft YaHei', sans-serif&quot;, marginBottom: 11 }}&gt;象棋的新建窗口可选三种模式：pvp（人机对战）、pve（皮卡鱼执黑）、aia（AI 互弈），并有三档难度。窗口全屏自适应，双击棋盘即落子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4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演示一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启动器与新建对局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统一入口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各棋种独立开局窗，是「一个棋苑、三种棋」的第一印象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685800" y="1352550"/>
            <a:ext cx="3905250" cy="20193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73" name=""/>
          <p:cNvPicPr>
            <a:picLocks noChangeAspect="1"/>
          </p:cNvPicPr>
          <p:nvPr/>
        </p:nvPicPr>
        <p:blipFill>
          <a:blip r:embed="rId1"/>
          <a:srcRect l="0" t="10904" r="0" b="10904"/>
          <a:stretch>
            <a:fillRect/>
          </a:stretch>
        </p:blipFill>
        <p:spPr>
          <a:xfrm rot="0" flipH="0" flipV="0">
            <a:off x="685800" y="1352550"/>
            <a:ext cx="3905250" cy="2019300"/>
          </a:xfrm>
          <a:prstGeom prst="roundRect">
            <a:avLst>
              <a:gd name="adj" fmla="val 3774"/>
            </a:avLst>
          </a:prstGeom>
          <a:ln/>
        </p:spPr>
      </p:pic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85800" y="346710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启动器：三棋种入口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音乐栏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4933950" y="3019425"/>
            <a:ext cx="65722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启动页中央是六子棋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五子棋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中国象棋三个入口，进入后分别是各自的新建对局窗口；角落另有音乐与设置入口。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4933950" y="3781425"/>
            <a:ext cx="65722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象棋的新建窗口可选三种模式：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>pvp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（人机对战）、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>pve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（皮卡鱼执黑）、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>aia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（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互弈），并有三档难度。窗口全屏自适应，双击棋盘即落子。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44 / 64</a:t>
            </a:r>
            <a:endParaRPr/>
          </a:p>
        </p:txBody>
      </p:sp>
    </p:spTree>
  </p:cSld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79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演示二 · 六子棋完整对局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演示重点：落子可预期、AI 有回应、状态可回退&lt;/Text&gt;&#10;  &lt;/Box&gt;&#10;  &lt;Box style={{ width: &quot;100%&quot;, height: 510, flexDirection: &quot;column&quot; }}&gt;&#10;  &lt;Box style={{ flexDirection: &quot;row&quot;, width: &quot;100%&quot;, height: &quot;100%&quot;, gap: 36, overflow: &quot;hidden&quot; }}&gt;        &lt;Box style={{ flex: 1, flexDirection: &quot;column&quot;, justifyContent: &quot;center&quot; }}&gt;&#10;    &lt;Text style={{ fontSize: 17, lineHeight: 1.68, color: &quot;#2A2118&quot;, fontFamily: &quot;'PingFang SC', 'Microsoft YaHei', sans-serif&quot;, marginBottom: 11 }}&gt;先点目标格高亮、再点「确认」落子；状态条实时提示本回合还剩几子。这一局完整展示了从开局到中盘的交互节奏。&lt;/Text&gt;&#10;    &lt;Text style={{ fontSize: 17, lineHeight: 1.68, color: &quot;#2A2118&quot;, fontFamily: &quot;'PingFang SC', 'Microsoft YaHei', sans-serif&quot;, marginBottom: 11 }}&gt;自研 AlphaBeta 在时限内返回最佳着法，配合完整的落子动画链（抬棋 → 移动 → 落地）。「悔棋」一键回到我方决策点，「重开」复位棋盘。&lt;/Text&gt;&#10;  &lt;/Box&gt;&#10;          &lt;Box style={{ flexDirection: &quot;column&quot;, gap: 10 }}&gt;&#10;      &lt;Image src=&quot;assets/shot_connect6.png&quot; style={{ width: 400, height: 20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② 六子棋：两步式落子 + 侧栏&lt;/Text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演示二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六子棋完整对局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演示重点：落子可预期、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AI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有回应、状态可回退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85800" y="3019425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先点目标格高亮、再点「确认」落子；状态条实时提示本回合还剩几子。这一局完整展示了从开局到中盘的交互节奏。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685800" y="3781425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自研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AlphaBeta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在时限内返回最佳着法，配合完整的落子动画链（抬棋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移动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落地）。「悔棋」一键回到我方决策点，「重开」复位棋盘。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7696200" y="1352550"/>
            <a:ext cx="3810000" cy="19050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87" name=""/>
          <p:cNvPicPr>
            <a:picLocks noChangeAspect="1"/>
          </p:cNvPicPr>
          <p:nvPr/>
        </p:nvPicPr>
        <p:blipFill>
          <a:blip r:embed="rId1"/>
          <a:srcRect l="0" t="12195" r="0" b="12195"/>
          <a:stretch>
            <a:fillRect/>
          </a:stretch>
        </p:blipFill>
        <p:spPr>
          <a:xfrm rot="0" flipH="0" flipV="0">
            <a:off x="7696200" y="1352550"/>
            <a:ext cx="3810000" cy="190500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7696200" y="33528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②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六子棋：两步式落子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侧栏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45 / 64</a:t>
            </a:r>
            <a:endParaRPr/>
          </a:p>
        </p:txBody>
      </p:sp>
    </p:spTree>
  </p:cSld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91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演示三 · 五子棋算杀取胜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演示重点：算杀不是靠运气，而是有一步一步的强制逻辑&lt;/Text&gt;&#10;  &lt;/Box&gt;&#10;  &lt;Box style={{ width: &quot;100%&quot;, height: 510, flexDirection: &quot;column&quot; }}&gt;&#10;  &lt;Box style={{ flexDirection: &quot;row&quot;, width: &quot;100%&quot;, height: &quot;100%&quot;, gap: 36, overflow: &quot;hidden&quot; }}&gt;          &lt;Box style={{ flexDirection: &quot;column&quot;, gap: 10 }}&gt;&#10;      &lt;Image src=&quot;assets/shot_gomoku.png&quot; style={{ width: 400, height: 20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③ 五子棋终局：连五高亮 + 胜率跳 100%&lt;/Text&gt;&#10;    &lt;/Box&gt;&#10;        &lt;Box style={{ flex: 1, flexDirection: &quot;column&quot;, justifyContent: &quot;center&quot; }}&gt;&#10;    &lt;Text style={{ fontSize: 17, lineHeight: 1.68, color: &quot;#2A2118&quot;, fontFamily: &quot;'PingFang SC', 'Microsoft YaHei', sans-serif&quot;, marginBottom: 11 }}&gt;困难档启用 VCF/VCT 算杀：构造一串连续冲四的强制序列，让对手每一步都只能被动堵，而自己在序列末端一手成五。&lt;/Text&gt;&#10;    &lt;Text style={{ fontSize: 17, lineHeight: 1.68, color: &quot;#2A2118&quot;, fontFamily: &quot;'PingFang SC', 'Microsoft YaHei', sans-serif&quot;, marginBottom: 11 }}&gt;达成五连时即时高亮胜利连线，胜率曲线在终局点直接跳到 100%。右下角可以看到这是「算」出来的胜利，而不是「碰巧」连上的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6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演示三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五子棋算杀取胜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演示重点：算杀不是靠运气，而是有一步一步的强制逻辑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85800" y="1352550"/>
            <a:ext cx="3810000" cy="19050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97" name=""/>
          <p:cNvPicPr>
            <a:picLocks noChangeAspect="1"/>
          </p:cNvPicPr>
          <p:nvPr/>
        </p:nvPicPr>
        <p:blipFill>
          <a:blip r:embed="rId1"/>
          <a:srcRect l="0" t="12195" r="0" b="12195"/>
          <a:stretch>
            <a:fillRect/>
          </a:stretch>
        </p:blipFill>
        <p:spPr>
          <a:xfrm rot="0" flipH="0" flipV="0">
            <a:off x="685800" y="1352550"/>
            <a:ext cx="3810000" cy="190500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685800" y="33528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③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五子棋终局：连五高亮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胜率跳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100%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4838700" y="3019425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困难档启用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VCF/VCT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算杀：构造一串连续冲四的强制序列，让对手每一步都只能被动堵，而自己在序列末端一手成五。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4838700" y="3781425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达成五连时即时高亮胜利连线，胜率曲线在终局点直接跳到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100%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。右下角可以看到这是「算」出来的胜利，而不是「碰巧」连上的。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46 / 64</a:t>
            </a:r>
            <a:endParaRPr/>
          </a:p>
        </p:txBody>
      </p:sp>
    </p:spTree>
  </p:cSld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03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演示四 · 象棋人机对战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演示重点：外部神经网络引擎的接入、动画与胜率的联动&lt;/Text&gt;&#10;  &lt;/Box&gt;&#10;  &lt;Box style={{ width: &quot;100%&quot;, height: 510, flexDirection: &quot;column&quot; }}&gt;&#10;  &lt;Box style={{ flexDirection: &quot;row&quot;, width: &quot;100%&quot;, height: &quot;100%&quot;, gap: 36, overflow: &quot;hidden&quot; }}&gt;        &lt;Box style={{ flex: 1, flexDirection: &quot;column&quot;, justifyContent: &quot;center&quot; }}&gt;&#10;    &lt;Text style={{ fontSize: 17, lineHeight: 1.68, color: &quot;#2A2118&quot;, fontFamily: &quot;'PingFang SC', 'Microsoft YaHei', sans-serif&quot;, marginBottom: 11 }}&gt;人落子之后，worker 线程调皮卡鱼计算 best_move，返回后播放完整的抬棋 / 移动 / 落地动画。整个过程界面保持可交互，不卡顿。&lt;/Text&gt;&#10;    &lt;Text style={{ fontSize: 17, lineHeight: 1.68, color: &quot;#2A2118&quot;, fontFamily: &quot;'PingFang SC', 'Microsoft YaHei', sans-serif&quot;, marginBottom: 11 }}&gt;引擎返回的 score 经 Elo 公式换算成红黑双方胜率并实时精化。当一方被将军时，全盘压暗并弹出红环脉冲提示——状态一眼可见。&lt;/Text&gt;&#10;  &lt;/Box&gt;&#10;          &lt;Box style={{ flexDirection: &quot;column&quot;, gap: 10 }}&gt;&#10;      &lt;Image src=&quot;assets/shot_xiangqi.png&quot; style={{ width: 410, height: 21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④ 象棋人机：皮卡鱼 NNUE 应手 + 书法字&lt;/Text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7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演示四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象棋人机对战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演示重点：外部神经网络引擎的接入、动画与胜率的联动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85800" y="3019425"/>
            <a:ext cx="65722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人落子之后，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worker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线程调皮卡鱼计算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best_move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，返回后播放完整的抬棋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移动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落地动画。整个过程界面保持可交互，不卡顿。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85800" y="3781425"/>
            <a:ext cx="65722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引擎返回的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score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经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Elo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公式换算成红黑双方胜率并实时精化。当一方被将军时，全盘压暗并弹出红环脉冲提示——状态一眼可见。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7600950" y="1352550"/>
            <a:ext cx="3905250" cy="200025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11" name=""/>
          <p:cNvPicPr>
            <a:picLocks noChangeAspect="1"/>
          </p:cNvPicPr>
          <p:nvPr/>
        </p:nvPicPr>
        <p:blipFill>
          <a:blip r:embed="rId1"/>
          <a:srcRect l="0" t="11273" r="0" b="11273"/>
          <a:stretch>
            <a:fillRect/>
          </a:stretch>
        </p:blipFill>
        <p:spPr>
          <a:xfrm rot="0" flipH="0" flipV="0">
            <a:off x="7600950" y="1352550"/>
            <a:ext cx="3905250" cy="2000250"/>
          </a:xfrm>
          <a:prstGeom prst="roundRect">
            <a:avLst>
              <a:gd name="adj" fmla="val 3810"/>
            </a:avLst>
          </a:prstGeom>
          <a:ln/>
        </p:spPr>
      </p:pic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7600950" y="3448050"/>
            <a:ext cx="390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④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象棋人机：皮卡鱼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NNUE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应手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书法字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47 / 64</a:t>
            </a:r>
            <a:endParaRPr/>
          </a:p>
        </p:txBody>
      </p:sp>
    </p:spTree>
  </p:cSld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15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演示五 · 主题与材质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演示重点：配色与材质解耦，组合空间是 5×5 = 25 种&lt;/Text&gt;&#10;  &lt;/Box&gt;&#10;  &lt;Box style={{ width: &quot;100%&quot;, height: 510, flexDirection: &quot;column&quot; }}&gt;&#10;  &lt;Box style={{ flexDirection: &quot;row&quot;, width: &quot;100%&quot;, height: &quot;100%&quot;, gap: 36, overflow: &quot;hidden&quot; }}&gt;          &lt;Box style={{ flexDirection: &quot;column&quot;, gap: 10 }}&gt;&#10;      &lt;Image src=&quot;assets/xq_materials.png&quot; style={{ width: 400, height: 17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⑤ 五材质样张；棋盘另有 5 套配色&lt;/Text&gt;&#10;    &lt;/Box&gt;&#10;        &lt;Box style={{ flex: 1, flexDirection: &quot;column&quot;, justifyContent: &quot;center&quot; }}&gt;&#10;    &lt;Text style={{ fontSize: 17, lineHeight: 1.68, color: &quot;#2A2118&quot;, fontFamily: &quot;'PingFang SC', 'Microsoft YaHei', sans-serif&quot;, marginBottom: 11 }}&gt;5 套棋盘配色：素雅木纹 / 青花瓷 / 墨玉宣纸 / 红木金线 / 夜弈玄石。深色底一定会配对浅色棋子，否则红黑字会糊成一片。&lt;/Text&gt;&#10;    &lt;Text style={{ fontSize: 17, lineHeight: 1.68, color: &quot;#2A2118&quot;, fontFamily: &quot;'PingFang SC', 'Microsoft YaHei', sans-serif&quot;, marginBottom: 11 }}&gt;5 种棋子材质：原木哑光 / 红木亮漆 / 紫檀深韵 / 胡桃木 / 金丝楠，全部为圆形、不透明、木纹真实。两个下拉框可以任意组合，切换只重建精灵、不重建底板，因此是瞬间生效的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8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演示五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主题与材质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演示重点：配色与材质解耦，组合空间是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5×5 = 25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种</a:t>
            </a:r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685800" y="1352550"/>
            <a:ext cx="3810000" cy="161925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21" name=""/>
          <p:cNvPicPr>
            <a:picLocks noChangeAspect="1"/>
          </p:cNvPicPr>
          <p:nvPr/>
        </p:nvPicPr>
        <p:blipFill>
          <a:blip r:embed="rId1"/>
          <a:srcRect l="0" t="1888" r="0" b="1888"/>
          <a:stretch>
            <a:fillRect/>
          </a:stretch>
        </p:blipFill>
        <p:spPr>
          <a:xfrm rot="0" flipH="0" flipV="0">
            <a:off x="685800" y="1352550"/>
            <a:ext cx="3810000" cy="1619250"/>
          </a:xfrm>
          <a:prstGeom prst="roundRect">
            <a:avLst>
              <a:gd name="adj" fmla="val 4706"/>
            </a:avLst>
          </a:prstGeom>
          <a:ln/>
        </p:spPr>
      </p:pic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685800" y="306705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⑤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五材质样张；棋盘另有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5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套配色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4838700" y="3019425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5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套棋盘配色：素雅木纹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青花瓷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墨玉宣纸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红木金线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夜弈玄石。深色底一定会配对浅色棋子，否则红黑字会糊成一片。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4838700" y="3781425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5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种棋子材质：原木哑光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红木亮漆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紫檀深韵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胡桃木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金丝楠，全部为圆形、不透明、木纹真实。两个下拉框可以任意组合，切换只重建精灵、不重建底板，因此是瞬间生效的。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48 / 64</a:t>
            </a:r>
            <a:endParaRPr/>
          </a:p>
        </p:txBody>
      </p:sp>
    </p:spTree>
  </p:cSld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27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演示六 · 胜率曲线的实时演化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演示重点：胜率是「模拟出来的最终结果」，而不是「当前局面的静态评分」&lt;/Text&gt;&#10;  &lt;/Box&gt;&#10;  &lt;Box style={{ width: &quot;100%&quot;, height: 510, flexDirection: &quot;column&quot; }}&gt;&#10;  &lt;Box style={{ flexDirection: &quot;row&quot;, width: &quot;100%&quot;, height: &quot;100%&quot;, gap: 36, overflow: &quot;hidden&quot; }}&gt;        &lt;Box style={{ flex: 1, flexDirection: &quot;column&quot;, justifyContent: &quot;center&quot; }}&gt;&#10;    &lt;Text style={{ fontSize: 17, lineHeight: 1.68, color: &quot;#2A2118&quot;, fontFamily: &quot;'PingFang SC', 'Microsoft YaHei', sans-serif&quot;, marginBottom: 11 }}&gt;这里的「胜率」不是静态棋形分，而是从当前局面双方一路下到终局的最终胜率——权威信号来自蒙特卡洛 rollout，因此更接近真实结果。&lt;/Text&gt;&#10;    &lt;Text style={{ fontSize: 17, lineHeight: 1.68, color: &quot;#2A2118&quot;, fontFamily: &quot;'PingFang SC', 'Microsoft YaHei', sans-serif&quot;, marginBottom: 11 }}&gt;每一步按「成五 &amp;gt; 堵五 &amp;gt; 造四 &amp;gt; 堵四 &amp;gt; 活三 &amp;gt; 随机」的优先级模拟，5000 局约 3 秒跑完。整条曲线在概率域做 EMA 平滑、最新点保留原值，所以看起来平稳又跟得上局势。&lt;/Text&gt;&#10;  &lt;/Box&gt;&#10;          &lt;Box style={{ flexDirection: &quot;column&quot;, gap: 10 }}&gt;&#10;      &lt;Image src=&quot;assets/shot_connect6.png&quot; style={{ width: 400, height: 20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⑥ 侧栏胜率曲线（蒙特卡洛全局预测）&lt;/Text&gt;&#10;  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49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演示六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胜率曲线的实时演化</a:t>
            </a:r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演示重点：胜率是「模拟出来的最终结果」，而不是「当前局面的静态评分」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85800" y="3019425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这里的「胜率」不是静态棋形分，而是从当前局面双方一路下到终局的最终胜率——权威信号来自蒙特卡洛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rollout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，因此更接近真实结果。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685800" y="3781425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每一步按「成五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&gt;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堵五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&gt;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造四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&gt;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堵四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&gt;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活三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&gt;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随机」的优先级模拟，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5000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局约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3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秒跑完。整条曲线在概率域做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EMA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平滑、最新点保留原值，所以看起来平稳又跟得上局势。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7696200" y="1352550"/>
            <a:ext cx="3810000" cy="19050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35" name=""/>
          <p:cNvPicPr>
            <a:picLocks noChangeAspect="1"/>
          </p:cNvPicPr>
          <p:nvPr/>
        </p:nvPicPr>
        <p:blipFill>
          <a:blip r:embed="rId1"/>
          <a:srcRect l="0" t="12195" r="0" b="12195"/>
          <a:stretch>
            <a:fillRect/>
          </a:stretch>
        </p:blipFill>
        <p:spPr>
          <a:xfrm rot="0" flipH="0" flipV="0">
            <a:off x="7696200" y="1352550"/>
            <a:ext cx="3810000" cy="190500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696200" y="33528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⑥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侧栏胜率曲线（蒙特卡洛全局预测）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49 / 64</a:t>
            </a:r>
            <a:endParaRPr/>
          </a:p>
        </p:txBody>
      </p:sp>
    </p:spTree>
  </p:cSld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57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演示七 · 悔棋与重开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演示重点：把 P12 修好的悔棋语义，在真实对局里点一遍&lt;/Text&gt;&#10;  &lt;/Box&gt;&#10;  &lt;Box style={{ width: &quot;100%&quot;, height: 510, flexDirection: &quot;column&quot; }}&gt;&#10;  &lt;Box style={{ flexDirection: &quot;row&quot;, width: &quot;100%&quot;, height: &quot;100%&quot;, gap: 36, overflow: &quot;hidden&quot; }}&gt;          &lt;Box style={{ flexDirection: &quot;column&quot;, gap: 10 }}&gt;&#10;      &lt;Image src=&quot;assets/shot_gomoku.png&quot; style={{ width: 400, height: 200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⑦ 随时可退：悔棋撤到我方落子前&lt;/Text&gt;&#10;    &lt;/Box&gt;&#10;        &lt;Box style={{ flex: 1, flexDirection: &quot;column&quot;, justifyContent: &quot;center&quot; }}&gt;&#10;    &lt;Text style={{ fontSize: 17, lineHeight: 1.68, color: &quot;#2A2118&quot;, fontFamily: &quot;'PingFang SC', 'Microsoft YaHei', sans-serif&quot;, marginBottom: 11 }}&gt;「悔棋（撤销整轮）」会循环撤销，一直退到我方上一次落子之前——人机模式下不再出现「撤了等于没撤」的尴尬。&lt;/Text&gt;&#10;    &lt;Text style={{ fontSize: 17, lineHeight: 1.68, color: &quot;#2A2118&quot;, fontFamily: &quot;'PingFang SC', 'Microsoft YaHei', sans-serif&quot;, marginBottom: 11 }}&gt;「重开」一键复位棋盘与胜负状态。演示和练习中都能随时重来，不必关掉窗口再打开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演示七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悔棋与重开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演示重点：把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P12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修好的悔棋语义，在真实对局里点一遍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685800" y="1352550"/>
            <a:ext cx="3810000" cy="1905000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63" name=""/>
          <p:cNvPicPr>
            <a:picLocks noChangeAspect="1"/>
          </p:cNvPicPr>
          <p:nvPr/>
        </p:nvPicPr>
        <p:blipFill>
          <a:blip r:embed="rId1"/>
          <a:srcRect l="0" t="12195" r="0" b="12195"/>
          <a:stretch>
            <a:fillRect/>
          </a:stretch>
        </p:blipFill>
        <p:spPr>
          <a:xfrm rot="0" flipH="0" flipV="0">
            <a:off x="685800" y="1352550"/>
            <a:ext cx="3810000" cy="1905000"/>
          </a:xfrm>
          <a:prstGeom prst="roundRect">
            <a:avLst>
              <a:gd name="adj" fmla="val 4000"/>
            </a:avLst>
          </a:prstGeom>
          <a:ln/>
        </p:spPr>
      </p:pic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685800" y="33528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⑦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随时可退：悔棋撤到我方落子前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4838700" y="3181350"/>
            <a:ext cx="66675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「悔棋（撤销整轮）」会循环撤销，一直退到我方上一次落子之前——人机模式下不再出现「撤了等于没撤」的尴尬。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4838700" y="3943350"/>
            <a:ext cx="66675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「重开」一键复位棋盘与胜负状态。演示和练习中都能随时重来，不必关掉窗口再打开。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50 / 64</a:t>
            </a:r>
            <a:endParaRPr/>
          </a:p>
        </p:txBody>
      </p:sp>
    </p:spTree>
  </p:cSld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69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7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7 章&lt;/Text&gt;&#10;    &lt;Text style={{ fontSize: 62, fontWeight: &quot;bold&quot;, color: &quot;#F5E3BE&quot;, fontFamily: &quot;'Songti SC', 'STSong', 'SimSun', serif&quot;, marginTop: 12 }}&gt;成果展示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13 项修改，13 项验证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771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07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07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成果展示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 xml:space="preserve">13 </a:t>
            </a: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项修改，</a:t>
            </a:r>
            <a:r>
              <a:rPr lang="en-US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 xml:space="preserve">13 </a:t>
            </a: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项验证</a:t>
            </a:r>
            <a:endParaRPr/>
          </a:p>
        </p:txBody>
      </p:sp>
    </p:spTree>
  </p:cSld>
</p:sld>
</file>

<file path=ppt/slides/slide52.xml><?xml version="1.0" encoding="utf-8"?>
<p:sld xmlns:p="http://schemas.openxmlformats.org/presentationml/2006/main" xmlns:a="http://schemas.openxmlformats.org/drawingml/2006/main">
  <p:cSld>
    <p:spTree>
      <p:nvGrpSpPr>
        <p:cNvPr id="780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成果：数字背后是验证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可交付的标准不是「改完了」，而是「每一项改动都能被独立验证」&lt;/Text&gt;&#10;  &lt;/Box&gt;&#10;  &lt;Box style={{ width: &quot;100%&quot;, height: 510, flexDirection: &quot;column&quot; }}&gt;&#10;  &lt;Box style={{ flexDirection: &quot;column&quot;, height: &quot;100%&quot;, justifyContent: &quot;center&quot;, gap: 18 }}&gt;&#10;    &lt;Box style={{ flexDirection: &quot;row&quot;, alignItems: &quot;flex-end&quot;, gap: 28 }}&gt;&#10;      &lt;Text style={{ fontSize: 92, fontWeight: &quot;bold&quot;, lineHeight: 1.0, color: &quot;#B3271E&quot;, fontFamily: &quot;'Songti SC', 'STSong', 'SimSun', serif&quot;, width: 200 }}&gt;13&lt;/Text&gt;&#10;      &lt;Box style={{ flex: 1, flexDirection: &quot;column&quot;, gap: 8, paddingBottom: 10 }}&gt;&#10;        &lt;Text style={{ fontSize: 21, fontWeight: &quot;bold&quot;, color: &quot;#2A2118&quot;, fontFamily: &quot;'Songti SC', 'STSong', 'SimSun', serif&quot; }}&gt;项修改，13 项验证&lt;/Text&gt;&#10;        &lt;Text style={{ fontSize: 16, lineHeight: 1.7, color: &quot;rgba(42,33,24,0.75)&quot;, fontFamily: &quot;'PingFang SC', 'Microsoft YaHei', sans-serif&quot; }}&gt;代码检查 / 数学推导 / 端到端脚本逐项覆盖，每一项都能说清「用什么方法验证、结论是什么」。&lt;/Text&gt;&#10;      &lt;/Box&gt;&#10;    &lt;/Box&gt;&#10;    &lt;Box style={{ flexDirection: &quot;row&quot;, alignItems: &quot;flex-end&quot;, gap: 28 }}&gt;&#10;      &lt;Text style={{ fontSize: 92, fontWeight: &quot;bold&quot;, lineHeight: 1.0, color: &quot;#8C5A2B&quot;, fontFamily: &quot;'Songti SC', 'STSong', 'SimSun', serif&quot;, width: 200 }}&gt;10/10&lt;/Text&gt;&#10;      &lt;Box style={{ flex: 1, flexDirection: &quot;column&quot;, gap: 8, paddingBottom: 10 }}&gt;&#10;        &lt;Text style={{ fontSize: 21, fontWeight: &quot;bold&quot;, color: &quot;#2A2118&quot;, fontFamily: &quot;'Songti SC', 'STSong', 'SimSun', serif&quot; }}&gt;几何自检通过&lt;/Text&gt;&#10;        &lt;Text style={{ fontSize: 16, lineHeight: 1.7, color: &quot;rgba(42,33,24,0.75)&quot;, fontFamily: &quot;'PingFang SC', 'Microsoft YaHei', sans-serif&quot; }}&gt;10 种窗口尺寸（640×520 ~ 1920×1080）验证棋盘居中、点击映射可逆、棋子不重叠。&lt;/Text&gt;&#10;      &lt;/Box&gt;&#10;    &lt;/Box&gt;&#10;    &lt;Box style={{ flexDirection: &quot;row&quot;, alignItems: &quot;flex-end&quot;, gap: 28 }}&gt;&#10;      &lt;Text style={{ fontSize: 92, fontWeight: &quot;bold&quot;, lineHeight: 1.0, color: &quot;#8C5A2B&quot;, fontFamily: &quot;'Songti SC', 'STSong', 'SimSun', serif&quot;, width: 200 }}&gt;627MB&lt;/Text&gt;&#10;      &lt;Box style={{ flex: 1, flexDirection: &quot;column&quot;, gap: 8, paddingBottom: 10 }}&gt;&#10;        &lt;Text style={{ fontSize: 21, fontWeight: &quot;bold&quot;, color: &quot;#2A2118&quot;, fontFamily: &quot;'Songti SC', 'STSong', 'SimSun', serif&quot; }}&gt;可清理体积&lt;/Text&gt;&#10;        &lt;Text style={{ fontSize: 16, lineHeight: 1.7, color: &quot;rgba(42,33,24,0.75)&quot;, fontFamily: &quot;'PingFang SC', 'Microsoft YaHei', sans-serif&quot; }}&gt;在 935MB 的工程中定位并清理 627MB 重复副本，最终降到约 308MB。&lt;/Text&gt;&#10;      &lt;/Box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三个数字的共同点：它们都是可复现的测量结果，而不是自我评价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成果：数字背后是验证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可交付的标准不是「改完了」，而是「每一项改动都能被独立验证」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685800" y="1695450"/>
            <a:ext cx="19050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B3271E"/>
                </a:solidFill>
                <a:latin typeface="Songti SC"/>
                <a:ea typeface="Songti SC"/>
              </a:rPr>
              <a:t>13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2857500" y="2019300"/>
            <a:ext cx="8648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8"/>
                </a:solidFill>
                <a:latin typeface="Songti SC"/>
                <a:ea typeface="Songti SC"/>
              </a:rPr>
              <a:t>项修改，</a:t>
            </a:r>
            <a:r>
              <a:rPr lang="en-US" sz="1575" b="1">
                <a:solidFill>
                  <a:srgbClr val="2A2118"/>
                </a:solidFill>
                <a:latin typeface="Songti SC"/>
                <a:ea typeface="Songti SC"/>
              </a:rPr>
              <a:t xml:space="preserve">13 </a:t>
            </a:r>
            <a:r>
              <a:rPr lang="zh-CN" sz="1575" b="1">
                <a:solidFill>
                  <a:srgbClr val="2A2118"/>
                </a:solidFill>
                <a:latin typeface="Songti SC"/>
                <a:ea typeface="Songti SC"/>
              </a:rPr>
              <a:t>项验证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2857500" y="2343150"/>
            <a:ext cx="86487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代码检查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数学推导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端到端脚本逐项覆盖，每一项都能说清「用什么方法验证、结论是什么」。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685800" y="2924175"/>
            <a:ext cx="19050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8C5A2B"/>
                </a:solidFill>
                <a:latin typeface="Songti SC"/>
                <a:ea typeface="Songti SC"/>
              </a:rPr>
              <a:t>10/10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2857500" y="3248025"/>
            <a:ext cx="8648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8"/>
                </a:solidFill>
                <a:latin typeface="Songti SC"/>
                <a:ea typeface="Songti SC"/>
              </a:rPr>
              <a:t>几何自检通过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2857500" y="3571875"/>
            <a:ext cx="86487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10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种窗口尺寸（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640×520 ~ 1920×1080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）验证棋盘居中、点击映射可逆、棋子不重叠。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1905000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8C5A2B"/>
                </a:solidFill>
                <a:latin typeface="Songti SC"/>
                <a:ea typeface="Songti SC"/>
              </a:rPr>
              <a:t>627MB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2857500" y="4476750"/>
            <a:ext cx="8648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A2118"/>
                </a:solidFill>
                <a:latin typeface="Songti SC"/>
                <a:ea typeface="Songti SC"/>
              </a:rPr>
              <a:t>可清理体积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2857500" y="4800600"/>
            <a:ext cx="86487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在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935MB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的工程中定位并清理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627MB 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重复副本，最终降到约</a:t>
            </a:r>
            <a:r>
              <a:rPr lang="en-US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 xml:space="preserve"> 308MB</a:t>
            </a:r>
            <a:r>
              <a:rPr lang="zh-CN" sz="1200">
                <a:solidFill>
                  <a:srgbClr val="2A2118">
                    <a:alpha val="75000"/>
                  </a:srgbClr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733425" y="54197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795" name=""/>
          <p:cNvSpPr/>
          <p:nvPr/>
        </p:nvSpPr>
        <p:spPr>
          <a:xfrm rot="0" flipH="0" flipV="0">
            <a:off x="733425" y="54197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923925" y="55149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这三个数字的共同点：它们都是可复现的测量结果，而不是自我评价。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52 / 64</a:t>
            </a:r>
            <a:endParaRPr/>
          </a:p>
        </p:txBody>
      </p:sp>
    </p:spTree>
  </p:cSld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99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三种棋，同一个界面语言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同一套界面语言，学会一个棋种就等于学会三个&lt;/Text&gt;&#10;  &lt;/Box&gt;&#10;  &lt;Box style={{ width: &quot;100%&quot;, height: 510, flexDirection: &quot;column&quot; }}&gt;&#10;  &lt;Box style={{ width: &quot;100%&quot;, height: &quot;100%&quot;, flexDirection: &quot;column&quot; }}&gt;&#10;  &lt;Box style={{ flexDirection: &quot;column&quot;, height: &quot;100%&quot;, justifyContent: &quot;center&quot;, gap: 14 }}&gt;&#10;    &lt;Box style={{ flexDirection: &quot;row&quot;, gap: 18, height: 300 }}&gt;&#10;    &lt;Box style={{ flexDirection: &quot;column&quot;, gap: 10 }}&gt;&#10;      &lt;Image src=&quot;assets/shot_xiangqi.png&quot; style={{ width: 350, height: 219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象棋：皮卡鱼人机 + 书法字&lt;/Text&gt;&#10;    &lt;/Box&gt;    &lt;Box style={{ flexDirection: &quot;column&quot;, gap: 10 }}&gt;&#10;      &lt;Image src=&quot;assets/shot_gomoku.png&quot; style={{ width: 350, height: 219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五子棋：VCF/VCT 算杀&lt;/Text&gt;&#10;    &lt;/Box&gt;    &lt;Box style={{ flexDirection: &quot;column&quot;, gap: 10 }}&gt;&#10;      &lt;Image src=&quot;assets/shot_connect6.png&quot; style={{ width: 350, height: 219, objectFit: &quot;cover&quot;, borderRadius: 8, border: &quot;1px solid rgba(140,90,43,0.30)&quot; }} /&gt;&#10;      &lt;Text style={{ fontSize: 15, color: &quot;#8C5A2B&quot;, fontWeight: &quot;bold&quot;, fontFamily: &quot;'PingFang SC', 'Microsoft YaHei', sans-serif&quot; }}&gt;六子棋：两步式落子&lt;/Text&gt;&#10;    &lt;/Box&gt;&#10;    &lt;/Box&gt;&#10;    &lt;Text style={{ fontSize: 16, lineHeight: 1.68, color: &quot;rgba(42,33,24,0.78)&quot;, fontFamily: &quot;'PingFang SC', 'Microsoft YaHei', sans-serif&quot;, marginBottom: 0 }}&gt;三张实机截图并置可见：跨棋种统一的不是配色，而是「左侧棋盘 + 右侧控制台」的界面语言与信息层级——音乐、双方身份、轮到谁、胜率、难度、主题，位置和读法完全一致。&lt;/Text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界面凝聚力是「棋苑」这个产品定位最直接的体现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三种棋，同一个界面语言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同一套界面语言，学会一个棋种就等于学会三个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685800" y="1733550"/>
            <a:ext cx="3333750" cy="2085975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05" name=""/>
          <p:cNvPicPr>
            <a:picLocks noChangeAspect="1"/>
          </p:cNvPicPr>
          <p:nvPr/>
        </p:nvPicPr>
        <p:blipFill>
          <a:blip r:embed="rId1"/>
          <a:srcRect l="0" t="2689" r="0" b="2689"/>
          <a:stretch>
            <a:fillRect/>
          </a:stretch>
        </p:blipFill>
        <p:spPr>
          <a:xfrm rot="0" flipH="0" flipV="0">
            <a:off x="685800" y="1733550"/>
            <a:ext cx="3333750" cy="2085975"/>
          </a:xfrm>
          <a:prstGeom prst="roundRect">
            <a:avLst>
              <a:gd name="adj" fmla="val 3653"/>
            </a:avLst>
          </a:prstGeom>
          <a:ln/>
        </p:spPr>
      </p:pic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685800" y="3914775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象棋：皮卡鱼人机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书法字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4191000" y="1733550"/>
            <a:ext cx="3333750" cy="2085975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08" name=""/>
          <p:cNvPicPr>
            <a:picLocks noChangeAspect="1"/>
          </p:cNvPicPr>
          <p:nvPr/>
        </p:nvPicPr>
        <p:blipFill>
          <a:blip r:embed="rId2"/>
          <a:srcRect l="0" t="2689" r="0" b="2689"/>
          <a:stretch>
            <a:fillRect/>
          </a:stretch>
        </p:blipFill>
        <p:spPr>
          <a:xfrm rot="0" flipH="0" flipV="0">
            <a:off x="4191000" y="1733550"/>
            <a:ext cx="3333750" cy="2085975"/>
          </a:xfrm>
          <a:prstGeom prst="roundRect">
            <a:avLst>
              <a:gd name="adj" fmla="val 3653"/>
            </a:avLst>
          </a:prstGeom>
          <a:ln/>
        </p:spPr>
      </p:pic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4191000" y="3914775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五子棋：</a:t>
            </a:r>
            <a:r>
              <a:rPr lang="en-US" sz="1125" b="1">
                <a:solidFill>
                  <a:srgbClr val="8C5A2B"/>
                </a:solidFill>
                <a:latin typeface="PingFang SC"/>
                <a:ea typeface="PingFang SC"/>
              </a:rPr>
              <a:t xml:space="preserve">VCF/VCT </a:t>
            </a: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算杀</a:t>
            </a:r>
            <a:endParaRPr/>
          </a:p>
        </p:txBody>
      </p:sp>
      <p:sp>
        <p:nvSpPr>
          <p:cNvPr id="810" name=""/>
          <p:cNvSpPr/>
          <p:nvPr/>
        </p:nvSpPr>
        <p:spPr>
          <a:xfrm rot="0" flipH="0" flipV="0">
            <a:off x="7696200" y="1733550"/>
            <a:ext cx="3333750" cy="2085975"/>
          </a:xfrm>
          <a:prstGeom prst="rect">
            <a:avLst/>
          </a:prstGeom>
          <a:ln w="12700">
            <a:solidFill>
              <a:srgbClr val="8C5A2B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11" name=""/>
          <p:cNvPicPr>
            <a:picLocks noChangeAspect="1"/>
          </p:cNvPicPr>
          <p:nvPr/>
        </p:nvPicPr>
        <p:blipFill>
          <a:blip r:embed="rId3"/>
          <a:srcRect l="0" t="2689" r="0" b="2689"/>
          <a:stretch>
            <a:fillRect/>
          </a:stretch>
        </p:blipFill>
        <p:spPr>
          <a:xfrm rot="0" flipH="0" flipV="0">
            <a:off x="7696200" y="1733550"/>
            <a:ext cx="3333750" cy="2085975"/>
          </a:xfrm>
          <a:prstGeom prst="roundRect">
            <a:avLst>
              <a:gd name="adj" fmla="val 3653"/>
            </a:avLst>
          </a:prstGeom>
          <a:ln/>
        </p:spPr>
      </p:pic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7696200" y="3914775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C5A2B"/>
                </a:solidFill>
                <a:latin typeface="PingFang SC"/>
                <a:ea typeface="PingFang SC"/>
              </a:rPr>
              <a:t>六子棋：两步式落子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685800" y="4724400"/>
            <a:ext cx="108204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三张实机截图并置可见：跨棋种统一的不是配色，而是「左侧棋盘</a:t>
            </a:r>
            <a:r>
              <a:rPr lang="en-US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200">
                <a:solidFill>
                  <a:srgbClr val="2A2118">
                    <a:alpha val="78000"/>
                  </a:srgbClr>
                </a:solidFill>
                <a:latin typeface="PingFang SC"/>
                <a:ea typeface="PingFang SC"/>
              </a:rPr>
              <a:t>右侧控制台」的界面语言与信息层级——音乐、双方身份、轮到谁、胜率、难度、主题，位置和读法完全一致。</a:t>
            </a:r>
            <a:endParaRPr/>
          </a:p>
        </p:txBody>
      </p:sp>
      <p:sp>
        <p:nvSpPr>
          <p:cNvPr id="814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815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界面凝聚力是「棋苑」这个产品定位最直接的体现。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53 / 64</a:t>
            </a:r>
            <a:endParaRPr/>
          </a:p>
        </p:txBody>
      </p:sp>
    </p:spTree>
  </p:cSld>
</p:sld>
</file>

<file path=ppt/slides/slide54.xml><?xml version="1.0" encoding="utf-8"?>
<p:sld xmlns:p="http://schemas.openxmlformats.org/presentationml/2006/main" xmlns:a="http://schemas.openxmlformats.org/drawingml/2006/main">
  <p:cSld>
    <p:spTree>
      <p:nvGrpSpPr>
        <p:cNvPr id="819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量化指标汇总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每一项都给出「改造前 → 改造后 → 验证方式」三列，防止只有结论没有证据&lt;/Text&gt;&#10;  &lt;/Box&gt;&#10;  &lt;Box style={{ width: &quot;100%&quot;, height: 510, flexDirection: &quot;column&quot; }}&gt;&#10;  &lt;Box style={{ width: &quot;100%&quot;, height: &quot;100%&quot;, flexDirection: &quot;column&quot; }}&gt;&#10;  &lt;Box style={{ flexDirection: &quot;column&quot;, height: &quot;100%&quot;, justifyContent: &quot;center&quot; }}&gt;&#10;&lt;Box style={{ width: &quot;100%&quot;, flexDirection: &quot;column&quot;, gap: 0 }}&gt;&#10;&lt;Box style={{ width: &quot;100%&quot;, height: 44, flexDirection: &quot;row&quot; }}&gt;&#10;&lt;Box style={{ width: 21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指标&lt;/Text&gt;&#10;&lt;/Box&gt;&#10;&lt;Box style={{ width: 20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改造前&lt;/Text&gt;&#10;&lt;/Box&gt;&#10;&lt;Box style={{ width: 240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改造后&lt;/Text&gt;&#10;&lt;/Box&gt;&#10;&lt;Box style={{ width: 486, height: &quot;100%&quot;, background: &quot;#8C5A2B&quot;, border: &quot;1px solid rgba(140,90,43,0.25)&quot;, padding: &quot;10px 14px&quot;, justifyContent: &quot;center&quot; }}&gt;&#10;  &lt;Text style={{ fontSize: 15, fontWeight: &quot;bold&quot;, color: &quot;#F5E3BE&quot;, fontFamily: &quot;'PingFang SC', 'Microsoft YaHei', sans-serif&quot;, lineHeight: 1.45 }}&gt;验证方式&lt;/Text&gt;&#10;&lt;/Box&gt;&#10;&lt;/Box&gt;&#10;&lt;Box style={{ width: &quot;100%&quot;, height: 64, flexDirection: &quot;row&quot; }}&gt;&#10;&lt;Box style={{ width: 21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落子音链路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10ms+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6ms&lt;/Text&gt;&#10;&lt;/Box&gt;&#10;&lt;Box style={{ width: 48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MCI 直测计时&lt;/Text&gt;&#10;&lt;/Box&gt;&#10;&lt;/Box&gt;&#10;&lt;Box style={{ width: &quot;100%&quot;, height: 64, flexDirection: &quot;row&quot; }}&gt;&#10;&lt;Box style={{ width: 21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超采样倍率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无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4×&lt;/Text&gt;&#10;&lt;/Box&gt;&#10;&lt;Box style={{ width: 48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源码 + 像素采样&lt;/Text&gt;&#10;&lt;/Box&gt;&#10;&lt;/Box&gt;&#10;&lt;Box style={{ width: &quot;100%&quot;, height: 64, flexDirection: &quot;row&quot; }}&gt;&#10;&lt;Box style={{ width: 21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音效队列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单队列串行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双轨隔离&lt;/Text&gt;&#10;&lt;/Box&gt;&#10;&lt;Box style={{ width: 48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单元断言&lt;/Text&gt;&#10;&lt;/Box&gt;&#10;&lt;/Box&gt;&#10;&lt;Box style={{ width: &quot;100%&quot;, height: 64, flexDirection: &quot;row&quot; }}&gt;&#10;&lt;Box style={{ width: 21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窗口几何自检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—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0/10 通过&lt;/Text&gt;&#10;&lt;/Box&gt;&#10;&lt;Box style={{ width: 48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10 种尺寸脚本&lt;/Text&gt;&#10;&lt;/Box&gt;&#10;&lt;/Box&gt;&#10;&lt;Box style={{ width: &quot;100%&quot;, height: 64, flexDirection: &quot;row&quot; }}&gt;&#10;&lt;Box style={{ width: 21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工程体积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935MB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约 308MB&lt;/Text&gt;&#10;&lt;/Box&gt;&#10;&lt;Box style={{ width: 48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磁盘扫描&lt;/Text&gt;&#10;&lt;/Box&gt;&#10;&lt;/Box&gt;&#10;&lt;Box style={{ width: &quot;100%&quot;, height: 64, flexDirection: &quot;row&quot; }}&gt;&#10;&lt;Box style={{ width: 21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模块数&lt;/Text&gt;&#10;&lt;/Box&gt;&#10;&lt;Box style={{ width: 20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—&lt;/Text&gt;&#10;&lt;/Box&gt;&#10;&lt;Box style={{ width: 240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20+&lt;/Text&gt;&#10;&lt;/Box&gt;&#10;&lt;Box style={{ width: 486, height: &quot;100%&quot;, background: &quot;rgba(140,90,43,0.05)&quot;, border: &quot;1px solid rgba(140,90,43,0.25)&quot;, padding: &quot;10px 14px&quot;, justifyContent: &quot;center&quot; }}&gt;&#10;  &lt;Text style={{ fontSize: 15, fontWeight: &quot;regular&quot;, color: &quot;#2A2118&quot;, fontFamily: &quot;'PingFang SC', 'Microsoft YaHei', sans-serif&quot;, lineHeight: 1.45 }}&gt;源码统计&lt;/Text&gt;&#10;&lt;/Box&gt;&#10;&lt;/Box&gt;&#10;&lt;/Box&gt;&#10;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张表的用法：任何一项被质疑，都能顺着「验证方式」那一列把证据调出来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4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量化指标汇总</a:t>
            </a:r>
            <a:endParaRPr/>
          </a:p>
        </p:txBody>
      </p:sp>
      <p:sp>
        <p:nvSpPr>
          <p:cNvPr id="822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每一项都给出「改造前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改造后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验证方式」三列，防止只有结论没有证据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685800" y="1504950"/>
            <a:ext cx="2000250" cy="4191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819150" y="1590675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指标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2686050" y="1504950"/>
            <a:ext cx="1905000" cy="4191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2819400" y="159067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改造前</a:t>
            </a:r>
            <a:endParaRPr/>
          </a:p>
        </p:txBody>
      </p:sp>
      <p:sp>
        <p:nvSpPr>
          <p:cNvPr id="828" name=""/>
          <p:cNvSpPr/>
          <p:nvPr/>
        </p:nvSpPr>
        <p:spPr>
          <a:xfrm rot="0" flipH="0" flipV="0">
            <a:off x="4591050" y="1504950"/>
            <a:ext cx="2286000" cy="4191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4724400" y="159067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改造后</a:t>
            </a:r>
            <a:endParaRPr/>
          </a:p>
        </p:txBody>
      </p:sp>
      <p:sp>
        <p:nvSpPr>
          <p:cNvPr id="830" name=""/>
          <p:cNvSpPr/>
          <p:nvPr/>
        </p:nvSpPr>
        <p:spPr>
          <a:xfrm rot="0" flipH="0" flipV="0">
            <a:off x="6877050" y="1504950"/>
            <a:ext cx="4629150" cy="419100"/>
          </a:xfrm>
          <a:prstGeom prst="rect">
            <a:avLst/>
          </a:prstGeom>
          <a:solidFill>
            <a:srgbClr val="8C5A2B"/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7010400" y="1590675"/>
            <a:ext cx="4362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F5E3BE"/>
                </a:solidFill>
                <a:latin typeface="PingFang SC"/>
                <a:ea typeface="PingFang SC"/>
              </a:rPr>
              <a:t>验证方式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685800" y="1924050"/>
            <a:ext cx="20002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819150" y="2105025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落子音链路</a:t>
            </a:r>
            <a:endParaRPr/>
          </a:p>
        </p:txBody>
      </p:sp>
      <p:sp>
        <p:nvSpPr>
          <p:cNvPr id="834" name=""/>
          <p:cNvSpPr/>
          <p:nvPr/>
        </p:nvSpPr>
        <p:spPr>
          <a:xfrm rot="0" flipH="0" flipV="0">
            <a:off x="2686050" y="1924050"/>
            <a:ext cx="1905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2819400" y="21050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110ms+</a:t>
            </a:r>
            <a:endParaRPr/>
          </a:p>
        </p:txBody>
      </p:sp>
      <p:sp>
        <p:nvSpPr>
          <p:cNvPr id="836" name=""/>
          <p:cNvSpPr/>
          <p:nvPr/>
        </p:nvSpPr>
        <p:spPr>
          <a:xfrm rot="0" flipH="0" flipV="0">
            <a:off x="4591050" y="1924050"/>
            <a:ext cx="2286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4724400" y="21050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16ms</a:t>
            </a:r>
            <a:endParaRPr/>
          </a:p>
        </p:txBody>
      </p:sp>
      <p:sp>
        <p:nvSpPr>
          <p:cNvPr id="838" name=""/>
          <p:cNvSpPr/>
          <p:nvPr/>
        </p:nvSpPr>
        <p:spPr>
          <a:xfrm rot="0" flipH="0" flipV="0">
            <a:off x="6877050" y="1924050"/>
            <a:ext cx="46291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7010400" y="2105025"/>
            <a:ext cx="4362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MCI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直测计时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685800" y="2533650"/>
            <a:ext cx="20002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819150" y="2714625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超采样倍率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2686050" y="2533650"/>
            <a:ext cx="1905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2819400" y="27146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无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4591050" y="2533650"/>
            <a:ext cx="2286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4724400" y="27146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4×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6877050" y="2533650"/>
            <a:ext cx="46291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7010400" y="2714625"/>
            <a:ext cx="4362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源码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像素采样</a:t>
            </a:r>
            <a:endParaRPr/>
          </a:p>
        </p:txBody>
      </p:sp>
      <p:sp>
        <p:nvSpPr>
          <p:cNvPr id="848" name=""/>
          <p:cNvSpPr/>
          <p:nvPr/>
        </p:nvSpPr>
        <p:spPr>
          <a:xfrm rot="0" flipH="0" flipV="0">
            <a:off x="685800" y="3143250"/>
            <a:ext cx="20002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819150" y="3324225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音效队列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2686050" y="3143250"/>
            <a:ext cx="1905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2819400" y="33242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单队列串行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4591050" y="3143250"/>
            <a:ext cx="2286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4724400" y="33242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双轨隔离</a:t>
            </a:r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6877050" y="3143250"/>
            <a:ext cx="46291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7010400" y="3324225"/>
            <a:ext cx="4362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单元断言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685800" y="3752850"/>
            <a:ext cx="20002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819150" y="3933825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窗口几何自检</a:t>
            </a:r>
            <a:endParaRPr/>
          </a:p>
        </p:txBody>
      </p:sp>
      <p:sp>
        <p:nvSpPr>
          <p:cNvPr id="858" name=""/>
          <p:cNvSpPr/>
          <p:nvPr/>
        </p:nvSpPr>
        <p:spPr>
          <a:xfrm rot="0" flipH="0" flipV="0">
            <a:off x="2686050" y="3752850"/>
            <a:ext cx="1905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2819400" y="39338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sz="1125">
                <a:solidFill>
                  <a:srgbClr val="2A2118"/>
                </a:solidFill>
                <a:latin typeface="PingFang SC"/>
                <a:ea typeface="PingFang SC"/>
              </a:rPr>
              <a:t>—</a:t>
            </a:r>
            <a:endParaRPr/>
          </a:p>
        </p:txBody>
      </p:sp>
      <p:sp>
        <p:nvSpPr>
          <p:cNvPr id="860" name=""/>
          <p:cNvSpPr/>
          <p:nvPr/>
        </p:nvSpPr>
        <p:spPr>
          <a:xfrm rot="0" flipH="0" flipV="0">
            <a:off x="4591050" y="3752850"/>
            <a:ext cx="2286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4724400" y="39338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10/10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通过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6877050" y="3752850"/>
            <a:ext cx="46291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7010400" y="3933825"/>
            <a:ext cx="4362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10 </a:t>
            </a: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种尺寸脚本</a:t>
            </a:r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685800" y="4362450"/>
            <a:ext cx="20002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19150" y="4543425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工程体积</a:t>
            </a:r>
            <a:endParaRPr/>
          </a:p>
        </p:txBody>
      </p:sp>
      <p:sp>
        <p:nvSpPr>
          <p:cNvPr id="866" name=""/>
          <p:cNvSpPr/>
          <p:nvPr/>
        </p:nvSpPr>
        <p:spPr>
          <a:xfrm rot="0" flipH="0" flipV="0">
            <a:off x="2686050" y="4362450"/>
            <a:ext cx="1905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2819400" y="45434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935MB</a:t>
            </a:r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4591050" y="4362450"/>
            <a:ext cx="2286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4724400" y="45434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约</a:t>
            </a: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 xml:space="preserve"> 308MB</a:t>
            </a:r>
            <a:endParaRPr/>
          </a:p>
        </p:txBody>
      </p:sp>
      <p:sp>
        <p:nvSpPr>
          <p:cNvPr id="870" name=""/>
          <p:cNvSpPr/>
          <p:nvPr/>
        </p:nvSpPr>
        <p:spPr>
          <a:xfrm rot="0" flipH="0" flipV="0">
            <a:off x="6877050" y="4362450"/>
            <a:ext cx="46291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7010400" y="4543425"/>
            <a:ext cx="4362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磁盘扫描</a:t>
            </a:r>
            <a:endParaRPr/>
          </a:p>
        </p:txBody>
      </p:sp>
      <p:sp>
        <p:nvSpPr>
          <p:cNvPr id="872" name=""/>
          <p:cNvSpPr/>
          <p:nvPr/>
        </p:nvSpPr>
        <p:spPr>
          <a:xfrm rot="0" flipH="0" flipV="0">
            <a:off x="685800" y="4972050"/>
            <a:ext cx="20002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819150" y="5153025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模块数</a:t>
            </a:r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2686050" y="4972050"/>
            <a:ext cx="1905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2819400" y="5153025"/>
            <a:ext cx="1638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sz="1125">
                <a:solidFill>
                  <a:srgbClr val="2A2118"/>
                </a:solidFill>
                <a:latin typeface="PingFang SC"/>
                <a:ea typeface="PingFang SC"/>
              </a:rPr>
              <a:t>—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4591050" y="4972050"/>
            <a:ext cx="228600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4724400" y="51530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125">
                <a:solidFill>
                  <a:srgbClr val="2A2118"/>
                </a:solidFill>
                <a:latin typeface="PingFang SC"/>
                <a:ea typeface="PingFang SC"/>
              </a:rPr>
              <a:t>20+</a:t>
            </a:r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6877050" y="4972050"/>
            <a:ext cx="4629150" cy="609600"/>
          </a:xfrm>
          <a:prstGeom prst="rect">
            <a:avLst/>
          </a:prstGeom>
          <a:solidFill>
            <a:srgbClr val="8C5A2B">
              <a:alpha val="5000"/>
            </a:srgbClr>
          </a:solidFill>
          <a:ln w="12700">
            <a:solidFill>
              <a:srgbClr val="8C5A2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7010400" y="5153025"/>
            <a:ext cx="43624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2A2118"/>
                </a:solidFill>
                <a:latin typeface="PingFang SC"/>
                <a:ea typeface="PingFang SC"/>
              </a:rPr>
              <a:t>源码统计</a:t>
            </a:r>
            <a:endParaRPr/>
          </a:p>
        </p:txBody>
      </p:sp>
      <p:sp>
        <p:nvSpPr>
          <p:cNvPr id="880" name=""/>
          <p:cNvSpPr/>
          <p:nvPr/>
        </p:nvSpPr>
        <p:spPr>
          <a:xfrm rot="0" flipH="0" flipV="0">
            <a:off x="733425" y="57626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881" name=""/>
          <p:cNvSpPr/>
          <p:nvPr/>
        </p:nvSpPr>
        <p:spPr>
          <a:xfrm rot="0" flipH="0" flipV="0">
            <a:off x="733425" y="57626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923925" y="58578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这张表的用法：任何一项被质疑，都能顺着「验证方式」那一列把证据调出来。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54 / 64</a:t>
            </a:r>
            <a:endParaRPr/>
          </a:p>
        </p:txBody>
      </p:sp>
    </p:spTree>
  </p:cSld>
</p:sld>
</file>

<file path=ppt/slides/slide55.xml><?xml version="1.0" encoding="utf-8"?>
<p:sld xmlns:p="http://schemas.openxmlformats.org/presentationml/2006/main" xmlns:a="http://schemas.openxmlformats.org/drawingml/2006/main">
  <p:cSld>
    <p:spTree>
      <p:nvGrpSpPr>
        <p:cNvPr id="885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验证口径：每项改动怎么算「改对了」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口径统一才能避免「自说自话」：数字 → 测量方法 → 可重复脚本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「落子音 16ms」不是自称的，是 MCI 直测计时得到的数字；「4× 超采样」是源码加像素采样确认的；「10/10 几何」是 10 种尺寸脚本逐个跑出来的——每一句结论后面都跟着一个可以重跑的方法。&lt;/Text&gt;&#10;    &lt;Text style={{ fontSize: 17, lineHeight: 1.68, color: &quot;#2A2118&quot;, fontFamily: &quot;'PingFang SC', 'Microsoft YaHei', sans-serif&quot;, marginBottom: 11 }}&gt;交付物本身也要过校验：zip 结构的 XML 良构检查、全量文件的 MD5 扫描、关键图像的像素采样。目的是让成果可以被独立复现，而不是「只在我这台机器上成立」。&lt;/Text&gt;&#10;    &lt;Text style={{ fontSize: 17, lineHeight: 1.68, color: &quot;#2A2118&quot;, fontFamily: &quot;'PingFang SC', 'Microsoft YaHei', sans-serif&quot;, marginBottom: 11 }}&gt;这也是当时给自己定的一条规矩：凡是要写进汇报的数字，必须先有一个能重复执行的测量脚本。没有脚本的数字，一律不写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条规矩的副产品：项目里积累了一批可复用的验证脚本，后续改动直接拿来回归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5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验证口径：每项改动怎么算「改对了」</a:t>
            </a:r>
            <a:endParaRPr/>
          </a:p>
        </p:txBody>
      </p:sp>
      <p:sp>
        <p:nvSpPr>
          <p:cNvPr id="888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口径统一才能避免「自说自话」：数字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测量方法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→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可重复脚本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685800" y="25622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「落子音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16ms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」不是自称的，是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MCI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直测计时得到的数字；「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4×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超采样」是源码加像素采样确认的；「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10/10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几何」是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种尺寸脚本逐个跑出来的——每一句结论后面都跟着一个可以重跑的方法。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685800" y="332422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交付物本身也要过校验：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zip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结构的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XML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良构检查、全量文件的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MD5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扫描、关键图像的像素采样。目的是让成果可以被独立复现，而不是「只在我这台机器上成立」。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685800" y="40862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这也是当时给自己定的一条规矩：凡是要写进汇报的数字，必须先有一个能重复执行的测量脚本。没有脚本的数字，一律不写。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733425" y="456247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894" name=""/>
          <p:cNvSpPr/>
          <p:nvPr/>
        </p:nvSpPr>
        <p:spPr>
          <a:xfrm rot="0" flipH="0" flipV="0">
            <a:off x="733425" y="456247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923925" y="465772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这条规矩的副产品：项目里积累了一批可复用的验证脚本，后续改动直接拿来回归。</a:t>
            </a:r>
            <a:endParaRPr/>
          </a:p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55 / 64</a:t>
            </a:r>
            <a:endParaRPr/>
          </a:p>
        </p:txBody>
      </p:sp>
    </p:spTree>
  </p:cSld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98" name="" descr="&lt;Slide style={{ width: 1280, height: 720, position: &quot;relative&quot;, padding: &quot;0px&quot;, background: &quot;#2A2118&quot;, overflow: &quot;hidden&quot; }}&gt;&#10;  &lt;Image src=&quot;assets/wood_panel.jpg&quot; style={{ position: &quot;absolute&quot;, top: 0, left: 0, width: 1280, height: 720, objectFit: &quot;cover&quot;, opacity: 0.22 }} /&gt;&#10;  &lt;Box style={{ position: &quot;absolute&quot;, top: 0, left: 0, width: 1280, height: 720, background: &quot;linear-gradient(160deg, #2A2118 0%, #3E2E1E 55%, #8C5A2B 100%)&quot;, opacity: 0.55 }} /&gt;&#10;  &lt;Box style={{ position: &quot;absolute&quot;, right: 84, top: 48, flexDirection: &quot;column&quot;, alignItems: &quot;flex-end&quot; }}&gt;&#10;    &lt;Text style={{ fontSize: 210, fontWeight: &quot;bold&quot;, lineHeight: 1.0, color: &quot;rgba(179,39,30,0.85)&quot;, fontFamily: &quot;'Songti SC', 'STSong', 'SimSun', serif&quot; }}&gt;08&lt;/Text&gt;&#10;  &lt;/Box&gt;&#10;  &lt;Box style={{ position: &quot;relative&quot;, zIndex: 2, width: 1280, height: 720, padding: &quot;0px 96px&quot;, flexDirection: &quot;column&quot;, justifyContent: &quot;center&quot; }}&gt;&#10;    &lt;Text style={{ fontSize: 22, color: &quot;rgba(245,227,190,0.7)&quot;, fontFamily: &quot;'PingFang SC', 'Microsoft YaHei', sans-serif&quot;, letterSpacing: 6 }}&gt;第 08 章&lt;/Text&gt;&#10;    &lt;Text style={{ fontSize: 62, fontWeight: &quot;bold&quot;, color: &quot;#F5E3BE&quot;, fontFamily: &quot;'Songti SC', 'STSong', 'SimSun', serif&quot;, marginTop: 12 }}&gt;未来规划&lt;/Text&gt;&#10;    &lt;Box style={{ width: 70, height: 3, background: &quot;#B3271E&quot;, marginTop: 20 }} /&gt;&#10;    &lt;Text style={{ fontSize: 22, fontStyle: &quot;italic&quot;, color: &quot;rgba(245,227,190,0.82)&quot;, fontFamily: &quot;'PingFang SC', 'Microsoft YaHei', sans-serif&quot;, marginTop: 20 }}&gt;从可交付，走向可发布&lt;/Text&gt;&#10;  &lt;/Box&gt;&#10;  &lt;Box style={{ position: &quot;absolute&quot;, right: 60, bottom: 50, width: 52, height: 52, borderRadius: 6, background: &quot;#B3271E&quot;, justifyContent: &quot;center&quot;, alignItems: &quot;center&quot; }}&gt;&#10;    &lt;Text style={{ fontSize: 28, fontWeight: &quot;bold&quot;, color: &quot;#F5E3BE&quot;, fontFamily: &quot;'Songti SC', 'STSong', 'SimSun', serif&quot; }}&gt;弈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900" name=""/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55000"/>
                </a:srgbClr>
              </a:gs>
              <a:gs pos="55000">
                <a:srgbClr val="3E2E1E">
                  <a:alpha val="55000"/>
                </a:srgbClr>
              </a:gs>
              <a:gs pos="100000">
                <a:srgbClr val="8C5A2B">
                  <a:alpha val="5500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9515475" y="457200"/>
            <a:ext cx="1876425" cy="2400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B3271E">
                    <a:alpha val="85000"/>
                  </a:srgbClr>
                </a:solidFill>
                <a:latin typeface="Songti SC"/>
                <a:ea typeface="Songti SC"/>
              </a:rPr>
              <a:t>08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11125200" y="5886450"/>
            <a:ext cx="495300" cy="495300"/>
          </a:xfrm>
          <a:prstGeom prst="roundRect">
            <a:avLst>
              <a:gd name="adj" fmla="val 11538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11239500" y="5972175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914400" y="2552700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第</a:t>
            </a:r>
            <a:r>
              <a:rPr lang="en-US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 xml:space="preserve"> 08 </a:t>
            </a:r>
            <a:r>
              <a:rPr lang="zh-CN" sz="1650" spc="450">
                <a:solidFill>
                  <a:srgbClr val="F5E3BE">
                    <a:alpha val="70000"/>
                  </a:srgbClr>
                </a:solidFill>
                <a:latin typeface="PingFang SC"/>
                <a:ea typeface="PingFang SC"/>
              </a:rPr>
              <a:t>章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914400" y="2924175"/>
            <a:ext cx="103632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5E3BE"/>
                </a:solidFill>
                <a:latin typeface="Songti SC"/>
                <a:ea typeface="Songti SC"/>
              </a:rPr>
              <a:t>未来规划</a:t>
            </a:r>
            <a:endParaRPr/>
          </a:p>
        </p:txBody>
      </p:sp>
      <p:sp>
        <p:nvSpPr>
          <p:cNvPr id="907" name=""/>
          <p:cNvSpPr/>
          <p:nvPr/>
        </p:nvSpPr>
        <p:spPr>
          <a:xfrm rot="0" flipH="0" flipV="0">
            <a:off x="914400" y="3829050"/>
            <a:ext cx="6667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914400" y="4048125"/>
            <a:ext cx="1036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i="1">
                <a:solidFill>
                  <a:srgbClr val="F5E3BE">
                    <a:alpha val="82000"/>
                  </a:srgbClr>
                </a:solidFill>
                <a:latin typeface="PingFang SC"/>
                <a:ea typeface="PingFang SC"/>
              </a:rPr>
              <a:t>从可交付，走向可发布</a:t>
            </a:r>
            <a:endParaRPr/>
          </a:p>
        </p:txBody>
      </p:sp>
    </p:spTree>
  </p:cSld>
</p:sld>
</file>

<file path=ppt/slides/slide57.xml><?xml version="1.0" encoding="utf-8"?>
<p:sld xmlns:p="http://schemas.openxmlformats.org/presentationml/2006/main" xmlns:a="http://schemas.openxmlformats.org/drawingml/2006/main">
  <p:cSld>
    <p:spTree>
      <p:nvGrpSpPr>
        <p:cNvPr id="909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四条路线：从可交付走向可发布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四条线对应四个发布前置条件：轻量、可回归、安全、体验好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① 性能与体积：把 assets/music 里的 WAV 转成 MP3 瘦身；清理 theme_boards 中已失效的 grain 冗余字段；继续压缩 dist 相关产物（累计可释放约 627MB 中尚未处理的部分）。&lt;/Text&gt;&#10;    &lt;Text style={{ fontSize: 17, lineHeight: 1.68, color: &quot;#2A2118&quot;, fontFamily: &quot;'PingFang SC', 'Microsoft YaHei', sans-serif&quot;, marginBottom: 11 }}&gt;② 模块化与测试：当前验证以几何自检脚本和端到端脚本为主，下一步补一个 tests/ 自动化回归套件，让每次改动都有护栏，而不是每次都靠临时脚本。&lt;/Text&gt;&#10;    &lt;Text style={{ fontSize: 17, lineHeight: 1.68, color: &quot;#2A2118&quot;, fontFamily: &quot;'PingFang SC', 'Microsoft YaHei', sans-serif&quot;, marginBottom: 11 }}&gt;③ 发布准备：把 PyInstaller 打包流程做全量验证，并在发布前完成敏感配置脱敏——config/llm.ini 里的 API Key 绝不能随产物或仓库外流。&lt;/Text&gt;&#10;    &lt;Text style={{ fontSize: 17, lineHeight: 1.68, color: &quot;#2A2118&quot;, fontFamily: &quot;'PingFang SC', 'Microsoft YaHei', sans-serif&quot;, marginBottom: 11 }}&gt;④ 体验深化：沿「真实、克制、精致」继续打磨 3D 立体感与光照，坚持一次只推进一个改进点的节奏，避免大改引入回归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发布的前置条件不是功能数量，而是「体积可控 + 回归可自动跑 + 敏感信息不外流」这三件硬事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7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四条路线：从可交付走向可发布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四条线对应四个发布前置条件：轻量、可回归、安全、体验好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685800" y="234315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①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性能与体积：把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assets/music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里的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WAV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转成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MP3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瘦身；清理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theme_boards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中已失效的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grain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冗余字段；继续压缩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dist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相关产物（累计可释放约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627MB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中尚未处理的部分）。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685800" y="310515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②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模块化与测试：当前验证以几何自检脚本和端到端脚本为主，下一步补一个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tests/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自动化回归套件，让每次改动都有护栏，而不是每次都靠临时脚本。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85800" y="38671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③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发布准备：把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PyInstaller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打包流程做全量验证，并在发布前完成敏感配置脱敏——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config/llm.ini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里的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API Key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绝不能随产物或仓库外流。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685800" y="43053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④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体验深化：沿「真实、克制、精致」继续打磨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3D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立体感与光照，坚持一次只推进一个改进点的节奏，避免大改引入回归。</a:t>
            </a:r>
            <a:endParaRPr/>
          </a:p>
        </p:txBody>
      </p:sp>
      <p:sp>
        <p:nvSpPr>
          <p:cNvPr id="918" name=""/>
          <p:cNvSpPr/>
          <p:nvPr/>
        </p:nvSpPr>
        <p:spPr>
          <a:xfrm rot="0" flipH="0" flipV="0">
            <a:off x="733425" y="47815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919" name=""/>
          <p:cNvSpPr/>
          <p:nvPr/>
        </p:nvSpPr>
        <p:spPr>
          <a:xfrm rot="0" flipH="0" flipV="0">
            <a:off x="733425" y="47815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923925" y="48768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发布的前置条件不是功能数量，而是「体积可控</a:t>
            </a:r>
            <a:r>
              <a:rPr lang="en-US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回归可自动跑</a:t>
            </a:r>
            <a:r>
              <a:rPr lang="en-US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 xml:space="preserve"> + </a:t>
            </a: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敏感信息不外流」这三件硬事。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57 / 64</a:t>
            </a:r>
            <a:endParaRPr/>
          </a:p>
        </p:txBody>
      </p:sp>
    </p:spTree>
  </p:cSld>
</p:sld>
</file>

<file path=ppt/slides/slide58.xml><?xml version="1.0" encoding="utf-8"?>
<p:sld xmlns:p="http://schemas.openxmlformats.org/presentationml/2006/main" xmlns:a="http://schemas.openxmlformats.org/drawingml/2006/main">
  <p:cSld>
    <p:spTree>
      <p:nvGrpSpPr>
        <p:cNvPr id="923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发布检查清单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四类前置检查：安全 / 测试 / 体积 / 文档，逐项打勾才能发布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安全：config/llm.ini 内含真实 API Key，公开仓库前必须脱敏，绝不提交任何密钥——这是当前唯一的硬阻塞项。&lt;/Text&gt;&#10;    &lt;Text style={{ fontSize: 17, lineHeight: 1.68, color: &quot;#2A2118&quot;, fontFamily: &quot;'PingFang SC', 'Microsoft YaHei', sans-serif&quot;, marginBottom: 11 }}&gt;测试：补 tests/ 自动化回归目录；PyInstaller 打包（myapp.exe）做一次全量验证，确保换机器也能跑。&lt;/Text&gt;&#10;    &lt;Text style={{ fontSize: 17, lineHeight: 1.68, color: &quot;#2A2118&quot;, fontFamily: &quot;'PingFang SC', 'Microsoft YaHei', sans-serif&quot;, marginBottom: 11 }}&gt;体积：清理 dist/ 中间产物；把 assets/music 的 WAV 转 MP3；删除 theme_boards 中的冗余字段。&lt;/Text&gt;&#10;    &lt;Text style={{ fontSize: 17, lineHeight: 1.68, color: &quot;#2A2118&quot;, fontFamily: &quot;'PingFang SC', 'Microsoft YaHei', sans-serif&quot;, marginBottom: 11 }}&gt;文档：开发日志、算法讲义、课程报告均已就位，按受众分发即可，无需再补写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顺序上，安全永远排第一——体积小一点只是体验问题，密钥泄露是事故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8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发布检查清单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四类前置检查：安全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测试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体积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文档，逐项打勾才能发布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安全：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config/llm.ini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内含真实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API Key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，公开仓库前必须脱敏，绝不提交任何密钥——这是当前唯一的硬阻塞项。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685800" y="31051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测试：补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tests/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自动化回归目录；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PyInstaller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打包（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>myapp.exe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）做一次全量验证，确保换机器也能跑。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685800" y="35433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体积：清理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dist/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中间产物；把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assets/music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WAV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转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MP3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；删除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theme_boards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中的冗余字段。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685800" y="39814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文档：开发日志、算法讲义、课程报告均已就位，按受众分发即可，无需再补写。</a:t>
            </a:r>
            <a:endParaRPr/>
          </a:p>
        </p:txBody>
      </p:sp>
      <p:sp>
        <p:nvSpPr>
          <p:cNvPr id="932" name=""/>
          <p:cNvSpPr/>
          <p:nvPr/>
        </p:nvSpPr>
        <p:spPr>
          <a:xfrm rot="0" flipH="0" flipV="0">
            <a:off x="733425" y="445770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933" name=""/>
          <p:cNvSpPr/>
          <p:nvPr/>
        </p:nvSpPr>
        <p:spPr>
          <a:xfrm rot="0" flipH="0" flipV="0">
            <a:off x="733425" y="445770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923925" y="455295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顺序上，安全永远排第一——体积小一点只是体验问题，密钥泄露是事故。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58 / 64</a:t>
            </a:r>
            <a:endParaRPr/>
          </a:p>
        </p:txBody>
      </p:sp>
    </p:spTree>
  </p:cSld>
</p:sld>
</file>

<file path=ppt/slides/slide59.xml><?xml version="1.0" encoding="utf-8"?>
<p:sld xmlns:p="http://schemas.openxmlformats.org/presentationml/2006/main" xmlns:a="http://schemas.openxmlformats.org/drawingml/2006/main">
  <p:cSld>
    <p:spTree>
      <p:nvGrpSpPr>
        <p:cNvPr id="937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诚实交代：还没做完的部分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已知未完成项全列出，并标注严重程度（阻塞 / 一般 / 可延后）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第一，config/llm.ini 的密钥尚未脱敏。这是发布的硬阻塞项，公开之前必须处理，没有任何回旋余地。&lt;/Text&gt;&#10;    &lt;Text style={{ fontSize: 17, lineHeight: 1.68, color: &quot;#2A2118&quot;, fontFamily: &quot;'PingFang SC', 'Microsoft YaHei', sans-serif&quot;, marginBottom: 11 }}&gt;第二，没有 tests/ 自动化回归目录，目前的验证主要靠临时脚本和人工跑；PyInstaller 打包也尚未做全量验证，换机器的兼容性还未确认。&lt;/Text&gt;&#10;    &lt;Text style={{ fontSize: 17, lineHeight: 1.68, color: &quot;#2A2118&quot;, fontFamily: &quot;'PingFang SC', 'Microsoft YaHei', sans-serif&quot;, marginBottom: 11 }}&gt;第三，assets/music 里的 WAV 体积偏大，瘦身尚未开始；theme_boards.py 的 grain 字段自 v9 移除刮痕绘制后已无任何实际使用，属于可清理冗余。&lt;/Text&gt;&#10;    &lt;Text style={{ fontSize: 17, lineHeight: 1.68, color: &quot;#2A2118&quot;, fontFamily: &quot;'PingFang SC', 'Microsoft YaHei', sans-serif&quot;, marginBottom: 11 }}&gt;把这些写进汇报不是自贬，而是交付的一部分——一份诚实的遗留清单，比一份完美的假象更有价值。&lt;/Text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阻塞级：密钥未脱敏——公开前必须处理；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一般级：无自动化回归、打包未全量验证；&lt;/Text&gt;&#10;    &lt;/Box&gt;&#10;    &lt;Box style={{ flexDirection: &quot;row&quot;, alignItems: &quot;flex-start&quot;, gap: 12, marginBottom: 11 }}&gt;&#10;      &lt;Box style={{ width: 7, height: 7, borderRadius: 2, background: &quot;#B3271E&quot;, marginTop: 9 }} /&gt;&#10;      &lt;Text style={{ fontSize: 16, lineHeight: 1.64, color: &quot;rgba(42,33,24,0.82)&quot;, fontFamily: &quot;'PingFang SC', 'Microsoft YaHei', sans-serif&quot;, flex: 1 }}&gt;可延后：music WAV 瘦身、theme_boards 冗余字段清理。&lt;/Text&gt;&#10;    &lt;/Box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诚实交代的价值：让接手的人知道哪里是坑，而不是踩上去才发现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59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诚实交代：还没做完的部分</a:t>
            </a:r>
            <a:endParaRPr/>
          </a:p>
        </p:txBody>
      </p:sp>
      <p:sp>
        <p:nvSpPr>
          <p:cNvPr id="940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已知未完成项全列出，并标注严重程度（阻塞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一般</a:t>
            </a:r>
            <a:r>
              <a:rPr lang="en-US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 xml:space="preserve"> / </a:t>
            </a: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可延后）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685800" y="18859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第一，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config/llm.ini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的密钥尚未脱敏。这是发布的硬阻塞项，公开之前必须处理，没有任何回旋余地。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685800" y="23241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第二，没有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tests/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自动化回归目录，目前的验证主要靠临时脚本和人工跑；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PyInstaller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打包也尚未做全量验证，换机器的兼容性还未确认。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685800" y="276225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第三，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assets/music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里的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WAV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体积偏大，瘦身尚未开始；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theme_boards.py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grain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字段自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v9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移除刮痕绘制后已无任何实际使用，属于可清理冗余。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685800" y="35242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把这些写进汇报不是自贬，而是交付的一部分——一份诚实的遗留清单，比一份完美的假象更有价值。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685800" y="404812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866775" y="3962400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阻塞级：密钥未脱敏——公开前必须处理；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685800" y="4457700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866775" y="4371975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一般级：无自动化回归、打包未全量验证；</a:t>
            </a:r>
            <a:endParaRPr/>
          </a:p>
        </p:txBody>
      </p:sp>
      <p:sp>
        <p:nvSpPr>
          <p:cNvPr id="950" name=""/>
          <p:cNvSpPr/>
          <p:nvPr/>
        </p:nvSpPr>
        <p:spPr>
          <a:xfrm rot="0" flipH="0" flipV="0">
            <a:off x="685800" y="4867275"/>
            <a:ext cx="66675" cy="66675"/>
          </a:xfrm>
          <a:prstGeom prst="roundRect">
            <a:avLst>
              <a:gd name="adj" fmla="val 28571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866775" y="4781550"/>
            <a:ext cx="10639425" cy="304800"/>
          </a:xfrm>
          <a:prstGeom prst="rect"/>
        </p:spPr>
        <p:txBody>
          <a:bodyPr wrap="none" lIns="0" tIns="0" rIns="0" bIns="0"/>
          <a:p>
            <a:pPr>
              <a:lnSpc>
                <a:spcPct val="164000"/>
              </a:lnSpc>
            </a:pP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可延后：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music WAV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瘦身、</a:t>
            </a:r>
            <a:r>
              <a:rPr lang="en-US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 xml:space="preserve">theme_boards </a:t>
            </a:r>
            <a:r>
              <a:rPr lang="zh-CN" sz="1200">
                <a:solidFill>
                  <a:srgbClr val="2A2118">
                    <a:alpha val="82000"/>
                  </a:srgbClr>
                </a:solidFill>
                <a:latin typeface="PingFang SC"/>
                <a:ea typeface="PingFang SC"/>
              </a:rPr>
              <a:t>冗余字段清理。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733425" y="522922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953" name=""/>
          <p:cNvSpPr/>
          <p:nvPr/>
        </p:nvSpPr>
        <p:spPr>
          <a:xfrm rot="0" flipH="0" flipV="0">
            <a:off x="733425" y="522922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923925" y="532447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诚实交代的价值：让接手的人知道哪里是坑，而不是踩上去才发现。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59 / 64</a:t>
            </a:r>
            <a:endParaRPr/>
          </a:p>
        </p:txBody>
      </p:sp>
    </p:spTree>
  </p:cSld>
</p:sld>
</file>

<file path=ppt/slides/slide60.xml><?xml version="1.0" encoding="utf-8"?>
<p:sld xmlns:p="http://schemas.openxmlformats.org/presentationml/2006/main" xmlns:a="http://schemas.openxmlformats.org/drawingml/2006/main">
  <p:cSld>
    <p:spTree>
      <p:nvGrpSpPr>
        <p:cNvPr id="976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最大的收获不是某行代码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能力清单：现象定位、根因测量、最小改动、可复现验证、留下书面依据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从「能跑」到「可维护 + 可交付」，真正长出来的能力其实不是某个算法或某个界面技巧，而是一种习惯：每一个决定都留下依据。&lt;/Text&gt;&#10;    &lt;Text style={{ fontSize: 17, lineHeight: 1.68, color: &quot;#2A2118&quot;, fontFamily: &quot;'PingFang SC', 'Microsoft YaHei', sans-serif&quot;, marginBottom: 11 }}&gt;修改日志记录「改了什么、为什么改」；设计文档记录「为什么这么排版」；版本取证回答「这个缺陷从哪来」。三者合起来，让任意一步都能被追溯。&lt;/Text&gt;&#10;    &lt;Text style={{ fontSize: 17, lineHeight: 1.68, color: &quot;#2A2118&quot;, fontFamily: &quot;'PingFang SC', 'Microsoft YaHei', sans-serif&quot;, marginBottom: 11 }}&gt;这带来的好处很实在：下次再有人问「这里为什么这么写」，不用翻记忆、不用猜，翻文档就能回答。工程的可维护性，一半来自代码，一半来自这些记录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这套方法不只属于这个项目——它是可迁移到任何工程的通用能力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60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最大的收获不是某行代码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能力清单：现象定位、根因测量、最小改动、可复现验证、留下书面依据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685800" y="2562225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从「能跑」到「可维护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+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可交付」，真正长出来的能力其实不是某个算法或某个界面技巧，而是一种习惯：每一个决定都留下依据。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685800" y="300037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修改日志记录「改了什么、为什么改」；设计文档记录「为什么这么排版」；版本取证回答「这个缺陷从哪来」。三者合起来，让任意一步都能被追溯。</a:t>
            </a:r>
            <a:endParaRPr/>
          </a:p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685800" y="3762375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这带来的好处很实在：下次再有人问「这里为什么这么写」，不用翻记忆、不用猜，翻文档就能回答。工程的可维护性，一半来自代码，一半来自这些记录。</a:t>
            </a:r>
            <a:endParaRPr/>
          </a:p>
        </p:txBody>
      </p:sp>
      <p:sp>
        <p:nvSpPr>
          <p:cNvPr id="984" name=""/>
          <p:cNvSpPr/>
          <p:nvPr/>
        </p:nvSpPr>
        <p:spPr>
          <a:xfrm rot="0" flipH="0" flipV="0">
            <a:off x="733425" y="4562475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985" name=""/>
          <p:cNvSpPr/>
          <p:nvPr/>
        </p:nvSpPr>
        <p:spPr>
          <a:xfrm rot="0" flipH="0" flipV="0">
            <a:off x="733425" y="4562475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923925" y="4657725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这套方法不只属于这个项目——它是可迁移到任何工程的通用能力。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60 / 64</a:t>
            </a:r>
            <a:endParaRPr/>
          </a:p>
        </p:txBody>
      </p:sp>
    </p:spTree>
  </p:cSld>
</p:sld>
</file>

<file path=ppt/slides/slide61.xml><?xml version="1.0" encoding="utf-8"?>
<p:sld xmlns:p="http://schemas.openxmlformats.org/presentationml/2006/main" xmlns:a="http://schemas.openxmlformats.org/drawingml/2006/main">
  <p:cSld>
    <p:spTree>
      <p:nvGrpSpPr>
        <p:cNvPr id="989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深讲一例 · 棋子「丝光」这一层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以「丝光」为例，展示一个参数从约束、取值到验收的完整过程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丝光是木面上唯一的各向异性高光，它几乎决定了棋子读起来是「木头」还是「塑料」。所以它的参数被反复调整过很多轮。&lt;/Text&gt;&#10;    &lt;Text style={{ fontSize: 17, lineHeight: 1.68, color: &quot;#2A2118&quot;, fontFamily: &quot;'PingFang SC', 'Microsoft YaHei', sans-serif&quot;, marginBottom: 11 }}&gt;位置约束很硬：只出现在左上象限，且必须避开中心的刻字区——否则重影会冲掉字。宽度约 (10+30g)，其中 g 是材质的 gloss 系数，越亮的材质丝光越宽。&lt;/Text&gt;&#10;    &lt;Text style={{ fontSize: 17, lineHeight: 1.68, color: &quot;#2A2118&quot;, fontFamily: &quot;'PingFang SC', 'Microsoft YaHei', sans-serif&quot;, marginBottom: 11 }}&gt;亮度也有上限：过宽会像金属包边，过亮会像玻璃。最终的参数区间不是用公式推出来的，而是在真实棋盘尺寸下反复截图比对调出来的——因为 76px 的实机观感与 136px 的样张差异巨大，只有在真实尺寸下看才作数。&lt;/Text&gt;&#10;    &lt;Text style={{ fontSize: 17, lineHeight: 1.68, color: &quot;#2A2118&quot;, fontFamily: &quot;'PingFang SC', 'Microsoft YaHei', sans-serif&quot;, marginBottom: 11 }}&gt;这一层对了，木头感才立得住；这一层错了，前面七层全部白做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细节的分量：棋子看起来真不真，往往就取决于这样一层宽度不到十分之一的柔光带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61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深讲一例</a:t>
            </a:r>
            <a:r>
              <a:rPr lang="en-US" sz="2550" b="1">
                <a:solidFill>
                  <a:srgbClr val="2A2118"/>
                </a:solidFill>
                <a:latin typeface="Songti SC"/>
                <a:ea typeface="Songti SC"/>
              </a:rPr>
              <a:t xml:space="preserve"> · </a:t>
            </a: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棋子「丝光」这一层</a:t>
            </a:r>
            <a:endParaRPr/>
          </a:p>
        </p:txBody>
      </p:sp>
      <p:sp>
        <p:nvSpPr>
          <p:cNvPr id="992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以「丝光」为例，展示一个参数从约束、取值到验收的完整过程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685800" y="23431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丝光是木面上唯一的各向异性高光，它几乎决定了棋子读起来是「木头」还是「塑料」。所以它的参数被反复调整过很多轮。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685800" y="278130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位置约束很硬：只出现在左上象限，且必须避开中心的刻字区——否则重影会冲掉字。宽度约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(10+30g)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，其中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g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是材质的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gloss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系数，越亮的材质丝光越宽。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685800" y="354330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亮度也有上限：过宽会像金属包边，过亮会像玻璃。最终的参数区间不是用公式推出来的，而是在真实棋盘尺寸下反复截图比对调出来的——因为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76px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的实机观感与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136px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的样张差异巨大，只有在真实尺寸下看才作数。</a:t>
            </a:r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685800" y="43053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这一层对了，木头感才立得住；这一层错了，前面七层全部白做。</a:t>
            </a:r>
            <a:endParaRPr/>
          </a:p>
        </p:txBody>
      </p:sp>
      <p:sp>
        <p:nvSpPr>
          <p:cNvPr id="998" name=""/>
          <p:cNvSpPr/>
          <p:nvPr/>
        </p:nvSpPr>
        <p:spPr>
          <a:xfrm rot="0" flipH="0" flipV="0">
            <a:off x="733425" y="47815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999" name=""/>
          <p:cNvSpPr/>
          <p:nvPr/>
        </p:nvSpPr>
        <p:spPr>
          <a:xfrm rot="0" flipH="0" flipV="0">
            <a:off x="733425" y="47815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923925" y="48768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细节的分量：棋子看起来真不真，往往就取决于这样一层宽度不到十分之一的柔光带。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61 / 64</a:t>
            </a:r>
            <a:endParaRPr/>
          </a:p>
        </p:txBody>
      </p:sp>
    </p:spTree>
  </p:cSld>
</p:sld>
</file>

<file path=ppt/slides/slide62.xml><?xml version="1.0" encoding="utf-8"?>
<p:sld xmlns:p="http://schemas.openxmlformats.org/presentationml/2006/main" xmlns:a="http://schemas.openxmlformats.org/drawingml/2006/main">
  <p:cSld>
    <p:spTree>
      <p:nvGrpSpPr>
        <p:cNvPr id="1003" name="" descr="&lt;Slide style={{ width: 1280, height: 720, padding: &quot;20px 72px&quot;, background: &quot;#F5E3BE&quot;, flexDirection: &quot;column&quot; }}&gt;&#10;  &lt;Box style={{ width: &quot;100%&quot;, height: 96, flexDirection: &quot;column&quot;, justifyContent: &quot;center&quot; }}&gt;&#10;    &lt;Text style={{ fontSize: 34, fontWeight: &quot;bold&quot;, color: &quot;#2A2118&quot;, fontFamily: &quot;'Songti SC', 'STSong', 'SimSun', serif&quot; }}&gt;回望&lt;/Text&gt;&#10;    &lt;Box style={{ width: 56, height: 2, background: &quot;#B3271E&quot;, marginTop: 10 }} /&gt;&#10;&#10;  &lt;/Box&gt;&#10;  &lt;Box style={{ width: &quot;100%&quot;, height: 536, flexDirection: &quot;column&quot; }}&gt;&#10;  &lt;Box style={{ flexDirection: &quot;column&quot;, height: &quot;100%&quot;, justifyContent: &quot;center&quot;, alignItems: &quot;center&quot; }}&gt;&#10;    &lt;Text style={{ fontSize: 40, fontWeight: &quot;bold&quot;, lineHeight: 1.45, color: &quot;#2A2118&quot;, fontFamily: &quot;'Songti SC', 'STSong', 'SimSun', serif&quot;, textAlign: &quot;center&quot;, width: 920 }}&gt;棋盘上每一步都可回退，&lt;br /&gt;工程上每一个决定都要留下依据。&lt;/Text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62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回望</a:t>
            </a:r>
            <a:endParaRPr/>
          </a:p>
        </p:txBody>
      </p:sp>
      <p:sp>
        <p:nvSpPr>
          <p:cNvPr id="1006" name=""/>
          <p:cNvSpPr/>
          <p:nvPr/>
        </p:nvSpPr>
        <p:spPr>
          <a:xfrm rot="0" flipH="0" flipV="0">
            <a:off x="685800" y="88582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1714500" y="2990850"/>
            <a:ext cx="8763000" cy="1333500"/>
          </a:xfrm>
          <a:prstGeom prst="rect"/>
        </p:spPr>
        <p:txBody>
          <a:bodyPr wrap="none" lIns="0" tIns="0" rIns="0" bIns="0"/>
          <a:p>
            <a:pPr algn="ctr">
              <a:lnSpc>
                <a:spcPct val="145000"/>
              </a:lnSpc>
            </a:pPr>
            <a:r>
              <a:rPr lang="zh-CN" sz="3000" b="1">
                <a:solidFill>
                  <a:srgbClr val="2A2118"/>
                </a:solidFill>
                <a:latin typeface="Songti SC"/>
                <a:ea typeface="Songti SC"/>
              </a:rPr>
              <a:t>棋盘上每一步都可回退，</a:t>
            </a:r>
            <a:endParaRPr/>
          </a:p>
          <a:p>
            <a:pPr algn="ctr">
              <a:lnSpc>
                <a:spcPct val="145000"/>
              </a:lnSpc>
            </a:pPr>
            <a:r>
              <a:rPr lang="zh-CN" sz="3000" b="1">
                <a:solidFill>
                  <a:srgbClr val="2A2118"/>
                </a:solidFill>
                <a:latin typeface="Songti SC"/>
                <a:ea typeface="Songti SC"/>
              </a:rPr>
              <a:t>工程上每一个决定都要留下依据。</a:t>
            </a:r>
            <a:endParaRPr/>
          </a:p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62 / 64</a:t>
            </a:r>
            <a:endParaRPr/>
          </a:p>
        </p:txBody>
      </p:sp>
    </p:spTree>
  </p:cSld>
</p:sld>
</file>

<file path=ppt/slides/slide63.xml><?xml version="1.0" encoding="utf-8"?>
<p:sld xmlns:p="http://schemas.openxmlformats.org/presentationml/2006/main" xmlns:a="http://schemas.openxmlformats.org/drawingml/2006/main">
  <p:cSld>
    <p:spTree>
      <p:nvGrpSpPr>
        <p:cNvPr id="1010" name="" descr="&lt;Slide style={{ width: 1280, height: 720, padding: &quot;20px 72px&quot;, background: &quot;#F5E3BE&quot;, flexDirection: &quot;column&quot; }}&gt;&#10;  &lt;Box style={{ width: &quot;100%&quot;, height: 122, flexDirection: &quot;column&quot;, justifyContent: &quot;center&quot; }}&gt;&#10;    &lt;Text style={{ fontSize: 34, fontWeight: &quot;bold&quot;, color: &quot;#2A2118&quot;, fontFamily: &quot;'Songti SC', 'STSong', 'SimSun', serif&quot; }}&gt;一份独立的工程练习&lt;/Text&gt;&#10;    &lt;Box style={{ width: 56, height: 2, background: &quot;#B3271E&quot;, marginTop: 10 }} /&gt;&#10;    &lt;Text style={{ fontSize: 16, lineHeight: 1.5, color: &quot;rgba(42,33,24,0.62)&quot;, fontFamily: &quot;'PingFang SC', 'Microsoft YaHei', sans-serif&quot;, marginTop: 8 }}&gt;项目定位：可交付、可维护、可复现的个人工程实践&lt;/Text&gt;&#10;  &lt;/Box&gt;&#10;  &lt;Box style={{ width: &quot;100%&quot;, height: 510, flexDirection: &quot;column&quot; }}&gt;&#10;  &lt;Box style={{ width: &quot;100%&quot;, height: &quot;100%&quot;, flexDirection: &quot;column&quot;, justifyContent: &quot;center&quot; }}&gt;&#10;    &lt;Text style={{ fontSize: 17, lineHeight: 1.68, color: &quot;#2A2118&quot;, fontFamily: &quot;'PingFang SC', 'Microsoft YaHei', sans-serif&quot;, marginBottom: 11 }}&gt;弈趣棋苑是个独立完成的棋类合集：三棋种、20+ 模块、约 8000 行代码，没有团队协作，也没有依赖任何外部游戏框架。算法是自研的，文档是自写的，界面是一层一层磨出来的。&lt;/Text&gt;&#10;    &lt;Text style={{ fontSize: 17, lineHeight: 1.68, color: &quot;#2A2118&quot;, fontFamily: &quot;'PingFang SC', 'Microsoft YaHei', sans-serif&quot;, marginBottom: 11 }}&gt;它不追求炫技。它追求的是三件事：打开就能玩、看着舒服、并且每一步都讲得出道理。&lt;/Text&gt;&#10;    &lt;Text style={{ fontSize: 17, lineHeight: 1.68, color: &quot;#2A2118&quot;, fontFamily: &quot;'PingFang SC', 'Microsoft YaHei', sans-serif&quot;, marginBottom: 11 }}&gt;如果你对其中任何一层感兴趣——无论是渲染管线、音频自愈还是算杀搜索——欢迎交流。谢谢看到这里。&lt;/Text&gt;&#10;  &lt;Box style={{ width: &quot;100%&quot;, background: &quot;rgba(42,33,24,0.94)&quot;, borderLeft: &quot;5px solid #B3271E&quot;, borderRadius: 6, padding: &quot;10px 20px&quot;, marginTop: 4 }}&gt;&#10;    &lt;Text style={{ fontSize: 15, lineHeight: 1.45, color: &quot;rgba(245,227,190,0.92)&quot;, fontFamily: &quot;'PingFang SC', 'Microsoft YaHei', sans-serif&quot; }}&gt;把每一步都留下依据，是这个项目最想传达的东西。&lt;/Text&gt;&#10;  &lt;/Box&gt;&#10;  &lt;/Box&gt;&#10;  &lt;/Box&gt;&#10;  &lt;Box style={{ width: &quot;100%&quot;, height: 48, flexDirection: &quot;row&quot;, alignItems: &quot;center&quot;, justifyContent: &quot;space-between&quot; }}&gt;&#10;    &lt;Text style={{ fontSize: 14, color: &quot;rgba(42,33,24,0.55)&quot;, fontFamily: &quot;'PingFang SC', 'Microsoft YaHei', sans-serif&quot; }}&gt;弈趣棋苑 · 项目开发汇报&lt;/Text&gt;&#10;    &lt;Text style={{ fontSize: 14, color: &quot;rgba(42,33,24,0.55)&quot;, fontFamily: &quot;'PingFang SC', 'Microsoft YaHei', sans-serif&quot; }}&gt;63 / 64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5E3BE"/>
          </a:solidFill>
          <a:ln/>
        </p:spPr>
        <p:txBody>
          <a:bodyPr/>
          <a:p/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A2118"/>
                </a:solidFill>
                <a:latin typeface="Songti SC"/>
                <a:ea typeface="Songti SC"/>
              </a:rPr>
              <a:t>一份独立的工程练习</a:t>
            </a:r>
            <a:endParaRPr/>
          </a:p>
        </p:txBody>
      </p:sp>
      <p:sp>
        <p:nvSpPr>
          <p:cNvPr id="1013" name=""/>
          <p:cNvSpPr/>
          <p:nvPr/>
        </p:nvSpPr>
        <p:spPr>
          <a:xfrm rot="0" flipH="0" flipV="0">
            <a:off x="685800" y="828675"/>
            <a:ext cx="533400" cy="19050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685800" y="923925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A2118">
                    <a:alpha val="62000"/>
                  </a:srgbClr>
                </a:solidFill>
                <a:latin typeface="PingFang SC"/>
                <a:ea typeface="PingFang SC"/>
              </a:rPr>
              <a:t>项目定位：可交付、可维护、可复现的个人工程实践</a:t>
            </a:r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685800" y="2724150"/>
            <a:ext cx="108204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弈趣棋苑是个独立完成的棋类合集：三棋种、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20+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模块、约</a:t>
            </a:r>
            <a:r>
              <a:rPr lang="en-US" sz="1275">
                <a:solidFill>
                  <a:srgbClr val="2A2118"/>
                </a:solidFill>
                <a:latin typeface="PingFang SC"/>
                <a:ea typeface="PingFang SC"/>
              </a:rPr>
              <a:t xml:space="preserve"> 8000 </a:t>
            </a: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行代码，没有团队协作，也没有依赖任何外部游戏框架。算法是自研的，文档是自写的，界面是一层一层磨出来的。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685800" y="348615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它不追求炫技。它追求的是三件事：打开就能玩、看着舒服、并且每一步都讲得出道理。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685800" y="3924300"/>
            <a:ext cx="10820400" cy="333375"/>
          </a:xfrm>
          <a:prstGeom prst="rect"/>
        </p:spPr>
        <p:txBody>
          <a:bodyPr wrap="none" lIns="0" tIns="0" rIns="0" bIns="0"/>
          <a:p>
            <a:pPr>
              <a:lnSpc>
                <a:spcPct val="168000"/>
              </a:lnSpc>
            </a:pPr>
            <a:r>
              <a:rPr lang="zh-CN" sz="1275">
                <a:solidFill>
                  <a:srgbClr val="2A2118"/>
                </a:solidFill>
                <a:latin typeface="PingFang SC"/>
                <a:ea typeface="PingFang SC"/>
              </a:rPr>
              <a:t>如果你对其中任何一层感兴趣——无论是渲染管线、音频自愈还是算杀搜索——欢迎交流。谢谢看到这里。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733425" y="4400550"/>
            <a:ext cx="10820400" cy="447675"/>
          </a:xfrm>
          <a:prstGeom prst="roundRect">
            <a:avLst>
              <a:gd name="adj" fmla="val 12766"/>
            </a:avLst>
          </a:prstGeom>
          <a:solidFill>
            <a:srgbClr val="2A2118">
              <a:alpha val="94000"/>
            </a:srgbClr>
          </a:solidFill>
          <a:ln/>
        </p:spPr>
        <p:txBody>
          <a:bodyPr/>
          <a:p/>
        </p:txBody>
      </p:sp>
      <p:sp>
        <p:nvSpPr>
          <p:cNvPr id="1019" name=""/>
          <p:cNvSpPr/>
          <p:nvPr/>
        </p:nvSpPr>
        <p:spPr>
          <a:xfrm rot="0" flipH="0" flipV="0">
            <a:off x="733425" y="4400550"/>
            <a:ext cx="10820400" cy="447675"/>
          </a:xfrm>
          <a:custGeom>
            <a:pathLst>
              <a:path w="1136" h="47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6"/>
                </a:lnTo>
                <a:cubicBezTo>
                  <a:pt x="5" y="47"/>
                  <a:pt x="5" y="47"/>
                  <a:pt x="6" y="47"/>
                </a:cubicBezTo>
                <a:cubicBezTo>
                  <a:pt x="3" y="47"/>
                  <a:pt x="0" y="44"/>
                  <a:pt x="0" y="4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923925" y="4495800"/>
            <a:ext cx="103917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5E3BE">
                    <a:alpha val="92000"/>
                  </a:srgbClr>
                </a:solidFill>
                <a:latin typeface="PingFang SC"/>
                <a:ea typeface="PingFang SC"/>
              </a:rPr>
              <a:t>把每一步都留下依据，是这个项目最想传达的东西。</a:t>
            </a:r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685800" y="63627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11049000" y="63627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2118">
                    <a:alpha val="55000"/>
                  </a:srgbClr>
                </a:solidFill>
                <a:latin typeface="PingFang SC"/>
                <a:ea typeface="PingFang SC"/>
              </a:rPr>
              <a:t>63 / 64</a:t>
            </a:r>
            <a:endParaRPr/>
          </a:p>
        </p:txBody>
      </p:sp>
    </p:spTree>
  </p:cSld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23" name="" descr="&lt;Slide style={{ width: 1280, height: 720, position: &quot;relative&quot;, padding: &quot;0px&quot;, background: &quot;#2A2118&quot;, overflow: &quot;hidden&quot; }}&gt;&#10;  &lt;Image src=&quot;assets/wood_dark_flip.jpg&quot; style={{ position: &quot;absolute&quot;, top: 0, left: 0, width: 1280, height: 720, objectFit: &quot;cover&quot; }} /&gt;&#10;  &lt;Box style={{ position: &quot;absolute&quot;, top: 0, left: 0, width: 1280, height: 720, background: &quot;linear-gradient(270deg, rgba(42,33,24,0.95) 0%, rgba(42,33,24,0.78) 46%, rgba(42,33,24,0.22) 76%, rgba(42,33,24,0.08) 100%)&quot; }} /&gt;&#10;  &lt;Box style={{ position: &quot;absolute&quot;, left: 96, top: 0, height: 720, flexDirection: &quot;column&quot;, justifyContent: &quot;center&quot;, gap: 26 }}&gt;&#10;    &lt;Box style={{ width: 46, height: 3, background: &quot;#B3271E&quot; }} /&gt;&#10;    &lt;Text style={{ fontSize: 60, fontWeight: &quot;bold&quot;, lineHeight: 1.25, color: &quot;#F5E3BE&quot;, fontFamily: &quot;'Songti SC', 'STSong', 'SimSun', serif&quot; }}&gt;棋盘上每一步都可回退，&lt;br /&gt;工程上每一个决定都要留下依据。&lt;/Text&gt;&#10;    &lt;Text style={{ fontSize: 22, color: &quot;rgba(245,227,190,0.78)&quot;, fontFamily: &quot;'PingFang SC', 'Microsoft YaHei', sans-serif&quot;, letterSpacing: 2 }}&gt;谢 谢 观 看&lt;/Text&gt;&#10;  &lt;/Box&gt;&#10;  &lt;Box style={{ position: &quot;absolute&quot;, right: 70, bottom: 54, flexDirection: &quot;row&quot;, alignItems: &quot;center&quot;, gap: 16 }}&gt;&#10;    &lt;Box style={{ flexDirection: &quot;column&quot;, gap: 4, alignItems: &quot;flex-end&quot; }}&gt;&#10;      &lt;Text style={{ fontSize: 16, color: &quot;rgba(245,227,190,0.80)&quot;, fontFamily: &quot;'PingFang SC', 'Microsoft YaHei', sans-serif&quot; }}&gt;弈趣棋苑 · 项目开发汇报&lt;/Text&gt;&#10;      &lt;Text style={{ fontSize: 14, color: &quot;rgba(245,227,190,0.48)&quot;, fontFamily: &quot;'PingFang SC', 'Microsoft YaHei', sans-serif&quot; }}&gt;个人独立开发 · 2026&lt;/Text&gt;&#10;    &lt;/Box&gt;&#10;    &lt;Box style={{ width: 46, height: 46, borderRadius: 6, background: &quot;#B3271E&quot;, justifyContent: &quot;center&quot;, alignItems: &quot;center&quot; }}&gt;&#10;      &lt;Text style={{ fontSize: 24, fontWeight: &quot;bold&quot;, color: &quot;#F5E3BE&quot;, fontFamily: &quot;'Songti SC', 'STSong', 'SimSun', serif&quot; }}&gt;弈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2A2118"/>
          </a:solidFill>
          <a:ln/>
        </p:spPr>
        <p:txBody>
          <a:bodyPr/>
          <a:p/>
        </p:txBody>
      </p:sp>
      <p:pic>
        <p:nvPicPr>
          <p:cNvPr id="1025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A2118">
                  <a:alpha val="95000"/>
                </a:srgbClr>
              </a:gs>
              <a:gs pos="46000">
                <a:srgbClr val="2A2118">
                  <a:alpha val="78000"/>
                </a:srgbClr>
              </a:gs>
              <a:gs pos="76000">
                <a:srgbClr val="2A2118">
                  <a:alpha val="22000"/>
                </a:srgbClr>
              </a:gs>
              <a:gs pos="100000">
                <a:srgbClr val="2A2118">
                  <a:alpha val="8000"/>
                </a:srgbClr>
              </a:gs>
            </a:gsLst>
            <a:lin ang="10800000" scaled="1"/>
          </a:gradFill>
          <a:ln/>
        </p:spPr>
        <p:txBody>
          <a:bodyPr/>
          <a:p/>
        </p:txBody>
      </p:sp>
      <p:sp>
        <p:nvSpPr>
          <p:cNvPr id="1027" name=""/>
          <p:cNvSpPr/>
          <p:nvPr/>
        </p:nvSpPr>
        <p:spPr>
          <a:xfrm rot="0" flipH="0" flipV="0">
            <a:off x="914400" y="2181225"/>
            <a:ext cx="438150" cy="28575"/>
          </a:xfrm>
          <a:prstGeom prst="rect">
            <a:avLst/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914400" y="2457450"/>
            <a:ext cx="8572500" cy="17145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F5E3BE"/>
                </a:solidFill>
                <a:latin typeface="Songti SC"/>
                <a:ea typeface="Songti SC"/>
              </a:rPr>
              <a:t>棋盘上每一步都可回退，</a:t>
            </a:r>
            <a:endParaRPr/>
          </a:p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F5E3BE"/>
                </a:solidFill>
                <a:latin typeface="Songti SC"/>
                <a:ea typeface="Songti SC"/>
              </a:rPr>
              <a:t>工程上每一个决定都要留下依据。</a:t>
            </a:r>
            <a:endParaRPr/>
          </a:p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914400" y="4419600"/>
            <a:ext cx="857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>谢</a:t>
            </a:r>
            <a:r>
              <a:rPr lang="en-US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 xml:space="preserve"> </a:t>
            </a:r>
            <a:r>
              <a:rPr lang="zh-CN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>谢</a:t>
            </a:r>
            <a:r>
              <a:rPr lang="en-US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 xml:space="preserve"> </a:t>
            </a:r>
            <a:r>
              <a:rPr lang="zh-CN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>观</a:t>
            </a:r>
            <a:r>
              <a:rPr lang="en-US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 xml:space="preserve"> </a:t>
            </a:r>
            <a:r>
              <a:rPr lang="zh-CN" sz="1650" spc="150">
                <a:solidFill>
                  <a:srgbClr val="F5E3BE">
                    <a:alpha val="78000"/>
                  </a:srgbClr>
                </a:solidFill>
                <a:latin typeface="PingFang SC"/>
                <a:ea typeface="PingFang SC"/>
              </a:rPr>
              <a:t>看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9277350" y="5934075"/>
            <a:ext cx="165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>弈趣棋苑</a:t>
            </a:r>
            <a:r>
              <a:rPr lang="en-US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 xml:space="preserve"> · </a:t>
            </a:r>
            <a:r>
              <a:rPr lang="zh-CN" sz="1200">
                <a:solidFill>
                  <a:srgbClr val="F5E3BE">
                    <a:alpha val="80000"/>
                  </a:srgbClr>
                </a:solidFill>
                <a:latin typeface="PingFang SC"/>
                <a:ea typeface="PingFang SC"/>
              </a:rPr>
              <a:t>项目开发汇报</a:t>
            </a:r>
            <a:endParaRPr/>
          </a:p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9705975" y="6162675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>个人独立开发</a:t>
            </a:r>
            <a:r>
              <a:rPr lang="en-US" sz="1050">
                <a:solidFill>
                  <a:srgbClr val="F5E3BE">
                    <a:alpha val="48000"/>
                  </a:srgbClr>
                </a:solidFill>
                <a:latin typeface="PingFang SC"/>
                <a:ea typeface="PingFang SC"/>
              </a:rPr>
              <a:t xml:space="preserve"> · 2026</a:t>
            </a:r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11087100" y="5905500"/>
            <a:ext cx="438150" cy="438150"/>
          </a:xfrm>
          <a:prstGeom prst="roundRect">
            <a:avLst>
              <a:gd name="adj" fmla="val 13043"/>
            </a:avLst>
          </a:prstGeom>
          <a:solidFill>
            <a:srgbClr val="B3271E"/>
          </a:solidFill>
          <a:ln/>
        </p:spPr>
        <p:txBody>
          <a:bodyPr/>
          <a:p/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11191875" y="59912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E3BE"/>
                </a:solidFill>
                <a:latin typeface="Songti SC"/>
                <a:ea typeface="Songti SC"/>
              </a:rPr>
              <a:t>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2026-10-08T11:39:27Z</dcterms:created>
  <dcterms:modified xsi:type="dcterms:W3CDTF">2026-10-08T11:39:27Z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{"AIGC":{"Label":"1","ContentProducer":"00119111010856365494821B355","ProduceID":"90a37c7e772b44fdbf96ca12df17ef3d","ReservedCode1":"","ContentPropagator":"00119111010856365494821B355","PropagateID":"90a37c7e772b44fdbf96ca12df17ef3d","ReservedCode2":""}}</vt:lpwstr>
  </property>
</Properties>
</file>