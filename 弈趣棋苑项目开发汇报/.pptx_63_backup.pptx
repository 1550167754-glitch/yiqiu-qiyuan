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svg" ContentType="image/svg+xml"/>
  <Default Extension="jpg" ContentType="image/jpeg"/>
  <Override PartName="/ppt/slides/slide29.xml" ContentType="application/vnd.openxmlformats-officedocument.presentationml.slide+xml"/>
  <Override PartName="/ppt/slides/slide9.xml" ContentType="application/vnd.openxmlformats-officedocument.presentationml.slide+xml"/>
  <Override PartName="/ppt/slides/slide58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31.xml" ContentType="application/vnd.openxmlformats-officedocument.presentationml.slide+xml"/>
  <Override PartName="/ppt/presentation.xml" ContentType="application/vnd.openxmlformats-officedocument.presentationml.presentation.main+xml"/>
  <Override PartName="/docProps/custom.xml" ContentType="application/vnd.openxmlformats-officedocument.custom-properties+xml"/>
  <Override PartName="/docProps/core.xml" ContentType="application/vnd.openxmlformats-package.core-properties+xml"/>
  <Override PartName="/ppt/slides/slide28.xml" ContentType="application/vnd.openxmlformats-officedocument.presentationml.slide+xml"/>
  <Override PartName="/ppt/slides/slide59.xml" ContentType="application/vnd.openxmlformats-officedocument.presentationml.slide+xml"/>
  <Override PartName="/ppt/slides/slide8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45.xml" ContentType="application/vnd.openxmlformats-officedocument.presentationml.slide+xml"/>
  <Override PartName="/ppt/slides/slide16.xml" ContentType="application/vnd.openxmlformats-officedocument.presentationml.slide+xml"/>
  <Override PartName="/ppt/slides/slide21.xml" ContentType="application/vnd.openxmlformats-officedocument.presentationml.slide+xml"/>
  <Override PartName="/ppt/slides/slide50.xml" ContentType="application/vnd.openxmlformats-officedocument.presentationml.slide+xml"/>
  <Override PartName="/ppt/slides/slide1.xml" ContentType="application/vnd.openxmlformats-officedocument.presentationml.slide+xml"/>
  <Override PartName="/ppt/slides/slide52.xml" ContentType="application/vnd.openxmlformats-officedocument.presentationml.slide+xml"/>
  <Override PartName="/ppt/slides/slide3.xml" ContentType="application/vnd.openxmlformats-officedocument.presentationml.slide+xml"/>
  <Override PartName="/ppt/slides/slide23.xml" ContentType="application/vnd.openxmlformats-officedocument.presentationml.slide+xml"/>
  <Override PartName="/ppt/slides/slide47.xml" ContentType="application/vnd.openxmlformats-officedocument.presentationml.slide+xml"/>
  <Override PartName="/ppt/slides/slide14.xml" ContentType="application/vnd.openxmlformats-officedocument.presentationml.slide+xml"/>
  <Override PartName="/ppt/slides/slide10.xml" ContentType="application/vnd.openxmlformats-officedocument.presentationml.slide+xml"/>
  <Override PartName="/ppt/slides/slide43.xml" ContentType="application/vnd.openxmlformats-officedocument.presentationml.slide+xml"/>
  <Override PartName="/ppt/slides/slide56.xml" ContentType="application/vnd.openxmlformats-officedocument.presentationml.slide+xml"/>
  <Override PartName="/ppt/slides/slide7.xml" ContentType="application/vnd.openxmlformats-officedocument.presentationml.slide+xml"/>
  <Override PartName="/ppt/slides/slide27.xml" ContentType="application/vnd.openxmlformats-officedocument.presentationml.slide+xml"/>
  <Override PartName="/ppt/slides/slide42.xml" ContentType="application/vnd.openxmlformats-officedocument.presentationml.slide+xml"/>
  <Override PartName="/ppt/slides/slide11.xml" ContentType="application/vnd.openxmlformats-officedocument.presentationml.slide+xml"/>
  <Override PartName="/ppt/slides/slide26.xml" ContentType="application/vnd.openxmlformats-officedocument.presentationml.slide+xml"/>
  <Override PartName="/ppt/slides/slide57.xml" ContentType="application/vnd.openxmlformats-officedocument.presentationml.slide+xml"/>
  <Override PartName="/ppt/slides/slide6.xml" ContentType="application/vnd.openxmlformats-officedocument.presentationml.slide+xml"/>
  <Override PartName="/ppt/slides/slide51.xml" ContentType="application/vnd.openxmlformats-officedocument.presentationml.slide+xml"/>
  <Override PartName="/ppt/slides/slide20.xml" ContentType="application/vnd.openxmlformats-officedocument.presentationml.slide+xml"/>
  <Override PartName="/ppt/slides/slide46.xml" ContentType="application/vnd.openxmlformats-officedocument.presentationml.slide+xml"/>
  <Override PartName="/ppt/slides/slide15.xml" ContentType="application/vnd.openxmlformats-officedocument.presentationml.slide+xml"/>
  <Override PartName="/ppt/slides/slide60.xml" ContentType="application/vnd.openxmlformats-officedocument.presentationml.slide+xml"/>
  <Override PartName="/ppt/slides/slide41.xml" ContentType="application/vnd.openxmlformats-officedocument.presentationml.slide+xml"/>
  <Override PartName="/ppt/slides/slide12.xml" ContentType="application/vnd.openxmlformats-officedocument.presentationml.slide+xml"/>
  <Override PartName="/ppt/slides/slide40.xml" ContentType="application/vnd.openxmlformats-officedocument.presentationml.slide+xml"/>
  <Override PartName="/ppt/slides/slide13.xml" ContentType="application/vnd.openxmlformats-officedocument.presentationml.slide+xml"/>
  <Override PartName="/ppt/slides/slide4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2.xml" ContentType="application/vnd.openxmlformats-officedocument.presentationml.slide+xml"/>
  <Override PartName="/ppt/slides/slide53.xml" ContentType="application/vnd.openxmlformats-officedocument.presentationml.slide+xml"/>
  <Override PartName="/ppt/slides/slide2.xml" ContentType="application/vnd.openxmlformats-officedocument.presentationml.slide+xml"/>
  <Override PartName="/ppt/slides/slide61.xml" ContentType="application/vnd.openxmlformats-officedocument.presentationml.slide+xml"/>
  <Override PartName="/ppt/slides/slide55.xml" ContentType="application/vnd.openxmlformats-officedocument.presentationml.slide+xml"/>
  <Override PartName="/ppt/slides/slide4.xml" ContentType="application/vnd.openxmlformats-officedocument.presentationml.slide+xml"/>
  <Override PartName="/ppt/slides/slide24.xml" ContentType="application/vnd.openxmlformats-officedocument.presentationml.slide+xml"/>
  <Override PartName="/ppt/slides/slide63.xml" ContentType="application/vnd.openxmlformats-officedocument.presentationml.slide+xml"/>
  <Override PartName="/ppt/slides/slide5.xml" ContentType="application/vnd.openxmlformats-officedocument.presentationml.slide+xml"/>
  <Override PartName="/ppt/slides/slide54.xml" ContentType="application/vnd.openxmlformats-officedocument.presentationml.slide+xml"/>
  <Override PartName="/ppt/slides/slide25.xml" ContentType="application/vnd.openxmlformats-officedocument.presentationml.slide+xml"/>
  <Override PartName="/ppt/tableStyles.xml" ContentType="application/vnd.openxmlformats-officedocument.presentationml.tableStyles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30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62.xml" ContentType="application/vnd.openxmlformats-officedocument.presentationml.slide+xml"/>
  <Override PartName="/ppt/slides/slide34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"1.0" encoding="UTF-8" standalone="yes"?><Relationships xmlns="http://schemas.openxmlformats.org/package/2006/relationships"><Relationship Id="rId0" Type="http://schemas.openxmlformats.org/officeDocument/2006/relationships/officeDocument" Target="ppt/presentation.xml" /><Relationship Id="rId1" Type="http://schemas.openxmlformats.org/package/2006/relationships/metadata/core-properties" Target="docProps/core.xml" /><Relationship Id="rId2" Type="http://schemas.openxmlformats.org/officeDocument/2006/relationships/extended-properties" Target="docProps/app.xml" /><Relationship Id="rId3" Type="http://schemas.openxmlformats.org/officeDocument/2006/relationships/custom-properties" Target="docProps/custom.xml" 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 firstSlideNum="1">
  <p:sldMasterIdLst>
    <p:sldMasterId id="2147483648" r:id="rId0"/>
  </p:sldMasterIdLst>
  <p:notesMasterIdLst>
    <p:notesMasterId r:id="rId64"/>
  </p:notes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  <p:sldId id="293" r:id="rId38"/>
    <p:sldId id="294" r:id="rId39"/>
    <p:sldId id="295" r:id="rId40"/>
    <p:sldId id="296" r:id="rId41"/>
    <p:sldId id="297" r:id="rId42"/>
    <p:sldId id="298" r:id="rId43"/>
    <p:sldId id="299" r:id="rId44"/>
    <p:sldId id="300" r:id="rId45"/>
    <p:sldId id="301" r:id="rId46"/>
    <p:sldId id="302" r:id="rId47"/>
    <p:sldId id="303" r:id="rId48"/>
    <p:sldId id="304" r:id="rId49"/>
    <p:sldId id="305" r:id="rId50"/>
    <p:sldId id="306" r:id="rId51"/>
    <p:sldId id="307" r:id="rId52"/>
    <p:sldId id="308" r:id="rId53"/>
    <p:sldId id="309" r:id="rId54"/>
    <p:sldId id="310" r:id="rId55"/>
    <p:sldId id="311" r:id="rId56"/>
    <p:sldId id="312" r:id="rId57"/>
    <p:sldId id="313" r:id="rId58"/>
    <p:sldId id="314" r:id="rId59"/>
    <p:sldId id="315" r:id="rId60"/>
    <p:sldId id="316" r:id="rId61"/>
    <p:sldId id="317" r:id="rId62"/>
    <p:sldId id="318" r:id="rId6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  <p:ext uri="{FD5EFAAD-0ECE-453E-9831-46B23BE46B34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a="http://schemas.openxmlformats.org/drawing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58" Type="http://schemas.openxmlformats.org/officeDocument/2006/relationships/slide" Target="slides/slide58.xml" /><Relationship Id="rId8" Type="http://schemas.openxmlformats.org/officeDocument/2006/relationships/slide" Target="slides/slide8.xml" /><Relationship Id="rId0" Type="http://schemas.openxmlformats.org/officeDocument/2006/relationships/slideMaster" Target="slideMasters/slideMaster1.xml" /><Relationship Id="rId16" Type="http://schemas.openxmlformats.org/officeDocument/2006/relationships/slide" Target="slides/slide16.xml" /><Relationship Id="rId1" Type="http://schemas.openxmlformats.org/officeDocument/2006/relationships/slide" Target="slides/slide1.xml" /><Relationship Id="rId52" Type="http://schemas.openxmlformats.org/officeDocument/2006/relationships/slide" Target="slides/slide52.xml" /><Relationship Id="rId14" Type="http://schemas.openxmlformats.org/officeDocument/2006/relationships/slide" Target="slides/slide14.xml" /><Relationship Id="rId43" Type="http://schemas.openxmlformats.org/officeDocument/2006/relationships/slide" Target="slides/slide43.xml" /><Relationship Id="rId27" Type="http://schemas.openxmlformats.org/officeDocument/2006/relationships/slide" Target="slides/slide27.xml" /><Relationship Id="rId11" Type="http://schemas.openxmlformats.org/officeDocument/2006/relationships/slide" Target="slides/slide11.xml" /><Relationship Id="rId6" Type="http://schemas.openxmlformats.org/officeDocument/2006/relationships/slide" Target="slides/slide6.xml" /><Relationship Id="rId20" Type="http://schemas.openxmlformats.org/officeDocument/2006/relationships/slide" Target="slides/slide20.xml" /><Relationship Id="rId10" Type="http://schemas.openxmlformats.org/officeDocument/2006/relationships/slide" Target="slides/slide10.xml" /><Relationship Id="rId51" Type="http://schemas.openxmlformats.org/officeDocument/2006/relationships/slide" Target="slides/slide51.xml" /><Relationship Id="rId21" Type="http://schemas.openxmlformats.org/officeDocument/2006/relationships/slide" Target="slides/slide21.xml" /><Relationship Id="rId15" Type="http://schemas.openxmlformats.org/officeDocument/2006/relationships/slide" Target="slides/slide15.xml" /><Relationship Id="rId60" Type="http://schemas.openxmlformats.org/officeDocument/2006/relationships/slide" Target="slides/slide60.xml" /><Relationship Id="rId12" Type="http://schemas.openxmlformats.org/officeDocument/2006/relationships/slide" Target="slides/slide12.xml" /><Relationship Id="rId13" Type="http://schemas.openxmlformats.org/officeDocument/2006/relationships/slide" Target="slides/slide13.xml" /><Relationship Id="rId17" Type="http://schemas.openxmlformats.org/officeDocument/2006/relationships/slide" Target="slides/slide17.xml" /><Relationship Id="rId56" Type="http://schemas.openxmlformats.org/officeDocument/2006/relationships/slide" Target="slides/slide56.xml" /><Relationship Id="rId18" Type="http://schemas.openxmlformats.org/officeDocument/2006/relationships/slide" Target="slides/slide18.xml" /><Relationship Id="rId23" Type="http://schemas.openxmlformats.org/officeDocument/2006/relationships/slide" Target="slides/slide23.xml" /><Relationship Id="rId19" Type="http://schemas.openxmlformats.org/officeDocument/2006/relationships/slide" Target="slides/slide19.xml" /><Relationship Id="rId2" Type="http://schemas.openxmlformats.org/officeDocument/2006/relationships/slide" Target="slides/slide2.xml" /><Relationship Id="rId61" Type="http://schemas.openxmlformats.org/officeDocument/2006/relationships/slide" Target="slides/slide61.xml" /><Relationship Id="rId22" Type="http://schemas.openxmlformats.org/officeDocument/2006/relationships/slide" Target="slides/slide22.xml" /><Relationship Id="rId28" Type="http://schemas.openxmlformats.org/officeDocument/2006/relationships/slide" Target="slides/slide28.xml" /><Relationship Id="rId24" Type="http://schemas.openxmlformats.org/officeDocument/2006/relationships/slide" Target="slides/slide24.xml" /><Relationship Id="rId63" Type="http://schemas.openxmlformats.org/officeDocument/2006/relationships/slide" Target="slides/slide63.xml" /><Relationship Id="rId25" Type="http://schemas.openxmlformats.org/officeDocument/2006/relationships/slide" Target="slides/slide25.xml" /><Relationship Id="rId7" Type="http://schemas.openxmlformats.org/officeDocument/2006/relationships/slide" Target="slides/slide7.xml" /><Relationship Id="rId47" Type="http://schemas.openxmlformats.org/officeDocument/2006/relationships/slide" Target="slides/slide47.xml" /><Relationship Id="rId35" Type="http://schemas.openxmlformats.org/officeDocument/2006/relationships/slide" Target="slides/slide35.xml" /><Relationship Id="rId26" Type="http://schemas.openxmlformats.org/officeDocument/2006/relationships/slide" Target="slides/slide26.xml" /><Relationship Id="rId29" Type="http://schemas.openxmlformats.org/officeDocument/2006/relationships/slide" Target="slides/slide29.xml" /><Relationship Id="rId42" Type="http://schemas.openxmlformats.org/officeDocument/2006/relationships/slide" Target="slides/slide42.xml" /><Relationship Id="rId3" Type="http://schemas.openxmlformats.org/officeDocument/2006/relationships/slide" Target="slides/slide3.xml" /><Relationship Id="rId64" Type="http://schemas.openxmlformats.org/officeDocument/2006/relationships/notesMaster" Target="notesMasters/notesMaster1.xml" /><Relationship Id="rId30" Type="http://schemas.openxmlformats.org/officeDocument/2006/relationships/slide" Target="slides/slide30.xml" /><Relationship Id="rId5" Type="http://schemas.openxmlformats.org/officeDocument/2006/relationships/slide" Target="slides/slide5.xml" /><Relationship Id="rId31" Type="http://schemas.openxmlformats.org/officeDocument/2006/relationships/slide" Target="slides/slide31.xml" /><Relationship Id="rId32" Type="http://schemas.openxmlformats.org/officeDocument/2006/relationships/slide" Target="slides/slide32.xml" /><Relationship Id="rId33" Type="http://schemas.openxmlformats.org/officeDocument/2006/relationships/slide" Target="slides/slide33.xml" /><Relationship Id="rId62" Type="http://schemas.openxmlformats.org/officeDocument/2006/relationships/slide" Target="slides/slide62.xml" /><Relationship Id="rId34" Type="http://schemas.openxmlformats.org/officeDocument/2006/relationships/slide" Target="slides/slide34.xml" /><Relationship Id="rId45" Type="http://schemas.openxmlformats.org/officeDocument/2006/relationships/slide" Target="slides/slide45.xml" /><Relationship Id="rId36" Type="http://schemas.openxmlformats.org/officeDocument/2006/relationships/slide" Target="slides/slide36.xml" /><Relationship Id="rId37" Type="http://schemas.openxmlformats.org/officeDocument/2006/relationships/slide" Target="slides/slide37.xml" /><Relationship Id="rId38" Type="http://schemas.openxmlformats.org/officeDocument/2006/relationships/slide" Target="slides/slide38.xml" /><Relationship Id="rId39" Type="http://schemas.openxmlformats.org/officeDocument/2006/relationships/slide" Target="slides/slide39.xml" /><Relationship Id="rId40" Type="http://schemas.openxmlformats.org/officeDocument/2006/relationships/slide" Target="slides/slide40.xml" /><Relationship Id="rId4" Type="http://schemas.openxmlformats.org/officeDocument/2006/relationships/slide" Target="slides/slide4.xml" /><Relationship Id="rId41" Type="http://schemas.openxmlformats.org/officeDocument/2006/relationships/slide" Target="slides/slide41.xml" /><Relationship Id="rId44" Type="http://schemas.openxmlformats.org/officeDocument/2006/relationships/slide" Target="slides/slide44.xml" /><Relationship Id="rId66" Type="http://schemas.openxmlformats.org/officeDocument/2006/relationships/tableStyles" Target="tableStyles.xml" /><Relationship Id="rId54" Type="http://schemas.openxmlformats.org/officeDocument/2006/relationships/slide" Target="slides/slide54.xml" /><Relationship Id="rId46" Type="http://schemas.openxmlformats.org/officeDocument/2006/relationships/slide" Target="slides/slide46.xml" /><Relationship Id="rId48" Type="http://schemas.openxmlformats.org/officeDocument/2006/relationships/slide" Target="slides/slide48.xml" /><Relationship Id="rId49" Type="http://schemas.openxmlformats.org/officeDocument/2006/relationships/slide" Target="slides/slide49.xml" /><Relationship Id="rId50" Type="http://schemas.openxmlformats.org/officeDocument/2006/relationships/slide" Target="slides/slide50.xml" /><Relationship Id="rId53" Type="http://schemas.openxmlformats.org/officeDocument/2006/relationships/slide" Target="slides/slide53.xml" /><Relationship Id="rId55" Type="http://schemas.openxmlformats.org/officeDocument/2006/relationships/slide" Target="slides/slide55.xml" /><Relationship Id="rId57" Type="http://schemas.openxmlformats.org/officeDocument/2006/relationships/slide" Target="slides/slide57.xml" /><Relationship Id="rId59" Type="http://schemas.openxmlformats.org/officeDocument/2006/relationships/slide" Target="slides/slide59.xml" /><Relationship Id="rId65" Type="http://schemas.openxmlformats.org/officeDocument/2006/relationships/presProps" Target="presProps.xml" /><Relationship Id="rId67" Type="http://schemas.openxmlformats.org/officeDocument/2006/relationships/viewProps" Target="viewProps.xml" /><Relationship Id="rId9" Type="http://schemas.openxmlformats.org/officeDocument/2006/relationships/slide" Target="slides/slide9.xml" /></Relationships>
</file>

<file path=ppt/notesMasters/_rels/notesMaster1.xml.rels><?xml version="1.0" encoding="UTF-8" standalone="yes"?><Relationships xmlns="http://schemas.openxmlformats.org/package/2006/relationships"><Relationship Id="rId0" Type="http://schemas.openxmlformats.org/officeDocument/2006/relationships/theme" Target="../theme/theme2.xml" /></Relationships>
</file>

<file path=ppt/notesMasters/notesMaster1.xml><?xml version="1.0" encoding="utf-8"?>
<p:notesMaster xmlns:p="http://schemas.openxmlformats.org/presentationml/2006/main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p="http://schemas.openxmlformats.org/presentationml/2006/main" xmlns:a="http://schemas.openxmlformats.org/drawing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theme" Target="../theme/theme1.xml" 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</p:sldLayoutIdLst>
  <p:hf sldNum="0" hdr="0" ftr="0" dt="0"/>
  <p:txStyles>
    <p:titleStyle>
      <a:lvl1pPr algn="ctr" defTabSz="914400" rtl="0" eaLnBrk="1" latinLnBrk="0" hangingPunct="1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1.jpg" /><Relationship Id="rId2" Type="http://schemas.openxmlformats.org/officeDocument/2006/relationships/image" Target="media/image2.svg" /></Relationships>
</file>

<file path=ppt/slides/_rels/slide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5.jpg" /></Relationships>
</file>

<file path=ppt/slides/_rels/slide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9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5.jpg" 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image" Target="media/image3.png" /><Relationship Id="rId0" Type="http://schemas.openxmlformats.org/officeDocument/2006/relationships/slideLayout" Target="../slideLayouts/slideLayout1.xml" /></Relationships>
</file>

<file path=ppt/slides/_rels/slide1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3.png" /></Relationships>
</file>

<file path=ppt/slides/_rels/slide1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4.png" /></Relationships>
</file>

<file path=ppt/slides/_rels/slide1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5.jpg" /></Relationships>
</file>

<file path=ppt/slides/_rels/slide1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6.svg" /></Relationships>
</file>

<file path=ppt/slides/_rels/slide1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7.svg" /></Relationships>
</file>

<file path=ppt/slides/_rels/slide1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9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8.svg" /></Relationships>
</file>

<file path=ppt/slides/_rels/slide20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2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9.svg" /></Relationships>
</file>

<file path=ppt/slides/_rels/slide2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2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10.svg" /></Relationships>
</file>

<file path=ppt/slides/_rels/slide2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2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11.svg" /></Relationships>
</file>

<file path=ppt/slides/_rels/slide2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2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5.jpg" /></Relationships>
</file>

<file path=ppt/slides/_rels/slide2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29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30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3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3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3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3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3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3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5.jpg" /></Relationships>
</file>

<file path=ppt/slides/_rels/slide3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3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39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12.svg" /></Relationships>
</file>

<file path=ppt/slides/_rels/slide40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4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42.xml.rels><?xml version="1.0" encoding="UTF-8" standalone="yes"?><Relationships xmlns="http://schemas.openxmlformats.org/package/2006/relationships"><Relationship Id="rId1" Type="http://schemas.openxmlformats.org/officeDocument/2006/relationships/image" Target="media/image5.jpg" /><Relationship Id="rId0" Type="http://schemas.openxmlformats.org/officeDocument/2006/relationships/slideLayout" Target="../slideLayouts/slideLayout1.xml" /></Relationships>
</file>

<file path=ppt/slides/_rels/slide4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4.png" /></Relationships>
</file>

<file path=ppt/slides/_rels/slide4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3.png" /></Relationships>
</file>

<file path=ppt/slides/_rels/slide4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13.png" /></Relationships>
</file>

<file path=ppt/slides/_rels/slide4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14.png" /></Relationships>
</file>

<file path=ppt/slides/_rels/slide4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15.png" /></Relationships>
</file>

<file path=ppt/slides/_rels/slide48.xml.rels><?xml version="1.0" encoding="UTF-8" standalone="yes"?><Relationships xmlns="http://schemas.openxmlformats.org/package/2006/relationships"><Relationship Id="rId1" Type="http://schemas.openxmlformats.org/officeDocument/2006/relationships/image" Target="media/image3.png" /><Relationship Id="rId0" Type="http://schemas.openxmlformats.org/officeDocument/2006/relationships/slideLayout" Target="../slideLayouts/slideLayout1.xml" /></Relationships>
</file>

<file path=ppt/slides/_rels/slide49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13.png" /></Relationships>
</file>

<file path=ppt/slides/_rels/slide50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5.jpg" /></Relationships>
</file>

<file path=ppt/slides/_rels/slide5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5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14.png" /><Relationship Id="rId2" Type="http://schemas.openxmlformats.org/officeDocument/2006/relationships/image" Target="media/image13.png" /><Relationship Id="rId3" Type="http://schemas.openxmlformats.org/officeDocument/2006/relationships/image" Target="media/image3.png" /></Relationships>
</file>

<file path=ppt/slides/_rels/slide5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5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5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5.jpg" /></Relationships>
</file>

<file path=ppt/slides/_rels/slide5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5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5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59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60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6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6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6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16.jpg" /></Relationships>
</file>

<file path=ppt/slides/slide1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1" name="" descr="&lt;Slide style={{ width: 1280, height: 720, position: &quot;relative&quot;, padding: &quot;0px&quot;, background: &quot;#2A2118&quot;, overflow: &quot;hidden&quot; }}&gt;&#10;  &lt;Image src=&quot;assets/wood_dark.jpg&quot; style={{ position: &quot;absolute&quot;, top: 0, left: 0, width: 1280, height: 720, objectFit: &quot;cover&quot; }} /&gt;&#10;  &lt;Box style={{ position: &quot;absolute&quot;, top: 0, left: 0, width: 1280, height: 720, background: &quot;linear-gradient(90deg, rgba(42,33,24,0.95) 0%, rgba(42,33,24,0.80) 42%, rgba(42,33,24,0.34) 72%, rgba(42,33,24,0.10) 100%)&quot; }} /&gt;&#10;  &lt;svg width=&quot;360&quot; height=&quot;360&quot; viewBox=&quot;0 0 360 360&quot; style={{ position: &quot;absolute&quot;, right: 54, bottom: 46 }} opacity=&quot;0.20&quot;&gt;&#10;    &lt;g stroke=&quot;#F5E3BE&quot; strokeWidth=&quot;1&quot; fill=&quot;none&quot;&gt;&#10;      &lt;line x1=&quot;40&quot; y1=&quot;0&quot; x2=&quot;40&quot; y2=&quot;360&quot; /&gt;&lt;line x1=&quot;120&quot; y1=&quot;0&quot; x2=&quot;120&quot; y2=&quot;360&quot; /&gt;&lt;line x1=&quot;200&quot; y1=&quot;0&quot; x2=&quot;200&quot; y2=&quot;360&quot; /&gt;&lt;line x1=&quot;280&quot; y1=&quot;0&quot; x2=&quot;280&quot; y2=&quot;360&quot; /&gt;&lt;line x1=&quot;360&quot; y1=&quot;0&quot; x2=&quot;360&quot; y2=&quot;360&quot; /&gt;&#10;      &lt;line x1=&quot;0&quot; y1=&quot;40&quot; x2=&quot;360&quot; y2=&quot;40&quot; /&gt;&lt;line x1=&quot;0&quot; y1=&quot;120&quot; x2=&quot;360&quot; y2=&quot;120&quot; /&gt;&lt;line x1=&quot;0&quot; y1=&quot;200&quot; x2=&quot;360&quot; y2=&quot;200&quot; /&gt;&lt;line x1=&quot;0&quot; y1=&quot;280&quot; x2=&quot;360&quot; y2=&quot;280&quot; /&gt;&lt;line x1=&quot;0&quot; y1=&quot;360&quot; x2=&quot;360&quot; y2=&quot;360&quot; /&gt;&#10;    &lt;/g&gt;&#10;    &lt;circle cx=&quot;200&quot; cy=&quot;200&quot; r=&quot;13&quot; fill=&quot;#B3271E&quot; opacity=&quot;0.85&quot; /&gt;&lt;circle cx=&quot;120&quot; cy=&quot;120&quot; r=&quot;13&quot; fill=&quot;#F5E3BE&quot; opacity=&quot;0.75&quot; /&gt;&lt;circle cx=&quot;280&quot; cy=&quot;280&quot; r=&quot;13&quot; fill=&quot;#F5E3BE&quot; opacity=&quot;0.55&quot; /&gt;&#10;  &lt;/svg&gt;&#10;  &lt;Box style={{ position: &quot;relative&quot;, zIndex: 2, width: 1280, height: 720, padding: &quot;0px 0px 0px 96px&quot;, flexDirection: &quot;column&quot;, justifyContent: &quot;center&quot; }}&gt;&#10;    &lt;Box style={{ flexDirection: &quot;row&quot;, alignItems: &quot;center&quot;, gap: 14, marginBottom: 26 }}&gt;&#10;      &lt;Box style={{ width: 46, height: 3, background: &quot;#B3271E&quot; }} /&gt;&#10;      &lt;Text style={{ fontSize: 19, color: &quot;rgba(245,227,190,0.72)&quot;, fontFamily: &quot;'PingFang SC', 'Microsoft YaHei', sans-serif&quot;, letterSpacing: 3 }}&gt;个人独立开发 · 项目开发汇报&lt;/Text&gt;&#10;    &lt;/Box&gt;&#10;    &lt;Text style={{ fontSize: 74, fontWeight: &quot;bold&quot;, lineHeight: 1.15, color: &quot;#F5E3BE&quot;, fontFamily: &quot;'Songti SC', 'STSong', 'SimSun', serif&quot;, letterSpacing: 8 }}&gt;弈趣棋苑&lt;/Text&gt;&#10;    &lt;Text style={{ fontSize: 24, color: &quot;rgba(245,227,190,0.86)&quot;, fontFamily: &quot;'PingFang SC', 'Microsoft YaHei', sans-serif&quot;, letterSpacing: 2, marginTop: 20 }}&gt;Connect6 · Gomoku · 中国象棋&lt;/Text&gt;&#10;    &lt;Text style={{ fontSize: 21, lineHeight: 1.7, color: &quot;rgba(245,227,190,0.62)&quot;, fontFamily: &quot;'PingFang SC', 'Microsoft YaHei', sans-serif&quot;, marginTop: 34, width: 640 }}&gt;&#10;      一份从「能跑」走到「可交付」的棋类合集开发纪实——把每一个决定拆开讲清楚：为什么这么画、为什么这么响、为什么这么搜。&lt;/Text&gt;&#10;  &lt;/Box&gt;&#10;  &lt;Box style={{ position: &quot;absolute&quot;, left: 96, bottom: 54, flexDirection: &quot;row&quot;, alignItems: &quot;center&quot;, gap: 16 }}&gt;&#10;    &lt;Box style={{ width: 46, height: 46, borderRadius: 6, background: &quot;#B3271E&quot;, justifyContent: &quot;center&quot;, alignItems: &quot;center&quot; }}&gt;&#10;      &lt;Text style={{ fontSize: 24, fontWeight: &quot;bold&quot;, color: &quot;#F5E3BE&quot;, fontFamily: &quot;'Songti SC', 'STSong', 'SimSun', serif&quot; }}&gt;弈&lt;/Text&gt;&#10;    &lt;/Box&gt;&#10;    &lt;Box style={{ flexDirection: &quot;column&quot;, gap: 4 }}&gt;&#10;      &lt;Text style={{ fontSize: 16, color: &quot;rgba(245,227,190,0.80)&quot;, fontFamily: &quot;'PingFang SC', 'Microsoft YaHei', sans-serif&quot; }}&gt;弈趣棋苑 · 项目开发汇报&lt;/Text&gt;&#10;      &lt;Text style={{ fontSize: 14, color: &quot;rgba(245,227,190,0.48)&quot;, fontFamily: &quot;'PingFang SC', 'Microsoft YaHei', sans-serif&quot; }}&gt;个人独立开发 · 20+ 模块 · 64 页&lt;/Text&gt;&#10;    &lt;/Box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2A2118"/>
          </a:solidFill>
          <a:ln/>
        </p:spPr>
        <p:txBody>
          <a:bodyPr/>
          <a:p/>
        </p:txBody>
      </p:sp>
      <p:pic>
        <p:nvPicPr>
          <p:cNvPr id="3" name="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  <p:sp>
        <p:nvSpPr>
          <p:cNvPr id="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2A2118">
                  <a:alpha val="95000"/>
                </a:srgbClr>
              </a:gs>
              <a:gs pos="42000">
                <a:srgbClr val="2A2118">
                  <a:alpha val="80000"/>
                </a:srgbClr>
              </a:gs>
              <a:gs pos="72000">
                <a:srgbClr val="2A2118">
                  <a:alpha val="34000"/>
                </a:srgbClr>
              </a:gs>
              <a:gs pos="100000">
                <a:srgbClr val="2A2118">
                  <a:alpha val="10000"/>
                </a:srgbClr>
              </a:gs>
            </a:gsLst>
            <a:lin ang="0" scaled="1"/>
          </a:gradFill>
          <a:ln/>
        </p:spPr>
        <p:txBody>
          <a:bodyPr/>
          <a:p/>
        </p:txBody>
      </p:sp>
      <p:pic>
        <p:nvPicPr>
          <p:cNvPr id="5" name=""/>
          <p:cNvPicPr>
            <a:picLocks noChangeAspect="1"/>
          </p:cNvPicPr>
          <p:nvPr/>
        </p:nvPicPr>
        <p:blipFill>
          <a:blip>
            <a:alphaModFix amt="20000"/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8248650" y="2990850"/>
            <a:ext cx="3429000" cy="3429000"/>
          </a:xfrm>
          <a:prstGeom prst="rect">
            <a:avLst/>
          </a:prstGeom>
          <a:ln/>
        </p:spPr>
      </p:pic>
      <p:sp>
        <p:nvSpPr>
          <p:cNvPr id="6" name=""/>
          <p:cNvSpPr/>
          <p:nvPr/>
        </p:nvSpPr>
        <p:spPr>
          <a:xfrm rot="0" flipH="0" flipV="0">
            <a:off x="914400" y="5905500"/>
            <a:ext cx="438150" cy="438150"/>
          </a:xfrm>
          <a:prstGeom prst="roundRect">
            <a:avLst>
              <a:gd name="adj" fmla="val 13043"/>
            </a:avLst>
          </a:prstGeom>
          <a:solidFill>
            <a:srgbClr val="B3271E"/>
          </a:solidFill>
          <a:ln/>
        </p:spPr>
        <p:txBody>
          <a:bodyPr/>
          <a:p/>
        </p:txBody>
      </p:sp>
      <p:sp>
        <p:nvSpPr>
          <p:cNvPr id="7" name="" descr="{&quot;isTemplate&quot;:true,&quot;type&quot;:&quot;text&quot;}"/>
          <p:cNvSpPr txBox="1"/>
          <p:nvPr/>
        </p:nvSpPr>
        <p:spPr>
          <a:xfrm rot="0" flipH="0" flipV="0">
            <a:off x="1019175" y="5991225"/>
            <a:ext cx="2286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F5E3BE"/>
                </a:solidFill>
                <a:latin typeface="Songti SC"/>
                <a:ea typeface="Songti SC"/>
              </a:rPr>
              <a:t>弈</a:t>
            </a:r>
            <a:endParaRPr/>
          </a:p>
        </p:txBody>
      </p:sp>
      <p:sp>
        <p:nvSpPr>
          <p:cNvPr id="8" name="" descr="{&quot;isTemplate&quot;:true,&quot;type&quot;:&quot;text&quot;}"/>
          <p:cNvSpPr txBox="1"/>
          <p:nvPr/>
        </p:nvSpPr>
        <p:spPr>
          <a:xfrm rot="0" flipH="0" flipV="0">
            <a:off x="1504950" y="5934075"/>
            <a:ext cx="19145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F5E3BE">
                    <a:alpha val="80000"/>
                  </a:srgbClr>
                </a:solidFill>
                <a:latin typeface="PingFang SC"/>
                <a:ea typeface="PingFang SC"/>
              </a:rPr>
              <a:t>弈趣棋苑</a:t>
            </a:r>
            <a:r>
              <a:rPr lang="en-US" sz="1200">
                <a:solidFill>
                  <a:srgbClr val="F5E3BE">
                    <a:alpha val="80000"/>
                  </a:srgbClr>
                </a:solidFill>
                <a:latin typeface="PingFang SC"/>
                <a:ea typeface="PingFang SC"/>
              </a:rPr>
              <a:t xml:space="preserve"> · </a:t>
            </a:r>
            <a:r>
              <a:rPr lang="zh-CN" sz="1200">
                <a:solidFill>
                  <a:srgbClr val="F5E3BE">
                    <a:alpha val="80000"/>
                  </a:srgbClr>
                </a:solidFill>
                <a:latin typeface="PingFang SC"/>
                <a:ea typeface="PingFang SC"/>
              </a:rPr>
              <a:t>项目开发汇报</a:t>
            </a:r>
            <a:endParaRPr/>
          </a:p>
        </p:txBody>
      </p:sp>
      <p:sp>
        <p:nvSpPr>
          <p:cNvPr id="9" name="" descr="{&quot;isTemplate&quot;:true,&quot;type&quot;:&quot;text&quot;}"/>
          <p:cNvSpPr txBox="1"/>
          <p:nvPr/>
        </p:nvSpPr>
        <p:spPr>
          <a:xfrm rot="0" flipH="0" flipV="0">
            <a:off x="1504950" y="6162675"/>
            <a:ext cx="19145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F5E3BE">
                    <a:alpha val="48000"/>
                  </a:srgbClr>
                </a:solidFill>
                <a:latin typeface="PingFang SC"/>
                <a:ea typeface="PingFang SC"/>
              </a:rPr>
              <a:t>个人独立开发</a:t>
            </a:r>
            <a:r>
              <a:rPr lang="en-US" sz="1050">
                <a:solidFill>
                  <a:srgbClr val="F5E3BE">
                    <a:alpha val="48000"/>
                  </a:srgbClr>
                </a:solidFill>
                <a:latin typeface="PingFang SC"/>
                <a:ea typeface="PingFang SC"/>
              </a:rPr>
              <a:t xml:space="preserve"> · 20+ </a:t>
            </a:r>
            <a:r>
              <a:rPr lang="zh-CN" sz="1050">
                <a:solidFill>
                  <a:srgbClr val="F5E3BE">
                    <a:alpha val="48000"/>
                  </a:srgbClr>
                </a:solidFill>
                <a:latin typeface="PingFang SC"/>
                <a:ea typeface="PingFang SC"/>
              </a:rPr>
              <a:t>模块</a:t>
            </a:r>
            <a:r>
              <a:rPr lang="en-US" sz="1050">
                <a:solidFill>
                  <a:srgbClr val="F5E3BE">
                    <a:alpha val="48000"/>
                  </a:srgbClr>
                </a:solidFill>
                <a:latin typeface="PingFang SC"/>
                <a:ea typeface="PingFang SC"/>
              </a:rPr>
              <a:t xml:space="preserve"> · 64 </a:t>
            </a:r>
            <a:r>
              <a:rPr lang="zh-CN" sz="1050">
                <a:solidFill>
                  <a:srgbClr val="F5E3BE">
                    <a:alpha val="48000"/>
                  </a:srgbClr>
                </a:solidFill>
                <a:latin typeface="PingFang SC"/>
                <a:ea typeface="PingFang SC"/>
              </a:rPr>
              <a:t>页</a:t>
            </a:r>
            <a:endParaRPr/>
          </a:p>
        </p:txBody>
      </p:sp>
      <p:sp>
        <p:nvSpPr>
          <p:cNvPr id="10" name=""/>
          <p:cNvSpPr/>
          <p:nvPr/>
        </p:nvSpPr>
        <p:spPr>
          <a:xfrm rot="0" flipH="0" flipV="0">
            <a:off x="914400" y="2000250"/>
            <a:ext cx="438150" cy="28575"/>
          </a:xfrm>
          <a:prstGeom prst="rect">
            <a:avLst/>
          </a:prstGeom>
          <a:solidFill>
            <a:srgbClr val="B3271E"/>
          </a:solidFill>
          <a:ln/>
        </p:spPr>
        <p:txBody>
          <a:bodyPr/>
          <a:p/>
        </p:txBody>
      </p:sp>
      <p:sp>
        <p:nvSpPr>
          <p:cNvPr id="11" name="" descr="{&quot;isTemplate&quot;:true,&quot;type&quot;:&quot;text&quot;}"/>
          <p:cNvSpPr txBox="1"/>
          <p:nvPr/>
        </p:nvSpPr>
        <p:spPr>
          <a:xfrm rot="0" flipH="0" flipV="0">
            <a:off x="1485900" y="1905000"/>
            <a:ext cx="275272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spc="225">
                <a:solidFill>
                  <a:srgbClr val="F5E3BE">
                    <a:alpha val="72000"/>
                  </a:srgbClr>
                </a:solidFill>
                <a:latin typeface="PingFang SC"/>
                <a:ea typeface="PingFang SC"/>
              </a:rPr>
              <a:t>个人独立开发</a:t>
            </a:r>
            <a:r>
              <a:rPr lang="en-US" sz="1425" spc="225">
                <a:solidFill>
                  <a:srgbClr val="F5E3BE">
                    <a:alpha val="72000"/>
                  </a:srgbClr>
                </a:solidFill>
                <a:latin typeface="PingFang SC"/>
                <a:ea typeface="PingFang SC"/>
              </a:rPr>
              <a:t xml:space="preserve"> · </a:t>
            </a:r>
            <a:r>
              <a:rPr lang="zh-CN" sz="1425" spc="225">
                <a:solidFill>
                  <a:srgbClr val="F5E3BE">
                    <a:alpha val="72000"/>
                  </a:srgbClr>
                </a:solidFill>
                <a:latin typeface="PingFang SC"/>
                <a:ea typeface="PingFang SC"/>
              </a:rPr>
              <a:t>项目开发汇报</a:t>
            </a:r>
            <a:endParaRPr/>
          </a:p>
        </p:txBody>
      </p:sp>
      <p:sp>
        <p:nvSpPr>
          <p:cNvPr id="12" name="" descr="{&quot;isTemplate&quot;:true,&quot;type&quot;:&quot;text&quot;}"/>
          <p:cNvSpPr txBox="1"/>
          <p:nvPr/>
        </p:nvSpPr>
        <p:spPr>
          <a:xfrm rot="0" flipH="0" flipV="0">
            <a:off x="914400" y="2371725"/>
            <a:ext cx="11277600" cy="981075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zh-CN" sz="5550" b="1" spc="600">
                <a:solidFill>
                  <a:srgbClr val="F5E3BE"/>
                </a:solidFill>
                <a:latin typeface="Songti SC"/>
                <a:ea typeface="Songti SC"/>
              </a:rPr>
              <a:t>弈趣棋苑</a:t>
            </a:r>
            <a:endParaRPr/>
          </a:p>
        </p:txBody>
      </p:sp>
      <p:sp>
        <p:nvSpPr>
          <p:cNvPr id="13" name="" descr="{&quot;isTemplate&quot;:true,&quot;type&quot;:&quot;text&quot;}"/>
          <p:cNvSpPr txBox="1"/>
          <p:nvPr/>
        </p:nvSpPr>
        <p:spPr>
          <a:xfrm rot="0" flipH="0" flipV="0">
            <a:off x="914400" y="3543300"/>
            <a:ext cx="112776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spc="150">
                <a:solidFill>
                  <a:srgbClr val="F5E3BE">
                    <a:alpha val="86000"/>
                  </a:srgbClr>
                </a:solidFill>
                <a:latin typeface="PingFang SC"/>
                <a:ea typeface="PingFang SC"/>
              </a:rPr>
              <a:t xml:space="preserve">Connect6 · Gomoku · </a:t>
            </a:r>
            <a:r>
              <a:rPr lang="zh-CN" sz="1800" spc="150">
                <a:solidFill>
                  <a:srgbClr val="F5E3BE">
                    <a:alpha val="86000"/>
                  </a:srgbClr>
                </a:solidFill>
                <a:latin typeface="PingFang SC"/>
                <a:ea typeface="PingFang SC"/>
              </a:rPr>
              <a:t>中国象棋</a:t>
            </a:r>
            <a:endParaRPr/>
          </a:p>
        </p:txBody>
      </p:sp>
      <p:sp>
        <p:nvSpPr>
          <p:cNvPr id="14" name="" descr="{&quot;isTemplate&quot;:true,&quot;type&quot;:&quot;text&quot;}"/>
          <p:cNvSpPr txBox="1"/>
          <p:nvPr/>
        </p:nvSpPr>
        <p:spPr>
          <a:xfrm rot="0" flipH="0" flipV="0">
            <a:off x="914400" y="4143375"/>
            <a:ext cx="6096000" cy="8191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575">
                <a:solidFill>
                  <a:srgbClr val="F5E3BE">
                    <a:alpha val="62000"/>
                  </a:srgbClr>
                </a:solidFill>
                <a:latin typeface="PingFang SC"/>
                <a:ea typeface="PingFang SC"/>
              </a:rPr>
              <a:t>一份从「能跑」走到「可交付」的棋类合集开发纪实——把每一个决定拆开讲清楚：为什么这么画、为什么这么响、为什么这么搜。</a:t>
            </a:r>
            <a:endParaRPr/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29" name="" descr="&lt;Slide style={{ width: 1280, height: 720, padding: &quot;20px 72px&quot;, background: &quot;#F5E3BE&quot;, flexDirection: &quot;column&quot; }}&gt;&#10;  &lt;Box style={{ width: &quot;100%&quot;, height: 96, flexDirection: &quot;column&quot;, justifyContent: &quot;center&quot; }}&gt;&#10;    &lt;Text style={{ fontSize: 34, fontWeight: &quot;bold&quot;, color: &quot;#2A2118&quot;, fontFamily: &quot;'Songti SC', 'STSong', 'SimSun', serif&quot; }}&gt;目录 / CONTENTS&lt;/Text&gt;&#10;    &lt;Box style={{ width: 56, height: 2, background: &quot;#B3271E&quot;, marginTop: 10 }} /&gt;&#10;  &lt;/Box&gt;&#10;  &lt;Box style={{ width: &quot;100%&quot;, height: 516, flexDirection: &quot;row&quot;, gap: 24 }}&gt;  &lt;Box style={{ width: 340, height: &quot;100%&quot;, background: &quot;#2A2118&quot;, borderRadius: 10, padding: &quot;40px 32px&quot;, flexDirection: &quot;column&quot;, justifyContent: &quot;center&quot;, gap: 8 }}&gt;&#10;    &lt;Text style={{ fontSize: 40, fontWeight: &quot;bold&quot;, color: &quot;#F5E3BE&quot;, fontFamily: &quot;'Songti SC', 'STSong', 'SimSun', serif&quot; }}&gt;目录&lt;/Text&gt;&#10;    &lt;Text style={{ fontSize: 15, color: &quot;rgba(245,227,190,0.6)&quot;, fontFamily: &quot;'PingFang SC', 'Microsoft YaHei', sans-serif&quot;, letterSpacing: 4 }}&gt;CONTENTS&lt;/Text&gt;&#10;    &lt;Box style={{ width: 52, height: 3, background: &quot;#B3271E&quot;, marginTop: 6 }} /&gt;&#10;  &lt;/Box&gt;&#10;  &lt;Box style={{ flex: 1, height: &quot;100%&quot;, flexDirection: &quot;column&quot;, justifyContent: &quot;center&quot;, gap: 11, paddingLeft: 40 }}&gt;&#10;    &lt;Box style={{ flexDirection: &quot;row&quot;, alignItems: &quot;baseline&quot;, gap: 16 }}&gt;&#10;      &lt;Text style={{ fontSize: 22, fontWeight: &quot;bold&quot;, color: &quot;#B3271E&quot;, fontFamily: &quot;'Songti SC', 'STSong', 'SimSun', serif&quot;, width: 34 }}&gt;01&lt;/Text&gt;&#10;      &lt;Text style={{ fontSize: 20, fontWeight: &quot;bold&quot;, color: &quot;#2A2118&quot;, fontFamily: &quot;'Songti SC', 'STSong', 'SimSun', serif&quot;, width: 150 }}&gt;项目概述&lt;/Text&gt;&#10;      &lt;Text style={{ fontSize: 14, color: &quot;rgba(42,33,24,0.6)&quot;, fontFamily: &quot;'PingFang SC', 'Microsoft YaHei', sans-serif&quot; }}&gt;先讲清楚这到底是个什么东西&lt;/Text&gt;&#10;    &lt;/Box&gt;    &lt;Box style={{ flexDirection: &quot;row&quot;, alignItems: &quot;baseline&quot;, gap: 16 }}&gt;&#10;      &lt;Text style={{ fontSize: 22, fontWeight: &quot;bold&quot;, color: &quot;#B3271E&quot;, fontFamily: &quot;'Songti SC', 'STSong', 'SimSun', serif&quot;, width: 34 }}&gt;02&lt;/Text&gt;&#10;      &lt;Text style={{ fontSize: 20, fontWeight: &quot;bold&quot;, color: &quot;#2A2118&quot;, fontFamily: &quot;'Songti SC', 'STSong', 'SimSun', serif&quot;, width: 150 }}&gt;核心功能&lt;/Text&gt;&#10;      &lt;Text style={{ fontSize: 14, color: &quot;rgba(42,33,24,0.6)&quot;, fontFamily: &quot;'PingFang SC', 'Microsoft YaHei', sans-serif&quot; }}&gt;一场对局要同时成立哪些事&lt;/Text&gt;&#10;    &lt;/Box&gt;    &lt;Box style={{ flexDirection: &quot;row&quot;, alignItems: &quot;baseline&quot;, gap: 16 }}&gt;&#10;      &lt;Text style={{ fontSize: 22, fontWeight: &quot;bold&quot;, color: &quot;#B3271E&quot;, fontFamily: &quot;'Songti SC', 'STSong', 'SimSun', serif&quot;, width: 34 }}&gt;03&lt;/Text&gt;&#10;      &lt;Text style={{ fontSize: 20, fontWeight: &quot;bold&quot;, color: &quot;#2A2118&quot;, fontFamily: &quot;'Songti SC', 'STSong', 'SimSun', serif&quot;, width: 150 }}&gt;技术架构&lt;/Text&gt;&#10;      &lt;Text style={{ fontSize: 14, color: &quot;rgba(42,33,24,0.6)&quot;, fontFamily: &quot;'PingFang SC', 'Microsoft YaHei', sans-serif&quot; }}&gt;渲染·音频·AI 三条主线的原理&lt;/Text&gt;&#10;    &lt;/Box&gt;    &lt;Box style={{ flexDirection: &quot;row&quot;, alignItems: &quot;baseline&quot;, gap: 16 }}&gt;&#10;      &lt;Text style={{ fontSize: 22, fontWeight: &quot;bold&quot;, color: &quot;#B3271E&quot;, fontFamily: &quot;'Songti SC', 'STSong', 'SimSun', serif&quot;, width: 34 }}&gt;04&lt;/Text&gt;&#10;      &lt;Text style={{ fontSize: 20, fontWeight: &quot;bold&quot;, color: &quot;#2A2118&quot;, fontFamily: &quot;'Songti SC', 'STSong', 'SimSun', serif&quot;, width: 150 }}&gt;开发流程&lt;/Text&gt;&#10;      &lt;Text style={{ fontSize: 14, color: &quot;rgba(42,33,24,0.6)&quot;, fontFamily: &quot;'PingFang SC', 'Microsoft YaHei', sans-serif&quot; }}&gt;五轮迭代，每轮都是完整闭环&lt;/Text&gt;&#10;    &lt;/Box&gt;    &lt;Box style={{ flexDirection: &quot;row&quot;, alignItems: &quot;baseline&quot;, gap: 16 }}&gt;&#10;      &lt;Text style={{ fontSize: 22, fontWeight: &quot;bold&quot;, color: &quot;#B3271E&quot;, fontFamily: &quot;'Songti SC', 'STSong', 'SimSun', serif&quot;, width: 34 }}&gt;05&lt;/Text&gt;&#10;      &lt;Text style={{ fontSize: 20, fontWeight: &quot;bold&quot;, color: &quot;#2A2118&quot;, fontFamily: &quot;'Songti SC', 'STSong', 'SimSun', serif&quot;, width: 150 }}&gt;难点与解法&lt;/Text&gt;&#10;      &lt;Text style={{ fontSize: 14, color: &quot;rgba(42,33,24,0.6)&quot;, fontFamily: &quot;'PingFang SC', 'Microsoft YaHei', sans-serif&quot; }}&gt;把「看起来不对」变成可定位的根因&lt;/Text&gt;&#10;    &lt;/Box&gt;    &lt;Box style={{ flexDirection: &quot;row&quot;, alignItems: &quot;baseline&quot;, gap: 16 }}&gt;&#10;      &lt;Text style={{ fontSize: 22, fontWeight: &quot;bold&quot;, color: &quot;#B3271E&quot;, fontFamily: &quot;'Songti SC', 'STSong', 'SimSun', serif&quot;, width: 34 }}&gt;06&lt;/Text&gt;&#10;      &lt;Text style={{ fontSize: 20, fontWeight: &quot;bold&quot;, color: &quot;#2A2118&quot;, fontFamily: &quot;'Songti SC', 'STSong', 'SimSun', serif&quot;, width: 150 }}&gt;功能演示&lt;/Text&gt;&#10;      &lt;Text style={{ fontSize: 14, color: &quot;rgba(42,33,24,0.6)&quot;, fontFamily: &quot;'PingFang SC', 'Microsoft YaHei', sans-serif&quot; }}&gt;七步走通一局真实对弈&lt;/Text&gt;&#10;    &lt;/Box&gt;    &lt;Box style={{ flexDirection: &quot;row&quot;, alignItems: &quot;baseline&quot;, gap: 16 }}&gt;&#10;      &lt;Text style={{ fontSize: 22, fontWeight: &quot;bold&quot;, color: &quot;#B3271E&quot;, fontFamily: &quot;'Songti SC', 'STSong', 'SimSun', serif&quot;, width: 34 }}&gt;07&lt;/Text&gt;&#10;      &lt;Text style={{ fontSize: 20, fontWeight: &quot;bold&quot;, color: &quot;#2A2118&quot;, fontFamily: &quot;'Songti SC', 'STSong', 'SimSun', serif&quot;, width: 150 }}&gt;成果展示&lt;/Text&gt;&#10;      &lt;Text style={{ fontSize: 14, color: &quot;rgba(42,33,24,0.6)&quot;, fontFamily: &quot;'PingFang SC', 'Microsoft YaHei', sans-serif&quot; }}&gt;13 项改动，13 项验证&lt;/Text&gt;&#10;    &lt;/Box&gt;    &lt;Box style={{ flexDirection: &quot;row&quot;, alignItems: &quot;baseline&quot;, gap: 16 }}&gt;&#10;      &lt;Text style={{ fontSize: 22, fontWeight: &quot;bold&quot;, color: &quot;#B3271E&quot;, fontFamily: &quot;'Songti SC', 'STSong', 'SimSun', serif&quot;, width: 34 }}&gt;08&lt;/Text&gt;&#10;      &lt;Text style={{ fontSize: 20, fontWeight: &quot;bold&quot;, color: &quot;#2A2118&quot;, fontFamily: &quot;'Songti SC', 'STSong', 'SimSun', serif&quot;, width: 150 }}&gt;未来规划&lt;/Text&gt;&#10;      &lt;Text style={{ fontSize: 14, color: &quot;rgba(42,33,24,0.6)&quot;, fontFamily: &quot;'PingFang SC', 'Microsoft YaHei', sans-serif&quot; }}&gt;从可交付，走向可发布&lt;/Text&gt;&#10;    &lt;/Box&gt;  &lt;/Box&gt;  &lt;/Box&gt;&#10;  &lt;Box style={{ width: &quot;100%&quot;, height: 48, flexDirection: &quot;row&quot;, alignItems: &quot;center&quot;, justifyContent: &quot;space-between&quot; }}&gt;&#10;    &lt;Text style={{ fontSize: 14, color: &quot;rgba(42,33,24,0.55)&quot;, fontFamily: &quot;'PingFang SC', 'Microsoft YaHei', sans-serif&quot; }}&gt;弈趣棋苑 · 项目开发汇报&lt;/Text&gt;&#10;    &lt;Text style={{ fontSize: 14, color: &quot;rgba(42,33,24,0.55)&quot;, fontFamily: &quot;'PingFang SC', 'Microsoft YaHei', sans-serif&quot; }}&gt;02 / 64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5E3BE"/>
          </a:solidFill>
          <a:ln/>
        </p:spPr>
        <p:txBody>
          <a:bodyPr/>
          <a:p/>
        </p:txBody>
      </p:sp>
      <p:sp>
        <p:nvSpPr>
          <p:cNvPr id="131" name="" descr="{&quot;isTemplate&quot;:true,&quot;type&quot;:&quot;text&quot;}"/>
          <p:cNvSpPr txBox="1"/>
          <p:nvPr/>
        </p:nvSpPr>
        <p:spPr>
          <a:xfrm rot="0" flipH="0" flipV="0">
            <a:off x="685800" y="400050"/>
            <a:ext cx="108204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A2118"/>
                </a:solidFill>
                <a:latin typeface="Songti SC"/>
                <a:ea typeface="Songti SC"/>
              </a:rPr>
              <a:t>目录</a:t>
            </a:r>
            <a:r>
              <a:rPr lang="en-US" sz="2550" b="1">
                <a:solidFill>
                  <a:srgbClr val="2A2118"/>
                </a:solidFill>
                <a:latin typeface="Songti SC"/>
                <a:ea typeface="Songti SC"/>
              </a:rPr>
              <a:t xml:space="preserve"> / CONTENTS</a:t>
            </a:r>
            <a:endParaRPr/>
          </a:p>
        </p:txBody>
      </p:sp>
      <p:sp>
        <p:nvSpPr>
          <p:cNvPr id="132" name=""/>
          <p:cNvSpPr/>
          <p:nvPr/>
        </p:nvSpPr>
        <p:spPr>
          <a:xfrm rot="0" flipH="0" flipV="0">
            <a:off x="685800" y="885825"/>
            <a:ext cx="533400" cy="19050"/>
          </a:xfrm>
          <a:prstGeom prst="rect">
            <a:avLst/>
          </a:prstGeom>
          <a:solidFill>
            <a:srgbClr val="B3271E"/>
          </a:solidFill>
          <a:ln/>
        </p:spPr>
        <p:txBody>
          <a:bodyPr/>
          <a:p/>
        </p:txBody>
      </p:sp>
      <p:sp>
        <p:nvSpPr>
          <p:cNvPr id="133" name=""/>
          <p:cNvSpPr/>
          <p:nvPr/>
        </p:nvSpPr>
        <p:spPr>
          <a:xfrm rot="0" flipH="0" flipV="0">
            <a:off x="685800" y="1104900"/>
            <a:ext cx="3238500" cy="4914900"/>
          </a:xfrm>
          <a:prstGeom prst="roundRect">
            <a:avLst>
              <a:gd name="adj" fmla="val 2941"/>
            </a:avLst>
          </a:prstGeom>
          <a:solidFill>
            <a:srgbClr val="2A2118"/>
          </a:solidFill>
          <a:ln/>
        </p:spPr>
        <p:txBody>
          <a:bodyPr/>
          <a:p/>
        </p:txBody>
      </p:sp>
      <p:sp>
        <p:nvSpPr>
          <p:cNvPr id="134" name="" descr="{&quot;isTemplate&quot;:true,&quot;type&quot;:&quot;text&quot;}"/>
          <p:cNvSpPr txBox="1"/>
          <p:nvPr/>
        </p:nvSpPr>
        <p:spPr>
          <a:xfrm rot="0" flipH="0" flipV="0">
            <a:off x="990600" y="3133725"/>
            <a:ext cx="2628900" cy="4572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3000" b="1">
                <a:solidFill>
                  <a:srgbClr val="F5E3BE"/>
                </a:solidFill>
                <a:latin typeface="Songti SC"/>
                <a:ea typeface="Songti SC"/>
              </a:rPr>
              <a:t>目录</a:t>
            </a:r>
            <a:endParaRPr/>
          </a:p>
        </p:txBody>
      </p:sp>
      <p:sp>
        <p:nvSpPr>
          <p:cNvPr id="135" name="" descr="{&quot;isTemplate&quot;:true,&quot;type&quot;:&quot;text&quot;}"/>
          <p:cNvSpPr txBox="1"/>
          <p:nvPr/>
        </p:nvSpPr>
        <p:spPr>
          <a:xfrm rot="0" flipH="0" flipV="0">
            <a:off x="990600" y="3667125"/>
            <a:ext cx="26289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300">
                <a:solidFill>
                  <a:srgbClr val="F5E3BE">
                    <a:alpha val="60000"/>
                  </a:srgbClr>
                </a:solidFill>
                <a:latin typeface="PingFang SC"/>
                <a:ea typeface="PingFang SC"/>
              </a:rPr>
              <a:t>CONTENTS</a:t>
            </a:r>
            <a:endParaRPr/>
          </a:p>
        </p:txBody>
      </p:sp>
      <p:sp>
        <p:nvSpPr>
          <p:cNvPr id="136" name=""/>
          <p:cNvSpPr/>
          <p:nvPr/>
        </p:nvSpPr>
        <p:spPr>
          <a:xfrm rot="0" flipH="0" flipV="0">
            <a:off x="990600" y="3971925"/>
            <a:ext cx="495300" cy="28575"/>
          </a:xfrm>
          <a:prstGeom prst="rect">
            <a:avLst/>
          </a:prstGeom>
          <a:solidFill>
            <a:srgbClr val="B3271E"/>
          </a:solidFill>
          <a:ln/>
        </p:spPr>
        <p:txBody>
          <a:bodyPr/>
          <a:p/>
        </p:txBody>
      </p:sp>
      <p:sp>
        <p:nvSpPr>
          <p:cNvPr id="137" name="" descr="{&quot;isTemplate&quot;:true,&quot;type&quot;:&quot;text&quot;}"/>
          <p:cNvSpPr txBox="1"/>
          <p:nvPr/>
        </p:nvSpPr>
        <p:spPr>
          <a:xfrm rot="0" flipH="0" flipV="0">
            <a:off x="4533900" y="2171700"/>
            <a:ext cx="3238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B3271E"/>
                </a:solidFill>
                <a:latin typeface="Songti SC"/>
                <a:ea typeface="Songti SC"/>
              </a:rPr>
              <a:t>01</a:t>
            </a:r>
            <a:endParaRPr/>
          </a:p>
        </p:txBody>
      </p:sp>
      <p:sp>
        <p:nvSpPr>
          <p:cNvPr id="138" name="" descr="{&quot;isTemplate&quot;:true,&quot;type&quot;:&quot;text&quot;}"/>
          <p:cNvSpPr txBox="1"/>
          <p:nvPr/>
        </p:nvSpPr>
        <p:spPr>
          <a:xfrm rot="0" flipH="0" flipV="0">
            <a:off x="5010150" y="2171700"/>
            <a:ext cx="14287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A2118"/>
                </a:solidFill>
                <a:latin typeface="Songti SC"/>
                <a:ea typeface="Songti SC"/>
              </a:rPr>
              <a:t>项目概述</a:t>
            </a:r>
            <a:endParaRPr/>
          </a:p>
        </p:txBody>
      </p:sp>
      <p:sp>
        <p:nvSpPr>
          <p:cNvPr id="139" name="" descr="{&quot;isTemplate&quot;:true,&quot;type&quot;:&quot;text&quot;}"/>
          <p:cNvSpPr txBox="1"/>
          <p:nvPr/>
        </p:nvSpPr>
        <p:spPr>
          <a:xfrm rot="0" flipH="0" flipV="0">
            <a:off x="6591300" y="2171700"/>
            <a:ext cx="17335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2A2118">
                    <a:alpha val="60000"/>
                  </a:srgbClr>
                </a:solidFill>
                <a:latin typeface="PingFang SC"/>
                <a:ea typeface="PingFang SC"/>
              </a:rPr>
              <a:t>先讲清楚这到底是个什么东西</a:t>
            </a:r>
            <a:endParaRPr/>
          </a:p>
        </p:txBody>
      </p:sp>
      <p:sp>
        <p:nvSpPr>
          <p:cNvPr id="140" name="" descr="{&quot;isTemplate&quot;:true,&quot;type&quot;:&quot;text&quot;}"/>
          <p:cNvSpPr txBox="1"/>
          <p:nvPr/>
        </p:nvSpPr>
        <p:spPr>
          <a:xfrm rot="0" flipH="0" flipV="0">
            <a:off x="4533900" y="2533650"/>
            <a:ext cx="3238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B3271E"/>
                </a:solidFill>
                <a:latin typeface="Songti SC"/>
                <a:ea typeface="Songti SC"/>
              </a:rPr>
              <a:t>02</a:t>
            </a:r>
            <a:endParaRPr/>
          </a:p>
        </p:txBody>
      </p:sp>
      <p:sp>
        <p:nvSpPr>
          <p:cNvPr id="141" name="" descr="{&quot;isTemplate&quot;:true,&quot;type&quot;:&quot;text&quot;}"/>
          <p:cNvSpPr txBox="1"/>
          <p:nvPr/>
        </p:nvSpPr>
        <p:spPr>
          <a:xfrm rot="0" flipH="0" flipV="0">
            <a:off x="5010150" y="2533650"/>
            <a:ext cx="14287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A2118"/>
                </a:solidFill>
                <a:latin typeface="Songti SC"/>
                <a:ea typeface="Songti SC"/>
              </a:rPr>
              <a:t>核心功能</a:t>
            </a:r>
            <a:endParaRPr/>
          </a:p>
        </p:txBody>
      </p:sp>
      <p:sp>
        <p:nvSpPr>
          <p:cNvPr id="142" name="" descr="{&quot;isTemplate&quot;:true,&quot;type&quot;:&quot;text&quot;}"/>
          <p:cNvSpPr txBox="1"/>
          <p:nvPr/>
        </p:nvSpPr>
        <p:spPr>
          <a:xfrm rot="0" flipH="0" flipV="0">
            <a:off x="6591300" y="2533650"/>
            <a:ext cx="16002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2A2118">
                    <a:alpha val="60000"/>
                  </a:srgbClr>
                </a:solidFill>
                <a:latin typeface="PingFang SC"/>
                <a:ea typeface="PingFang SC"/>
              </a:rPr>
              <a:t>一场对局要同时成立哪些事</a:t>
            </a:r>
            <a:endParaRPr/>
          </a:p>
        </p:txBody>
      </p:sp>
      <p:sp>
        <p:nvSpPr>
          <p:cNvPr id="143" name="" descr="{&quot;isTemplate&quot;:true,&quot;type&quot;:&quot;text&quot;}"/>
          <p:cNvSpPr txBox="1"/>
          <p:nvPr/>
        </p:nvSpPr>
        <p:spPr>
          <a:xfrm rot="0" flipH="0" flipV="0">
            <a:off x="4533900" y="2895600"/>
            <a:ext cx="3238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B3271E"/>
                </a:solidFill>
                <a:latin typeface="Songti SC"/>
                <a:ea typeface="Songti SC"/>
              </a:rPr>
              <a:t>03</a:t>
            </a:r>
            <a:endParaRPr/>
          </a:p>
        </p:txBody>
      </p:sp>
      <p:sp>
        <p:nvSpPr>
          <p:cNvPr id="144" name="" descr="{&quot;isTemplate&quot;:true,&quot;type&quot;:&quot;text&quot;}"/>
          <p:cNvSpPr txBox="1"/>
          <p:nvPr/>
        </p:nvSpPr>
        <p:spPr>
          <a:xfrm rot="0" flipH="0" flipV="0">
            <a:off x="5010150" y="2895600"/>
            <a:ext cx="14287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A2118"/>
                </a:solidFill>
                <a:latin typeface="Songti SC"/>
                <a:ea typeface="Songti SC"/>
              </a:rPr>
              <a:t>技术架构</a:t>
            </a:r>
            <a:endParaRPr/>
          </a:p>
        </p:txBody>
      </p:sp>
      <p:sp>
        <p:nvSpPr>
          <p:cNvPr id="145" name="" descr="{&quot;isTemplate&quot;:true,&quot;type&quot;:&quot;text&quot;}"/>
          <p:cNvSpPr txBox="1"/>
          <p:nvPr/>
        </p:nvSpPr>
        <p:spPr>
          <a:xfrm rot="0" flipH="0" flipV="0">
            <a:off x="6591300" y="2895600"/>
            <a:ext cx="170497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2A2118">
                    <a:alpha val="60000"/>
                  </a:srgbClr>
                </a:solidFill>
                <a:latin typeface="PingFang SC"/>
                <a:ea typeface="PingFang SC"/>
              </a:rPr>
              <a:t>渲染·音频·</a:t>
            </a:r>
            <a:r>
              <a:rPr lang="en-US" sz="1050">
                <a:solidFill>
                  <a:srgbClr val="2A2118">
                    <a:alpha val="60000"/>
                  </a:srgbClr>
                </a:solidFill>
                <a:latin typeface="PingFang SC"/>
                <a:ea typeface="PingFang SC"/>
              </a:rPr>
              <a:t xml:space="preserve">AI </a:t>
            </a:r>
            <a:r>
              <a:rPr lang="zh-CN" sz="1050">
                <a:solidFill>
                  <a:srgbClr val="2A2118">
                    <a:alpha val="60000"/>
                  </a:srgbClr>
                </a:solidFill>
                <a:latin typeface="PingFang SC"/>
                <a:ea typeface="PingFang SC"/>
              </a:rPr>
              <a:t>三条主线的原理</a:t>
            </a:r>
            <a:endParaRPr/>
          </a:p>
        </p:txBody>
      </p:sp>
      <p:sp>
        <p:nvSpPr>
          <p:cNvPr id="146" name="" descr="{&quot;isTemplate&quot;:true,&quot;type&quot;:&quot;text&quot;}"/>
          <p:cNvSpPr txBox="1"/>
          <p:nvPr/>
        </p:nvSpPr>
        <p:spPr>
          <a:xfrm rot="0" flipH="0" flipV="0">
            <a:off x="4533900" y="3257550"/>
            <a:ext cx="3238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B3271E"/>
                </a:solidFill>
                <a:latin typeface="Songti SC"/>
                <a:ea typeface="Songti SC"/>
              </a:rPr>
              <a:t>04</a:t>
            </a:r>
            <a:endParaRPr/>
          </a:p>
        </p:txBody>
      </p:sp>
      <p:sp>
        <p:nvSpPr>
          <p:cNvPr id="147" name="" descr="{&quot;isTemplate&quot;:true,&quot;type&quot;:&quot;text&quot;}"/>
          <p:cNvSpPr txBox="1"/>
          <p:nvPr/>
        </p:nvSpPr>
        <p:spPr>
          <a:xfrm rot="0" flipH="0" flipV="0">
            <a:off x="5010150" y="3257550"/>
            <a:ext cx="14287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A2118"/>
                </a:solidFill>
                <a:latin typeface="Songti SC"/>
                <a:ea typeface="Songti SC"/>
              </a:rPr>
              <a:t>开发流程</a:t>
            </a:r>
            <a:endParaRPr/>
          </a:p>
        </p:txBody>
      </p:sp>
      <p:sp>
        <p:nvSpPr>
          <p:cNvPr id="148" name="" descr="{&quot;isTemplate&quot;:true,&quot;type&quot;:&quot;text&quot;}"/>
          <p:cNvSpPr txBox="1"/>
          <p:nvPr/>
        </p:nvSpPr>
        <p:spPr>
          <a:xfrm rot="0" flipH="0" flipV="0">
            <a:off x="6591300" y="3257550"/>
            <a:ext cx="17335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2A2118">
                    <a:alpha val="60000"/>
                  </a:srgbClr>
                </a:solidFill>
                <a:latin typeface="PingFang SC"/>
                <a:ea typeface="PingFang SC"/>
              </a:rPr>
              <a:t>五轮迭代，每轮都是完整闭环</a:t>
            </a:r>
            <a:endParaRPr/>
          </a:p>
        </p:txBody>
      </p:sp>
      <p:sp>
        <p:nvSpPr>
          <p:cNvPr id="149" name="" descr="{&quot;isTemplate&quot;:true,&quot;type&quot;:&quot;text&quot;}"/>
          <p:cNvSpPr txBox="1"/>
          <p:nvPr/>
        </p:nvSpPr>
        <p:spPr>
          <a:xfrm rot="0" flipH="0" flipV="0">
            <a:off x="4533900" y="3619500"/>
            <a:ext cx="3238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B3271E"/>
                </a:solidFill>
                <a:latin typeface="Songti SC"/>
                <a:ea typeface="Songti SC"/>
              </a:rPr>
              <a:t>05</a:t>
            </a:r>
            <a:endParaRPr/>
          </a:p>
        </p:txBody>
      </p:sp>
      <p:sp>
        <p:nvSpPr>
          <p:cNvPr id="150" name="" descr="{&quot;isTemplate&quot;:true,&quot;type&quot;:&quot;text&quot;}"/>
          <p:cNvSpPr txBox="1"/>
          <p:nvPr/>
        </p:nvSpPr>
        <p:spPr>
          <a:xfrm rot="0" flipH="0" flipV="0">
            <a:off x="5010150" y="3619500"/>
            <a:ext cx="14287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A2118"/>
                </a:solidFill>
                <a:latin typeface="Songti SC"/>
                <a:ea typeface="Songti SC"/>
              </a:rPr>
              <a:t>难点与解法</a:t>
            </a:r>
            <a:endParaRPr/>
          </a:p>
        </p:txBody>
      </p:sp>
      <p:sp>
        <p:nvSpPr>
          <p:cNvPr id="151" name="" descr="{&quot;isTemplate&quot;:true,&quot;type&quot;:&quot;text&quot;}"/>
          <p:cNvSpPr txBox="1"/>
          <p:nvPr/>
        </p:nvSpPr>
        <p:spPr>
          <a:xfrm rot="0" flipH="0" flipV="0">
            <a:off x="6591300" y="3619500"/>
            <a:ext cx="21336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2A2118">
                    <a:alpha val="60000"/>
                  </a:srgbClr>
                </a:solidFill>
                <a:latin typeface="PingFang SC"/>
                <a:ea typeface="PingFang SC"/>
              </a:rPr>
              <a:t>把「看起来不对」变成可定位的根因</a:t>
            </a:r>
            <a:endParaRPr/>
          </a:p>
        </p:txBody>
      </p:sp>
      <p:sp>
        <p:nvSpPr>
          <p:cNvPr id="152" name="" descr="{&quot;isTemplate&quot;:true,&quot;type&quot;:&quot;text&quot;}"/>
          <p:cNvSpPr txBox="1"/>
          <p:nvPr/>
        </p:nvSpPr>
        <p:spPr>
          <a:xfrm rot="0" flipH="0" flipV="0">
            <a:off x="4533900" y="3981450"/>
            <a:ext cx="3238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B3271E"/>
                </a:solidFill>
                <a:latin typeface="Songti SC"/>
                <a:ea typeface="Songti SC"/>
              </a:rPr>
              <a:t>06</a:t>
            </a:r>
            <a:endParaRPr/>
          </a:p>
        </p:txBody>
      </p:sp>
      <p:sp>
        <p:nvSpPr>
          <p:cNvPr id="153" name="" descr="{&quot;isTemplate&quot;:true,&quot;type&quot;:&quot;text&quot;}"/>
          <p:cNvSpPr txBox="1"/>
          <p:nvPr/>
        </p:nvSpPr>
        <p:spPr>
          <a:xfrm rot="0" flipH="0" flipV="0">
            <a:off x="5010150" y="3981450"/>
            <a:ext cx="14287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A2118"/>
                </a:solidFill>
                <a:latin typeface="Songti SC"/>
                <a:ea typeface="Songti SC"/>
              </a:rPr>
              <a:t>功能演示</a:t>
            </a:r>
            <a:endParaRPr/>
          </a:p>
        </p:txBody>
      </p:sp>
      <p:sp>
        <p:nvSpPr>
          <p:cNvPr id="154" name="" descr="{&quot;isTemplate&quot;:true,&quot;type&quot;:&quot;text&quot;}"/>
          <p:cNvSpPr txBox="1"/>
          <p:nvPr/>
        </p:nvSpPr>
        <p:spPr>
          <a:xfrm rot="0" flipH="0" flipV="0">
            <a:off x="6591300" y="3981450"/>
            <a:ext cx="13335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2A2118">
                    <a:alpha val="60000"/>
                  </a:srgbClr>
                </a:solidFill>
                <a:latin typeface="PingFang SC"/>
                <a:ea typeface="PingFang SC"/>
              </a:rPr>
              <a:t>七步走通一局真实对弈</a:t>
            </a:r>
            <a:endParaRPr/>
          </a:p>
        </p:txBody>
      </p:sp>
      <p:sp>
        <p:nvSpPr>
          <p:cNvPr id="155" name="" descr="{&quot;isTemplate&quot;:true,&quot;type&quot;:&quot;text&quot;}"/>
          <p:cNvSpPr txBox="1"/>
          <p:nvPr/>
        </p:nvSpPr>
        <p:spPr>
          <a:xfrm rot="0" flipH="0" flipV="0">
            <a:off x="4533900" y="4343400"/>
            <a:ext cx="3238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B3271E"/>
                </a:solidFill>
                <a:latin typeface="Songti SC"/>
                <a:ea typeface="Songti SC"/>
              </a:rPr>
              <a:t>07</a:t>
            </a:r>
            <a:endParaRPr/>
          </a:p>
        </p:txBody>
      </p:sp>
      <p:sp>
        <p:nvSpPr>
          <p:cNvPr id="156" name="" descr="{&quot;isTemplate&quot;:true,&quot;type&quot;:&quot;text&quot;}"/>
          <p:cNvSpPr txBox="1"/>
          <p:nvPr/>
        </p:nvSpPr>
        <p:spPr>
          <a:xfrm rot="0" flipH="0" flipV="0">
            <a:off x="5010150" y="4343400"/>
            <a:ext cx="14287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A2118"/>
                </a:solidFill>
                <a:latin typeface="Songti SC"/>
                <a:ea typeface="Songti SC"/>
              </a:rPr>
              <a:t>成果展示</a:t>
            </a:r>
            <a:endParaRPr/>
          </a:p>
        </p:txBody>
      </p:sp>
      <p:sp>
        <p:nvSpPr>
          <p:cNvPr id="157" name="" descr="{&quot;isTemplate&quot;:true,&quot;type&quot;:&quot;text&quot;}"/>
          <p:cNvSpPr txBox="1"/>
          <p:nvPr/>
        </p:nvSpPr>
        <p:spPr>
          <a:xfrm rot="0" flipH="0" flipV="0">
            <a:off x="6591300" y="4343400"/>
            <a:ext cx="13335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2A2118">
                    <a:alpha val="60000"/>
                  </a:srgbClr>
                </a:solidFill>
                <a:latin typeface="PingFang SC"/>
                <a:ea typeface="PingFang SC"/>
              </a:rPr>
              <a:t xml:space="preserve">13 </a:t>
            </a:r>
            <a:r>
              <a:rPr lang="zh-CN" sz="1050">
                <a:solidFill>
                  <a:srgbClr val="2A2118">
                    <a:alpha val="60000"/>
                  </a:srgbClr>
                </a:solidFill>
                <a:latin typeface="PingFang SC"/>
                <a:ea typeface="PingFang SC"/>
              </a:rPr>
              <a:t>项改动，</a:t>
            </a:r>
            <a:r>
              <a:rPr lang="en-US" sz="1050">
                <a:solidFill>
                  <a:srgbClr val="2A2118">
                    <a:alpha val="60000"/>
                  </a:srgbClr>
                </a:solidFill>
                <a:latin typeface="PingFang SC"/>
                <a:ea typeface="PingFang SC"/>
              </a:rPr>
              <a:t xml:space="preserve">13 </a:t>
            </a:r>
            <a:r>
              <a:rPr lang="zh-CN" sz="1050">
                <a:solidFill>
                  <a:srgbClr val="2A2118">
                    <a:alpha val="60000"/>
                  </a:srgbClr>
                </a:solidFill>
                <a:latin typeface="PingFang SC"/>
                <a:ea typeface="PingFang SC"/>
              </a:rPr>
              <a:t>项验证</a:t>
            </a:r>
            <a:endParaRPr/>
          </a:p>
        </p:txBody>
      </p:sp>
      <p:sp>
        <p:nvSpPr>
          <p:cNvPr id="158" name="" descr="{&quot;isTemplate&quot;:true,&quot;type&quot;:&quot;text&quot;}"/>
          <p:cNvSpPr txBox="1"/>
          <p:nvPr/>
        </p:nvSpPr>
        <p:spPr>
          <a:xfrm rot="0" flipH="0" flipV="0">
            <a:off x="4533900" y="4705350"/>
            <a:ext cx="3238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B3271E"/>
                </a:solidFill>
                <a:latin typeface="Songti SC"/>
                <a:ea typeface="Songti SC"/>
              </a:rPr>
              <a:t>08</a:t>
            </a:r>
            <a:endParaRPr/>
          </a:p>
        </p:txBody>
      </p:sp>
      <p:sp>
        <p:nvSpPr>
          <p:cNvPr id="159" name="" descr="{&quot;isTemplate&quot;:true,&quot;type&quot;:&quot;text&quot;}"/>
          <p:cNvSpPr txBox="1"/>
          <p:nvPr/>
        </p:nvSpPr>
        <p:spPr>
          <a:xfrm rot="0" flipH="0" flipV="0">
            <a:off x="5010150" y="4705350"/>
            <a:ext cx="14287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A2118"/>
                </a:solidFill>
                <a:latin typeface="Songti SC"/>
                <a:ea typeface="Songti SC"/>
              </a:rPr>
              <a:t>未来规划</a:t>
            </a:r>
            <a:endParaRPr/>
          </a:p>
        </p:txBody>
      </p:sp>
      <p:sp>
        <p:nvSpPr>
          <p:cNvPr id="160" name="" descr="{&quot;isTemplate&quot;:true,&quot;type&quot;:&quot;text&quot;}"/>
          <p:cNvSpPr txBox="1"/>
          <p:nvPr/>
        </p:nvSpPr>
        <p:spPr>
          <a:xfrm rot="0" flipH="0" flipV="0">
            <a:off x="6591300" y="4705350"/>
            <a:ext cx="13335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2A2118">
                    <a:alpha val="60000"/>
                  </a:srgbClr>
                </a:solidFill>
                <a:latin typeface="PingFang SC"/>
                <a:ea typeface="PingFang SC"/>
              </a:rPr>
              <a:t>从可交付，走向可发布</a:t>
            </a:r>
            <a:endParaRPr/>
          </a:p>
        </p:txBody>
      </p:sp>
      <p:sp>
        <p:nvSpPr>
          <p:cNvPr id="161" name="" descr="{&quot;isTemplate&quot;:true,&quot;type&quot;:&quot;text&quot;}"/>
          <p:cNvSpPr txBox="1"/>
          <p:nvPr/>
        </p:nvSpPr>
        <p:spPr>
          <a:xfrm rot="0" flipH="0" flipV="0">
            <a:off x="685800" y="6172200"/>
            <a:ext cx="14478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2A2118">
                    <a:alpha val="55000"/>
                  </a:srgbClr>
                </a:solidFill>
                <a:latin typeface="PingFang SC"/>
                <a:ea typeface="PingFang SC"/>
              </a:rPr>
              <a:t>弈趣棋苑</a:t>
            </a:r>
            <a:r>
              <a:rPr lang="en-US" sz="1050">
                <a:solidFill>
                  <a:srgbClr val="2A2118">
                    <a:alpha val="55000"/>
                  </a:srgbClr>
                </a:solidFill>
                <a:latin typeface="PingFang SC"/>
                <a:ea typeface="PingFang SC"/>
              </a:rPr>
              <a:t xml:space="preserve"> · </a:t>
            </a:r>
            <a:r>
              <a:rPr lang="zh-CN" sz="1050">
                <a:solidFill>
                  <a:srgbClr val="2A2118">
                    <a:alpha val="55000"/>
                  </a:srgbClr>
                </a:solidFill>
                <a:latin typeface="PingFang SC"/>
                <a:ea typeface="PingFang SC"/>
              </a:rPr>
              <a:t>项目开发汇报</a:t>
            </a:r>
            <a:endParaRPr/>
          </a:p>
        </p:txBody>
      </p:sp>
      <p:sp>
        <p:nvSpPr>
          <p:cNvPr id="162" name="" descr="{&quot;isTemplate&quot;:true,&quot;type&quot;:&quot;text&quot;}"/>
          <p:cNvSpPr txBox="1"/>
          <p:nvPr/>
        </p:nvSpPr>
        <p:spPr>
          <a:xfrm rot="0" flipH="0" flipV="0">
            <a:off x="11049000" y="61722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2A2118">
                    <a:alpha val="55000"/>
                  </a:srgbClr>
                </a:solidFill>
                <a:latin typeface="PingFang SC"/>
                <a:ea typeface="PingFang SC"/>
              </a:rPr>
              <a:t>02 / 64</a:t>
            </a:r>
            <a:endParaRPr/>
          </a:p>
        </p:txBody>
      </p:sp>
    </p:spTree>
  </p:cSld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276" name="" descr="&lt;Slide style={{ width: 1280, height: 720, padding: &quot;20px 72px&quot;, background: &quot;#F5E3BE&quot;, flexDirection: &quot;column&quot; }}&gt;&#10;  &lt;Box style={{ width: &quot;100%&quot;, height: 96, flexDirection: &quot;column&quot;, justifyContent: &quot;center&quot; }}&gt;&#10;    &lt;Text style={{ fontSize: 34, fontWeight: &quot;bold&quot;, color: &quot;#2A2118&quot;, fontFamily: &quot;'Songti SC', 'STSong', 'SimSun', serif&quot; }}&gt;这一份汇报在讲什么&lt;/Text&gt;&#10;    &lt;Box style={{ width: 56, height: 2, background: &quot;#B3271E&quot;, marginTop: 10 }} /&gt;&#10;  &lt;/Box&gt;&#10;  &lt;Box style={{ width: &quot;100%&quot;, height: 516, flexDirection: &quot;column&quot; }}&gt;&#10;  &lt;Box style={{ width: 860, height: &quot;100%&quot;, flexDirection: &quot;column&quot;, justifyContent: &quot;center&quot; }}&gt;&#10;    &lt;Text style={{ fontSize: 18, lineHeight: 1.7, color: &quot;#2A2118&quot;, fontFamily: &quot;'PingFang SC', 'Microsoft YaHei', sans-serif&quot;, marginBottom: 14 }}&gt;六子棋、五子棋、中国象棋，棋盘尺寸、连子规则、每轮落子数、AI 后端都不一样。但它们共用同一份渲染代码、同一套音频系统、同一套主题与存档。&lt;/Text&gt;&#10;    &lt;Text style={{ fontSize: 18, lineHeight: 1.7, color: &quot;#2A2118&quot;, fontFamily: &quot;'PingFang SC', 'Microsoft YaHei', sans-serif&quot;, marginBottom: 14 }}&gt;所以新增一个棋种，真正要写的只有两件事：一套规则，和一个 AI 后端。界面、基础设施、美术资源全部复用。这正是「棋苑」这个名字的由来——不是一个游戏，是一组能一起长起来的棋。&lt;/Text&gt;&#10;    &lt;Text style={{ fontSize: 18, lineHeight: 1.7, color: &quot;#2A2118&quot;, fontFamily: &quot;'PingFang SC', 'Microsoft YaHei', sans-serif&quot;, marginBottom: 14 }}&gt;下面八章，先交代它是什么，再把它怎么画、怎么响、怎么搜拆开讲透，最后用真实对局演示一遍。&lt;/Text&gt;&#10;  &lt;/Box&gt;&#10;  &lt;/Box&gt;&#10;  &lt;Box style={{ width: &quot;100%&quot;, height: 48, flexDirection: &quot;row&quot;, alignItems: &quot;center&quot;, justifyContent: &quot;space-between&quot; }}&gt;&#10;    &lt;Text style={{ fontSize: 14, color: &quot;rgba(42,33,24,0.55)&quot;, fontFamily: &quot;'PingFang SC', 'Microsoft YaHei', sans-serif&quot; }}&gt;弈趣棋苑 · 项目开发汇报&lt;/Text&gt;&#10;    &lt;Text style={{ fontSize: 14, color: &quot;rgba(42,33,24,0.55)&quot;, fontFamily: &quot;'PingFang SC', 'Microsoft YaHei', sans-serif&quot; }}&gt;03 / 64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5E3BE"/>
          </a:solidFill>
          <a:ln/>
        </p:spPr>
        <p:txBody>
          <a:bodyPr/>
          <a:p/>
        </p:txBody>
      </p:sp>
      <p:sp>
        <p:nvSpPr>
          <p:cNvPr id="278" name="" descr="{&quot;isTemplate&quot;:true,&quot;type&quot;:&quot;text&quot;}"/>
          <p:cNvSpPr txBox="1"/>
          <p:nvPr/>
        </p:nvSpPr>
        <p:spPr>
          <a:xfrm rot="0" flipH="0" flipV="0">
            <a:off x="685800" y="400050"/>
            <a:ext cx="108204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A2118"/>
                </a:solidFill>
                <a:latin typeface="Songti SC"/>
                <a:ea typeface="Songti SC"/>
              </a:rPr>
              <a:t>这一份汇报在讲什么</a:t>
            </a:r>
            <a:endParaRPr/>
          </a:p>
        </p:txBody>
      </p:sp>
      <p:sp>
        <p:nvSpPr>
          <p:cNvPr id="279" name=""/>
          <p:cNvSpPr/>
          <p:nvPr/>
        </p:nvSpPr>
        <p:spPr>
          <a:xfrm rot="0" flipH="0" flipV="0">
            <a:off x="685800" y="885825"/>
            <a:ext cx="533400" cy="19050"/>
          </a:xfrm>
          <a:prstGeom prst="rect">
            <a:avLst/>
          </a:prstGeom>
          <a:solidFill>
            <a:srgbClr val="B3271E"/>
          </a:solidFill>
          <a:ln/>
        </p:spPr>
        <p:txBody>
          <a:bodyPr/>
          <a:p/>
        </p:txBody>
      </p:sp>
      <p:sp>
        <p:nvSpPr>
          <p:cNvPr id="280" name="" descr="{&quot;isTemplate&quot;:true,&quot;type&quot;:&quot;text&quot;}"/>
          <p:cNvSpPr txBox="1"/>
          <p:nvPr/>
        </p:nvSpPr>
        <p:spPr>
          <a:xfrm rot="0" flipH="0" flipV="0">
            <a:off x="685800" y="2486025"/>
            <a:ext cx="8191500" cy="7048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350">
                <a:solidFill>
                  <a:srgbClr val="2A2118"/>
                </a:solidFill>
                <a:latin typeface="PingFang SC"/>
                <a:ea typeface="PingFang SC"/>
              </a:rPr>
              <a:t>六子棋、五子棋、中国象棋，棋盘尺寸、连子规则、每轮落子数、</a:t>
            </a:r>
            <a:r>
              <a:rPr lang="en-US" sz="1350">
                <a:solidFill>
                  <a:srgbClr val="2A2118"/>
                </a:solidFill>
                <a:latin typeface="PingFang SC"/>
                <a:ea typeface="PingFang SC"/>
              </a:rPr>
              <a:t xml:space="preserve">AI </a:t>
            </a:r>
            <a:r>
              <a:rPr lang="zh-CN" sz="1350">
                <a:solidFill>
                  <a:srgbClr val="2A2118"/>
                </a:solidFill>
                <a:latin typeface="PingFang SC"/>
                <a:ea typeface="PingFang SC"/>
              </a:rPr>
              <a:t>后端都不一样。但它们共用同一份渲染代码、同一套音频系统、同一套主题与存档。</a:t>
            </a:r>
            <a:endParaRPr/>
          </a:p>
        </p:txBody>
      </p:sp>
      <p:sp>
        <p:nvSpPr>
          <p:cNvPr id="281" name="" descr="{&quot;isTemplate&quot;:true,&quot;type&quot;:&quot;text&quot;}"/>
          <p:cNvSpPr txBox="1"/>
          <p:nvPr/>
        </p:nvSpPr>
        <p:spPr>
          <a:xfrm rot="0" flipH="0" flipV="0">
            <a:off x="685800" y="3324225"/>
            <a:ext cx="8191500" cy="7048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350">
                <a:solidFill>
                  <a:srgbClr val="2A2118"/>
                </a:solidFill>
                <a:latin typeface="PingFang SC"/>
                <a:ea typeface="PingFang SC"/>
              </a:rPr>
              <a:t>所以新增一个棋种，真正要写的只有两件事：一套规则，和一个</a:t>
            </a:r>
            <a:r>
              <a:rPr lang="en-US" sz="1350">
                <a:solidFill>
                  <a:srgbClr val="2A2118"/>
                </a:solidFill>
                <a:latin typeface="PingFang SC"/>
                <a:ea typeface="PingFang SC"/>
              </a:rPr>
              <a:t xml:space="preserve"> AI </a:t>
            </a:r>
            <a:r>
              <a:rPr lang="zh-CN" sz="1350">
                <a:solidFill>
                  <a:srgbClr val="2A2118"/>
                </a:solidFill>
                <a:latin typeface="PingFang SC"/>
                <a:ea typeface="PingFang SC"/>
              </a:rPr>
              <a:t>后端。界面、基础设施、美术资源全部复用。这正是「棋苑」这个名字的由来——不是一个游戏，是一组能一起长起来的棋。</a:t>
            </a:r>
            <a:endParaRPr/>
          </a:p>
        </p:txBody>
      </p:sp>
      <p:sp>
        <p:nvSpPr>
          <p:cNvPr id="282" name="" descr="{&quot;isTemplate&quot;:true,&quot;type&quot;:&quot;text&quot;}"/>
          <p:cNvSpPr txBox="1"/>
          <p:nvPr/>
        </p:nvSpPr>
        <p:spPr>
          <a:xfrm rot="0" flipH="0" flipV="0">
            <a:off x="685800" y="4162425"/>
            <a:ext cx="8191500" cy="35242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350">
                <a:solidFill>
                  <a:srgbClr val="2A2118"/>
                </a:solidFill>
                <a:latin typeface="PingFang SC"/>
                <a:ea typeface="PingFang SC"/>
              </a:rPr>
              <a:t>下面八章，先交代它是什么，再把它怎么画、怎么响、怎么搜拆开讲透，最后用真实对局演示一遍。</a:t>
            </a:r>
            <a:endParaRPr/>
          </a:p>
        </p:txBody>
      </p:sp>
      <p:sp>
        <p:nvSpPr>
          <p:cNvPr id="283" name="" descr="{&quot;isTemplate&quot;:true,&quot;type&quot;:&quot;text&quot;}"/>
          <p:cNvSpPr txBox="1"/>
          <p:nvPr/>
        </p:nvSpPr>
        <p:spPr>
          <a:xfrm rot="0" flipH="0" flipV="0">
            <a:off x="685800" y="6172200"/>
            <a:ext cx="14478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2A2118">
                    <a:alpha val="55000"/>
                  </a:srgbClr>
                </a:solidFill>
                <a:latin typeface="PingFang SC"/>
                <a:ea typeface="PingFang SC"/>
              </a:rPr>
              <a:t>弈趣棋苑</a:t>
            </a:r>
            <a:r>
              <a:rPr lang="en-US" sz="1050">
                <a:solidFill>
                  <a:srgbClr val="2A2118">
                    <a:alpha val="55000"/>
                  </a:srgbClr>
                </a:solidFill>
                <a:latin typeface="PingFang SC"/>
                <a:ea typeface="PingFang SC"/>
              </a:rPr>
              <a:t xml:space="preserve"> · </a:t>
            </a:r>
            <a:r>
              <a:rPr lang="zh-CN" sz="1050">
                <a:solidFill>
                  <a:srgbClr val="2A2118">
                    <a:alpha val="55000"/>
                  </a:srgbClr>
                </a:solidFill>
                <a:latin typeface="PingFang SC"/>
                <a:ea typeface="PingFang SC"/>
              </a:rPr>
              <a:t>项目开发汇报</a:t>
            </a:r>
            <a:endParaRPr/>
          </a:p>
        </p:txBody>
      </p:sp>
      <p:sp>
        <p:nvSpPr>
          <p:cNvPr id="284" name="" descr="{&quot;isTemplate&quot;:true,&quot;type&quot;:&quot;text&quot;}"/>
          <p:cNvSpPr txBox="1"/>
          <p:nvPr/>
        </p:nvSpPr>
        <p:spPr>
          <a:xfrm rot="0" flipH="0" flipV="0">
            <a:off x="11049000" y="61722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2A2118">
                    <a:alpha val="55000"/>
                  </a:srgbClr>
                </a:solidFill>
                <a:latin typeface="PingFang SC"/>
                <a:ea typeface="PingFang SC"/>
              </a:rPr>
              <a:t>03 / 64</a:t>
            </a:r>
            <a:endParaRPr/>
          </a:p>
        </p:txBody>
      </p:sp>
    </p:spTree>
  </p:cSld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375" name="" descr="&lt;Slide style={{ width: 1280, height: 720, position: &quot;relative&quot;, padding: &quot;0px&quot;, background: &quot;#2A2118&quot;, overflow: &quot;hidden&quot; }}&gt;&#10;  &lt;Image src=&quot;assets/wood_panel.jpg&quot; style={{ position: &quot;absolute&quot;, top: 0, left: 0, width: 1280, height: 720, objectFit: &quot;cover&quot;, opacity: 0.22 }} /&gt;&#10;  &lt;Box style={{ position: &quot;absolute&quot;, top: 0, left: 0, width: 1280, height: 720, background: &quot;linear-gradient(160deg, #2A2118 0%, #3E2E1E 55%, #8C5A2B 100%)&quot;, opacity: 0.55 }} /&gt;&#10;  &lt;Box style={{ position: &quot;absolute&quot;, right: 84, top: 48, flexDirection: &quot;column&quot;, alignItems: &quot;flex-end&quot; }}&gt;&#10;    &lt;Text style={{ fontSize: 210, fontWeight: &quot;bold&quot;, lineHeight: 1.0, color: &quot;rgba(179,39,30,0.85)&quot;, fontFamily: &quot;'Songti SC', 'STSong', 'SimSun', serif&quot; }}&gt;01&lt;/Text&gt;&#10;  &lt;/Box&gt;&#10;  &lt;Box style={{ position: &quot;relative&quot;, zIndex: 2, width: 1280, height: 720, padding: &quot;0px 96px&quot;, flexDirection: &quot;column&quot;, justifyContent: &quot;center&quot; }}&gt;&#10;    &lt;Text style={{ fontSize: 22, color: &quot;rgba(245,227,190,0.7)&quot;, fontFamily: &quot;'PingFang SC', 'Microsoft YaHei', sans-serif&quot;, letterSpacing: 6 }}&gt;第 01 章&lt;/Text&gt;&#10;    &lt;Text style={{ fontSize: 62, fontWeight: &quot;bold&quot;, color: &quot;#F5E3BE&quot;, fontFamily: &quot;'Songti SC', 'STSong', 'SimSun', serif&quot;, marginTop: 12 }}&gt;项目概述&lt;/Text&gt;&#10;    &lt;Box style={{ width: 70, height: 3, background: &quot;#B3271E&quot;, marginTop: 20 }} /&gt;&#10;    &lt;Text style={{ fontSize: 22, fontStyle: &quot;italic&quot;, color: &quot;rgba(245,227,190,0.82)&quot;, fontFamily: &quot;'PingFang SC', 'Microsoft YaHei', sans-serif&quot;, marginTop: 20 }}&gt;从一款棋，到一座棋苑&lt;/Text&gt;&#10;  &lt;/Box&gt;&#10;  &lt;Box style={{ position: &quot;absolute&quot;, right: 60, bottom: 50, width: 52, height: 52, borderRadius: 6, background: &quot;#B3271E&quot;, justifyContent: &quot;center&quot;, alignItems: &quot;center&quot; }}&gt;&#10;    &lt;Text style={{ fontSize: 28, fontWeight: &quot;bold&quot;, color: &quot;#F5E3BE&quot;, fontFamily: &quot;'Songti SC', 'STSong', 'SimSun', serif&quot; }}&gt;弈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2A2118"/>
          </a:solidFill>
          <a:ln/>
        </p:spPr>
        <p:txBody>
          <a:bodyPr/>
          <a:p/>
        </p:txBody>
      </p:sp>
      <p:pic>
        <p:nvPicPr>
          <p:cNvPr id="377" name=""/>
          <p:cNvPicPr>
            <a:picLocks noChangeAspect="1"/>
          </p:cNvPicPr>
          <p:nvPr/>
        </p:nvPicPr>
        <p:blipFill>
          <a:blip r:embed="rId1">
            <a:alphaModFix amt="22000"/>
          </a:blip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  <p:sp>
        <p:nvSpPr>
          <p:cNvPr id="37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2A2118">
                  <a:alpha val="55000"/>
                </a:srgbClr>
              </a:gs>
              <a:gs pos="55000">
                <a:srgbClr val="3E2E1E">
                  <a:alpha val="55000"/>
                </a:srgbClr>
              </a:gs>
              <a:gs pos="100000">
                <a:srgbClr val="8C5A2B">
                  <a:alpha val="55000"/>
                </a:srgbClr>
              </a:gs>
            </a:gsLst>
            <a:lin ang="4200000" scaled="1"/>
          </a:gradFill>
          <a:ln/>
        </p:spPr>
        <p:txBody>
          <a:bodyPr/>
          <a:p/>
        </p:txBody>
      </p:sp>
      <p:sp>
        <p:nvSpPr>
          <p:cNvPr id="379" name="" descr="{&quot;isTemplate&quot;:true,&quot;type&quot;:&quot;text&quot;}"/>
          <p:cNvSpPr txBox="1"/>
          <p:nvPr/>
        </p:nvSpPr>
        <p:spPr>
          <a:xfrm rot="0" flipH="0" flipV="0">
            <a:off x="9515475" y="457200"/>
            <a:ext cx="1876425" cy="2400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750" b="1">
                <a:solidFill>
                  <a:srgbClr val="B3271E">
                    <a:alpha val="85000"/>
                  </a:srgbClr>
                </a:solidFill>
                <a:latin typeface="Songti SC"/>
                <a:ea typeface="Songti SC"/>
              </a:rPr>
              <a:t>01</a:t>
            </a:r>
            <a:endParaRPr/>
          </a:p>
        </p:txBody>
      </p:sp>
      <p:sp>
        <p:nvSpPr>
          <p:cNvPr id="380" name=""/>
          <p:cNvSpPr/>
          <p:nvPr/>
        </p:nvSpPr>
        <p:spPr>
          <a:xfrm rot="0" flipH="0" flipV="0">
            <a:off x="11125200" y="5886450"/>
            <a:ext cx="495300" cy="495300"/>
          </a:xfrm>
          <a:prstGeom prst="roundRect">
            <a:avLst>
              <a:gd name="adj" fmla="val 11538"/>
            </a:avLst>
          </a:prstGeom>
          <a:solidFill>
            <a:srgbClr val="B3271E"/>
          </a:solidFill>
          <a:ln/>
        </p:spPr>
        <p:txBody>
          <a:bodyPr/>
          <a:p/>
        </p:txBody>
      </p:sp>
      <p:sp>
        <p:nvSpPr>
          <p:cNvPr id="381" name="" descr="{&quot;isTemplate&quot;:true,&quot;type&quot;:&quot;text&quot;}"/>
          <p:cNvSpPr txBox="1"/>
          <p:nvPr/>
        </p:nvSpPr>
        <p:spPr>
          <a:xfrm rot="0" flipH="0" flipV="0">
            <a:off x="11239500" y="5972175"/>
            <a:ext cx="266700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100" b="1">
                <a:solidFill>
                  <a:srgbClr val="F5E3BE"/>
                </a:solidFill>
                <a:latin typeface="Songti SC"/>
                <a:ea typeface="Songti SC"/>
              </a:rPr>
              <a:t>弈</a:t>
            </a:r>
            <a:endParaRPr/>
          </a:p>
        </p:txBody>
      </p:sp>
      <p:sp>
        <p:nvSpPr>
          <p:cNvPr id="382" name="" descr="{&quot;isTemplate&quot;:true,&quot;type&quot;:&quot;text&quot;}"/>
          <p:cNvSpPr txBox="1"/>
          <p:nvPr/>
        </p:nvSpPr>
        <p:spPr>
          <a:xfrm rot="0" flipH="0" flipV="0">
            <a:off x="914400" y="2552700"/>
            <a:ext cx="103632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spc="450">
                <a:solidFill>
                  <a:srgbClr val="F5E3BE">
                    <a:alpha val="70000"/>
                  </a:srgbClr>
                </a:solidFill>
                <a:latin typeface="PingFang SC"/>
                <a:ea typeface="PingFang SC"/>
              </a:rPr>
              <a:t>第</a:t>
            </a:r>
            <a:r>
              <a:rPr lang="en-US" sz="1650" spc="450">
                <a:solidFill>
                  <a:srgbClr val="F5E3BE">
                    <a:alpha val="70000"/>
                  </a:srgbClr>
                </a:solidFill>
                <a:latin typeface="PingFang SC"/>
                <a:ea typeface="PingFang SC"/>
              </a:rPr>
              <a:t xml:space="preserve"> 01 </a:t>
            </a:r>
            <a:r>
              <a:rPr lang="zh-CN" sz="1650" spc="450">
                <a:solidFill>
                  <a:srgbClr val="F5E3BE">
                    <a:alpha val="70000"/>
                  </a:srgbClr>
                </a:solidFill>
                <a:latin typeface="PingFang SC"/>
                <a:ea typeface="PingFang SC"/>
              </a:rPr>
              <a:t>章</a:t>
            </a:r>
            <a:endParaRPr/>
          </a:p>
        </p:txBody>
      </p:sp>
      <p:sp>
        <p:nvSpPr>
          <p:cNvPr id="383" name="" descr="{&quot;isTemplate&quot;:true,&quot;type&quot;:&quot;text&quot;}"/>
          <p:cNvSpPr txBox="1"/>
          <p:nvPr/>
        </p:nvSpPr>
        <p:spPr>
          <a:xfrm rot="0" flipH="0" flipV="0">
            <a:off x="914400" y="2924175"/>
            <a:ext cx="10363200" cy="7143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4650" b="1">
                <a:solidFill>
                  <a:srgbClr val="F5E3BE"/>
                </a:solidFill>
                <a:latin typeface="Songti SC"/>
                <a:ea typeface="Songti SC"/>
              </a:rPr>
              <a:t>项目概述</a:t>
            </a:r>
            <a:endParaRPr/>
          </a:p>
        </p:txBody>
      </p:sp>
      <p:sp>
        <p:nvSpPr>
          <p:cNvPr id="384" name=""/>
          <p:cNvSpPr/>
          <p:nvPr/>
        </p:nvSpPr>
        <p:spPr>
          <a:xfrm rot="0" flipH="0" flipV="0">
            <a:off x="914400" y="3829050"/>
            <a:ext cx="666750" cy="28575"/>
          </a:xfrm>
          <a:prstGeom prst="rect">
            <a:avLst/>
          </a:prstGeom>
          <a:solidFill>
            <a:srgbClr val="B3271E"/>
          </a:solidFill>
          <a:ln/>
        </p:spPr>
        <p:txBody>
          <a:bodyPr/>
          <a:p/>
        </p:txBody>
      </p:sp>
      <p:sp>
        <p:nvSpPr>
          <p:cNvPr id="385" name="" descr="{&quot;isTemplate&quot;:true,&quot;type&quot;:&quot;text&quot;}"/>
          <p:cNvSpPr txBox="1"/>
          <p:nvPr/>
        </p:nvSpPr>
        <p:spPr>
          <a:xfrm rot="0" flipH="0" flipV="0">
            <a:off x="914400" y="4048125"/>
            <a:ext cx="103632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i="1">
                <a:solidFill>
                  <a:srgbClr val="F5E3BE">
                    <a:alpha val="82000"/>
                  </a:srgbClr>
                </a:solidFill>
                <a:latin typeface="PingFang SC"/>
                <a:ea typeface="PingFang SC"/>
              </a:rPr>
              <a:t>从一款棋，到一座棋苑</a:t>
            </a:r>
            <a:endParaRPr/>
          </a:p>
        </p:txBody>
      </p:sp>
    </p:spTree>
  </p:cSld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507" name="" descr="&lt;Slide style={{ width: 1280, height: 720, padding: &quot;20px 72px&quot;, background: &quot;#F5E3BE&quot;, flexDirection: &quot;column&quot; }}&gt;&#10;  &lt;Box style={{ width: &quot;100%&quot;, height: 96, flexDirection: &quot;column&quot;, justifyContent: &quot;center&quot; }}&gt;&#10;    &lt;Text style={{ fontSize: 34, fontWeight: &quot;bold&quot;, color: &quot;#2A2118&quot;, fontFamily: &quot;'Songti SC', 'STSong', 'SimSun', serif&quot; }}&gt;起点：先让六子棋能玩、好看、不卡&lt;/Text&gt;&#10;    &lt;Box style={{ width: 56, height: 2, background: &quot;#B3271E&quot;, marginTop: 10 }} /&gt;&#10;  &lt;/Box&gt;&#10;  &lt;Box style={{ width: &quot;100%&quot;, height: 516, flexDirection: &quot;column&quot; }}&gt;&#10;  &lt;Box style={{ width: 860, height: &quot;100%&quot;, flexDirection: &quot;column&quot;, justifyContent: &quot;center&quot; }}&gt;&#10;    &lt;Text style={{ fontSize: 18, lineHeight: 1.7, color: &quot;#2A2118&quot;, fontFamily: &quot;'PingFang SC', 'Microsoft YaHei', sans-serif&quot;, marginBottom: 14 }}&gt;这个项目开始得很朴素：把六子棋做成一个能下、好看、不卡顿的小游戏。那时候它只有一个棋盘和一个落子逻辑，连主题切换都没有。&lt;/Text&gt;&#10;    &lt;Text style={{ fontSize: 18, lineHeight: 1.7, color: &quot;#2A2118&quot;, fontFamily: &quot;'PingFang SC', 'Microsoft YaHei', sans-serif&quot;, marginBottom: 14 }}&gt;做到第四个月，陆续把五子棋和象棋接了进来。接的时候发现，最有价值的不是某个算法，而是一套可以复用的「界面语言」——左边棋盘、右边控制台（音乐、双方身份、轮到谁、胜率、难度、主题）。学会一个棋种，就等于学会了三个。&lt;/Text&gt;&#10;    &lt;Text style={{ fontSize: 18, lineHeight: 1.7, color: &quot;#2A2118&quot;, fontFamily: &quot;'PingFang SC', 'Microsoft YaHei', sans-serif&quot;, marginBottom: 14 }}&gt;于是「六子棋」悄悄变成了「弈趣棋苑」。这一章先把它是什么、体量多大、技术底座有几条线，讲清楚。&lt;/Text&gt;&#10;  &lt;/Box&gt;&#10;  &lt;/Box&gt;&#10;  &lt;Box style={{ width: &quot;100%&quot;, height: 48, flexDirection: &quot;row&quot;, alignItems: &quot;center&quot;, justifyContent: &quot;space-between&quot; }}&gt;&#10;    &lt;Text style={{ fontSize: 14, color: &quot;rgba(42,33,24,0.55)&quot;, fontFamily: &quot;'PingFang SC', 'Microsoft YaHei', sans-serif&quot; }}&gt;弈趣棋苑 · 项目开发汇报&lt;/Text&gt;&#10;    &lt;Text style={{ fontSize: 14, color: &quot;rgba(42,33,24,0.55)&quot;, fontFamily: &quot;'PingFang SC', 'Microsoft YaHei', sans-serif&quot; }}&gt;05 / 64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5E3BE"/>
          </a:solidFill>
          <a:ln/>
        </p:spPr>
        <p:txBody>
          <a:bodyPr/>
          <a:p/>
        </p:txBody>
      </p:sp>
      <p:sp>
        <p:nvSpPr>
          <p:cNvPr id="509" name="" descr="{&quot;isTemplate&quot;:true,&quot;type&quot;:&quot;text&quot;}"/>
          <p:cNvSpPr txBox="1"/>
          <p:nvPr/>
        </p:nvSpPr>
        <p:spPr>
          <a:xfrm rot="0" flipH="0" flipV="0">
            <a:off x="685800" y="400050"/>
            <a:ext cx="108204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A2118"/>
                </a:solidFill>
                <a:latin typeface="Songti SC"/>
                <a:ea typeface="Songti SC"/>
              </a:rPr>
              <a:t>起点：先让六子棋能玩、好看、不卡</a:t>
            </a:r>
            <a:endParaRPr/>
          </a:p>
        </p:txBody>
      </p:sp>
      <p:sp>
        <p:nvSpPr>
          <p:cNvPr id="510" name=""/>
          <p:cNvSpPr/>
          <p:nvPr/>
        </p:nvSpPr>
        <p:spPr>
          <a:xfrm rot="0" flipH="0" flipV="0">
            <a:off x="685800" y="885825"/>
            <a:ext cx="533400" cy="19050"/>
          </a:xfrm>
          <a:prstGeom prst="rect">
            <a:avLst/>
          </a:prstGeom>
          <a:solidFill>
            <a:srgbClr val="B3271E"/>
          </a:solidFill>
          <a:ln/>
        </p:spPr>
        <p:txBody>
          <a:bodyPr/>
          <a:p/>
        </p:txBody>
      </p:sp>
      <p:sp>
        <p:nvSpPr>
          <p:cNvPr id="511" name="" descr="{&quot;isTemplate&quot;:true,&quot;type&quot;:&quot;text&quot;}"/>
          <p:cNvSpPr txBox="1"/>
          <p:nvPr/>
        </p:nvSpPr>
        <p:spPr>
          <a:xfrm rot="0" flipH="0" flipV="0">
            <a:off x="685800" y="2305050"/>
            <a:ext cx="8191500" cy="7048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350">
                <a:solidFill>
                  <a:srgbClr val="2A2118"/>
                </a:solidFill>
                <a:latin typeface="PingFang SC"/>
                <a:ea typeface="PingFang SC"/>
              </a:rPr>
              <a:t>这个项目开始得很朴素：把六子棋做成一个能下、好看、不卡顿的小游戏。那时候它只有一个棋盘和一个落子逻辑，连主题切换都没有。</a:t>
            </a:r>
            <a:endParaRPr/>
          </a:p>
        </p:txBody>
      </p:sp>
      <p:sp>
        <p:nvSpPr>
          <p:cNvPr id="512" name="" descr="{&quot;isTemplate&quot;:true,&quot;type&quot;:&quot;text&quot;}"/>
          <p:cNvSpPr txBox="1"/>
          <p:nvPr/>
        </p:nvSpPr>
        <p:spPr>
          <a:xfrm rot="0" flipH="0" flipV="0">
            <a:off x="685800" y="3143250"/>
            <a:ext cx="8191500" cy="10572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350">
                <a:solidFill>
                  <a:srgbClr val="2A2118"/>
                </a:solidFill>
                <a:latin typeface="PingFang SC"/>
                <a:ea typeface="PingFang SC"/>
              </a:rPr>
              <a:t>做到第四个月，陆续把五子棋和象棋接了进来。接的时候发现，最有价值的不是某个算法，而是一套可以复用的「界面语言」——左边棋盘、右边控制台（音乐、双方身份、轮到谁、胜率、难度、主题）。学会一个棋种，就等于学会了三个。</a:t>
            </a:r>
            <a:endParaRPr/>
          </a:p>
        </p:txBody>
      </p:sp>
      <p:sp>
        <p:nvSpPr>
          <p:cNvPr id="513" name="" descr="{&quot;isTemplate&quot;:true,&quot;type&quot;:&quot;text&quot;}"/>
          <p:cNvSpPr txBox="1"/>
          <p:nvPr/>
        </p:nvSpPr>
        <p:spPr>
          <a:xfrm rot="0" flipH="0" flipV="0">
            <a:off x="685800" y="4333875"/>
            <a:ext cx="8191500" cy="35242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350">
                <a:solidFill>
                  <a:srgbClr val="2A2118"/>
                </a:solidFill>
                <a:latin typeface="PingFang SC"/>
                <a:ea typeface="PingFang SC"/>
              </a:rPr>
              <a:t>于是「六子棋」悄悄变成了「弈趣棋苑」。这一章先把它是什么、体量多大、技术底座有几条线，讲清楚。</a:t>
            </a:r>
            <a:endParaRPr/>
          </a:p>
        </p:txBody>
      </p:sp>
      <p:sp>
        <p:nvSpPr>
          <p:cNvPr id="514" name="" descr="{&quot;isTemplate&quot;:true,&quot;type&quot;:&quot;text&quot;}"/>
          <p:cNvSpPr txBox="1"/>
          <p:nvPr/>
        </p:nvSpPr>
        <p:spPr>
          <a:xfrm rot="0" flipH="0" flipV="0">
            <a:off x="685800" y="6172200"/>
            <a:ext cx="14478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2A2118">
                    <a:alpha val="55000"/>
                  </a:srgbClr>
                </a:solidFill>
                <a:latin typeface="PingFang SC"/>
                <a:ea typeface="PingFang SC"/>
              </a:rPr>
              <a:t>弈趣棋苑</a:t>
            </a:r>
            <a:r>
              <a:rPr lang="en-US" sz="1050">
                <a:solidFill>
                  <a:srgbClr val="2A2118">
                    <a:alpha val="55000"/>
                  </a:srgbClr>
                </a:solidFill>
                <a:latin typeface="PingFang SC"/>
                <a:ea typeface="PingFang SC"/>
              </a:rPr>
              <a:t xml:space="preserve"> · </a:t>
            </a:r>
            <a:r>
              <a:rPr lang="zh-CN" sz="1050">
                <a:solidFill>
                  <a:srgbClr val="2A2118">
                    <a:alpha val="55000"/>
                  </a:srgbClr>
                </a:solidFill>
                <a:latin typeface="PingFang SC"/>
                <a:ea typeface="PingFang SC"/>
              </a:rPr>
              <a:t>项目开发汇报</a:t>
            </a:r>
            <a:endParaRPr/>
          </a:p>
        </p:txBody>
      </p:sp>
      <p:sp>
        <p:nvSpPr>
          <p:cNvPr id="515" name="" descr="{&quot;isTemplate&quot;:true,&quot;type&quot;:&quot;text&quot;}"/>
          <p:cNvSpPr txBox="1"/>
          <p:nvPr/>
        </p:nvSpPr>
        <p:spPr>
          <a:xfrm rot="0" flipH="0" flipV="0">
            <a:off x="11049000" y="61722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2A2118">
                    <a:alpha val="55000"/>
                  </a:srgbClr>
                </a:solidFill>
                <a:latin typeface="PingFang SC"/>
                <a:ea typeface="PingFang SC"/>
              </a:rPr>
              <a:t>05 / 64</a:t>
            </a:r>
            <a:endParaRPr/>
          </a:p>
        </p:txBody>
      </p:sp>
    </p:spTree>
  </p:cSld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676" name="" descr="&lt;Slide style={{ width: 1280, height: 720, padding: &quot;20px 72px&quot;, background: &quot;#F5E3BE&quot;, flexDirection: &quot;column&quot; }}&gt;&#10;  &lt;Box style={{ width: &quot;100%&quot;, height: 96, flexDirection: &quot;column&quot;, justifyContent: &quot;center&quot; }}&gt;&#10;    &lt;Text style={{ fontSize: 34, fontWeight: &quot;bold&quot;, color: &quot;#2A2118&quot;, fontFamily: &quot;'Songti SC', 'STSong', 'SimSun', serif&quot; }}&gt;体量：三个数字&lt;/Text&gt;&#10;    &lt;Box style={{ width: 56, height: 2, background: &quot;#B3271E&quot;, marginTop: 10 }} /&gt;&#10;  &lt;/Box&gt;&#10;  &lt;Box style={{ width: &quot;100%&quot;, height: 516, flexDirection: &quot;column&quot; }}&gt;&#10;  &lt;Box style={{ flexDirection: &quot;column&quot;, height: &quot;100%&quot;, justifyContent: &quot;center&quot;, gap: 20 }}&gt;&#10;    &lt;Box style={{ flexDirection: &quot;row&quot;, alignItems: &quot;flex-end&quot;, gap: 28 }}&gt;&#10;      &lt;Text style={{ fontSize: 100, fontWeight: &quot;bold&quot;, lineHeight: 1.0, color: &quot;#B3271E&quot;, fontFamily: &quot;'Songti SC', 'STSong', 'SimSun', serif&quot; }}&gt;3&lt;/Text&gt;&#10;      &lt;Box style={{ width: 470, flexDirection: &quot;column&quot;, gap: 6, paddingBottom: 10 }}&gt;&#10;        &lt;Text style={{ fontSize: 22, fontWeight: &quot;bold&quot;, color: &quot;#2A2118&quot;, fontFamily: &quot;'Songti SC', 'STSong', 'SimSun', serif&quot; }}&gt;个棋种，共享一套引擎&lt;/Text&gt;&#10;        &lt;Text style={{ fontSize: 16, lineHeight: 1.55, color: &quot;rgba(42,33,24,0.7)&quot;, fontFamily: &quot;'PingFang SC', 'Microsoft YaHei', sans-serif&quot; }}&gt;六子棋 / 五子棋 / 中国象棋，差异被约束在棋盘尺寸、连子数、每轮子数、AI 后端四个维度，其余全部复用。&lt;/Text&gt;&#10;      &lt;/Box&gt;&#10;    &lt;/Box&gt;&#10;    &lt;Box style={{ flexDirection: &quot;row&quot;, alignItems: &quot;flex-end&quot;, gap: 28 }}&gt;&#10;      &lt;Text style={{ fontSize: 100, fontWeight: &quot;bold&quot;, lineHeight: 1.0, color: &quot;#8C5A2B&quot;, fontFamily: &quot;'Songti SC', 'STSong', 'SimSun', serif&quot; }}&gt;20+&lt;/Text&gt;&#10;      &lt;Box style={{ width: 470, flexDirection: &quot;column&quot;, gap: 6, paddingBottom: 10 }}&gt;&#10;        &lt;Text style={{ fontSize: 22, fontWeight: &quot;bold&quot;, color: &quot;#2A2118&quot;, fontFamily: &quot;'Songti SC', 'STSong', 'SimSun', serif&quot; }}&gt;个模块，全链路自研&lt;/Text&gt;&#10;        &lt;Text style={{ fontSize: 16, lineHeight: 1.55, color: &quot;rgba(42,33,24,0.7)&quot;, fontFamily: &quot;'PingFang SC', 'Microsoft YaHei', sans-serif&quot; }}&gt;覆盖渲染、音频、AI 引擎、数据存档与打包分发，从界面到算法没有借外部框架。&lt;/Text&gt;&#10;      &lt;/Box&gt;&#10;    &lt;/Box&gt;&#10;    &lt;Box style={{ flexDirection: &quot;row&quot;, alignItems: &quot;flex-end&quot;, gap: 28 }}&gt;&#10;      &lt;Text style={{ fontSize: 100, fontWeight: &quot;bold&quot;, lineHeight: 1.0, color: &quot;#8C5A2B&quot;, fontFamily: &quot;'Songti SC', 'STSong', 'SimSun', serif&quot; }}&gt;5&lt;/Text&gt;&#10;      &lt;Box style={{ width: 470, flexDirection: &quot;column&quot;, gap: 6, paddingBottom: 10 }}&gt;&#10;        &lt;Text style={{ fontSize: 22, fontWeight: &quot;bold&quot;, color: &quot;#2A2118&quot;, fontFamily: &quot;'Songti SC', 'STSong', 'SimSun', serif&quot; }}&gt;轮迭代，每轮走完整闭环&lt;/Text&gt;&#10;        &lt;Text style={{ fontSize: 16, lineHeight: 1.55, color: &quot;rgba(42,33,24,0.7)&quot;, fontFamily: &quot;'PingFang SC', 'Microsoft YaHei', sans-serif&quot; }}&gt;每一轮都走完「现象 → 根因 → 修复 → 验证」，没有一轮是表面修补。&lt;/Text&gt;&#10;      &lt;/Box&gt;&#10;    &lt;/Box&gt;&#10;  &lt;/Box&gt;&#10;  &lt;/Box&gt;&#10;  &lt;Box style={{ width: &quot;100%&quot;, height: 48, flexDirection: &quot;row&quot;, alignItems: &quot;center&quot;, justifyContent: &quot;space-between&quot; }}&gt;&#10;    &lt;Text style={{ fontSize: 14, color: &quot;rgba(42,33,24,0.55)&quot;, fontFamily: &quot;'PingFang SC', 'Microsoft YaHei', sans-serif&quot; }}&gt;弈趣棋苑 · 项目开发汇报&lt;/Text&gt;&#10;    &lt;Text style={{ fontSize: 14, color: &quot;rgba(42,33,24,0.55)&quot;, fontFamily: &quot;'PingFang SC', 'Microsoft YaHei', sans-serif&quot; }}&gt;06 / 64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5E3BE"/>
          </a:solidFill>
          <a:ln/>
        </p:spPr>
        <p:txBody>
          <a:bodyPr/>
          <a:p/>
        </p:txBody>
      </p:sp>
      <p:sp>
        <p:nvSpPr>
          <p:cNvPr id="678" name="" descr="{&quot;isTemplate&quot;:true,&quot;type&quot;:&quot;text&quot;}"/>
          <p:cNvSpPr txBox="1"/>
          <p:nvPr/>
        </p:nvSpPr>
        <p:spPr>
          <a:xfrm rot="0" flipH="0" flipV="0">
            <a:off x="685800" y="400050"/>
            <a:ext cx="108204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A2118"/>
                </a:solidFill>
                <a:latin typeface="Songti SC"/>
                <a:ea typeface="Songti SC"/>
              </a:rPr>
              <a:t>体量：三个数字</a:t>
            </a:r>
            <a:endParaRPr/>
          </a:p>
        </p:txBody>
      </p:sp>
      <p:sp>
        <p:nvSpPr>
          <p:cNvPr id="679" name=""/>
          <p:cNvSpPr/>
          <p:nvPr/>
        </p:nvSpPr>
        <p:spPr>
          <a:xfrm rot="0" flipH="0" flipV="0">
            <a:off x="685800" y="885825"/>
            <a:ext cx="533400" cy="19050"/>
          </a:xfrm>
          <a:prstGeom prst="rect">
            <a:avLst/>
          </a:prstGeom>
          <a:solidFill>
            <a:srgbClr val="B3271E"/>
          </a:solidFill>
          <a:ln/>
        </p:spPr>
        <p:txBody>
          <a:bodyPr/>
          <a:p/>
        </p:txBody>
      </p:sp>
      <p:sp>
        <p:nvSpPr>
          <p:cNvPr id="680" name="" descr="{&quot;isTemplate&quot;:true,&quot;type&quot;:&quot;text&quot;}"/>
          <p:cNvSpPr txBox="1"/>
          <p:nvPr/>
        </p:nvSpPr>
        <p:spPr>
          <a:xfrm rot="0" flipH="0" flipV="0">
            <a:off x="685800" y="1657350"/>
            <a:ext cx="447675" cy="11430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500" b="1">
                <a:solidFill>
                  <a:srgbClr val="B3271E"/>
                </a:solidFill>
                <a:latin typeface="Songti SC"/>
                <a:ea typeface="Songti SC"/>
              </a:rPr>
              <a:t>3</a:t>
            </a:r>
            <a:endParaRPr/>
          </a:p>
        </p:txBody>
      </p:sp>
      <p:sp>
        <p:nvSpPr>
          <p:cNvPr id="681" name="" descr="{&quot;isTemplate&quot;:true,&quot;type&quot;:&quot;text&quot;}"/>
          <p:cNvSpPr txBox="1"/>
          <p:nvPr/>
        </p:nvSpPr>
        <p:spPr>
          <a:xfrm rot="0" flipH="0" flipV="0">
            <a:off x="1400175" y="1819275"/>
            <a:ext cx="44767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2A2118"/>
                </a:solidFill>
                <a:latin typeface="Songti SC"/>
                <a:ea typeface="Songti SC"/>
              </a:rPr>
              <a:t>个棋种，共享一套引擎</a:t>
            </a:r>
            <a:endParaRPr/>
          </a:p>
        </p:txBody>
      </p:sp>
      <p:sp>
        <p:nvSpPr>
          <p:cNvPr id="682" name="" descr="{&quot;isTemplate&quot;:true,&quot;type&quot;:&quot;text&quot;}"/>
          <p:cNvSpPr txBox="1"/>
          <p:nvPr/>
        </p:nvSpPr>
        <p:spPr>
          <a:xfrm rot="0" flipH="0" flipV="0">
            <a:off x="1400175" y="2133600"/>
            <a:ext cx="4476750" cy="5715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200">
                <a:solidFill>
                  <a:srgbClr val="2A2118">
                    <a:alpha val="70000"/>
                  </a:srgbClr>
                </a:solidFill>
                <a:latin typeface="PingFang SC"/>
                <a:ea typeface="PingFang SC"/>
              </a:rPr>
              <a:t>六子棋</a:t>
            </a:r>
            <a:r>
              <a:rPr lang="en-US" sz="1200">
                <a:solidFill>
                  <a:srgbClr val="2A2118">
                    <a:alpha val="70000"/>
                  </a:srgbClr>
                </a:solidFill>
                <a:latin typeface="PingFang SC"/>
                <a:ea typeface="PingFang SC"/>
              </a:rPr>
              <a:t xml:space="preserve"> / </a:t>
            </a:r>
            <a:r>
              <a:rPr lang="zh-CN" sz="1200">
                <a:solidFill>
                  <a:srgbClr val="2A2118">
                    <a:alpha val="70000"/>
                  </a:srgbClr>
                </a:solidFill>
                <a:latin typeface="PingFang SC"/>
                <a:ea typeface="PingFang SC"/>
              </a:rPr>
              <a:t>五子棋</a:t>
            </a:r>
            <a:r>
              <a:rPr lang="en-US" sz="1200">
                <a:solidFill>
                  <a:srgbClr val="2A2118">
                    <a:alpha val="70000"/>
                  </a:srgbClr>
                </a:solidFill>
                <a:latin typeface="PingFang SC"/>
                <a:ea typeface="PingFang SC"/>
              </a:rPr>
              <a:t xml:space="preserve"> / </a:t>
            </a:r>
            <a:r>
              <a:rPr lang="zh-CN" sz="1200">
                <a:solidFill>
                  <a:srgbClr val="2A2118">
                    <a:alpha val="70000"/>
                  </a:srgbClr>
                </a:solidFill>
                <a:latin typeface="PingFang SC"/>
                <a:ea typeface="PingFang SC"/>
              </a:rPr>
              <a:t>中国象棋，差异被约束在棋盘尺寸、连子数、每轮子数、</a:t>
            </a:r>
            <a:r>
              <a:rPr lang="en-US" sz="1200">
                <a:solidFill>
                  <a:srgbClr val="2A2118">
                    <a:alpha val="70000"/>
                  </a:srgbClr>
                </a:solidFill>
                <a:latin typeface="PingFang SC"/>
                <a:ea typeface="PingFang SC"/>
              </a:rPr>
              <a:t xml:space="preserve">AI </a:t>
            </a:r>
            <a:r>
              <a:rPr lang="zh-CN" sz="1200">
                <a:solidFill>
                  <a:srgbClr val="2A2118">
                    <a:alpha val="70000"/>
                  </a:srgbClr>
                </a:solidFill>
                <a:latin typeface="PingFang SC"/>
                <a:ea typeface="PingFang SC"/>
              </a:rPr>
              <a:t>后端四个维度，其余全部复用。</a:t>
            </a:r>
            <a:endParaRPr/>
          </a:p>
        </p:txBody>
      </p:sp>
      <p:sp>
        <p:nvSpPr>
          <p:cNvPr id="683" name="" descr="{&quot;isTemplate&quot;:true,&quot;type&quot;:&quot;text&quot;}"/>
          <p:cNvSpPr txBox="1"/>
          <p:nvPr/>
        </p:nvSpPr>
        <p:spPr>
          <a:xfrm rot="0" flipH="0" flipV="0">
            <a:off x="685800" y="2990850"/>
            <a:ext cx="1533525" cy="11430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500" b="1">
                <a:solidFill>
                  <a:srgbClr val="8C5A2B"/>
                </a:solidFill>
                <a:latin typeface="Songti SC"/>
                <a:ea typeface="Songti SC"/>
              </a:rPr>
              <a:t>20+</a:t>
            </a:r>
            <a:endParaRPr/>
          </a:p>
        </p:txBody>
      </p:sp>
      <p:sp>
        <p:nvSpPr>
          <p:cNvPr id="684" name="" descr="{&quot;isTemplate&quot;:true,&quot;type&quot;:&quot;text&quot;}"/>
          <p:cNvSpPr txBox="1"/>
          <p:nvPr/>
        </p:nvSpPr>
        <p:spPr>
          <a:xfrm rot="0" flipH="0" flipV="0">
            <a:off x="2486025" y="3152775"/>
            <a:ext cx="44767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2A2118"/>
                </a:solidFill>
                <a:latin typeface="Songti SC"/>
                <a:ea typeface="Songti SC"/>
              </a:rPr>
              <a:t>个模块，全链路自研</a:t>
            </a:r>
            <a:endParaRPr/>
          </a:p>
        </p:txBody>
      </p:sp>
      <p:sp>
        <p:nvSpPr>
          <p:cNvPr id="685" name="" descr="{&quot;isTemplate&quot;:true,&quot;type&quot;:&quot;text&quot;}"/>
          <p:cNvSpPr txBox="1"/>
          <p:nvPr/>
        </p:nvSpPr>
        <p:spPr>
          <a:xfrm rot="0" flipH="0" flipV="0">
            <a:off x="2486025" y="3467100"/>
            <a:ext cx="4476750" cy="5715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200">
                <a:solidFill>
                  <a:srgbClr val="2A2118">
                    <a:alpha val="70000"/>
                  </a:srgbClr>
                </a:solidFill>
                <a:latin typeface="PingFang SC"/>
                <a:ea typeface="PingFang SC"/>
              </a:rPr>
              <a:t>覆盖渲染、音频、</a:t>
            </a:r>
            <a:r>
              <a:rPr lang="en-US" sz="1200">
                <a:solidFill>
                  <a:srgbClr val="2A2118">
                    <a:alpha val="70000"/>
                  </a:srgbClr>
                </a:solidFill>
                <a:latin typeface="PingFang SC"/>
                <a:ea typeface="PingFang SC"/>
              </a:rPr>
              <a:t xml:space="preserve">AI </a:t>
            </a:r>
            <a:r>
              <a:rPr lang="zh-CN" sz="1200">
                <a:solidFill>
                  <a:srgbClr val="2A2118">
                    <a:alpha val="70000"/>
                  </a:srgbClr>
                </a:solidFill>
                <a:latin typeface="PingFang SC"/>
                <a:ea typeface="PingFang SC"/>
              </a:rPr>
              <a:t>引擎、数据存档与打包分发，从界面到算法没有借外部框架。</a:t>
            </a:r>
            <a:endParaRPr/>
          </a:p>
        </p:txBody>
      </p:sp>
      <p:sp>
        <p:nvSpPr>
          <p:cNvPr id="686" name="" descr="{&quot;isTemplate&quot;:true,&quot;type&quot;:&quot;text&quot;}"/>
          <p:cNvSpPr txBox="1"/>
          <p:nvPr/>
        </p:nvSpPr>
        <p:spPr>
          <a:xfrm rot="0" flipH="0" flipV="0">
            <a:off x="685800" y="4324350"/>
            <a:ext cx="447675" cy="11430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500" b="1">
                <a:solidFill>
                  <a:srgbClr val="8C5A2B"/>
                </a:solidFill>
                <a:latin typeface="Songti SC"/>
                <a:ea typeface="Songti SC"/>
              </a:rPr>
              <a:t>5</a:t>
            </a:r>
            <a:endParaRPr/>
          </a:p>
        </p:txBody>
      </p:sp>
      <p:sp>
        <p:nvSpPr>
          <p:cNvPr id="687" name="" descr="{&quot;isTemplate&quot;:true,&quot;type&quot;:&quot;text&quot;}"/>
          <p:cNvSpPr txBox="1"/>
          <p:nvPr/>
        </p:nvSpPr>
        <p:spPr>
          <a:xfrm rot="0" flipH="0" flipV="0">
            <a:off x="1400175" y="4486275"/>
            <a:ext cx="44767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2A2118"/>
                </a:solidFill>
                <a:latin typeface="Songti SC"/>
                <a:ea typeface="Songti SC"/>
              </a:rPr>
              <a:t>轮迭代，每轮走完整闭环</a:t>
            </a:r>
            <a:endParaRPr/>
          </a:p>
        </p:txBody>
      </p:sp>
      <p:sp>
        <p:nvSpPr>
          <p:cNvPr id="688" name="" descr="{&quot;isTemplate&quot;:true,&quot;type&quot;:&quot;text&quot;}"/>
          <p:cNvSpPr txBox="1"/>
          <p:nvPr/>
        </p:nvSpPr>
        <p:spPr>
          <a:xfrm rot="0" flipH="0" flipV="0">
            <a:off x="1400175" y="4800600"/>
            <a:ext cx="4476750" cy="5715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200">
                <a:solidFill>
                  <a:srgbClr val="2A2118">
                    <a:alpha val="70000"/>
                  </a:srgbClr>
                </a:solidFill>
                <a:latin typeface="PingFang SC"/>
                <a:ea typeface="PingFang SC"/>
              </a:rPr>
              <a:t>每一轮都走完「现象</a:t>
            </a:r>
            <a:r>
              <a:rPr lang="en-US" sz="1200">
                <a:solidFill>
                  <a:srgbClr val="2A2118">
                    <a:alpha val="70000"/>
                  </a:srgbClr>
                </a:solidFill>
                <a:latin typeface="PingFang SC"/>
                <a:ea typeface="PingFang SC"/>
              </a:rPr>
              <a:t xml:space="preserve"> → </a:t>
            </a:r>
            <a:r>
              <a:rPr lang="zh-CN" sz="1200">
                <a:solidFill>
                  <a:srgbClr val="2A2118">
                    <a:alpha val="70000"/>
                  </a:srgbClr>
                </a:solidFill>
                <a:latin typeface="PingFang SC"/>
                <a:ea typeface="PingFang SC"/>
              </a:rPr>
              <a:t>根因</a:t>
            </a:r>
            <a:r>
              <a:rPr lang="en-US" sz="1200">
                <a:solidFill>
                  <a:srgbClr val="2A2118">
                    <a:alpha val="70000"/>
                  </a:srgbClr>
                </a:solidFill>
                <a:latin typeface="PingFang SC"/>
                <a:ea typeface="PingFang SC"/>
              </a:rPr>
              <a:t xml:space="preserve"> → </a:t>
            </a:r>
            <a:r>
              <a:rPr lang="zh-CN" sz="1200">
                <a:solidFill>
                  <a:srgbClr val="2A2118">
                    <a:alpha val="70000"/>
                  </a:srgbClr>
                </a:solidFill>
                <a:latin typeface="PingFang SC"/>
                <a:ea typeface="PingFang SC"/>
              </a:rPr>
              <a:t>修复</a:t>
            </a:r>
            <a:r>
              <a:rPr lang="en-US" sz="1200">
                <a:solidFill>
                  <a:srgbClr val="2A2118">
                    <a:alpha val="70000"/>
                  </a:srgbClr>
                </a:solidFill>
                <a:latin typeface="PingFang SC"/>
                <a:ea typeface="PingFang SC"/>
              </a:rPr>
              <a:t xml:space="preserve"> → </a:t>
            </a:r>
            <a:r>
              <a:rPr lang="zh-CN" sz="1200">
                <a:solidFill>
                  <a:srgbClr val="2A2118">
                    <a:alpha val="70000"/>
                  </a:srgbClr>
                </a:solidFill>
                <a:latin typeface="PingFang SC"/>
                <a:ea typeface="PingFang SC"/>
              </a:rPr>
              <a:t>验证」，没有一轮是表面修补。</a:t>
            </a:r>
            <a:endParaRPr/>
          </a:p>
        </p:txBody>
      </p:sp>
      <p:sp>
        <p:nvSpPr>
          <p:cNvPr id="689" name="" descr="{&quot;isTemplate&quot;:true,&quot;type&quot;:&quot;text&quot;}"/>
          <p:cNvSpPr txBox="1"/>
          <p:nvPr/>
        </p:nvSpPr>
        <p:spPr>
          <a:xfrm rot="0" flipH="0" flipV="0">
            <a:off x="685800" y="6172200"/>
            <a:ext cx="14478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2A2118">
                    <a:alpha val="55000"/>
                  </a:srgbClr>
                </a:solidFill>
                <a:latin typeface="PingFang SC"/>
                <a:ea typeface="PingFang SC"/>
              </a:rPr>
              <a:t>弈趣棋苑</a:t>
            </a:r>
            <a:r>
              <a:rPr lang="en-US" sz="1050">
                <a:solidFill>
                  <a:srgbClr val="2A2118">
                    <a:alpha val="55000"/>
                  </a:srgbClr>
                </a:solidFill>
                <a:latin typeface="PingFang SC"/>
                <a:ea typeface="PingFang SC"/>
              </a:rPr>
              <a:t xml:space="preserve"> · </a:t>
            </a:r>
            <a:r>
              <a:rPr lang="zh-CN" sz="1050">
                <a:solidFill>
                  <a:srgbClr val="2A2118">
                    <a:alpha val="55000"/>
                  </a:srgbClr>
                </a:solidFill>
                <a:latin typeface="PingFang SC"/>
                <a:ea typeface="PingFang SC"/>
              </a:rPr>
              <a:t>项目开发汇报</a:t>
            </a:r>
            <a:endParaRPr/>
          </a:p>
        </p:txBody>
      </p:sp>
      <p:sp>
        <p:nvSpPr>
          <p:cNvPr id="690" name="" descr="{&quot;isTemplate&quot;:true,&quot;type&quot;:&quot;text&quot;}"/>
          <p:cNvSpPr txBox="1"/>
          <p:nvPr/>
        </p:nvSpPr>
        <p:spPr>
          <a:xfrm rot="0" flipH="0" flipV="0">
            <a:off x="11049000" y="61722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2A2118">
                    <a:alpha val="55000"/>
                  </a:srgbClr>
                </a:solidFill>
                <a:latin typeface="PingFang SC"/>
                <a:ea typeface="PingFang SC"/>
              </a:rPr>
              <a:t>06 / 64</a:t>
            </a:r>
            <a:endParaRPr/>
          </a:p>
        </p:txBody>
      </p:sp>
    </p:spTree>
  </p:cSld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725" name="" descr="&lt;Slide style={{ width: 1280, height: 720, padding: &quot;20px 72px&quot;, background: &quot;#F5E3BE&quot;, flexDirection: &quot;column&quot; }}&gt;&#10;  &lt;Box style={{ width: &quot;100%&quot;, height: 96, flexDirection: &quot;column&quot;, justifyContent: &quot;center&quot; }}&gt;&#10;    &lt;Text style={{ fontSize: 34, fontWeight: &quot;bold&quot;, color: &quot;#2A2118&quot;, fontFamily: &quot;'Songti SC', 'STSong', 'SimSun', serif&quot; }}&gt;三种棋，一套引擎&lt;/Text&gt;&#10;    &lt;Box style={{ width: 56, height: 2, background: &quot;#B3271E&quot;, marginTop: 10 }} /&gt;&#10;  &lt;/Box&gt;&#10;  &lt;Box style={{ width: &quot;100%&quot;, height: 516, flexDirection: &quot;column&quot; }}&gt;&#10;  &lt;Box style={{ flexDirection: &quot;row&quot;, height: &quot;100%&quot;, gap: 28, alignItems: &quot;center&quot; }}&gt;&#10;    &lt;Box style={{ width: 760, flexDirection: &quot;column&quot;, justifyContent: &quot;center&quot; }}&gt;&#10;&lt;Box style={{ width: &quot;100%&quot;, flexDirection: &quot;column&quot;, gap: 0 }}&gt;&#10;&lt;Box style={{ width: &quot;100%&quot;, height: 48, flexDirection: &quot;row&quot; }}&gt;&#10;&lt;Box style={{ width: 140, height: &quot;100%&quot;, background: &quot;#8C5A2B&quot;, border: &quot;1px solid rgba(140,90,43,0.25)&quot;, padding: &quot;10px 14px&quot;, justifyContent: &quot;center&quot; }}&gt;&#10;  &lt;Text style={{ fontSize: 15, fontWeight: &quot;bold&quot;, color: &quot;#F5E3BE&quot;, fontFamily: &quot;'PingFang SC', 'Microsoft YaHei', sans-serif&quot;, lineHeight: 1.45 }}&gt;棋种&lt;/Text&gt;&#10;&lt;/Box&gt;&#10;&lt;Box style={{ width: 220, height: &quot;100%&quot;, background: &quot;#8C5A2B&quot;, border: &quot;1px solid rgba(140,90,43,0.25)&quot;, padding: &quot;10px 14px&quot;, justifyContent: &quot;center&quot; }}&gt;&#10;  &lt;Text style={{ fontSize: 15, fontWeight: &quot;bold&quot;, color: &quot;#F5E3BE&quot;, fontFamily: &quot;'PingFang SC', 'Microsoft YaHei', sans-serif&quot;, lineHeight: 1.45 }}&gt;棋盘 / 胜利&lt;/Text&gt;&#10;&lt;/Box&gt;&#10;&lt;Box style={{ width: 150, height: &quot;100%&quot;, background: &quot;#8C5A2B&quot;, border: &quot;1px solid rgba(140,90,43,0.25)&quot;, padding: &quot;10px 14px&quot;, justifyContent: &quot;center&quot; }}&gt;&#10;  &lt;Text style={{ fontSize: 15, fontWeight: &quot;bold&quot;, color: &quot;#F5E3BE&quot;, fontFamily: &quot;'PingFang SC', 'Microsoft YaHei', sans-serif&quot;, lineHeight: 1.45 }}&gt;每轮落子&lt;/Text&gt;&#10;&lt;/Box&gt;&#10;&lt;Box style={{ width: 250, height: &quot;100%&quot;, background: &quot;#8C5A2B&quot;, border: &quot;1px solid rgba(140,90,43,0.25)&quot;, padding: &quot;10px 14px&quot;, justifyContent: &quot;center&quot; }}&gt;&#10;  &lt;Text style={{ fontSize: 15, fontWeight: &quot;bold&quot;, color: &quot;#F5E3BE&quot;, fontFamily: &quot;'PingFang SC', 'Microsoft YaHei', sans-serif&quot;, lineHeight: 1.45 }}&gt;AI 后端&lt;/Text&gt;&#10;&lt;/Box&gt;&#10;&lt;/Box&gt;&#10;&lt;Box style={{ width: &quot;100%&quot;, height: 72, flexDirection: &quot;row&quot; }}&gt;&#10;&lt;Box style={{ width: 140, height: &quot;100%&quot;, background: &quot;rgba(140,90,43,0.05)&quot;, border: &quot;1px solid rgba(140,90,43,0.25)&quot;, padding: &quot;10px 14px&quot;, justifyContent: &quot;center&quot; }}&gt;&#10;  &lt;Text style={{ fontSize: 15, fontWeight: &quot;regular&quot;, color: &quot;#2A2118&quot;, fontFamily: &quot;'PingFang SC', 'Microsoft YaHei', sans-serif&quot;, lineHeight: 1.45 }}&gt;六子棋 Connect6&lt;/Text&gt;&#10;&lt;/Box&gt;&#10;&lt;Box style={{ width: 220, height: &quot;100%&quot;, background: &quot;rgba(140,90,43,0.05)&quot;, border: &quot;1px solid rgba(140,90,43,0.25)&quot;, padding: &quot;10px 14px&quot;, justifyContent: &quot;center&quot; }}&gt;&#10;  &lt;Text style={{ fontSize: 15, fontWeight: &quot;regular&quot;, color: &quot;#2A2118&quot;, fontFamily: &quot;'PingFang SC', 'Microsoft YaHei', sans-serif&quot;, lineHeight: 1.45 }}&gt;19×19 · 连六&lt;/Text&gt;&#10;&lt;/Box&gt;&#10;&lt;Box style={{ width: 150, height: &quot;100%&quot;, background: &quot;rgba(140,90,43,0.05)&quot;, border: &quot;1px solid rgba(140,90,43,0.25)&quot;, padding: &quot;10px 14px&quot;, justifyContent: &quot;center&quot; }}&gt;&#10;  &lt;Text style={{ fontSize: 15, fontWeight: &quot;regular&quot;, color: &quot;#2A2118&quot;, fontFamily: &quot;'PingFang SC', 'Microsoft YaHei', sans-serif&quot;, lineHeight: 1.45 }}&gt;1~2 子&lt;/Text&gt;&#10;&lt;/Box&gt;&#10;&lt;Box style={{ width: 250, height: &quot;100%&quot;, background: &quot;rgba(140,90,43,0.05)&quot;, border: &quot;1px solid rgba(140,90,43,0.25)&quot;, padding: &quot;10px 14px&quot;, justifyContent: &quot;center&quot; }}&gt;&#10;  &lt;Text style={{ fontSize: 15, fontWeight: &quot;regular&quot;, color: &quot;#2A2118&quot;, fontFamily: &quot;'PingFang SC', 'Microsoft YaHei', sans-serif&quot;, lineHeight: 1.45 }}&gt;自研 AlphaBeta + TSS&lt;/Text&gt;&#10;&lt;/Box&gt;&#10;&lt;/Box&gt;&#10;&lt;Box style={{ width: &quot;100%&quot;, height: 72, flexDirection: &quot;row&quot; }}&gt;&#10;&lt;Box style={{ width: 140, height: &quot;100%&quot;, background: &quot;rgba(140,90,43,0.05)&quot;, border: &quot;1px solid rgba(140,90,43,0.25)&quot;, padding: &quot;10px 14px&quot;, justifyContent: &quot;center&quot; }}&gt;&#10;  &lt;Text style={{ fontSize: 15, fontWeight: &quot;regular&quot;, color: &quot;#2A2118&quot;, fontFamily: &quot;'PingFang SC', 'Microsoft YaHei', sans-serif&quot;, lineHeight: 1.45 }}&gt;五子棋 Gomoku&lt;/Text&gt;&#10;&lt;/Box&gt;&#10;&lt;Box style={{ width: 220, height: &quot;100%&quot;, background: &quot;rgba(140,90,43,0.05)&quot;, border: &quot;1px solid rgba(140,90,43,0.25)&quot;, padding: &quot;10px 14px&quot;, justifyContent: &quot;center&quot; }}&gt;&#10;  &lt;Text style={{ fontSize: 15, fontWeight: &quot;regular&quot;, color: &quot;#2A2118&quot;, fontFamily: &quot;'PingFang SC', 'Microsoft YaHei', sans-serif&quot;, lineHeight: 1.45 }}&gt;15×15 · 连五&lt;/Text&gt;&#10;&lt;/Box&gt;&#10;&lt;Box style={{ width: 150, height: &quot;100%&quot;, background: &quot;rgba(140,90,43,0.05)&quot;, border: &quot;1px solid rgba(140,90,43,0.25)&quot;, padding: &quot;10px 14px&quot;, justifyContent: &quot;center&quot; }}&gt;&#10;  &lt;Text style={{ fontSize: 15, fontWeight: &quot;regular&quot;, color: &quot;#2A2118&quot;, fontFamily: &quot;'PingFang SC', 'Microsoft YaHei', sans-serif&quot;, lineHeight: 1.45 }}&gt;1 子&lt;/Text&gt;&#10;&lt;/Box&gt;&#10;&lt;Box style={{ width: 250, height: &quot;100%&quot;, background: &quot;rgba(140,90,43,0.05)&quot;, border: &quot;1px solid rgba(140,90,43,0.25)&quot;, padding: &quot;10px 14px&quot;, justifyContent: &quot;center&quot; }}&gt;&#10;  &lt;Text style={{ fontSize: 15, fontWeight: &quot;regular&quot;, color: &quot;#2A2118&quot;, fontFamily: &quot;'PingFang SC', 'Microsoft YaHei', sans-serif&quot;, lineHeight: 1.45 }}&gt;自研 AlphaBeta + VCF/VCT&lt;/Text&gt;&#10;&lt;/Box&gt;&#10;&lt;/Box&gt;&#10;&lt;Box style={{ width: &quot;100%&quot;, height: 72, flexDirection: &quot;row&quot; }}&gt;&#10;&lt;Box style={{ width: 140, height: &quot;100%&quot;, background: &quot;rgba(140,90,43,0.05)&quot;, border: &quot;1px solid rgba(140,90,43,0.25)&quot;, padding: &quot;10px 14px&quot;, justifyContent: &quot;center&quot; }}&gt;&#10;  &lt;Text style={{ fontSize: 15, fontWeight: &quot;regular&quot;, color: &quot;#2A2118&quot;, fontFamily: &quot;'PingFang SC', 'Microsoft YaHei', sans-serif&quot;, lineHeight: 1.45 }}&gt;中国象棋 Xiangqi&lt;/Text&gt;&#10;&lt;/Box&gt;&#10;&lt;Box style={{ width: 220, height: &quot;100%&quot;, background: &quot;rgba(140,90,43,0.05)&quot;, border: &quot;1px solid rgba(140,90,43,0.25)&quot;, padding: &quot;10px 14px&quot;, justifyContent: &quot;center&quot; }}&gt;&#10;  &lt;Text style={{ fontSize: 15, fontWeight: &quot;regular&quot;, color: &quot;#2A2118&quot;, fontFamily: &quot;'PingFang SC', 'Microsoft YaHei', sans-serif&quot;, lineHeight: 1.45 }}&gt;9×10 · 将死&lt;/Text&gt;&#10;&lt;/Box&gt;&#10;&lt;Box style={{ width: 150, height: &quot;100%&quot;, background: &quot;rgba(140,90,43,0.05)&quot;, border: &quot;1px solid rgba(140,90,43,0.25)&quot;, padding: &quot;10px 14px&quot;, justifyContent: &quot;center&quot; }}&gt;&#10;  &lt;Text style={{ fontSize: 15, fontWeight: &quot;regular&quot;, color: &quot;#2A2118&quot;, fontFamily: &quot;'PingFang SC', 'Microsoft YaHei', sans-serif&quot;, lineHeight: 1.45 }}&gt;1 子&lt;/Text&gt;&#10;&lt;/Box&gt;&#10;&lt;Box style={{ width: 250, height: &quot;100%&quot;, background: &quot;rgba(140,90,43,0.05)&quot;, border: &quot;1px solid rgba(140,90,43,0.25)&quot;, padding: &quot;10px 14px&quot;, justifyContent: &quot;center&quot; }}&gt;&#10;  &lt;Text style={{ fontSize: 15, fontWeight: &quot;regular&quot;, color: &quot;#2A2118&quot;, fontFamily: &quot;'PingFang SC', 'Microsoft YaHei', sans-serif&quot;, lineHeight: 1.45 }}&gt;本地 Pikafish NNUE&lt;/Text&gt;&#10;&lt;/Box&gt;&#10;&lt;/Box&gt;&#10;&lt;/Box&gt;&#10;    &lt;/Box&gt;&#10;    &lt;Box style={{ flex: 1, flexDirection: &quot;column&quot;, justifyContent: &quot;center&quot;, gap: 14 }}&gt;&#10;    &lt;Text style={{ fontSize: 18, lineHeight: 1.7, color: &quot;#2A2118&quot;, fontFamily: &quot;'PingFang SC', 'Microsoft YaHei', sans-serif&quot;, marginBottom: 10 }}&gt;差异被严格约束在四个维度——棋盘尺寸 / 连子数 / 每轮子数 / AI 后端。&lt;/Text&gt;&#10;    &lt;Text style={{ fontSize: 17, lineHeight: 1.7, color: &quot;rgba(42,33,24,0.72)&quot;, fontFamily: &quot;'PingFang SC', 'Microsoft YaHei', sans-serif&quot;, marginBottom: 14 }}&gt;渲染、音效、主题、存档这四块，三棋种跑的是同一份代码。新增棋种≈接入规则 + 选后端，界面零重复建设。&lt;/Text&gt;&#10;    &lt;/Box&gt;&#10;  &lt;/Box&gt;&#10;  &lt;/Box&gt;&#10;  &lt;Box style={{ width: &quot;100%&quot;, height: 48, flexDirection: &quot;row&quot;, alignItems: &quot;center&quot;, justifyContent: &quot;space-between&quot; }}&gt;&#10;    &lt;Text style={{ fontSize: 14, color: &quot;rgba(42,33,24,0.55)&quot;, fontFamily: &quot;'PingFang SC', 'Microsoft YaHei', sans-serif&quot; }}&gt;弈趣棋苑 · 项目开发汇报&lt;/Text&gt;&#10;    &lt;Text style={{ fontSize: 14, color: &quot;rgba(42,33,24,0.55)&quot;, fontFamily: &quot;'PingFang SC', 'Microsoft YaHei', sans-serif&quot; }}&gt;07 / 64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5E3BE"/>
          </a:solidFill>
          <a:ln/>
        </p:spPr>
        <p:txBody>
          <a:bodyPr/>
          <a:p/>
        </p:txBody>
      </p:sp>
      <p:sp>
        <p:nvSpPr>
          <p:cNvPr id="727" name="" descr="{&quot;isTemplate&quot;:true,&quot;type&quot;:&quot;text&quot;}"/>
          <p:cNvSpPr txBox="1"/>
          <p:nvPr/>
        </p:nvSpPr>
        <p:spPr>
          <a:xfrm rot="0" flipH="0" flipV="0">
            <a:off x="685800" y="400050"/>
            <a:ext cx="108204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A2118"/>
                </a:solidFill>
                <a:latin typeface="Songti SC"/>
                <a:ea typeface="Songti SC"/>
              </a:rPr>
              <a:t>三种棋，一套引擎</a:t>
            </a:r>
            <a:endParaRPr/>
          </a:p>
        </p:txBody>
      </p:sp>
      <p:sp>
        <p:nvSpPr>
          <p:cNvPr id="728" name=""/>
          <p:cNvSpPr/>
          <p:nvPr/>
        </p:nvSpPr>
        <p:spPr>
          <a:xfrm rot="0" flipH="0" flipV="0">
            <a:off x="685800" y="885825"/>
            <a:ext cx="533400" cy="19050"/>
          </a:xfrm>
          <a:prstGeom prst="rect">
            <a:avLst/>
          </a:prstGeom>
          <a:solidFill>
            <a:srgbClr val="B3271E"/>
          </a:solidFill>
          <a:ln/>
        </p:spPr>
        <p:txBody>
          <a:bodyPr/>
          <a:p/>
        </p:txBody>
      </p:sp>
      <p:sp>
        <p:nvSpPr>
          <p:cNvPr id="729" name=""/>
          <p:cNvSpPr/>
          <p:nvPr/>
        </p:nvSpPr>
        <p:spPr>
          <a:xfrm rot="0" flipH="0" flipV="0">
            <a:off x="685800" y="2305050"/>
            <a:ext cx="1333500" cy="457200"/>
          </a:xfrm>
          <a:prstGeom prst="rect">
            <a:avLst/>
          </a:prstGeom>
          <a:solidFill>
            <a:srgbClr val="8C5A2B"/>
          </a:solidFill>
          <a:ln w="12700">
            <a:solidFill>
              <a:srgbClr val="8C5A2B">
                <a:alpha val="2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730" name="" descr="{&quot;isTemplate&quot;:true,&quot;type&quot;:&quot;text&quot;}"/>
          <p:cNvSpPr txBox="1"/>
          <p:nvPr/>
        </p:nvSpPr>
        <p:spPr>
          <a:xfrm rot="0" flipH="0" flipV="0">
            <a:off x="819150" y="2409825"/>
            <a:ext cx="1066800" cy="2571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125" b="1">
                <a:solidFill>
                  <a:srgbClr val="F5E3BE"/>
                </a:solidFill>
                <a:latin typeface="PingFang SC"/>
                <a:ea typeface="PingFang SC"/>
              </a:rPr>
              <a:t>棋种</a:t>
            </a:r>
            <a:endParaRPr/>
          </a:p>
        </p:txBody>
      </p:sp>
      <p:sp>
        <p:nvSpPr>
          <p:cNvPr id="731" name=""/>
          <p:cNvSpPr/>
          <p:nvPr/>
        </p:nvSpPr>
        <p:spPr>
          <a:xfrm rot="0" flipH="0" flipV="0">
            <a:off x="2019300" y="2305050"/>
            <a:ext cx="2095500" cy="457200"/>
          </a:xfrm>
          <a:prstGeom prst="rect">
            <a:avLst/>
          </a:prstGeom>
          <a:solidFill>
            <a:srgbClr val="8C5A2B"/>
          </a:solidFill>
          <a:ln w="12700">
            <a:solidFill>
              <a:srgbClr val="8C5A2B">
                <a:alpha val="2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732" name="" descr="{&quot;isTemplate&quot;:true,&quot;type&quot;:&quot;text&quot;}"/>
          <p:cNvSpPr txBox="1"/>
          <p:nvPr/>
        </p:nvSpPr>
        <p:spPr>
          <a:xfrm rot="0" flipH="0" flipV="0">
            <a:off x="2152650" y="2409825"/>
            <a:ext cx="1828800" cy="2571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125" b="1">
                <a:solidFill>
                  <a:srgbClr val="F5E3BE"/>
                </a:solidFill>
                <a:latin typeface="PingFang SC"/>
                <a:ea typeface="PingFang SC"/>
              </a:rPr>
              <a:t>棋盘</a:t>
            </a:r>
            <a:r>
              <a:rPr lang="en-US" sz="1125" b="1">
                <a:solidFill>
                  <a:srgbClr val="F5E3BE"/>
                </a:solidFill>
                <a:latin typeface="PingFang SC"/>
                <a:ea typeface="PingFang SC"/>
              </a:rPr>
              <a:t xml:space="preserve"> / </a:t>
            </a:r>
            <a:r>
              <a:rPr lang="zh-CN" sz="1125" b="1">
                <a:solidFill>
                  <a:srgbClr val="F5E3BE"/>
                </a:solidFill>
                <a:latin typeface="PingFang SC"/>
                <a:ea typeface="PingFang SC"/>
              </a:rPr>
              <a:t>胜利</a:t>
            </a:r>
            <a:endParaRPr/>
          </a:p>
        </p:txBody>
      </p:sp>
      <p:sp>
        <p:nvSpPr>
          <p:cNvPr id="733" name=""/>
          <p:cNvSpPr/>
          <p:nvPr/>
        </p:nvSpPr>
        <p:spPr>
          <a:xfrm rot="0" flipH="0" flipV="0">
            <a:off x="4114800" y="2305050"/>
            <a:ext cx="1428750" cy="457200"/>
          </a:xfrm>
          <a:prstGeom prst="rect">
            <a:avLst/>
          </a:prstGeom>
          <a:solidFill>
            <a:srgbClr val="8C5A2B"/>
          </a:solidFill>
          <a:ln w="12700">
            <a:solidFill>
              <a:srgbClr val="8C5A2B">
                <a:alpha val="2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734" name="" descr="{&quot;isTemplate&quot;:true,&quot;type&quot;:&quot;text&quot;}"/>
          <p:cNvSpPr txBox="1"/>
          <p:nvPr/>
        </p:nvSpPr>
        <p:spPr>
          <a:xfrm rot="0" flipH="0" flipV="0">
            <a:off x="4248150" y="2409825"/>
            <a:ext cx="1162050" cy="2571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125" b="1">
                <a:solidFill>
                  <a:srgbClr val="F5E3BE"/>
                </a:solidFill>
                <a:latin typeface="PingFang SC"/>
                <a:ea typeface="PingFang SC"/>
              </a:rPr>
              <a:t>每轮落子</a:t>
            </a:r>
            <a:endParaRPr/>
          </a:p>
        </p:txBody>
      </p:sp>
      <p:sp>
        <p:nvSpPr>
          <p:cNvPr id="735" name=""/>
          <p:cNvSpPr/>
          <p:nvPr/>
        </p:nvSpPr>
        <p:spPr>
          <a:xfrm rot="0" flipH="0" flipV="0">
            <a:off x="5543550" y="2305050"/>
            <a:ext cx="2381250" cy="457200"/>
          </a:xfrm>
          <a:prstGeom prst="rect">
            <a:avLst/>
          </a:prstGeom>
          <a:solidFill>
            <a:srgbClr val="8C5A2B"/>
          </a:solidFill>
          <a:ln w="12700">
            <a:solidFill>
              <a:srgbClr val="8C5A2B">
                <a:alpha val="2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736" name="" descr="{&quot;isTemplate&quot;:true,&quot;type&quot;:&quot;text&quot;}"/>
          <p:cNvSpPr txBox="1"/>
          <p:nvPr/>
        </p:nvSpPr>
        <p:spPr>
          <a:xfrm rot="0" flipH="0" flipV="0">
            <a:off x="5676900" y="2409825"/>
            <a:ext cx="2114550" cy="2571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1125" b="1">
                <a:solidFill>
                  <a:srgbClr val="F5E3BE"/>
                </a:solidFill>
                <a:latin typeface="PingFang SC"/>
                <a:ea typeface="PingFang SC"/>
              </a:rPr>
              <a:t xml:space="preserve">AI </a:t>
            </a:r>
            <a:r>
              <a:rPr lang="zh-CN" sz="1125" b="1">
                <a:solidFill>
                  <a:srgbClr val="F5E3BE"/>
                </a:solidFill>
                <a:latin typeface="PingFang SC"/>
                <a:ea typeface="PingFang SC"/>
              </a:rPr>
              <a:t>后端</a:t>
            </a:r>
            <a:endParaRPr/>
          </a:p>
        </p:txBody>
      </p:sp>
      <p:sp>
        <p:nvSpPr>
          <p:cNvPr id="737" name=""/>
          <p:cNvSpPr/>
          <p:nvPr/>
        </p:nvSpPr>
        <p:spPr>
          <a:xfrm rot="0" flipH="0" flipV="0">
            <a:off x="685800" y="2762250"/>
            <a:ext cx="1333500" cy="685800"/>
          </a:xfrm>
          <a:prstGeom prst="rect">
            <a:avLst/>
          </a:prstGeom>
          <a:solidFill>
            <a:srgbClr val="8C5A2B">
              <a:alpha val="5000"/>
            </a:srgbClr>
          </a:solidFill>
          <a:ln w="12700">
            <a:solidFill>
              <a:srgbClr val="8C5A2B">
                <a:alpha val="2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738" name="" descr="{&quot;isTemplate&quot;:true,&quot;type&quot;:&quot;text&quot;}"/>
          <p:cNvSpPr txBox="1"/>
          <p:nvPr/>
        </p:nvSpPr>
        <p:spPr>
          <a:xfrm rot="0" flipH="0" flipV="0">
            <a:off x="819150" y="2857500"/>
            <a:ext cx="1066800" cy="5048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1125">
                <a:solidFill>
                  <a:srgbClr val="2A2118"/>
                </a:solidFill>
                <a:latin typeface="PingFang SC"/>
                <a:ea typeface="PingFang SC"/>
              </a:rPr>
              <a:t>六子棋</a:t>
            </a:r>
            <a:r>
              <a:rPr lang="en-US" sz="1125">
                <a:solidFill>
                  <a:srgbClr val="2A2118"/>
                </a:solidFill>
                <a:latin typeface="PingFang SC"/>
                <a:ea typeface="PingFang SC"/>
              </a:rPr>
              <a:t xml:space="preserve"> Connect6</a:t>
            </a:r>
            <a:endParaRPr/>
          </a:p>
        </p:txBody>
      </p:sp>
      <p:sp>
        <p:nvSpPr>
          <p:cNvPr id="739" name=""/>
          <p:cNvSpPr/>
          <p:nvPr/>
        </p:nvSpPr>
        <p:spPr>
          <a:xfrm rot="0" flipH="0" flipV="0">
            <a:off x="2019300" y="2762250"/>
            <a:ext cx="2095500" cy="685800"/>
          </a:xfrm>
          <a:prstGeom prst="rect">
            <a:avLst/>
          </a:prstGeom>
          <a:solidFill>
            <a:srgbClr val="8C5A2B">
              <a:alpha val="5000"/>
            </a:srgbClr>
          </a:solidFill>
          <a:ln w="12700">
            <a:solidFill>
              <a:srgbClr val="8C5A2B">
                <a:alpha val="2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740" name="" descr="{&quot;isTemplate&quot;:true,&quot;type&quot;:&quot;text&quot;}"/>
          <p:cNvSpPr txBox="1"/>
          <p:nvPr/>
        </p:nvSpPr>
        <p:spPr>
          <a:xfrm rot="0" flipH="0" flipV="0">
            <a:off x="2152650" y="2981325"/>
            <a:ext cx="1828800" cy="2571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1125">
                <a:solidFill>
                  <a:srgbClr val="2A2118"/>
                </a:solidFill>
                <a:latin typeface="PingFang SC"/>
                <a:ea typeface="PingFang SC"/>
              </a:rPr>
              <a:t xml:space="preserve">19×19 · </a:t>
            </a:r>
            <a:r>
              <a:rPr lang="zh-CN" sz="1125">
                <a:solidFill>
                  <a:srgbClr val="2A2118"/>
                </a:solidFill>
                <a:latin typeface="PingFang SC"/>
                <a:ea typeface="PingFang SC"/>
              </a:rPr>
              <a:t>连六</a:t>
            </a:r>
            <a:endParaRPr/>
          </a:p>
        </p:txBody>
      </p:sp>
      <p:sp>
        <p:nvSpPr>
          <p:cNvPr id="741" name=""/>
          <p:cNvSpPr/>
          <p:nvPr/>
        </p:nvSpPr>
        <p:spPr>
          <a:xfrm rot="0" flipH="0" flipV="0">
            <a:off x="4114800" y="2762250"/>
            <a:ext cx="1428750" cy="685800"/>
          </a:xfrm>
          <a:prstGeom prst="rect">
            <a:avLst/>
          </a:prstGeom>
          <a:solidFill>
            <a:srgbClr val="8C5A2B">
              <a:alpha val="5000"/>
            </a:srgbClr>
          </a:solidFill>
          <a:ln w="12700">
            <a:solidFill>
              <a:srgbClr val="8C5A2B">
                <a:alpha val="2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742" name="" descr="{&quot;isTemplate&quot;:true,&quot;type&quot;:&quot;text&quot;}"/>
          <p:cNvSpPr txBox="1"/>
          <p:nvPr/>
        </p:nvSpPr>
        <p:spPr>
          <a:xfrm rot="0" flipH="0" flipV="0">
            <a:off x="4248150" y="2981325"/>
            <a:ext cx="1162050" cy="2571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1125">
                <a:solidFill>
                  <a:srgbClr val="2A2118"/>
                </a:solidFill>
                <a:latin typeface="PingFang SC"/>
                <a:ea typeface="PingFang SC"/>
              </a:rPr>
              <a:t xml:space="preserve">1~2 </a:t>
            </a:r>
            <a:r>
              <a:rPr lang="zh-CN" sz="1125">
                <a:solidFill>
                  <a:srgbClr val="2A2118"/>
                </a:solidFill>
                <a:latin typeface="PingFang SC"/>
                <a:ea typeface="PingFang SC"/>
              </a:rPr>
              <a:t>子</a:t>
            </a:r>
            <a:endParaRPr/>
          </a:p>
        </p:txBody>
      </p:sp>
      <p:sp>
        <p:nvSpPr>
          <p:cNvPr id="743" name=""/>
          <p:cNvSpPr/>
          <p:nvPr/>
        </p:nvSpPr>
        <p:spPr>
          <a:xfrm rot="0" flipH="0" flipV="0">
            <a:off x="5543550" y="2762250"/>
            <a:ext cx="2381250" cy="685800"/>
          </a:xfrm>
          <a:prstGeom prst="rect">
            <a:avLst/>
          </a:prstGeom>
          <a:solidFill>
            <a:srgbClr val="8C5A2B">
              <a:alpha val="5000"/>
            </a:srgbClr>
          </a:solidFill>
          <a:ln w="12700">
            <a:solidFill>
              <a:srgbClr val="8C5A2B">
                <a:alpha val="2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744" name="" descr="{&quot;isTemplate&quot;:true,&quot;type&quot;:&quot;text&quot;}"/>
          <p:cNvSpPr txBox="1"/>
          <p:nvPr/>
        </p:nvSpPr>
        <p:spPr>
          <a:xfrm rot="0" flipH="0" flipV="0">
            <a:off x="5676900" y="2981325"/>
            <a:ext cx="2114550" cy="2571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125">
                <a:solidFill>
                  <a:srgbClr val="2A2118"/>
                </a:solidFill>
                <a:latin typeface="PingFang SC"/>
                <a:ea typeface="PingFang SC"/>
              </a:rPr>
              <a:t>自研</a:t>
            </a:r>
            <a:r>
              <a:rPr lang="en-US" sz="1125">
                <a:solidFill>
                  <a:srgbClr val="2A2118"/>
                </a:solidFill>
                <a:latin typeface="PingFang SC"/>
                <a:ea typeface="PingFang SC"/>
              </a:rPr>
              <a:t xml:space="preserve"> AlphaBeta + TSS</a:t>
            </a:r>
            <a:endParaRPr/>
          </a:p>
        </p:txBody>
      </p:sp>
      <p:sp>
        <p:nvSpPr>
          <p:cNvPr id="745" name=""/>
          <p:cNvSpPr/>
          <p:nvPr/>
        </p:nvSpPr>
        <p:spPr>
          <a:xfrm rot="0" flipH="0" flipV="0">
            <a:off x="685800" y="3448050"/>
            <a:ext cx="1333500" cy="685800"/>
          </a:xfrm>
          <a:prstGeom prst="rect">
            <a:avLst/>
          </a:prstGeom>
          <a:solidFill>
            <a:srgbClr val="8C5A2B">
              <a:alpha val="5000"/>
            </a:srgbClr>
          </a:solidFill>
          <a:ln w="12700">
            <a:solidFill>
              <a:srgbClr val="8C5A2B">
                <a:alpha val="2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746" name="" descr="{&quot;isTemplate&quot;:true,&quot;type&quot;:&quot;text&quot;}"/>
          <p:cNvSpPr txBox="1"/>
          <p:nvPr/>
        </p:nvSpPr>
        <p:spPr>
          <a:xfrm rot="0" flipH="0" flipV="0">
            <a:off x="819150" y="3667125"/>
            <a:ext cx="1066800" cy="2571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125">
                <a:solidFill>
                  <a:srgbClr val="2A2118"/>
                </a:solidFill>
                <a:latin typeface="PingFang SC"/>
                <a:ea typeface="PingFang SC"/>
              </a:rPr>
              <a:t>五子棋</a:t>
            </a:r>
            <a:r>
              <a:rPr lang="en-US" sz="1125">
                <a:solidFill>
                  <a:srgbClr val="2A2118"/>
                </a:solidFill>
                <a:latin typeface="PingFang SC"/>
                <a:ea typeface="PingFang SC"/>
              </a:rPr>
              <a:t xml:space="preserve"> Gomoku</a:t>
            </a:r>
            <a:endParaRPr/>
          </a:p>
        </p:txBody>
      </p:sp>
      <p:sp>
        <p:nvSpPr>
          <p:cNvPr id="747" name=""/>
          <p:cNvSpPr/>
          <p:nvPr/>
        </p:nvSpPr>
        <p:spPr>
          <a:xfrm rot="0" flipH="0" flipV="0">
            <a:off x="2019300" y="3448050"/>
            <a:ext cx="2095500" cy="685800"/>
          </a:xfrm>
          <a:prstGeom prst="rect">
            <a:avLst/>
          </a:prstGeom>
          <a:solidFill>
            <a:srgbClr val="8C5A2B">
              <a:alpha val="5000"/>
            </a:srgbClr>
          </a:solidFill>
          <a:ln w="12700">
            <a:solidFill>
              <a:srgbClr val="8C5A2B">
                <a:alpha val="2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748" name="" descr="{&quot;isTemplate&quot;:true,&quot;type&quot;:&quot;text&quot;}"/>
          <p:cNvSpPr txBox="1"/>
          <p:nvPr/>
        </p:nvSpPr>
        <p:spPr>
          <a:xfrm rot="0" flipH="0" flipV="0">
            <a:off x="2152650" y="3667125"/>
            <a:ext cx="1828800" cy="2571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1125">
                <a:solidFill>
                  <a:srgbClr val="2A2118"/>
                </a:solidFill>
                <a:latin typeface="PingFang SC"/>
                <a:ea typeface="PingFang SC"/>
              </a:rPr>
              <a:t xml:space="preserve">15×15 · </a:t>
            </a:r>
            <a:r>
              <a:rPr lang="zh-CN" sz="1125">
                <a:solidFill>
                  <a:srgbClr val="2A2118"/>
                </a:solidFill>
                <a:latin typeface="PingFang SC"/>
                <a:ea typeface="PingFang SC"/>
              </a:rPr>
              <a:t>连五</a:t>
            </a:r>
            <a:endParaRPr/>
          </a:p>
        </p:txBody>
      </p:sp>
      <p:sp>
        <p:nvSpPr>
          <p:cNvPr id="749" name=""/>
          <p:cNvSpPr/>
          <p:nvPr/>
        </p:nvSpPr>
        <p:spPr>
          <a:xfrm rot="0" flipH="0" flipV="0">
            <a:off x="4114800" y="3448050"/>
            <a:ext cx="1428750" cy="685800"/>
          </a:xfrm>
          <a:prstGeom prst="rect">
            <a:avLst/>
          </a:prstGeom>
          <a:solidFill>
            <a:srgbClr val="8C5A2B">
              <a:alpha val="5000"/>
            </a:srgbClr>
          </a:solidFill>
          <a:ln w="12700">
            <a:solidFill>
              <a:srgbClr val="8C5A2B">
                <a:alpha val="2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750" name="" descr="{&quot;isTemplate&quot;:true,&quot;type&quot;:&quot;text&quot;}"/>
          <p:cNvSpPr txBox="1"/>
          <p:nvPr/>
        </p:nvSpPr>
        <p:spPr>
          <a:xfrm rot="0" flipH="0" flipV="0">
            <a:off x="4248150" y="3667125"/>
            <a:ext cx="1162050" cy="2571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1125">
                <a:solidFill>
                  <a:srgbClr val="2A2118"/>
                </a:solidFill>
                <a:latin typeface="PingFang SC"/>
                <a:ea typeface="PingFang SC"/>
              </a:rPr>
              <a:t xml:space="preserve">1 </a:t>
            </a:r>
            <a:r>
              <a:rPr lang="zh-CN" sz="1125">
                <a:solidFill>
                  <a:srgbClr val="2A2118"/>
                </a:solidFill>
                <a:latin typeface="PingFang SC"/>
                <a:ea typeface="PingFang SC"/>
              </a:rPr>
              <a:t>子</a:t>
            </a:r>
            <a:endParaRPr/>
          </a:p>
        </p:txBody>
      </p:sp>
      <p:sp>
        <p:nvSpPr>
          <p:cNvPr id="751" name=""/>
          <p:cNvSpPr/>
          <p:nvPr/>
        </p:nvSpPr>
        <p:spPr>
          <a:xfrm rot="0" flipH="0" flipV="0">
            <a:off x="5543550" y="3448050"/>
            <a:ext cx="2381250" cy="685800"/>
          </a:xfrm>
          <a:prstGeom prst="rect">
            <a:avLst/>
          </a:prstGeom>
          <a:solidFill>
            <a:srgbClr val="8C5A2B">
              <a:alpha val="5000"/>
            </a:srgbClr>
          </a:solidFill>
          <a:ln w="12700">
            <a:solidFill>
              <a:srgbClr val="8C5A2B">
                <a:alpha val="2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752" name="" descr="{&quot;isTemplate&quot;:true,&quot;type&quot;:&quot;text&quot;}"/>
          <p:cNvSpPr txBox="1"/>
          <p:nvPr/>
        </p:nvSpPr>
        <p:spPr>
          <a:xfrm rot="0" flipH="0" flipV="0">
            <a:off x="5676900" y="3667125"/>
            <a:ext cx="2114550" cy="2571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125">
                <a:solidFill>
                  <a:srgbClr val="2A2118"/>
                </a:solidFill>
                <a:latin typeface="PingFang SC"/>
                <a:ea typeface="PingFang SC"/>
              </a:rPr>
              <a:t>自研</a:t>
            </a:r>
            <a:r>
              <a:rPr lang="en-US" sz="1125">
                <a:solidFill>
                  <a:srgbClr val="2A2118"/>
                </a:solidFill>
                <a:latin typeface="PingFang SC"/>
                <a:ea typeface="PingFang SC"/>
              </a:rPr>
              <a:t xml:space="preserve"> AlphaBeta + VCF/VCT</a:t>
            </a:r>
            <a:endParaRPr/>
          </a:p>
        </p:txBody>
      </p:sp>
      <p:sp>
        <p:nvSpPr>
          <p:cNvPr id="753" name=""/>
          <p:cNvSpPr/>
          <p:nvPr/>
        </p:nvSpPr>
        <p:spPr>
          <a:xfrm rot="0" flipH="0" flipV="0">
            <a:off x="685800" y="4133850"/>
            <a:ext cx="1333500" cy="685800"/>
          </a:xfrm>
          <a:prstGeom prst="rect">
            <a:avLst/>
          </a:prstGeom>
          <a:solidFill>
            <a:srgbClr val="8C5A2B">
              <a:alpha val="5000"/>
            </a:srgbClr>
          </a:solidFill>
          <a:ln w="12700">
            <a:solidFill>
              <a:srgbClr val="8C5A2B">
                <a:alpha val="2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754" name="" descr="{&quot;isTemplate&quot;:true,&quot;type&quot;:&quot;text&quot;}"/>
          <p:cNvSpPr txBox="1"/>
          <p:nvPr/>
        </p:nvSpPr>
        <p:spPr>
          <a:xfrm rot="0" flipH="0" flipV="0">
            <a:off x="819150" y="4229100"/>
            <a:ext cx="1066800" cy="5048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1125">
                <a:solidFill>
                  <a:srgbClr val="2A2118"/>
                </a:solidFill>
                <a:latin typeface="PingFang SC"/>
                <a:ea typeface="PingFang SC"/>
              </a:rPr>
              <a:t>中国象棋</a:t>
            </a:r>
            <a:r>
              <a:rPr lang="en-US" sz="1125">
                <a:solidFill>
                  <a:srgbClr val="2A2118"/>
                </a:solidFill>
                <a:latin typeface="PingFang SC"/>
                <a:ea typeface="PingFang SC"/>
              </a:rPr>
              <a:t xml:space="preserve"> Xiangqi</a:t>
            </a:r>
            <a:endParaRPr/>
          </a:p>
        </p:txBody>
      </p:sp>
      <p:sp>
        <p:nvSpPr>
          <p:cNvPr id="755" name=""/>
          <p:cNvSpPr/>
          <p:nvPr/>
        </p:nvSpPr>
        <p:spPr>
          <a:xfrm rot="0" flipH="0" flipV="0">
            <a:off x="2019300" y="4133850"/>
            <a:ext cx="2095500" cy="685800"/>
          </a:xfrm>
          <a:prstGeom prst="rect">
            <a:avLst/>
          </a:prstGeom>
          <a:solidFill>
            <a:srgbClr val="8C5A2B">
              <a:alpha val="5000"/>
            </a:srgbClr>
          </a:solidFill>
          <a:ln w="12700">
            <a:solidFill>
              <a:srgbClr val="8C5A2B">
                <a:alpha val="2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756" name="" descr="{&quot;isTemplate&quot;:true,&quot;type&quot;:&quot;text&quot;}"/>
          <p:cNvSpPr txBox="1"/>
          <p:nvPr/>
        </p:nvSpPr>
        <p:spPr>
          <a:xfrm rot="0" flipH="0" flipV="0">
            <a:off x="2152650" y="4352925"/>
            <a:ext cx="1828800" cy="2571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1125">
                <a:solidFill>
                  <a:srgbClr val="2A2118"/>
                </a:solidFill>
                <a:latin typeface="PingFang SC"/>
                <a:ea typeface="PingFang SC"/>
              </a:rPr>
              <a:t xml:space="preserve">9×10 · </a:t>
            </a:r>
            <a:r>
              <a:rPr lang="zh-CN" sz="1125">
                <a:solidFill>
                  <a:srgbClr val="2A2118"/>
                </a:solidFill>
                <a:latin typeface="PingFang SC"/>
                <a:ea typeface="PingFang SC"/>
              </a:rPr>
              <a:t>将死</a:t>
            </a:r>
            <a:endParaRPr/>
          </a:p>
        </p:txBody>
      </p:sp>
      <p:sp>
        <p:nvSpPr>
          <p:cNvPr id="757" name=""/>
          <p:cNvSpPr/>
          <p:nvPr/>
        </p:nvSpPr>
        <p:spPr>
          <a:xfrm rot="0" flipH="0" flipV="0">
            <a:off x="4114800" y="4133850"/>
            <a:ext cx="1428750" cy="685800"/>
          </a:xfrm>
          <a:prstGeom prst="rect">
            <a:avLst/>
          </a:prstGeom>
          <a:solidFill>
            <a:srgbClr val="8C5A2B">
              <a:alpha val="5000"/>
            </a:srgbClr>
          </a:solidFill>
          <a:ln w="12700">
            <a:solidFill>
              <a:srgbClr val="8C5A2B">
                <a:alpha val="2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758" name="" descr="{&quot;isTemplate&quot;:true,&quot;type&quot;:&quot;text&quot;}"/>
          <p:cNvSpPr txBox="1"/>
          <p:nvPr/>
        </p:nvSpPr>
        <p:spPr>
          <a:xfrm rot="0" flipH="0" flipV="0">
            <a:off x="4248150" y="4352925"/>
            <a:ext cx="1162050" cy="2571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1125">
                <a:solidFill>
                  <a:srgbClr val="2A2118"/>
                </a:solidFill>
                <a:latin typeface="PingFang SC"/>
                <a:ea typeface="PingFang SC"/>
              </a:rPr>
              <a:t xml:space="preserve">1 </a:t>
            </a:r>
            <a:r>
              <a:rPr lang="zh-CN" sz="1125">
                <a:solidFill>
                  <a:srgbClr val="2A2118"/>
                </a:solidFill>
                <a:latin typeface="PingFang SC"/>
                <a:ea typeface="PingFang SC"/>
              </a:rPr>
              <a:t>子</a:t>
            </a:r>
            <a:endParaRPr/>
          </a:p>
        </p:txBody>
      </p:sp>
      <p:sp>
        <p:nvSpPr>
          <p:cNvPr id="759" name=""/>
          <p:cNvSpPr/>
          <p:nvPr/>
        </p:nvSpPr>
        <p:spPr>
          <a:xfrm rot="0" flipH="0" flipV="0">
            <a:off x="5543550" y="4133850"/>
            <a:ext cx="2381250" cy="685800"/>
          </a:xfrm>
          <a:prstGeom prst="rect">
            <a:avLst/>
          </a:prstGeom>
          <a:solidFill>
            <a:srgbClr val="8C5A2B">
              <a:alpha val="5000"/>
            </a:srgbClr>
          </a:solidFill>
          <a:ln w="12700">
            <a:solidFill>
              <a:srgbClr val="8C5A2B">
                <a:alpha val="2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760" name="" descr="{&quot;isTemplate&quot;:true,&quot;type&quot;:&quot;text&quot;}"/>
          <p:cNvSpPr txBox="1"/>
          <p:nvPr/>
        </p:nvSpPr>
        <p:spPr>
          <a:xfrm rot="0" flipH="0" flipV="0">
            <a:off x="5676900" y="4352925"/>
            <a:ext cx="2114550" cy="2571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125">
                <a:solidFill>
                  <a:srgbClr val="2A2118"/>
                </a:solidFill>
                <a:latin typeface="PingFang SC"/>
                <a:ea typeface="PingFang SC"/>
              </a:rPr>
              <a:t>本地</a:t>
            </a:r>
            <a:r>
              <a:rPr lang="en-US" sz="1125">
                <a:solidFill>
                  <a:srgbClr val="2A2118"/>
                </a:solidFill>
                <a:latin typeface="PingFang SC"/>
                <a:ea typeface="PingFang SC"/>
              </a:rPr>
              <a:t xml:space="preserve"> Pikafish NNUE</a:t>
            </a:r>
            <a:endParaRPr/>
          </a:p>
        </p:txBody>
      </p:sp>
      <p:sp>
        <p:nvSpPr>
          <p:cNvPr id="761" name="" descr="{&quot;isTemplate&quot;:true,&quot;type&quot;:&quot;text&quot;}"/>
          <p:cNvSpPr txBox="1"/>
          <p:nvPr/>
        </p:nvSpPr>
        <p:spPr>
          <a:xfrm rot="0" flipH="0" flipV="0">
            <a:off x="8191500" y="2533650"/>
            <a:ext cx="3314700" cy="7048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350">
                <a:solidFill>
                  <a:srgbClr val="2A2118"/>
                </a:solidFill>
                <a:latin typeface="PingFang SC"/>
                <a:ea typeface="PingFang SC"/>
              </a:rPr>
              <a:t>差异被严格约束在四个维度——棋盘尺寸</a:t>
            </a:r>
            <a:r>
              <a:rPr lang="en-US" sz="1350">
                <a:solidFill>
                  <a:srgbClr val="2A2118"/>
                </a:solidFill>
                <a:latin typeface="PingFang SC"/>
                <a:ea typeface="PingFang SC"/>
              </a:rPr>
              <a:t xml:space="preserve"> / </a:t>
            </a:r>
            <a:r>
              <a:rPr lang="zh-CN" sz="1350">
                <a:solidFill>
                  <a:srgbClr val="2A2118"/>
                </a:solidFill>
                <a:latin typeface="PingFang SC"/>
                <a:ea typeface="PingFang SC"/>
              </a:rPr>
              <a:t>连子数</a:t>
            </a:r>
            <a:r>
              <a:rPr lang="en-US" sz="1350">
                <a:solidFill>
                  <a:srgbClr val="2A2118"/>
                </a:solidFill>
                <a:latin typeface="PingFang SC"/>
                <a:ea typeface="PingFang SC"/>
              </a:rPr>
              <a:t xml:space="preserve"> / </a:t>
            </a:r>
            <a:r>
              <a:rPr lang="zh-CN" sz="1350">
                <a:solidFill>
                  <a:srgbClr val="2A2118"/>
                </a:solidFill>
                <a:latin typeface="PingFang SC"/>
                <a:ea typeface="PingFang SC"/>
              </a:rPr>
              <a:t>每轮子数</a:t>
            </a:r>
            <a:r>
              <a:rPr lang="en-US" sz="1350">
                <a:solidFill>
                  <a:srgbClr val="2A2118"/>
                </a:solidFill>
                <a:latin typeface="PingFang SC"/>
                <a:ea typeface="PingFang SC"/>
              </a:rPr>
              <a:t xml:space="preserve"> / AI </a:t>
            </a:r>
            <a:r>
              <a:rPr lang="zh-CN" sz="1350">
                <a:solidFill>
                  <a:srgbClr val="2A2118"/>
                </a:solidFill>
                <a:latin typeface="PingFang SC"/>
                <a:ea typeface="PingFang SC"/>
              </a:rPr>
              <a:t>后端。</a:t>
            </a:r>
            <a:endParaRPr/>
          </a:p>
        </p:txBody>
      </p:sp>
      <p:sp>
        <p:nvSpPr>
          <p:cNvPr id="762" name="" descr="{&quot;isTemplate&quot;:true,&quot;type&quot;:&quot;text&quot;}"/>
          <p:cNvSpPr txBox="1"/>
          <p:nvPr/>
        </p:nvSpPr>
        <p:spPr>
          <a:xfrm rot="0" flipH="0" flipV="0">
            <a:off x="8191500" y="3467100"/>
            <a:ext cx="3314700" cy="10001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275">
                <a:solidFill>
                  <a:srgbClr val="2A2118">
                    <a:alpha val="72000"/>
                  </a:srgbClr>
                </a:solidFill>
                <a:latin typeface="PingFang SC"/>
                <a:ea typeface="PingFang SC"/>
              </a:rPr>
              <a:t>渲染、音效、主题、存档这四块，三棋种跑的是同一份代码。新增棋种≈接入规则</a:t>
            </a:r>
            <a:r>
              <a:rPr lang="en-US" sz="1275">
                <a:solidFill>
                  <a:srgbClr val="2A2118">
                    <a:alpha val="72000"/>
                  </a:srgbClr>
                </a:solidFill>
                <a:latin typeface="PingFang SC"/>
                <a:ea typeface="PingFang SC"/>
              </a:rPr>
              <a:t xml:space="preserve"> + </a:t>
            </a:r>
            <a:r>
              <a:rPr lang="zh-CN" sz="1275">
                <a:solidFill>
                  <a:srgbClr val="2A2118">
                    <a:alpha val="72000"/>
                  </a:srgbClr>
                </a:solidFill>
                <a:latin typeface="PingFang SC"/>
                <a:ea typeface="PingFang SC"/>
              </a:rPr>
              <a:t>选后端，界面零重复建设。</a:t>
            </a:r>
            <a:endParaRPr/>
          </a:p>
        </p:txBody>
      </p:sp>
      <p:sp>
        <p:nvSpPr>
          <p:cNvPr id="763" name="" descr="{&quot;isTemplate&quot;:true,&quot;type&quot;:&quot;text&quot;}"/>
          <p:cNvSpPr txBox="1"/>
          <p:nvPr/>
        </p:nvSpPr>
        <p:spPr>
          <a:xfrm rot="0" flipH="0" flipV="0">
            <a:off x="685800" y="6172200"/>
            <a:ext cx="14478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2A2118">
                    <a:alpha val="55000"/>
                  </a:srgbClr>
                </a:solidFill>
                <a:latin typeface="PingFang SC"/>
                <a:ea typeface="PingFang SC"/>
              </a:rPr>
              <a:t>弈趣棋苑</a:t>
            </a:r>
            <a:r>
              <a:rPr lang="en-US" sz="1050">
                <a:solidFill>
                  <a:srgbClr val="2A2118">
                    <a:alpha val="55000"/>
                  </a:srgbClr>
                </a:solidFill>
                <a:latin typeface="PingFang SC"/>
                <a:ea typeface="PingFang SC"/>
              </a:rPr>
              <a:t xml:space="preserve"> · </a:t>
            </a:r>
            <a:r>
              <a:rPr lang="zh-CN" sz="1050">
                <a:solidFill>
                  <a:srgbClr val="2A2118">
                    <a:alpha val="55000"/>
                  </a:srgbClr>
                </a:solidFill>
                <a:latin typeface="PingFang SC"/>
                <a:ea typeface="PingFang SC"/>
              </a:rPr>
              <a:t>项目开发汇报</a:t>
            </a:r>
            <a:endParaRPr/>
          </a:p>
        </p:txBody>
      </p:sp>
      <p:sp>
        <p:nvSpPr>
          <p:cNvPr id="764" name="" descr="{&quot;isTemplate&quot;:true,&quot;type&quot;:&quot;text&quot;}"/>
          <p:cNvSpPr txBox="1"/>
          <p:nvPr/>
        </p:nvSpPr>
        <p:spPr>
          <a:xfrm rot="0" flipH="0" flipV="0">
            <a:off x="11049000" y="61722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2A2118">
                    <a:alpha val="55000"/>
                  </a:srgbClr>
                </a:solidFill>
                <a:latin typeface="PingFang SC"/>
                <a:ea typeface="PingFang SC"/>
              </a:rPr>
              <a:t>07 / 64</a:t>
            </a:r>
            <a:endParaRPr/>
          </a:p>
        </p:txBody>
      </p:sp>
    </p:spTree>
  </p:cSld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765" name="" descr="&lt;Slide style={{ width: 1280, height: 720, padding: &quot;20px 72px&quot;, background: &quot;#F5E3BE&quot;, flexDirection: &quot;column&quot; }}&gt;&#10;  &lt;Box style={{ width: &quot;100%&quot;, height: 96, flexDirection: &quot;column&quot;, justifyContent: &quot;center&quot; }}&gt;&#10;    &lt;Text style={{ fontSize: 34, fontWeight: &quot;bold&quot;, color: &quot;#2A2118&quot;, fontFamily: &quot;'Songti SC', 'STSong', 'SimSun', serif&quot; }}&gt;技术底座：五条线，各管一摊&lt;/Text&gt;&#10;    &lt;Box style={{ width: 56, height: 2, background: &quot;#B3271E&quot;, marginTop: 10 }} /&gt;&#10;  &lt;/Box&gt;&#10;  &lt;Box style={{ width: &quot;100%&quot;, height: 516, flexDirection: &quot;column&quot; }}&gt;&#10;  &lt;Box style={{ flexDirection: &quot;row&quot;, alignItems: &quot;center&quot;, justifyContent: &quot;center&quot;, gap: 14, height: &quot;100%&quot; }}&gt;&#10;&lt;Box style={{ width: 184, background: &quot;rgba(140,90,43,0.10)&quot;, borderLeft: &quot;4px solid #8C5A2B&quot;, borderRadius: 6, padding: &quot;16px 14px&quot;, flexDirection: &quot;column&quot;, gap: 6 }}&gt;&#10;        &lt;Text style={{ fontSize: 15, fontWeight: &quot;bold&quot;, color: &quot;#2A2118&quot;, fontFamily: &quot;'Songti SC', 'STSong', 'SimSun', serif&quot; }}&gt;1. 渲染层&lt;/Text&gt;&#10;        &lt;Text style={{ fontSize: 13, lineHeight: 1.5, color: &quot;rgba(42,33,24,0.7)&quot;, fontFamily: &quot;'PingFang SC', 'Microsoft YaHei', sans-serif&quot; }}&gt;PIL 4× 超采样绘制，BOX 降采样，预渲染精灵运行期零重绘&lt;/Text&gt;&#10;      &lt;/Box&gt;&#10;      &lt;Text style={{ fontSize: 26, color: &quot;#B3271E&quot;, fontFamily: &quot;'Songti SC', 'STSong', 'SimSun', serif&quot;, alignSelf: &quot;center&quot; }}&gt;→&lt;/Text&gt;&#10;      &lt;Box style={{ width: 184, background: &quot;rgba(140,90,43,0.10)&quot;, borderLeft: &quot;4px solid #8C5A2B&quot;, borderRadius: 6, padding: &quot;16px 14px&quot;, flexDirection: &quot;column&quot;, gap: 6 }}&gt;&#10;        &lt;Text style={{ fontSize: 15, fontWeight: &quot;bold&quot;, color: &quot;#2A2118&quot;, fontFamily: &quot;'Songti SC', 'STSong', 'SimSun', serif&quot; }}&gt;2. 音频层&lt;/Text&gt;&#10;        &lt;Text style={{ fontSize: 13, lineHeight: 1.5, color: &quot;rgba(42,33,24,0.7)&quot;, fontFamily: &quot;'PingFang SC', 'Microsoft YaHei', sans-serif&quot; }}&gt;MCI 独立线程，双轨队列，常驻 alias，锁泄漏自愈&lt;/Text&gt;&#10;      &lt;/Box&gt;&#10;      &lt;Text style={{ fontSize: 26, color: &quot;#B3271E&quot;, fontFamily: &quot;'Songti SC', 'STSong', 'SimSun', serif&quot;, alignSelf: &quot;center&quot; }}&gt;→&lt;/Text&gt;&#10;      &lt;Box style={{ width: 184, background: &quot;rgba(140,90,43,0.10)&quot;, borderLeft: &quot;4px solid #8C5A2B&quot;, borderRadius: 6, padding: &quot;16px 14px&quot;, flexDirection: &quot;column&quot;, gap: 6 }}&gt;&#10;        &lt;Text style={{ fontSize: 15, fontWeight: &quot;bold&quot;, color: &quot;#2A2118&quot;, fontFamily: &quot;'Songti SC', 'STSong', 'SimSun', serif&quot; }}&gt;3. AI 层&lt;/Text&gt;&#10;        &lt;Text style={{ fontSize: 13, lineHeight: 1.5, color: &quot;rgba(42,33,24,0.7)&quot;, fontFamily: &quot;'PingFang SC', 'Microsoft YaHei', sans-serif&quot; }}&gt;AlphaBeta + VCF/VCT 算杀，象棋接皮卡鱼 NNUE&lt;/Text&gt;&#10;      &lt;/Box&gt;&#10;      &lt;Text style={{ fontSize: 26, color: &quot;#B3271E&quot;, fontFamily: &quot;'Songti SC', 'STSong', 'SimSun', serif&quot;, alignSelf: &quot;center&quot; }}&gt;→&lt;/Text&gt;&#10;      &lt;Box style={{ width: 184, background: &quot;rgba(140,90,43,0.10)&quot;, borderLeft: &quot;4px solid #8C5A2B&quot;, borderRadius: 6, padding: &quot;16px 14px&quot;, flexDirection: &quot;column&quot;, gap: 6 }}&gt;&#10;        &lt;Text style={{ fontSize: 15, fontWeight: &quot;bold&quot;, color: &quot;#2A2118&quot;, fontFamily: &quot;'Songti SC', 'STSong', 'SimSun', serif&quot; }}&gt;4. 数据层&lt;/Text&gt;&#10;        &lt;Text style={{ fontSize: 13, lineHeight: 1.5, color: &quot;rgba(42,33,24,0.7)&quot;, fontFamily: &quot;'PingFang SC', 'Microsoft YaHei', sans-serif&quot; }}&gt;PostgreSQL 自动存档，状态栏 + Toast 双反馈&lt;/Text&gt;&#10;      &lt;/Box&gt;&#10;      &lt;Text style={{ fontSize: 26, color: &quot;#B3271E&quot;, fontFamily: &quot;'Songti SC', 'STSong', 'SimSun', serif&quot;, alignSelf: &quot;center&quot; }}&gt;→&lt;/Text&gt;&#10;      &lt;Box style={{ width: 184, background: &quot;rgba(140,90,43,0.10)&quot;, borderLeft: &quot;4px solid #8C5A2B&quot;, borderRadius: 6, padding: &quot;16px 14px&quot;, flexDirection: &quot;column&quot;, gap: 6 }}&gt;&#10;        &lt;Text style={{ fontSize: 15, fontWeight: &quot;bold&quot;, color: &quot;#2A2118&quot;, fontFamily: &quot;'Songti SC', 'STSong', 'SimSun', serif&quot; }}&gt;5. 分发层&lt;/Text&gt;&#10;        &lt;Text style={{ fontSize: 13, lineHeight: 1.5, color: &quot;rgba(42,33,24,0.7)&quot;, fontFamily: &quot;'PingFang SC', 'Microsoft YaHei', sans-serif&quot; }}&gt;PyInstaller 打包 myapp.exe，venv 隔离依赖&lt;/Text&gt;&#10;      &lt;/Box&gt;&#10;  &lt;/Box&gt;&#10;  &lt;/Box&gt;&#10;  &lt;Box style={{ width: &quot;100%&quot;, height: 48, flexDirection: &quot;row&quot;, alignItems: &quot;center&quot;, justifyContent: &quot;space-between&quot; }}&gt;&#10;    &lt;Text style={{ fontSize: 14, color: &quot;rgba(42,33,24,0.55)&quot;, fontFamily: &quot;'PingFang SC', 'Microsoft YaHei', sans-serif&quot; }}&gt;弈趣棋苑 · 项目开发汇报&lt;/Text&gt;&#10;    &lt;Text style={{ fontSize: 14, color: &quot;rgba(42,33,24,0.55)&quot;, fontFamily: &quot;'PingFang SC', 'Microsoft YaHei', sans-serif&quot; }}&gt;08 / 64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5E3BE"/>
          </a:solidFill>
          <a:ln/>
        </p:spPr>
        <p:txBody>
          <a:bodyPr/>
          <a:p/>
        </p:txBody>
      </p:sp>
      <p:sp>
        <p:nvSpPr>
          <p:cNvPr id="767" name="" descr="{&quot;isTemplate&quot;:true,&quot;type&quot;:&quot;text&quot;}"/>
          <p:cNvSpPr txBox="1"/>
          <p:nvPr/>
        </p:nvSpPr>
        <p:spPr>
          <a:xfrm rot="0" flipH="0" flipV="0">
            <a:off x="685800" y="400050"/>
            <a:ext cx="108204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A2118"/>
                </a:solidFill>
                <a:latin typeface="Songti SC"/>
                <a:ea typeface="Songti SC"/>
              </a:rPr>
              <a:t>技术底座：五条线，各管一摊</a:t>
            </a:r>
            <a:endParaRPr/>
          </a:p>
        </p:txBody>
      </p:sp>
      <p:sp>
        <p:nvSpPr>
          <p:cNvPr id="768" name=""/>
          <p:cNvSpPr/>
          <p:nvPr/>
        </p:nvSpPr>
        <p:spPr>
          <a:xfrm rot="0" flipH="0" flipV="0">
            <a:off x="685800" y="885825"/>
            <a:ext cx="533400" cy="19050"/>
          </a:xfrm>
          <a:prstGeom prst="rect">
            <a:avLst/>
          </a:prstGeom>
          <a:solidFill>
            <a:srgbClr val="B3271E"/>
          </a:solidFill>
          <a:ln/>
        </p:spPr>
        <p:txBody>
          <a:bodyPr/>
          <a:p/>
        </p:txBody>
      </p:sp>
      <p:sp>
        <p:nvSpPr>
          <p:cNvPr id="769" name=""/>
          <p:cNvSpPr/>
          <p:nvPr/>
        </p:nvSpPr>
        <p:spPr>
          <a:xfrm rot="0" flipH="0" flipV="0">
            <a:off x="723900" y="2962275"/>
            <a:ext cx="1714500" cy="1209675"/>
          </a:xfrm>
          <a:prstGeom prst="roundRect">
            <a:avLst>
              <a:gd name="adj" fmla="val 4724"/>
            </a:avLst>
          </a:prstGeom>
          <a:solidFill>
            <a:srgbClr val="8C5A2B">
              <a:alpha val="10000"/>
            </a:srgbClr>
          </a:solidFill>
          <a:ln/>
        </p:spPr>
        <p:txBody>
          <a:bodyPr/>
          <a:p/>
        </p:txBody>
      </p:sp>
      <p:sp>
        <p:nvSpPr>
          <p:cNvPr id="770" name=""/>
          <p:cNvSpPr/>
          <p:nvPr/>
        </p:nvSpPr>
        <p:spPr>
          <a:xfrm rot="0" flipH="0" flipV="0">
            <a:off x="723900" y="2962275"/>
            <a:ext cx="1714500" cy="1209675"/>
          </a:xfrm>
          <a:custGeom>
            <a:pathLst>
              <a:path w="180" h="127">
                <a:moveTo>
                  <a:pt x="6" y="0"/>
                </a:moveTo>
                <a:cubicBezTo>
                  <a:pt x="5" y="0"/>
                  <a:pt x="4" y="1"/>
                  <a:pt x="4" y="2"/>
                </a:cubicBezTo>
                <a:lnTo>
                  <a:pt x="4" y="125"/>
                </a:lnTo>
                <a:cubicBezTo>
                  <a:pt x="4" y="126"/>
                  <a:pt x="5" y="127"/>
                  <a:pt x="6" y="127"/>
                </a:cubicBezTo>
                <a:cubicBezTo>
                  <a:pt x="3" y="127"/>
                  <a:pt x="0" y="124"/>
                  <a:pt x="0" y="121"/>
                </a:cubicBezTo>
                <a:lnTo>
                  <a:pt x="0" y="6"/>
                </a:lnTo>
                <a:cubicBezTo>
                  <a:pt x="0" y="3"/>
                  <a:pt x="3" y="0"/>
                  <a:pt x="6" y="0"/>
                </a:cubicBezTo>
                <a:close/>
              </a:path>
            </a:pathLst>
          </a:custGeom>
          <a:solidFill>
            <a:srgbClr val="8C5A2B"/>
          </a:solidFill>
          <a:ln/>
        </p:spPr>
        <p:txBody>
          <a:bodyPr/>
          <a:p/>
        </p:txBody>
      </p:sp>
      <p:sp>
        <p:nvSpPr>
          <p:cNvPr id="771" name="" descr="{&quot;isTemplate&quot;:true,&quot;type&quot;:&quot;text&quot;}"/>
          <p:cNvSpPr txBox="1"/>
          <p:nvPr/>
        </p:nvSpPr>
        <p:spPr>
          <a:xfrm rot="0" flipH="0" flipV="0">
            <a:off x="857250" y="3114675"/>
            <a:ext cx="14478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2A2118"/>
                </a:solidFill>
                <a:latin typeface="Songti SC"/>
                <a:ea typeface="Songti SC"/>
              </a:rPr>
              <a:t xml:space="preserve">1. </a:t>
            </a:r>
            <a:r>
              <a:rPr lang="zh-CN" sz="1125" b="1">
                <a:solidFill>
                  <a:srgbClr val="2A2118"/>
                </a:solidFill>
                <a:latin typeface="Songti SC"/>
                <a:ea typeface="Songti SC"/>
              </a:rPr>
              <a:t>渲染层</a:t>
            </a:r>
            <a:endParaRPr/>
          </a:p>
        </p:txBody>
      </p:sp>
      <p:sp>
        <p:nvSpPr>
          <p:cNvPr id="772" name="" descr="{&quot;isTemplate&quot;:true,&quot;type&quot;:&quot;text&quot;}"/>
          <p:cNvSpPr txBox="1"/>
          <p:nvPr/>
        </p:nvSpPr>
        <p:spPr>
          <a:xfrm rot="0" flipH="0" flipV="0">
            <a:off x="857250" y="3343275"/>
            <a:ext cx="1447800" cy="6762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en-US" sz="975">
                <a:solidFill>
                  <a:srgbClr val="2A2118">
                    <a:alpha val="70000"/>
                  </a:srgbClr>
                </a:solidFill>
                <a:latin typeface="PingFang SC"/>
                <a:ea typeface="PingFang SC"/>
              </a:rPr>
              <a:t xml:space="preserve">PIL 4× </a:t>
            </a:r>
            <a:r>
              <a:rPr lang="zh-CN" sz="975">
                <a:solidFill>
                  <a:srgbClr val="2A2118">
                    <a:alpha val="70000"/>
                  </a:srgbClr>
                </a:solidFill>
                <a:latin typeface="PingFang SC"/>
                <a:ea typeface="PingFang SC"/>
              </a:rPr>
              <a:t>超采样绘制，</a:t>
            </a:r>
            <a:r>
              <a:rPr lang="en-US" sz="975">
                <a:solidFill>
                  <a:srgbClr val="2A2118">
                    <a:alpha val="70000"/>
                  </a:srgbClr>
                </a:solidFill>
                <a:latin typeface="PingFang SC"/>
                <a:ea typeface="PingFang SC"/>
              </a:rPr>
              <a:t xml:space="preserve">BOX </a:t>
            </a:r>
            <a:r>
              <a:rPr lang="zh-CN" sz="975">
                <a:solidFill>
                  <a:srgbClr val="2A2118">
                    <a:alpha val="70000"/>
                  </a:srgbClr>
                </a:solidFill>
                <a:latin typeface="PingFang SC"/>
                <a:ea typeface="PingFang SC"/>
              </a:rPr>
              <a:t>降采样，预渲染精灵运行期零重绘</a:t>
            </a:r>
            <a:endParaRPr/>
          </a:p>
        </p:txBody>
      </p:sp>
      <p:sp>
        <p:nvSpPr>
          <p:cNvPr id="773" name="" descr="{&quot;isTemplate&quot;:true,&quot;type&quot;:&quot;text&quot;}"/>
          <p:cNvSpPr txBox="1"/>
          <p:nvPr/>
        </p:nvSpPr>
        <p:spPr>
          <a:xfrm rot="0" flipH="0" flipV="0">
            <a:off x="2571750" y="3409950"/>
            <a:ext cx="24765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950">
                <a:solidFill>
                  <a:srgbClr val="B3271E"/>
                </a:solidFill>
                <a:latin typeface="Songti SC"/>
                <a:ea typeface="Songti SC"/>
              </a:rPr>
              <a:t>→</a:t>
            </a:r>
            <a:endParaRPr/>
          </a:p>
        </p:txBody>
      </p:sp>
      <p:sp>
        <p:nvSpPr>
          <p:cNvPr id="774" name=""/>
          <p:cNvSpPr/>
          <p:nvPr/>
        </p:nvSpPr>
        <p:spPr>
          <a:xfrm rot="0" flipH="0" flipV="0">
            <a:off x="2990850" y="2962275"/>
            <a:ext cx="1714500" cy="1209675"/>
          </a:xfrm>
          <a:prstGeom prst="roundRect">
            <a:avLst>
              <a:gd name="adj" fmla="val 4724"/>
            </a:avLst>
          </a:prstGeom>
          <a:solidFill>
            <a:srgbClr val="8C5A2B">
              <a:alpha val="10000"/>
            </a:srgbClr>
          </a:solidFill>
          <a:ln/>
        </p:spPr>
        <p:txBody>
          <a:bodyPr/>
          <a:p/>
        </p:txBody>
      </p:sp>
      <p:sp>
        <p:nvSpPr>
          <p:cNvPr id="775" name=""/>
          <p:cNvSpPr/>
          <p:nvPr/>
        </p:nvSpPr>
        <p:spPr>
          <a:xfrm rot="0" flipH="0" flipV="0">
            <a:off x="2990850" y="2962275"/>
            <a:ext cx="1714500" cy="1209675"/>
          </a:xfrm>
          <a:custGeom>
            <a:pathLst>
              <a:path w="180" h="127">
                <a:moveTo>
                  <a:pt x="6" y="0"/>
                </a:moveTo>
                <a:cubicBezTo>
                  <a:pt x="5" y="0"/>
                  <a:pt x="4" y="1"/>
                  <a:pt x="4" y="2"/>
                </a:cubicBezTo>
                <a:lnTo>
                  <a:pt x="4" y="125"/>
                </a:lnTo>
                <a:cubicBezTo>
                  <a:pt x="4" y="126"/>
                  <a:pt x="5" y="127"/>
                  <a:pt x="6" y="127"/>
                </a:cubicBezTo>
                <a:cubicBezTo>
                  <a:pt x="3" y="127"/>
                  <a:pt x="0" y="124"/>
                  <a:pt x="0" y="121"/>
                </a:cubicBezTo>
                <a:lnTo>
                  <a:pt x="0" y="6"/>
                </a:lnTo>
                <a:cubicBezTo>
                  <a:pt x="0" y="3"/>
                  <a:pt x="3" y="0"/>
                  <a:pt x="6" y="0"/>
                </a:cubicBezTo>
                <a:close/>
              </a:path>
            </a:pathLst>
          </a:custGeom>
          <a:solidFill>
            <a:srgbClr val="8C5A2B"/>
          </a:solidFill>
          <a:ln/>
        </p:spPr>
        <p:txBody>
          <a:bodyPr/>
          <a:p/>
        </p:txBody>
      </p:sp>
      <p:sp>
        <p:nvSpPr>
          <p:cNvPr id="776" name="" descr="{&quot;isTemplate&quot;:true,&quot;type&quot;:&quot;text&quot;}"/>
          <p:cNvSpPr txBox="1"/>
          <p:nvPr/>
        </p:nvSpPr>
        <p:spPr>
          <a:xfrm rot="0" flipH="0" flipV="0">
            <a:off x="3124200" y="3114675"/>
            <a:ext cx="14478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2A2118"/>
                </a:solidFill>
                <a:latin typeface="Songti SC"/>
                <a:ea typeface="Songti SC"/>
              </a:rPr>
              <a:t xml:space="preserve">2. </a:t>
            </a:r>
            <a:r>
              <a:rPr lang="zh-CN" sz="1125" b="1">
                <a:solidFill>
                  <a:srgbClr val="2A2118"/>
                </a:solidFill>
                <a:latin typeface="Songti SC"/>
                <a:ea typeface="Songti SC"/>
              </a:rPr>
              <a:t>音频层</a:t>
            </a:r>
            <a:endParaRPr/>
          </a:p>
        </p:txBody>
      </p:sp>
      <p:sp>
        <p:nvSpPr>
          <p:cNvPr id="777" name="" descr="{&quot;isTemplate&quot;:true,&quot;type&quot;:&quot;text&quot;}"/>
          <p:cNvSpPr txBox="1"/>
          <p:nvPr/>
        </p:nvSpPr>
        <p:spPr>
          <a:xfrm rot="0" flipH="0" flipV="0">
            <a:off x="3124200" y="3343275"/>
            <a:ext cx="1447800" cy="6762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en-US" sz="975">
                <a:solidFill>
                  <a:srgbClr val="2A2118">
                    <a:alpha val="70000"/>
                  </a:srgbClr>
                </a:solidFill>
                <a:latin typeface="PingFang SC"/>
                <a:ea typeface="PingFang SC"/>
              </a:rPr>
              <a:t xml:space="preserve">MCI </a:t>
            </a:r>
            <a:r>
              <a:rPr lang="zh-CN" sz="975">
                <a:solidFill>
                  <a:srgbClr val="2A2118">
                    <a:alpha val="70000"/>
                  </a:srgbClr>
                </a:solidFill>
                <a:latin typeface="PingFang SC"/>
                <a:ea typeface="PingFang SC"/>
              </a:rPr>
              <a:t>独立线程，双轨队列，常驻</a:t>
            </a:r>
            <a:r>
              <a:rPr lang="en-US" sz="975">
                <a:solidFill>
                  <a:srgbClr val="2A2118">
                    <a:alpha val="70000"/>
                  </a:srgbClr>
                </a:solidFill>
                <a:latin typeface="PingFang SC"/>
                <a:ea typeface="PingFang SC"/>
              </a:rPr>
              <a:t xml:space="preserve"> alias</a:t>
            </a:r>
            <a:r>
              <a:rPr lang="zh-CN" sz="975">
                <a:solidFill>
                  <a:srgbClr val="2A2118">
                    <a:alpha val="70000"/>
                  </a:srgbClr>
                </a:solidFill>
                <a:latin typeface="PingFang SC"/>
                <a:ea typeface="PingFang SC"/>
              </a:rPr>
              <a:t>，锁泄漏自愈</a:t>
            </a:r>
            <a:endParaRPr/>
          </a:p>
        </p:txBody>
      </p:sp>
      <p:sp>
        <p:nvSpPr>
          <p:cNvPr id="778" name="" descr="{&quot;isTemplate&quot;:true,&quot;type&quot;:&quot;text&quot;}"/>
          <p:cNvSpPr txBox="1"/>
          <p:nvPr/>
        </p:nvSpPr>
        <p:spPr>
          <a:xfrm rot="0" flipH="0" flipV="0">
            <a:off x="4838700" y="3409950"/>
            <a:ext cx="24765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950">
                <a:solidFill>
                  <a:srgbClr val="B3271E"/>
                </a:solidFill>
                <a:latin typeface="Songti SC"/>
                <a:ea typeface="Songti SC"/>
              </a:rPr>
              <a:t>→</a:t>
            </a:r>
            <a:endParaRPr/>
          </a:p>
        </p:txBody>
      </p:sp>
      <p:sp>
        <p:nvSpPr>
          <p:cNvPr id="779" name=""/>
          <p:cNvSpPr/>
          <p:nvPr/>
        </p:nvSpPr>
        <p:spPr>
          <a:xfrm rot="0" flipH="0" flipV="0">
            <a:off x="5257800" y="2962275"/>
            <a:ext cx="1714500" cy="1209675"/>
          </a:xfrm>
          <a:prstGeom prst="roundRect">
            <a:avLst>
              <a:gd name="adj" fmla="val 4724"/>
            </a:avLst>
          </a:prstGeom>
          <a:solidFill>
            <a:srgbClr val="8C5A2B">
              <a:alpha val="10000"/>
            </a:srgbClr>
          </a:solidFill>
          <a:ln/>
        </p:spPr>
        <p:txBody>
          <a:bodyPr/>
          <a:p/>
        </p:txBody>
      </p:sp>
      <p:sp>
        <p:nvSpPr>
          <p:cNvPr id="780" name=""/>
          <p:cNvSpPr/>
          <p:nvPr/>
        </p:nvSpPr>
        <p:spPr>
          <a:xfrm rot="0" flipH="0" flipV="0">
            <a:off x="5257800" y="2962275"/>
            <a:ext cx="1714500" cy="1209675"/>
          </a:xfrm>
          <a:custGeom>
            <a:pathLst>
              <a:path w="180" h="127">
                <a:moveTo>
                  <a:pt x="6" y="0"/>
                </a:moveTo>
                <a:cubicBezTo>
                  <a:pt x="5" y="0"/>
                  <a:pt x="4" y="1"/>
                  <a:pt x="4" y="2"/>
                </a:cubicBezTo>
                <a:lnTo>
                  <a:pt x="4" y="125"/>
                </a:lnTo>
                <a:cubicBezTo>
                  <a:pt x="4" y="126"/>
                  <a:pt x="5" y="127"/>
                  <a:pt x="6" y="127"/>
                </a:cubicBezTo>
                <a:cubicBezTo>
                  <a:pt x="3" y="127"/>
                  <a:pt x="0" y="124"/>
                  <a:pt x="0" y="121"/>
                </a:cubicBezTo>
                <a:lnTo>
                  <a:pt x="0" y="6"/>
                </a:lnTo>
                <a:cubicBezTo>
                  <a:pt x="0" y="3"/>
                  <a:pt x="3" y="0"/>
                  <a:pt x="6" y="0"/>
                </a:cubicBezTo>
                <a:close/>
              </a:path>
            </a:pathLst>
          </a:custGeom>
          <a:solidFill>
            <a:srgbClr val="8C5A2B"/>
          </a:solidFill>
          <a:ln/>
        </p:spPr>
        <p:txBody>
          <a:bodyPr/>
          <a:p/>
        </p:txBody>
      </p:sp>
      <p:sp>
        <p:nvSpPr>
          <p:cNvPr id="781" name="" descr="{&quot;isTemplate&quot;:true,&quot;type&quot;:&quot;text&quot;}"/>
          <p:cNvSpPr txBox="1"/>
          <p:nvPr/>
        </p:nvSpPr>
        <p:spPr>
          <a:xfrm rot="0" flipH="0" flipV="0">
            <a:off x="5391150" y="3114675"/>
            <a:ext cx="14478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2A2118"/>
                </a:solidFill>
                <a:latin typeface="Songti SC"/>
                <a:ea typeface="Songti SC"/>
              </a:rPr>
              <a:t xml:space="preserve">3. AI </a:t>
            </a:r>
            <a:r>
              <a:rPr lang="zh-CN" sz="1125" b="1">
                <a:solidFill>
                  <a:srgbClr val="2A2118"/>
                </a:solidFill>
                <a:latin typeface="Songti SC"/>
                <a:ea typeface="Songti SC"/>
              </a:rPr>
              <a:t>层</a:t>
            </a:r>
            <a:endParaRPr/>
          </a:p>
        </p:txBody>
      </p:sp>
      <p:sp>
        <p:nvSpPr>
          <p:cNvPr id="782" name="" descr="{&quot;isTemplate&quot;:true,&quot;type&quot;:&quot;text&quot;}"/>
          <p:cNvSpPr txBox="1"/>
          <p:nvPr/>
        </p:nvSpPr>
        <p:spPr>
          <a:xfrm rot="0" flipH="0" flipV="0">
            <a:off x="5391150" y="3343275"/>
            <a:ext cx="1447800" cy="6762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en-US" sz="975">
                <a:solidFill>
                  <a:srgbClr val="2A2118">
                    <a:alpha val="70000"/>
                  </a:srgbClr>
                </a:solidFill>
                <a:latin typeface="PingFang SC"/>
                <a:ea typeface="PingFang SC"/>
              </a:rPr>
              <a:t xml:space="preserve">AlphaBeta + VCF/VCT </a:t>
            </a:r>
            <a:r>
              <a:rPr lang="zh-CN" sz="975">
                <a:solidFill>
                  <a:srgbClr val="2A2118">
                    <a:alpha val="70000"/>
                  </a:srgbClr>
                </a:solidFill>
                <a:latin typeface="PingFang SC"/>
                <a:ea typeface="PingFang SC"/>
              </a:rPr>
              <a:t>算杀，象棋接皮卡鱼</a:t>
            </a:r>
            <a:r>
              <a:rPr lang="en-US" sz="975">
                <a:solidFill>
                  <a:srgbClr val="2A2118">
                    <a:alpha val="70000"/>
                  </a:srgbClr>
                </a:solidFill>
                <a:latin typeface="PingFang SC"/>
                <a:ea typeface="PingFang SC"/>
              </a:rPr>
              <a:t xml:space="preserve"> NNUE</a:t>
            </a:r>
            <a:endParaRPr/>
          </a:p>
        </p:txBody>
      </p:sp>
      <p:sp>
        <p:nvSpPr>
          <p:cNvPr id="783" name="" descr="{&quot;isTemplate&quot;:true,&quot;type&quot;:&quot;text&quot;}"/>
          <p:cNvSpPr txBox="1"/>
          <p:nvPr/>
        </p:nvSpPr>
        <p:spPr>
          <a:xfrm rot="0" flipH="0" flipV="0">
            <a:off x="7105650" y="3409950"/>
            <a:ext cx="24765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950">
                <a:solidFill>
                  <a:srgbClr val="B3271E"/>
                </a:solidFill>
                <a:latin typeface="Songti SC"/>
                <a:ea typeface="Songti SC"/>
              </a:rPr>
              <a:t>→</a:t>
            </a:r>
            <a:endParaRPr/>
          </a:p>
        </p:txBody>
      </p:sp>
      <p:sp>
        <p:nvSpPr>
          <p:cNvPr id="784" name=""/>
          <p:cNvSpPr/>
          <p:nvPr/>
        </p:nvSpPr>
        <p:spPr>
          <a:xfrm rot="0" flipH="0" flipV="0">
            <a:off x="7524750" y="3076575"/>
            <a:ext cx="1714500" cy="981075"/>
          </a:xfrm>
          <a:prstGeom prst="roundRect">
            <a:avLst>
              <a:gd name="adj" fmla="val 5825"/>
            </a:avLst>
          </a:prstGeom>
          <a:solidFill>
            <a:srgbClr val="8C5A2B">
              <a:alpha val="10000"/>
            </a:srgbClr>
          </a:solidFill>
          <a:ln/>
        </p:spPr>
        <p:txBody>
          <a:bodyPr/>
          <a:p/>
        </p:txBody>
      </p:sp>
      <p:sp>
        <p:nvSpPr>
          <p:cNvPr id="785" name=""/>
          <p:cNvSpPr/>
          <p:nvPr/>
        </p:nvSpPr>
        <p:spPr>
          <a:xfrm rot="0" flipH="0" flipV="0">
            <a:off x="7524750" y="3076575"/>
            <a:ext cx="1714500" cy="981075"/>
          </a:xfrm>
          <a:custGeom>
            <a:pathLst>
              <a:path w="180" h="103">
                <a:moveTo>
                  <a:pt x="6" y="0"/>
                </a:moveTo>
                <a:cubicBezTo>
                  <a:pt x="5" y="0"/>
                  <a:pt x="4" y="1"/>
                  <a:pt x="4" y="2"/>
                </a:cubicBezTo>
                <a:lnTo>
                  <a:pt x="4" y="101"/>
                </a:lnTo>
                <a:cubicBezTo>
                  <a:pt x="4" y="102"/>
                  <a:pt x="5" y="103"/>
                  <a:pt x="6" y="103"/>
                </a:cubicBezTo>
                <a:cubicBezTo>
                  <a:pt x="3" y="103"/>
                  <a:pt x="0" y="100"/>
                  <a:pt x="0" y="97"/>
                </a:cubicBezTo>
                <a:lnTo>
                  <a:pt x="0" y="6"/>
                </a:lnTo>
                <a:cubicBezTo>
                  <a:pt x="0" y="3"/>
                  <a:pt x="3" y="0"/>
                  <a:pt x="6" y="0"/>
                </a:cubicBezTo>
                <a:close/>
              </a:path>
            </a:pathLst>
          </a:custGeom>
          <a:solidFill>
            <a:srgbClr val="8C5A2B"/>
          </a:solidFill>
          <a:ln/>
        </p:spPr>
        <p:txBody>
          <a:bodyPr/>
          <a:p/>
        </p:txBody>
      </p:sp>
      <p:sp>
        <p:nvSpPr>
          <p:cNvPr id="786" name="" descr="{&quot;isTemplate&quot;:true,&quot;type&quot;:&quot;text&quot;}"/>
          <p:cNvSpPr txBox="1"/>
          <p:nvPr/>
        </p:nvSpPr>
        <p:spPr>
          <a:xfrm rot="0" flipH="0" flipV="0">
            <a:off x="7658100" y="3228975"/>
            <a:ext cx="14478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2A2118"/>
                </a:solidFill>
                <a:latin typeface="Songti SC"/>
                <a:ea typeface="Songti SC"/>
              </a:rPr>
              <a:t xml:space="preserve">4. </a:t>
            </a:r>
            <a:r>
              <a:rPr lang="zh-CN" sz="1125" b="1">
                <a:solidFill>
                  <a:srgbClr val="2A2118"/>
                </a:solidFill>
                <a:latin typeface="Songti SC"/>
                <a:ea typeface="Songti SC"/>
              </a:rPr>
              <a:t>数据层</a:t>
            </a:r>
            <a:endParaRPr/>
          </a:p>
        </p:txBody>
      </p:sp>
      <p:sp>
        <p:nvSpPr>
          <p:cNvPr id="787" name="" descr="{&quot;isTemplate&quot;:true,&quot;type&quot;:&quot;text&quot;}"/>
          <p:cNvSpPr txBox="1"/>
          <p:nvPr/>
        </p:nvSpPr>
        <p:spPr>
          <a:xfrm rot="0" flipH="0" flipV="0">
            <a:off x="7658100" y="3457575"/>
            <a:ext cx="1447800" cy="4476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en-US" sz="975">
                <a:solidFill>
                  <a:srgbClr val="2A2118">
                    <a:alpha val="70000"/>
                  </a:srgbClr>
                </a:solidFill>
                <a:latin typeface="PingFang SC"/>
                <a:ea typeface="PingFang SC"/>
              </a:rPr>
              <a:t xml:space="preserve">PostgreSQL </a:t>
            </a:r>
            <a:r>
              <a:rPr lang="zh-CN" sz="975">
                <a:solidFill>
                  <a:srgbClr val="2A2118">
                    <a:alpha val="70000"/>
                  </a:srgbClr>
                </a:solidFill>
                <a:latin typeface="PingFang SC"/>
                <a:ea typeface="PingFang SC"/>
              </a:rPr>
              <a:t>自动存档，状态栏</a:t>
            </a:r>
            <a:r>
              <a:rPr lang="en-US" sz="975">
                <a:solidFill>
                  <a:srgbClr val="2A2118">
                    <a:alpha val="70000"/>
                  </a:srgbClr>
                </a:solidFill>
                <a:latin typeface="PingFang SC"/>
                <a:ea typeface="PingFang SC"/>
              </a:rPr>
              <a:t xml:space="preserve"> + Toast </a:t>
            </a:r>
            <a:r>
              <a:rPr lang="zh-CN" sz="975">
                <a:solidFill>
                  <a:srgbClr val="2A2118">
                    <a:alpha val="70000"/>
                  </a:srgbClr>
                </a:solidFill>
                <a:latin typeface="PingFang SC"/>
                <a:ea typeface="PingFang SC"/>
              </a:rPr>
              <a:t>双反馈</a:t>
            </a:r>
            <a:endParaRPr/>
          </a:p>
        </p:txBody>
      </p:sp>
      <p:sp>
        <p:nvSpPr>
          <p:cNvPr id="788" name="" descr="{&quot;isTemplate&quot;:true,&quot;type&quot;:&quot;text&quot;}"/>
          <p:cNvSpPr txBox="1"/>
          <p:nvPr/>
        </p:nvSpPr>
        <p:spPr>
          <a:xfrm rot="0" flipH="0" flipV="0">
            <a:off x="9372600" y="3409950"/>
            <a:ext cx="24765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950">
                <a:solidFill>
                  <a:srgbClr val="B3271E"/>
                </a:solidFill>
                <a:latin typeface="Songti SC"/>
                <a:ea typeface="Songti SC"/>
              </a:rPr>
              <a:t>→</a:t>
            </a:r>
            <a:endParaRPr/>
          </a:p>
        </p:txBody>
      </p:sp>
      <p:sp>
        <p:nvSpPr>
          <p:cNvPr id="789" name=""/>
          <p:cNvSpPr/>
          <p:nvPr/>
        </p:nvSpPr>
        <p:spPr>
          <a:xfrm rot="0" flipH="0" flipV="0">
            <a:off x="9791700" y="2962275"/>
            <a:ext cx="1714500" cy="1209675"/>
          </a:xfrm>
          <a:prstGeom prst="roundRect">
            <a:avLst>
              <a:gd name="adj" fmla="val 4724"/>
            </a:avLst>
          </a:prstGeom>
          <a:solidFill>
            <a:srgbClr val="8C5A2B">
              <a:alpha val="10000"/>
            </a:srgbClr>
          </a:solidFill>
          <a:ln/>
        </p:spPr>
        <p:txBody>
          <a:bodyPr/>
          <a:p/>
        </p:txBody>
      </p:sp>
      <p:sp>
        <p:nvSpPr>
          <p:cNvPr id="790" name=""/>
          <p:cNvSpPr/>
          <p:nvPr/>
        </p:nvSpPr>
        <p:spPr>
          <a:xfrm rot="0" flipH="0" flipV="0">
            <a:off x="9791700" y="2962275"/>
            <a:ext cx="1714500" cy="1209675"/>
          </a:xfrm>
          <a:custGeom>
            <a:pathLst>
              <a:path w="180" h="127">
                <a:moveTo>
                  <a:pt x="6" y="0"/>
                </a:moveTo>
                <a:cubicBezTo>
                  <a:pt x="5" y="0"/>
                  <a:pt x="4" y="1"/>
                  <a:pt x="4" y="2"/>
                </a:cubicBezTo>
                <a:lnTo>
                  <a:pt x="4" y="125"/>
                </a:lnTo>
                <a:cubicBezTo>
                  <a:pt x="4" y="126"/>
                  <a:pt x="5" y="127"/>
                  <a:pt x="6" y="127"/>
                </a:cubicBezTo>
                <a:cubicBezTo>
                  <a:pt x="3" y="127"/>
                  <a:pt x="0" y="124"/>
                  <a:pt x="0" y="121"/>
                </a:cubicBezTo>
                <a:lnTo>
                  <a:pt x="0" y="6"/>
                </a:lnTo>
                <a:cubicBezTo>
                  <a:pt x="0" y="3"/>
                  <a:pt x="3" y="0"/>
                  <a:pt x="6" y="0"/>
                </a:cubicBezTo>
                <a:close/>
              </a:path>
            </a:pathLst>
          </a:custGeom>
          <a:solidFill>
            <a:srgbClr val="8C5A2B"/>
          </a:solidFill>
          <a:ln/>
        </p:spPr>
        <p:txBody>
          <a:bodyPr/>
          <a:p/>
        </p:txBody>
      </p:sp>
      <p:sp>
        <p:nvSpPr>
          <p:cNvPr id="791" name="" descr="{&quot;isTemplate&quot;:true,&quot;type&quot;:&quot;text&quot;}"/>
          <p:cNvSpPr txBox="1"/>
          <p:nvPr/>
        </p:nvSpPr>
        <p:spPr>
          <a:xfrm rot="0" flipH="0" flipV="0">
            <a:off x="9925050" y="3114675"/>
            <a:ext cx="14478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2A2118"/>
                </a:solidFill>
                <a:latin typeface="Songti SC"/>
                <a:ea typeface="Songti SC"/>
              </a:rPr>
              <a:t xml:space="preserve">5. </a:t>
            </a:r>
            <a:r>
              <a:rPr lang="zh-CN" sz="1125" b="1">
                <a:solidFill>
                  <a:srgbClr val="2A2118"/>
                </a:solidFill>
                <a:latin typeface="Songti SC"/>
                <a:ea typeface="Songti SC"/>
              </a:rPr>
              <a:t>分发层</a:t>
            </a:r>
            <a:endParaRPr/>
          </a:p>
        </p:txBody>
      </p:sp>
      <p:sp>
        <p:nvSpPr>
          <p:cNvPr id="792" name="" descr="{&quot;isTemplate&quot;:true,&quot;type&quot;:&quot;text&quot;}"/>
          <p:cNvSpPr txBox="1"/>
          <p:nvPr/>
        </p:nvSpPr>
        <p:spPr>
          <a:xfrm rot="0" flipH="0" flipV="0">
            <a:off x="9925050" y="3343275"/>
            <a:ext cx="1447800" cy="6762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en-US" sz="975">
                <a:solidFill>
                  <a:srgbClr val="2A2118">
                    <a:alpha val="70000"/>
                  </a:srgbClr>
                </a:solidFill>
                <a:latin typeface="PingFang SC"/>
                <a:ea typeface="PingFang SC"/>
              </a:rPr>
              <a:t xml:space="preserve">PyInstaller </a:t>
            </a:r>
            <a:r>
              <a:rPr lang="zh-CN" sz="975">
                <a:solidFill>
                  <a:srgbClr val="2A2118">
                    <a:alpha val="70000"/>
                  </a:srgbClr>
                </a:solidFill>
                <a:latin typeface="PingFang SC"/>
                <a:ea typeface="PingFang SC"/>
              </a:rPr>
              <a:t>打包</a:t>
            </a:r>
            <a:r>
              <a:rPr lang="en-US" sz="975">
                <a:solidFill>
                  <a:srgbClr val="2A2118">
                    <a:alpha val="70000"/>
                  </a:srgbClr>
                </a:solidFill>
                <a:latin typeface="PingFang SC"/>
                <a:ea typeface="PingFang SC"/>
              </a:rPr>
              <a:t xml:space="preserve"> myapp.exe</a:t>
            </a:r>
            <a:r>
              <a:rPr lang="zh-CN" sz="975">
                <a:solidFill>
                  <a:srgbClr val="2A2118">
                    <a:alpha val="70000"/>
                  </a:srgbClr>
                </a:solidFill>
                <a:latin typeface="PingFang SC"/>
                <a:ea typeface="PingFang SC"/>
              </a:rPr>
              <a:t>，</a:t>
            </a:r>
            <a:r>
              <a:rPr lang="en-US" sz="975">
                <a:solidFill>
                  <a:srgbClr val="2A2118">
                    <a:alpha val="70000"/>
                  </a:srgbClr>
                </a:solidFill>
                <a:latin typeface="PingFang SC"/>
                <a:ea typeface="PingFang SC"/>
              </a:rPr>
              <a:t xml:space="preserve">venv </a:t>
            </a:r>
            <a:r>
              <a:rPr lang="zh-CN" sz="975">
                <a:solidFill>
                  <a:srgbClr val="2A2118">
                    <a:alpha val="70000"/>
                  </a:srgbClr>
                </a:solidFill>
                <a:latin typeface="PingFang SC"/>
                <a:ea typeface="PingFang SC"/>
              </a:rPr>
              <a:t>隔离依赖</a:t>
            </a:r>
            <a:endParaRPr/>
          </a:p>
        </p:txBody>
      </p:sp>
      <p:sp>
        <p:nvSpPr>
          <p:cNvPr id="793" name="" descr="{&quot;isTemplate&quot;:true,&quot;type&quot;:&quot;text&quot;}"/>
          <p:cNvSpPr txBox="1"/>
          <p:nvPr/>
        </p:nvSpPr>
        <p:spPr>
          <a:xfrm rot="0" flipH="0" flipV="0">
            <a:off x="685800" y="6172200"/>
            <a:ext cx="14478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2A2118">
                    <a:alpha val="55000"/>
                  </a:srgbClr>
                </a:solidFill>
                <a:latin typeface="PingFang SC"/>
                <a:ea typeface="PingFang SC"/>
              </a:rPr>
              <a:t>弈趣棋苑</a:t>
            </a:r>
            <a:r>
              <a:rPr lang="en-US" sz="1050">
                <a:solidFill>
                  <a:srgbClr val="2A2118">
                    <a:alpha val="55000"/>
                  </a:srgbClr>
                </a:solidFill>
                <a:latin typeface="PingFang SC"/>
                <a:ea typeface="PingFang SC"/>
              </a:rPr>
              <a:t xml:space="preserve"> · </a:t>
            </a:r>
            <a:r>
              <a:rPr lang="zh-CN" sz="1050">
                <a:solidFill>
                  <a:srgbClr val="2A2118">
                    <a:alpha val="55000"/>
                  </a:srgbClr>
                </a:solidFill>
                <a:latin typeface="PingFang SC"/>
                <a:ea typeface="PingFang SC"/>
              </a:rPr>
              <a:t>项目开发汇报</a:t>
            </a:r>
            <a:endParaRPr/>
          </a:p>
        </p:txBody>
      </p:sp>
      <p:sp>
        <p:nvSpPr>
          <p:cNvPr id="794" name="" descr="{&quot;isTemplate&quot;:true,&quot;type&quot;:&quot;text&quot;}"/>
          <p:cNvSpPr txBox="1"/>
          <p:nvPr/>
        </p:nvSpPr>
        <p:spPr>
          <a:xfrm rot="0" flipH="0" flipV="0">
            <a:off x="11049000" y="61722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2A2118">
                    <a:alpha val="55000"/>
                  </a:srgbClr>
                </a:solidFill>
                <a:latin typeface="PingFang SC"/>
                <a:ea typeface="PingFang SC"/>
              </a:rPr>
              <a:t>08 / 64</a:t>
            </a:r>
            <a:endParaRPr/>
          </a:p>
        </p:txBody>
      </p:sp>
    </p:spTree>
  </p:cSld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795" name="" descr="&lt;Slide style={{ width: 1280, height: 720, position: &quot;relative&quot;, padding: &quot;0px&quot;, background: &quot;#2A2118&quot;, overflow: &quot;hidden&quot; }}&gt;&#10;  &lt;Image src=&quot;assets/wood_panel.jpg&quot; style={{ position: &quot;absolute&quot;, top: 0, left: 0, width: 1280, height: 720, objectFit: &quot;cover&quot;, opacity: 0.22 }} /&gt;&#10;  &lt;Box style={{ position: &quot;absolute&quot;, top: 0, left: 0, width: 1280, height: 720, background: &quot;linear-gradient(160deg, #2A2118 0%, #3E2E1E 55%, #8C5A2B 100%)&quot;, opacity: 0.55 }} /&gt;&#10;  &lt;Box style={{ position: &quot;absolute&quot;, right: 84, top: 48, flexDirection: &quot;column&quot;, alignItems: &quot;flex-end&quot; }}&gt;&#10;    &lt;Text style={{ fontSize: 210, fontWeight: &quot;bold&quot;, lineHeight: 1.0, color: &quot;rgba(179,39,30,0.85)&quot;, fontFamily: &quot;'Songti SC', 'STSong', 'SimSun', serif&quot; }}&gt;02&lt;/Text&gt;&#10;  &lt;/Box&gt;&#10;  &lt;Box style={{ position: &quot;relative&quot;, zIndex: 2, width: 1280, height: 720, padding: &quot;0px 96px&quot;, flexDirection: &quot;column&quot;, justifyContent: &quot;center&quot; }}&gt;&#10;    &lt;Text style={{ fontSize: 22, color: &quot;rgba(245,227,190,0.7)&quot;, fontFamily: &quot;'PingFang SC', 'Microsoft YaHei', sans-serif&quot;, letterSpacing: 6 }}&gt;第 02 章&lt;/Text&gt;&#10;    &lt;Text style={{ fontSize: 62, fontWeight: &quot;bold&quot;, color: &quot;#F5E3BE&quot;, fontFamily: &quot;'Songti SC', 'STSong', 'SimSun', serif&quot;, marginTop: 12 }}&gt;核心功能&lt;/Text&gt;&#10;    &lt;Box style={{ width: 70, height: 3, background: &quot;#B3271E&quot;, marginTop: 20 }} /&gt;&#10;    &lt;Text style={{ fontSize: 22, fontStyle: &quot;italic&quot;, color: &quot;rgba(245,227,190,0.82)&quot;, fontFamily: &quot;'PingFang SC', 'Microsoft YaHei', sans-serif&quot;, marginTop: 20 }}&gt;对局闭环、交互反馈与氛围系统&lt;/Text&gt;&#10;  &lt;/Box&gt;&#10;  &lt;Box style={{ position: &quot;absolute&quot;, right: 60, bottom: 50, width: 52, height: 52, borderRadius: 6, background: &quot;#B3271E&quot;, justifyContent: &quot;center&quot;, alignItems: &quot;center&quot; }}&gt;&#10;    &lt;Text style={{ fontSize: 28, fontWeight: &quot;bold&quot;, color: &quot;#F5E3BE&quot;, fontFamily: &quot;'Songti SC', 'STSong', 'SimSun', serif&quot; }}&gt;弈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2A2118"/>
          </a:solidFill>
          <a:ln/>
        </p:spPr>
        <p:txBody>
          <a:bodyPr/>
          <a:p/>
        </p:txBody>
      </p:sp>
      <p:pic>
        <p:nvPicPr>
          <p:cNvPr id="797" name=""/>
          <p:cNvPicPr>
            <a:picLocks noChangeAspect="1"/>
          </p:cNvPicPr>
          <p:nvPr/>
        </p:nvPicPr>
        <p:blipFill>
          <a:blip r:embed="rId1">
            <a:alphaModFix amt="22000"/>
          </a:blip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  <p:sp>
        <p:nvSpPr>
          <p:cNvPr id="79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2A2118">
                  <a:alpha val="55000"/>
                </a:srgbClr>
              </a:gs>
              <a:gs pos="55000">
                <a:srgbClr val="3E2E1E">
                  <a:alpha val="55000"/>
                </a:srgbClr>
              </a:gs>
              <a:gs pos="100000">
                <a:srgbClr val="8C5A2B">
                  <a:alpha val="55000"/>
                </a:srgbClr>
              </a:gs>
            </a:gsLst>
            <a:lin ang="4200000" scaled="1"/>
          </a:gradFill>
          <a:ln/>
        </p:spPr>
        <p:txBody>
          <a:bodyPr/>
          <a:p/>
        </p:txBody>
      </p:sp>
      <p:sp>
        <p:nvSpPr>
          <p:cNvPr id="799" name="" descr="{&quot;isTemplate&quot;:true,&quot;type&quot;:&quot;text&quot;}"/>
          <p:cNvSpPr txBox="1"/>
          <p:nvPr/>
        </p:nvSpPr>
        <p:spPr>
          <a:xfrm rot="0" flipH="0" flipV="0">
            <a:off x="9515475" y="457200"/>
            <a:ext cx="1876425" cy="2400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750" b="1">
                <a:solidFill>
                  <a:srgbClr val="B3271E">
                    <a:alpha val="85000"/>
                  </a:srgbClr>
                </a:solidFill>
                <a:latin typeface="Songti SC"/>
                <a:ea typeface="Songti SC"/>
              </a:rPr>
              <a:t>02</a:t>
            </a:r>
            <a:endParaRPr/>
          </a:p>
        </p:txBody>
      </p:sp>
      <p:sp>
        <p:nvSpPr>
          <p:cNvPr id="800" name=""/>
          <p:cNvSpPr/>
          <p:nvPr/>
        </p:nvSpPr>
        <p:spPr>
          <a:xfrm rot="0" flipH="0" flipV="0">
            <a:off x="11125200" y="5886450"/>
            <a:ext cx="495300" cy="495300"/>
          </a:xfrm>
          <a:prstGeom prst="roundRect">
            <a:avLst>
              <a:gd name="adj" fmla="val 11538"/>
            </a:avLst>
          </a:prstGeom>
          <a:solidFill>
            <a:srgbClr val="B3271E"/>
          </a:solidFill>
          <a:ln/>
        </p:spPr>
        <p:txBody>
          <a:bodyPr/>
          <a:p/>
        </p:txBody>
      </p:sp>
      <p:sp>
        <p:nvSpPr>
          <p:cNvPr id="801" name="" descr="{&quot;isTemplate&quot;:true,&quot;type&quot;:&quot;text&quot;}"/>
          <p:cNvSpPr txBox="1"/>
          <p:nvPr/>
        </p:nvSpPr>
        <p:spPr>
          <a:xfrm rot="0" flipH="0" flipV="0">
            <a:off x="11239500" y="5972175"/>
            <a:ext cx="266700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100" b="1">
                <a:solidFill>
                  <a:srgbClr val="F5E3BE"/>
                </a:solidFill>
                <a:latin typeface="Songti SC"/>
                <a:ea typeface="Songti SC"/>
              </a:rPr>
              <a:t>弈</a:t>
            </a:r>
            <a:endParaRPr/>
          </a:p>
        </p:txBody>
      </p:sp>
      <p:sp>
        <p:nvSpPr>
          <p:cNvPr id="802" name="" descr="{&quot;isTemplate&quot;:true,&quot;type&quot;:&quot;text&quot;}"/>
          <p:cNvSpPr txBox="1"/>
          <p:nvPr/>
        </p:nvSpPr>
        <p:spPr>
          <a:xfrm rot="0" flipH="0" flipV="0">
            <a:off x="914400" y="2552700"/>
            <a:ext cx="103632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spc="450">
                <a:solidFill>
                  <a:srgbClr val="F5E3BE">
                    <a:alpha val="70000"/>
                  </a:srgbClr>
                </a:solidFill>
                <a:latin typeface="PingFang SC"/>
                <a:ea typeface="PingFang SC"/>
              </a:rPr>
              <a:t>第</a:t>
            </a:r>
            <a:r>
              <a:rPr lang="en-US" sz="1650" spc="450">
                <a:solidFill>
                  <a:srgbClr val="F5E3BE">
                    <a:alpha val="70000"/>
                  </a:srgbClr>
                </a:solidFill>
                <a:latin typeface="PingFang SC"/>
                <a:ea typeface="PingFang SC"/>
              </a:rPr>
              <a:t xml:space="preserve"> 02 </a:t>
            </a:r>
            <a:r>
              <a:rPr lang="zh-CN" sz="1650" spc="450">
                <a:solidFill>
                  <a:srgbClr val="F5E3BE">
                    <a:alpha val="70000"/>
                  </a:srgbClr>
                </a:solidFill>
                <a:latin typeface="PingFang SC"/>
                <a:ea typeface="PingFang SC"/>
              </a:rPr>
              <a:t>章</a:t>
            </a:r>
            <a:endParaRPr/>
          </a:p>
        </p:txBody>
      </p:sp>
      <p:sp>
        <p:nvSpPr>
          <p:cNvPr id="803" name="" descr="{&quot;isTemplate&quot;:true,&quot;type&quot;:&quot;text&quot;}"/>
          <p:cNvSpPr txBox="1"/>
          <p:nvPr/>
        </p:nvSpPr>
        <p:spPr>
          <a:xfrm rot="0" flipH="0" flipV="0">
            <a:off x="914400" y="2924175"/>
            <a:ext cx="10363200" cy="7143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4650" b="1">
                <a:solidFill>
                  <a:srgbClr val="F5E3BE"/>
                </a:solidFill>
                <a:latin typeface="Songti SC"/>
                <a:ea typeface="Songti SC"/>
              </a:rPr>
              <a:t>核心功能</a:t>
            </a:r>
            <a:endParaRPr/>
          </a:p>
        </p:txBody>
      </p:sp>
      <p:sp>
        <p:nvSpPr>
          <p:cNvPr id="804" name=""/>
          <p:cNvSpPr/>
          <p:nvPr/>
        </p:nvSpPr>
        <p:spPr>
          <a:xfrm rot="0" flipH="0" flipV="0">
            <a:off x="914400" y="3829050"/>
            <a:ext cx="666750" cy="28575"/>
          </a:xfrm>
          <a:prstGeom prst="rect">
            <a:avLst/>
          </a:prstGeom>
          <a:solidFill>
            <a:srgbClr val="B3271E"/>
          </a:solidFill>
          <a:ln/>
        </p:spPr>
        <p:txBody>
          <a:bodyPr/>
          <a:p/>
        </p:txBody>
      </p:sp>
      <p:sp>
        <p:nvSpPr>
          <p:cNvPr id="805" name="" descr="{&quot;isTemplate&quot;:true,&quot;type&quot;:&quot;text&quot;}"/>
          <p:cNvSpPr txBox="1"/>
          <p:nvPr/>
        </p:nvSpPr>
        <p:spPr>
          <a:xfrm rot="0" flipH="0" flipV="0">
            <a:off x="914400" y="4048125"/>
            <a:ext cx="103632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i="1">
                <a:solidFill>
                  <a:srgbClr val="F5E3BE">
                    <a:alpha val="82000"/>
                  </a:srgbClr>
                </a:solidFill>
                <a:latin typeface="PingFang SC"/>
                <a:ea typeface="PingFang SC"/>
              </a:rPr>
              <a:t>对局闭环、交互反馈与氛围系统</a:t>
            </a:r>
            <a:endParaRPr/>
          </a:p>
        </p:txBody>
      </p:sp>
    </p:spTree>
  </p:cSld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5" name="" descr="&lt;Slide style={{ width: 1280, height: 720, padding: &quot;20px 72px&quot;, background: &quot;#F5E3BE&quot;, flexDirection: &quot;column&quot; }}&gt;&#10;  &lt;Box style={{ width: &quot;100%&quot;, height: 96, flexDirection: &quot;column&quot;, justifyContent: &quot;center&quot; }}&gt;&#10;    &lt;Text style={{ fontSize: 34, fontWeight: &quot;bold&quot;, color: &quot;#2A2118&quot;, fontFamily: &quot;'Songti SC', 'STSong', 'SimSun', serif&quot; }}&gt;一场能玩的对局，至少要同时成立这几件事&lt;/Text&gt;&#10;    &lt;Box style={{ width: 56, height: 2, background: &quot;#B3271E&quot;, marginTop: 10 }} /&gt;&#10;  &lt;/Box&gt;&#10;  &lt;Box style={{ width: &quot;100%&quot;, height: 516, flexDirection: &quot;column&quot; }}&gt;&#10;  &lt;Box style={{ flexDirection: &quot;row&quot;, height: &quot;100%&quot;, gap: 40 }}&gt;          &lt;Box style={{ flexDirection: &quot;column&quot;, gap: 10 }}&gt;&#10;      &lt;Image src=&quot;assets/shot_connect6.png&quot; style={{ width: 500, height: 300, objectFit: &quot;cover&quot;, borderRadius: 8, border: &quot;1px solid rgba(140,90,43,0.30)&quot; }} /&gt;&#10;      &lt;Text style={{ fontSize: 15, color: &quot;#8C5A2B&quot;, fontWeight: &quot;bold&quot;, fontFamily: &quot;'PingFang SC', 'Microsoft YaHei', sans-serif&quot; }}&gt;实机 · 六子棋对局（侧栏含胜率曲线与主题）&lt;/Text&gt;&#10;    &lt;/Box&gt;&#10;        &lt;Box style={{ flex: 1, flexDirection: &quot;column&quot;, justifyContent: &quot;center&quot; }}&gt;&#10;    &lt;Text style={{ fontSize: 18, lineHeight: 1.7, color: &quot;#2A2118&quot;, fontFamily: &quot;'PingFang SC', 'Microsoft YaHei', sans-serif&quot;, marginBottom: 14 }}&gt;点哪落哪的两步式交互、随时可退的悔棋、听得见的落子音、切得动的棋盘主题——缺任何一环，「能玩」都会打折扣。&lt;/Text&gt;&#10;    &lt;Text style={{ fontSize: 18, lineHeight: 1.7, color: &quot;#2A2118&quot;, fontFamily: &quot;'PingFang SC', 'Microsoft YaHei', sans-serif&quot;, marginBottom: 14 }}&gt;功能完整不等于按钮多。右边这张对局界面元素并不密，但每一步都有明确反馈、每一步都可回退，这才是真正的「完整」。&lt;/Text&gt;&#10;  &lt;/Box&gt;&#10;  &lt;/Box&gt;&#10;  &lt;/Box&gt;&#10;  &lt;Box style={{ width: &quot;100%&quot;, height: 48, flexDirection: &quot;row&quot;, alignItems: &quot;center&quot;, justifyContent: &quot;space-between&quot; }}&gt;&#10;    &lt;Text style={{ fontSize: 14, color: &quot;rgba(42,33,24,0.55)&quot;, fontFamily: &quot;'PingFang SC', 'Microsoft YaHei', sans-serif&quot; }}&gt;弈趣棋苑 · 项目开发汇报&lt;/Text&gt;&#10;    &lt;Text style={{ fontSize: 14, color: &quot;rgba(42,33,24,0.55)&quot;, fontFamily: &quot;'PingFang SC', 'Microsoft YaHei', sans-serif&quot; }}&gt;10 / 64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5E3BE"/>
          </a:solidFill>
          <a:ln/>
        </p:spPr>
        <p:txBody>
          <a:bodyPr/>
          <a:p/>
        </p:txBody>
      </p:sp>
      <p:sp>
        <p:nvSpPr>
          <p:cNvPr id="17" name="" descr="{&quot;isTemplate&quot;:true,&quot;type&quot;:&quot;text&quot;}"/>
          <p:cNvSpPr txBox="1"/>
          <p:nvPr/>
        </p:nvSpPr>
        <p:spPr>
          <a:xfrm rot="0" flipH="0" flipV="0">
            <a:off x="685800" y="400050"/>
            <a:ext cx="108204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A2118"/>
                </a:solidFill>
                <a:latin typeface="Songti SC"/>
                <a:ea typeface="Songti SC"/>
              </a:rPr>
              <a:t>一场能玩的对局，至少要同时成立这几件事</a:t>
            </a:r>
            <a:endParaRPr/>
          </a:p>
        </p:txBody>
      </p:sp>
      <p:sp>
        <p:nvSpPr>
          <p:cNvPr id="18" name=""/>
          <p:cNvSpPr/>
          <p:nvPr/>
        </p:nvSpPr>
        <p:spPr>
          <a:xfrm rot="0" flipH="0" flipV="0">
            <a:off x="685800" y="885825"/>
            <a:ext cx="533400" cy="19050"/>
          </a:xfrm>
          <a:prstGeom prst="rect">
            <a:avLst/>
          </a:prstGeom>
          <a:solidFill>
            <a:srgbClr val="B3271E"/>
          </a:solidFill>
          <a:ln/>
        </p:spPr>
        <p:txBody>
          <a:bodyPr/>
          <a:p/>
        </p:txBody>
      </p:sp>
      <p:sp>
        <p:nvSpPr>
          <p:cNvPr id="19" name=""/>
          <p:cNvSpPr/>
          <p:nvPr/>
        </p:nvSpPr>
        <p:spPr>
          <a:xfrm rot="0" flipH="0" flipV="0">
            <a:off x="685800" y="1104900"/>
            <a:ext cx="4762500" cy="2857500"/>
          </a:xfrm>
          <a:prstGeom prst="rect">
            <a:avLst/>
          </a:prstGeom>
          <a:ln w="12700">
            <a:solidFill>
              <a:srgbClr val="8C5A2B">
                <a:alpha val="3000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20" name=""/>
          <p:cNvPicPr>
            <a:picLocks noChangeAspect="1"/>
          </p:cNvPicPr>
          <p:nvPr/>
        </p:nvPicPr>
        <p:blipFill>
          <a:blip r:embed="rId1"/>
          <a:srcRect l="0" t="4634" r="0" b="4634"/>
          <a:stretch>
            <a:fillRect/>
          </a:stretch>
        </p:blipFill>
        <p:spPr>
          <a:xfrm rot="0" flipH="0" flipV="0">
            <a:off x="685800" y="1104900"/>
            <a:ext cx="4762500" cy="2857500"/>
          </a:xfrm>
          <a:prstGeom prst="roundRect">
            <a:avLst>
              <a:gd name="adj" fmla="val 2667"/>
            </a:avLst>
          </a:prstGeom>
          <a:ln/>
        </p:spPr>
      </p:pic>
      <p:sp>
        <p:nvSpPr>
          <p:cNvPr id="21" name="" descr="{&quot;isTemplate&quot;:true,&quot;type&quot;:&quot;text&quot;}"/>
          <p:cNvSpPr txBox="1"/>
          <p:nvPr/>
        </p:nvSpPr>
        <p:spPr>
          <a:xfrm rot="0" flipH="0" flipV="0">
            <a:off x="685800" y="4057650"/>
            <a:ext cx="4762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8C5A2B"/>
                </a:solidFill>
                <a:latin typeface="PingFang SC"/>
                <a:ea typeface="PingFang SC"/>
              </a:rPr>
              <a:t>实机</a:t>
            </a:r>
            <a:r>
              <a:rPr lang="en-US" sz="1125" b="1">
                <a:solidFill>
                  <a:srgbClr val="8C5A2B"/>
                </a:solidFill>
                <a:latin typeface="PingFang SC"/>
                <a:ea typeface="PingFang SC"/>
              </a:rPr>
              <a:t xml:space="preserve"> · </a:t>
            </a:r>
            <a:r>
              <a:rPr lang="zh-CN" sz="1125" b="1">
                <a:solidFill>
                  <a:srgbClr val="8C5A2B"/>
                </a:solidFill>
                <a:latin typeface="PingFang SC"/>
                <a:ea typeface="PingFang SC"/>
              </a:rPr>
              <a:t>六子棋对局（侧栏含胜率曲线与主题）</a:t>
            </a:r>
            <a:endParaRPr/>
          </a:p>
        </p:txBody>
      </p:sp>
      <p:sp>
        <p:nvSpPr>
          <p:cNvPr id="22" name="" descr="{&quot;isTemplate&quot;:true,&quot;type&quot;:&quot;text&quot;}"/>
          <p:cNvSpPr txBox="1"/>
          <p:nvPr/>
        </p:nvSpPr>
        <p:spPr>
          <a:xfrm rot="0" flipH="0" flipV="0">
            <a:off x="5829300" y="2724150"/>
            <a:ext cx="5676900" cy="7048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350">
                <a:solidFill>
                  <a:srgbClr val="2A2118"/>
                </a:solidFill>
                <a:latin typeface="PingFang SC"/>
                <a:ea typeface="PingFang SC"/>
              </a:rPr>
              <a:t>点哪落哪的两步式交互、随时可退的悔棋、听得见的落子音、切得动的棋盘主题——缺任何一环，「能玩」都会打折扣。</a:t>
            </a:r>
            <a:endParaRPr/>
          </a:p>
        </p:txBody>
      </p:sp>
      <p:sp>
        <p:nvSpPr>
          <p:cNvPr id="23" name="" descr="{&quot;isTemplate&quot;:true,&quot;type&quot;:&quot;text&quot;}"/>
          <p:cNvSpPr txBox="1"/>
          <p:nvPr/>
        </p:nvSpPr>
        <p:spPr>
          <a:xfrm rot="0" flipH="0" flipV="0">
            <a:off x="5829300" y="3562350"/>
            <a:ext cx="5676900" cy="7048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350">
                <a:solidFill>
                  <a:srgbClr val="2A2118"/>
                </a:solidFill>
                <a:latin typeface="PingFang SC"/>
                <a:ea typeface="PingFang SC"/>
              </a:rPr>
              <a:t>功能完整不等于按钮多。右边这张对局界面元素并不密，但每一步都有明确反馈、每一步都可回退，这才是真正的「完整」。</a:t>
            </a:r>
            <a:endParaRPr/>
          </a:p>
        </p:txBody>
      </p:sp>
      <p:sp>
        <p:nvSpPr>
          <p:cNvPr id="24" name="" descr="{&quot;isTemplate&quot;:true,&quot;type&quot;:&quot;text&quot;}"/>
          <p:cNvSpPr txBox="1"/>
          <p:nvPr/>
        </p:nvSpPr>
        <p:spPr>
          <a:xfrm rot="0" flipH="0" flipV="0">
            <a:off x="685800" y="6172200"/>
            <a:ext cx="14478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2A2118">
                    <a:alpha val="55000"/>
                  </a:srgbClr>
                </a:solidFill>
                <a:latin typeface="PingFang SC"/>
                <a:ea typeface="PingFang SC"/>
              </a:rPr>
              <a:t>弈趣棋苑</a:t>
            </a:r>
            <a:r>
              <a:rPr lang="en-US" sz="1050">
                <a:solidFill>
                  <a:srgbClr val="2A2118">
                    <a:alpha val="55000"/>
                  </a:srgbClr>
                </a:solidFill>
                <a:latin typeface="PingFang SC"/>
                <a:ea typeface="PingFang SC"/>
              </a:rPr>
              <a:t xml:space="preserve"> · </a:t>
            </a:r>
            <a:r>
              <a:rPr lang="zh-CN" sz="1050">
                <a:solidFill>
                  <a:srgbClr val="2A2118">
                    <a:alpha val="55000"/>
                  </a:srgbClr>
                </a:solidFill>
                <a:latin typeface="PingFang SC"/>
                <a:ea typeface="PingFang SC"/>
              </a:rPr>
              <a:t>项目开发汇报</a:t>
            </a:r>
            <a:endParaRPr/>
          </a:p>
        </p:txBody>
      </p:sp>
      <p:sp>
        <p:nvSpPr>
          <p:cNvPr id="25" name="" descr="{&quot;isTemplate&quot;:true,&quot;type&quot;:&quot;text&quot;}"/>
          <p:cNvSpPr txBox="1"/>
          <p:nvPr/>
        </p:nvSpPr>
        <p:spPr>
          <a:xfrm rot="0" flipH="0" flipV="0">
            <a:off x="11049000" y="61722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2A2118">
                    <a:alpha val="55000"/>
                  </a:srgbClr>
                </a:solidFill>
                <a:latin typeface="PingFang SC"/>
                <a:ea typeface="PingFang SC"/>
              </a:rPr>
              <a:t>10 / 64</a:t>
            </a:r>
            <a:endParaRPr/>
          </a:p>
        </p:txBody>
      </p:sp>
    </p:spTree>
  </p:cSld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26" name="" descr="&lt;Slide style={{ width: 1280, height: 720, padding: &quot;20px 72px&quot;, background: &quot;#F5E3BE&quot;, flexDirection: &quot;column&quot; }}&gt;&#10;  &lt;Box style={{ width: &quot;100%&quot;, height: 96, flexDirection: &quot;column&quot;, justifyContent: &quot;center&quot; }}&gt;&#10;    &lt;Text style={{ fontSize: 34, fontWeight: &quot;bold&quot;, color: &quot;#2A2118&quot;, fontFamily: &quot;'Songti SC', 'STSong', 'SimSun', serif&quot; }}&gt;原理 · 两步式落子为什么可靠&lt;/Text&gt;&#10;    &lt;Box style={{ width: 56, height: 2, background: &quot;#B3271E&quot;, marginTop: 10 }} /&gt;&#10;  &lt;/Box&gt;&#10;  &lt;Box style={{ width: &quot;100%&quot;, height: 516, flexDirection: &quot;column&quot; }}&gt;&#10;  &lt;Box style={{ flexDirection: &quot;row&quot;, height: &quot;100%&quot;, gap: 40 }}&gt;        &lt;Box style={{ flex: 1, flexDirection: &quot;column&quot;, justifyContent: &quot;center&quot; }}&gt;&#10;    &lt;Text style={{ fontSize: 18, lineHeight: 1.7, color: &quot;#2A2118&quot;, fontFamily: &quot;'PingFang SC', 'Microsoft YaHei', sans-serif&quot;, marginBottom: 14 }}&gt;落子拆成「选格 → 确认」两步。先点目标格，状态条提示本回合还剩几子；只有点「确认」才真正落子。误触不会直接落子，状态永远可预期。&lt;/Text&gt;&#10;    &lt;Text style={{ fontSize: 18, lineHeight: 1.7, color: &quot;#2A2118&quot;, fontFamily: &quot;'PingFang SC', 'Microsoft YaHei', sans-serif&quot;, marginBottom: 14 }}&gt;状态机只有三个态：idle（轮到你）→ selected（已选，待确认）→ placed（已落）。任意 placed 态都能经悔棋回到上一次落子前，状态机和撤销链一一对应。&lt;/Text&gt;&#10;  &lt;/Box&gt;&#10;          &lt;Box style={{ flexDirection: &quot;column&quot;, gap: 10 }}&gt;&#10;      &lt;Image src=&quot;assets/shot_connect6.png&quot; style={{ width: 480, height: 290, objectFit: &quot;cover&quot;, borderRadius: 8, border: &quot;1px solid rgba(140,90,43,0.30)&quot; }} /&gt;&#10;      &lt;Text style={{ fontSize: 15, color: &quot;#8C5A2B&quot;, fontWeight: &quot;bold&quot;, fontFamily: &quot;'PingFang SC', 'Microsoft YaHei', sans-serif&quot; }}&gt;两步式：先选格高亮，再点确认落子&lt;/Text&gt;&#10;    &lt;/Box&gt;&#10;  &lt;/Box&gt;&#10;  &lt;/Box&gt;&#10;  &lt;Box style={{ width: &quot;100%&quot;, height: 48, flexDirection: &quot;row&quot;, alignItems: &quot;center&quot;, justifyContent: &quot;space-between&quot; }}&gt;&#10;    &lt;Text style={{ fontSize: 14, color: &quot;rgba(42,33,24,0.55)&quot;, fontFamily: &quot;'PingFang SC', 'Microsoft YaHei', sans-serif&quot; }}&gt;弈趣棋苑 · 项目开发汇报&lt;/Text&gt;&#10;    &lt;Text style={{ fontSize: 14, color: &quot;rgba(42,33,24,0.55)&quot;, fontFamily: &quot;'PingFang SC', 'Microsoft YaHei', sans-serif&quot; }}&gt;11 / 64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5E3BE"/>
          </a:solidFill>
          <a:ln/>
        </p:spPr>
        <p:txBody>
          <a:bodyPr/>
          <a:p/>
        </p:txBody>
      </p:sp>
      <p:sp>
        <p:nvSpPr>
          <p:cNvPr id="28" name="" descr="{&quot;isTemplate&quot;:true,&quot;type&quot;:&quot;text&quot;}"/>
          <p:cNvSpPr txBox="1"/>
          <p:nvPr/>
        </p:nvSpPr>
        <p:spPr>
          <a:xfrm rot="0" flipH="0" flipV="0">
            <a:off x="685800" y="400050"/>
            <a:ext cx="108204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A2118"/>
                </a:solidFill>
                <a:latin typeface="Songti SC"/>
                <a:ea typeface="Songti SC"/>
              </a:rPr>
              <a:t>原理</a:t>
            </a:r>
            <a:r>
              <a:rPr lang="en-US" sz="2550" b="1">
                <a:solidFill>
                  <a:srgbClr val="2A2118"/>
                </a:solidFill>
                <a:latin typeface="Songti SC"/>
                <a:ea typeface="Songti SC"/>
              </a:rPr>
              <a:t xml:space="preserve"> · </a:t>
            </a:r>
            <a:r>
              <a:rPr lang="zh-CN" sz="2550" b="1">
                <a:solidFill>
                  <a:srgbClr val="2A2118"/>
                </a:solidFill>
                <a:latin typeface="Songti SC"/>
                <a:ea typeface="Songti SC"/>
              </a:rPr>
              <a:t>两步式落子为什么可靠</a:t>
            </a:r>
            <a:endParaRPr/>
          </a:p>
        </p:txBody>
      </p:sp>
      <p:sp>
        <p:nvSpPr>
          <p:cNvPr id="29" name=""/>
          <p:cNvSpPr/>
          <p:nvPr/>
        </p:nvSpPr>
        <p:spPr>
          <a:xfrm rot="0" flipH="0" flipV="0">
            <a:off x="685800" y="885825"/>
            <a:ext cx="533400" cy="19050"/>
          </a:xfrm>
          <a:prstGeom prst="rect">
            <a:avLst/>
          </a:prstGeom>
          <a:solidFill>
            <a:srgbClr val="B3271E"/>
          </a:solidFill>
          <a:ln/>
        </p:spPr>
        <p:txBody>
          <a:bodyPr/>
          <a:p/>
        </p:txBody>
      </p:sp>
      <p:sp>
        <p:nvSpPr>
          <p:cNvPr id="30" name="" descr="{&quot;isTemplate&quot;:true,&quot;type&quot;:&quot;text&quot;}"/>
          <p:cNvSpPr txBox="1"/>
          <p:nvPr/>
        </p:nvSpPr>
        <p:spPr>
          <a:xfrm rot="0" flipH="0" flipV="0">
            <a:off x="685800" y="2552700"/>
            <a:ext cx="5867400" cy="7048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350">
                <a:solidFill>
                  <a:srgbClr val="2A2118"/>
                </a:solidFill>
                <a:latin typeface="PingFang SC"/>
                <a:ea typeface="PingFang SC"/>
              </a:rPr>
              <a:t>落子拆成「选格</a:t>
            </a:r>
            <a:r>
              <a:rPr lang="en-US" sz="1350">
                <a:solidFill>
                  <a:srgbClr val="2A2118"/>
                </a:solidFill>
                <a:latin typeface="PingFang SC"/>
                <a:ea typeface="PingFang SC"/>
              </a:rPr>
              <a:t xml:space="preserve"> → </a:t>
            </a:r>
            <a:r>
              <a:rPr lang="zh-CN" sz="1350">
                <a:solidFill>
                  <a:srgbClr val="2A2118"/>
                </a:solidFill>
                <a:latin typeface="PingFang SC"/>
                <a:ea typeface="PingFang SC"/>
              </a:rPr>
              <a:t>确认」两步。先点目标格，状态条提示本回合还剩几子；只有点「确认」才真正落子。误触不会直接落子，状态永远可预期。</a:t>
            </a:r>
            <a:endParaRPr/>
          </a:p>
        </p:txBody>
      </p:sp>
      <p:sp>
        <p:nvSpPr>
          <p:cNvPr id="31" name="" descr="{&quot;isTemplate&quot;:true,&quot;type&quot;:&quot;text&quot;}"/>
          <p:cNvSpPr txBox="1"/>
          <p:nvPr/>
        </p:nvSpPr>
        <p:spPr>
          <a:xfrm rot="0" flipH="0" flipV="0">
            <a:off x="685800" y="3390900"/>
            <a:ext cx="5867400" cy="10572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350">
                <a:solidFill>
                  <a:srgbClr val="2A2118"/>
                </a:solidFill>
                <a:latin typeface="PingFang SC"/>
                <a:ea typeface="PingFang SC"/>
              </a:rPr>
              <a:t>状态机只有三个态：</a:t>
            </a:r>
            <a:r>
              <a:rPr lang="en-US" sz="1350">
                <a:solidFill>
                  <a:srgbClr val="2A2118"/>
                </a:solidFill>
                <a:latin typeface="PingFang SC"/>
                <a:ea typeface="PingFang SC"/>
              </a:rPr>
              <a:t>idle</a:t>
            </a:r>
            <a:r>
              <a:rPr lang="zh-CN" sz="1350">
                <a:solidFill>
                  <a:srgbClr val="2A2118"/>
                </a:solidFill>
                <a:latin typeface="PingFang SC"/>
                <a:ea typeface="PingFang SC"/>
              </a:rPr>
              <a:t>（轮到你）→</a:t>
            </a:r>
            <a:r>
              <a:rPr lang="en-US" sz="1350">
                <a:solidFill>
                  <a:srgbClr val="2A2118"/>
                </a:solidFill>
                <a:latin typeface="PingFang SC"/>
                <a:ea typeface="PingFang SC"/>
              </a:rPr>
              <a:t xml:space="preserve"> selected</a:t>
            </a:r>
            <a:r>
              <a:rPr lang="zh-CN" sz="1350">
                <a:solidFill>
                  <a:srgbClr val="2A2118"/>
                </a:solidFill>
                <a:latin typeface="PingFang SC"/>
                <a:ea typeface="PingFang SC"/>
              </a:rPr>
              <a:t>（已选，待确认）→</a:t>
            </a:r>
            <a:r>
              <a:rPr lang="en-US" sz="1350">
                <a:solidFill>
                  <a:srgbClr val="2A2118"/>
                </a:solidFill>
                <a:latin typeface="PingFang SC"/>
                <a:ea typeface="PingFang SC"/>
              </a:rPr>
              <a:t xml:space="preserve"> placed</a:t>
            </a:r>
            <a:r>
              <a:rPr lang="zh-CN" sz="1350">
                <a:solidFill>
                  <a:srgbClr val="2A2118"/>
                </a:solidFill>
                <a:latin typeface="PingFang SC"/>
                <a:ea typeface="PingFang SC"/>
              </a:rPr>
              <a:t>（已落）。任意</a:t>
            </a:r>
            <a:r>
              <a:rPr lang="en-US" sz="1350">
                <a:solidFill>
                  <a:srgbClr val="2A2118"/>
                </a:solidFill>
                <a:latin typeface="PingFang SC"/>
                <a:ea typeface="PingFang SC"/>
              </a:rPr>
              <a:t xml:space="preserve"> placed </a:t>
            </a:r>
            <a:r>
              <a:rPr lang="zh-CN" sz="1350">
                <a:solidFill>
                  <a:srgbClr val="2A2118"/>
                </a:solidFill>
                <a:latin typeface="PingFang SC"/>
                <a:ea typeface="PingFang SC"/>
              </a:rPr>
              <a:t>态都能经悔棋回到上一次落子前，状态机和撤销链一一对应。</a:t>
            </a:r>
            <a:endParaRPr/>
          </a:p>
        </p:txBody>
      </p:sp>
      <p:sp>
        <p:nvSpPr>
          <p:cNvPr id="32" name=""/>
          <p:cNvSpPr/>
          <p:nvPr/>
        </p:nvSpPr>
        <p:spPr>
          <a:xfrm rot="0" flipH="0" flipV="0">
            <a:off x="6934200" y="1104900"/>
            <a:ext cx="4572000" cy="2762250"/>
          </a:xfrm>
          <a:prstGeom prst="rect">
            <a:avLst/>
          </a:prstGeom>
          <a:ln w="12700">
            <a:solidFill>
              <a:srgbClr val="8C5A2B">
                <a:alpha val="3000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33" name=""/>
          <p:cNvPicPr>
            <a:picLocks noChangeAspect="1"/>
          </p:cNvPicPr>
          <p:nvPr/>
        </p:nvPicPr>
        <p:blipFill>
          <a:blip r:embed="rId1"/>
          <a:srcRect l="0" t="4319" r="0" b="4319"/>
          <a:stretch>
            <a:fillRect/>
          </a:stretch>
        </p:blipFill>
        <p:spPr>
          <a:xfrm rot="0" flipH="0" flipV="0">
            <a:off x="6934200" y="1104900"/>
            <a:ext cx="4572000" cy="2762250"/>
          </a:xfrm>
          <a:prstGeom prst="roundRect">
            <a:avLst>
              <a:gd name="adj" fmla="val 2759"/>
            </a:avLst>
          </a:prstGeom>
          <a:ln/>
        </p:spPr>
      </p:pic>
      <p:sp>
        <p:nvSpPr>
          <p:cNvPr id="34" name="" descr="{&quot;isTemplate&quot;:true,&quot;type&quot;:&quot;text&quot;}"/>
          <p:cNvSpPr txBox="1"/>
          <p:nvPr/>
        </p:nvSpPr>
        <p:spPr>
          <a:xfrm rot="0" flipH="0" flipV="0">
            <a:off x="6934200" y="3962400"/>
            <a:ext cx="45720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8C5A2B"/>
                </a:solidFill>
                <a:latin typeface="PingFang SC"/>
                <a:ea typeface="PingFang SC"/>
              </a:rPr>
              <a:t>两步式：先选格高亮，再点确认落子</a:t>
            </a:r>
            <a:endParaRPr/>
          </a:p>
        </p:txBody>
      </p:sp>
      <p:sp>
        <p:nvSpPr>
          <p:cNvPr id="35" name="" descr="{&quot;isTemplate&quot;:true,&quot;type&quot;:&quot;text&quot;}"/>
          <p:cNvSpPr txBox="1"/>
          <p:nvPr/>
        </p:nvSpPr>
        <p:spPr>
          <a:xfrm rot="0" flipH="0" flipV="0">
            <a:off x="685800" y="6172200"/>
            <a:ext cx="14478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2A2118">
                    <a:alpha val="55000"/>
                  </a:srgbClr>
                </a:solidFill>
                <a:latin typeface="PingFang SC"/>
                <a:ea typeface="PingFang SC"/>
              </a:rPr>
              <a:t>弈趣棋苑</a:t>
            </a:r>
            <a:r>
              <a:rPr lang="en-US" sz="1050">
                <a:solidFill>
                  <a:srgbClr val="2A2118">
                    <a:alpha val="55000"/>
                  </a:srgbClr>
                </a:solidFill>
                <a:latin typeface="PingFang SC"/>
                <a:ea typeface="PingFang SC"/>
              </a:rPr>
              <a:t xml:space="preserve"> · </a:t>
            </a:r>
            <a:r>
              <a:rPr lang="zh-CN" sz="1050">
                <a:solidFill>
                  <a:srgbClr val="2A2118">
                    <a:alpha val="55000"/>
                  </a:srgbClr>
                </a:solidFill>
                <a:latin typeface="PingFang SC"/>
                <a:ea typeface="PingFang SC"/>
              </a:rPr>
              <a:t>项目开发汇报</a:t>
            </a:r>
            <a:endParaRPr/>
          </a:p>
        </p:txBody>
      </p:sp>
      <p:sp>
        <p:nvSpPr>
          <p:cNvPr id="36" name="" descr="{&quot;isTemplate&quot;:true,&quot;type&quot;:&quot;text&quot;}"/>
          <p:cNvSpPr txBox="1"/>
          <p:nvPr/>
        </p:nvSpPr>
        <p:spPr>
          <a:xfrm rot="0" flipH="0" flipV="0">
            <a:off x="11049000" y="61722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2A2118">
                    <a:alpha val="55000"/>
                  </a:srgbClr>
                </a:solidFill>
                <a:latin typeface="PingFang SC"/>
                <a:ea typeface="PingFang SC"/>
              </a:rPr>
              <a:t>11 / 64</a:t>
            </a:r>
            <a:endParaRPr/>
          </a:p>
        </p:txBody>
      </p:sp>
    </p:spTree>
  </p:cSld>
</p:sld>
</file>

<file path=ppt/slides/slide12.xml><?xml version="1.0" encoding="utf-8"?>
<p:sld xmlns:p="http://schemas.openxmlformats.org/presentationml/2006/main" xmlns:a="http://schemas.openxmlformats.org/drawingml/2006/main">
  <p:cSld>
    <p:spTree>
      <p:nvGrpSpPr>
        <p:cNvPr id="37" name="" descr="&lt;Slide style={{ width: 1280, height: 720, padding: &quot;20px 72px&quot;, background: &quot;#F5E3BE&quot;, flexDirection: &quot;column&quot; }}&gt;&#10;  &lt;Box style={{ width: &quot;100%&quot;, height: 96, flexDirection: &quot;column&quot;, justifyContent: &quot;center&quot; }}&gt;&#10;    &lt;Text style={{ fontSize: 34, fontWeight: &quot;bold&quot;, color: &quot;#2A2118&quot;, fontFamily: &quot;'Songti SC', 'STSong', 'SimSun', serif&quot; }}&gt;悔棋整轮：一个真实 bug 的来龙去脉&lt;/Text&gt;&#10;    &lt;Box style={{ width: 56, height: 2, background: &quot;#B3271E&quot;, marginTop: 10 }} /&gt;&#10;  &lt;/Box&gt;&#10;  &lt;Box style={{ width: &quot;100%&quot;, height: 516, flexDirection: &quot;column&quot; }}&gt;&#10;  &lt;Box style={{ width: 860, height: &quot;100%&quot;, flexDirection: &quot;column&quot;, justifyContent: &quot;center&quot; }}&gt;&#10;    &lt;Text style={{ fontSize: 18, lineHeight: 1.7, color: &quot;#2A2118&quot;, fontFamily: &quot;'PingFang SC', 'Microsoft YaHei', sans-serif&quot;, marginBottom: 14 }}&gt;悔棋原本按 round_no 撤「最近一轮」。人机模式下，最近一轮恰好是 AI 的回合——撤完又轮到 AI，等于没撤。用户点悔棋，棋盘纹丝不动。&lt;/Text&gt;&#10;    &lt;Text style={{ fontSize: 18, lineHeight: 1.7, color: &quot;#2A2118&quot;, fontFamily: &quot;'PingFang SC', 'Microsoft YaHei', sans-serif&quot;, marginBottom: 14 }}&gt;修法是给 undo_round 加 to_human 参数：循环撤销，直到当前行棋方是 human，也就是撤到「我上一次落子之前」。末尾再补一句 _schedule_ai_turn，万一 AI 先手被撤光就重调度。&lt;/Text&gt;&#10;    &lt;Text style={{ fontSize: 18, lineHeight: 1.7, color: &quot;#2A2118&quot;, fontFamily: &quot;'PingFang SC', 'Microsoft YaHei', sans-serif&quot;, marginBottom: 14 }}&gt;这个缺陷从初始 commit 就埋着：注释写的是「撤到人类可控」，实现却是「撤最近一轮」——注释和代码对不上，光看注释永远发现不了。&lt;/Text&gt;&#10;  &lt;/Box&gt;&#10;  &lt;/Box&gt;&#10;  &lt;Box style={{ width: &quot;100%&quot;, height: 48, flexDirection: &quot;row&quot;, alignItems: &quot;center&quot;, justifyContent: &quot;space-between&quot; }}&gt;&#10;    &lt;Text style={{ fontSize: 14, color: &quot;rgba(42,33,24,0.55)&quot;, fontFamily: &quot;'PingFang SC', 'Microsoft YaHei', sans-serif&quot; }}&gt;弈趣棋苑 · 项目开发汇报&lt;/Text&gt;&#10;    &lt;Text style={{ fontSize: 14, color: &quot;rgba(42,33,24,0.55)&quot;, fontFamily: &quot;'PingFang SC', 'Microsoft YaHei', sans-serif&quot; }}&gt;12 / 64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5E3BE"/>
          </a:solidFill>
          <a:ln/>
        </p:spPr>
        <p:txBody>
          <a:bodyPr/>
          <a:p/>
        </p:txBody>
      </p:sp>
      <p:sp>
        <p:nvSpPr>
          <p:cNvPr id="39" name="" descr="{&quot;isTemplate&quot;:true,&quot;type&quot;:&quot;text&quot;}"/>
          <p:cNvSpPr txBox="1"/>
          <p:nvPr/>
        </p:nvSpPr>
        <p:spPr>
          <a:xfrm rot="0" flipH="0" flipV="0">
            <a:off x="685800" y="400050"/>
            <a:ext cx="108204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A2118"/>
                </a:solidFill>
                <a:latin typeface="Songti SC"/>
                <a:ea typeface="Songti SC"/>
              </a:rPr>
              <a:t>悔棋整轮：一个真实</a:t>
            </a:r>
            <a:r>
              <a:rPr lang="en-US" sz="2550" b="1">
                <a:solidFill>
                  <a:srgbClr val="2A2118"/>
                </a:solidFill>
                <a:latin typeface="Songti SC"/>
                <a:ea typeface="Songti SC"/>
              </a:rPr>
              <a:t xml:space="preserve"> bug </a:t>
            </a:r>
            <a:r>
              <a:rPr lang="zh-CN" sz="2550" b="1">
                <a:solidFill>
                  <a:srgbClr val="2A2118"/>
                </a:solidFill>
                <a:latin typeface="Songti SC"/>
                <a:ea typeface="Songti SC"/>
              </a:rPr>
              <a:t>的来龙去脉</a:t>
            </a:r>
            <a:endParaRPr/>
          </a:p>
        </p:txBody>
      </p:sp>
      <p:sp>
        <p:nvSpPr>
          <p:cNvPr id="40" name=""/>
          <p:cNvSpPr/>
          <p:nvPr/>
        </p:nvSpPr>
        <p:spPr>
          <a:xfrm rot="0" flipH="0" flipV="0">
            <a:off x="685800" y="885825"/>
            <a:ext cx="533400" cy="19050"/>
          </a:xfrm>
          <a:prstGeom prst="rect">
            <a:avLst/>
          </a:prstGeom>
          <a:solidFill>
            <a:srgbClr val="B3271E"/>
          </a:solidFill>
          <a:ln/>
        </p:spPr>
        <p:txBody>
          <a:bodyPr/>
          <a:p/>
        </p:txBody>
      </p:sp>
      <p:sp>
        <p:nvSpPr>
          <p:cNvPr id="41" name="" descr="{&quot;isTemplate&quot;:true,&quot;type&quot;:&quot;text&quot;}"/>
          <p:cNvSpPr txBox="1"/>
          <p:nvPr/>
        </p:nvSpPr>
        <p:spPr>
          <a:xfrm rot="0" flipH="0" flipV="0">
            <a:off x="685800" y="2305050"/>
            <a:ext cx="8191500" cy="7048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350">
                <a:solidFill>
                  <a:srgbClr val="2A2118"/>
                </a:solidFill>
                <a:latin typeface="PingFang SC"/>
                <a:ea typeface="PingFang SC"/>
              </a:rPr>
              <a:t>悔棋原本按</a:t>
            </a:r>
            <a:r>
              <a:rPr lang="en-US" sz="1350">
                <a:solidFill>
                  <a:srgbClr val="2A2118"/>
                </a:solidFill>
                <a:latin typeface="PingFang SC"/>
                <a:ea typeface="PingFang SC"/>
              </a:rPr>
              <a:t xml:space="preserve"> round_no </a:t>
            </a:r>
            <a:r>
              <a:rPr lang="zh-CN" sz="1350">
                <a:solidFill>
                  <a:srgbClr val="2A2118"/>
                </a:solidFill>
                <a:latin typeface="PingFang SC"/>
                <a:ea typeface="PingFang SC"/>
              </a:rPr>
              <a:t>撤「最近一轮」。人机模式下，最近一轮恰好是</a:t>
            </a:r>
            <a:r>
              <a:rPr lang="en-US" sz="1350">
                <a:solidFill>
                  <a:srgbClr val="2A2118"/>
                </a:solidFill>
                <a:latin typeface="PingFang SC"/>
                <a:ea typeface="PingFang SC"/>
              </a:rPr>
              <a:t xml:space="preserve"> AI </a:t>
            </a:r>
            <a:r>
              <a:rPr lang="zh-CN" sz="1350">
                <a:solidFill>
                  <a:srgbClr val="2A2118"/>
                </a:solidFill>
                <a:latin typeface="PingFang SC"/>
                <a:ea typeface="PingFang SC"/>
              </a:rPr>
              <a:t>的回合——撤完又轮到</a:t>
            </a:r>
            <a:r>
              <a:rPr lang="en-US" sz="1350">
                <a:solidFill>
                  <a:srgbClr val="2A2118"/>
                </a:solidFill>
                <a:latin typeface="PingFang SC"/>
                <a:ea typeface="PingFang SC"/>
              </a:rPr>
              <a:t xml:space="preserve"> AI</a:t>
            </a:r>
            <a:r>
              <a:rPr lang="zh-CN" sz="1350">
                <a:solidFill>
                  <a:srgbClr val="2A2118"/>
                </a:solidFill>
                <a:latin typeface="PingFang SC"/>
                <a:ea typeface="PingFang SC"/>
              </a:rPr>
              <a:t>，等于没撤。用户点悔棋，棋盘纹丝不动。</a:t>
            </a:r>
            <a:endParaRPr/>
          </a:p>
        </p:txBody>
      </p:sp>
      <p:sp>
        <p:nvSpPr>
          <p:cNvPr id="42" name="" descr="{&quot;isTemplate&quot;:true,&quot;type&quot;:&quot;text&quot;}"/>
          <p:cNvSpPr txBox="1"/>
          <p:nvPr/>
        </p:nvSpPr>
        <p:spPr>
          <a:xfrm rot="0" flipH="0" flipV="0">
            <a:off x="685800" y="3143250"/>
            <a:ext cx="8191500" cy="7048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350">
                <a:solidFill>
                  <a:srgbClr val="2A2118"/>
                </a:solidFill>
                <a:latin typeface="PingFang SC"/>
                <a:ea typeface="PingFang SC"/>
              </a:rPr>
              <a:t>修法是给</a:t>
            </a:r>
            <a:r>
              <a:rPr lang="en-US" sz="1350">
                <a:solidFill>
                  <a:srgbClr val="2A2118"/>
                </a:solidFill>
                <a:latin typeface="PingFang SC"/>
                <a:ea typeface="PingFang SC"/>
              </a:rPr>
              <a:t xml:space="preserve"> undo_round </a:t>
            </a:r>
            <a:r>
              <a:rPr lang="zh-CN" sz="1350">
                <a:solidFill>
                  <a:srgbClr val="2A2118"/>
                </a:solidFill>
                <a:latin typeface="PingFang SC"/>
                <a:ea typeface="PingFang SC"/>
              </a:rPr>
              <a:t>加</a:t>
            </a:r>
            <a:r>
              <a:rPr lang="en-US" sz="1350">
                <a:solidFill>
                  <a:srgbClr val="2A2118"/>
                </a:solidFill>
                <a:latin typeface="PingFang SC"/>
                <a:ea typeface="PingFang SC"/>
              </a:rPr>
              <a:t xml:space="preserve"> to_human </a:t>
            </a:r>
            <a:r>
              <a:rPr lang="zh-CN" sz="1350">
                <a:solidFill>
                  <a:srgbClr val="2A2118"/>
                </a:solidFill>
                <a:latin typeface="PingFang SC"/>
                <a:ea typeface="PingFang SC"/>
              </a:rPr>
              <a:t>参数：循环撤销，直到当前行棋方是</a:t>
            </a:r>
            <a:r>
              <a:rPr lang="en-US" sz="1350">
                <a:solidFill>
                  <a:srgbClr val="2A2118"/>
                </a:solidFill>
                <a:latin typeface="PingFang SC"/>
                <a:ea typeface="PingFang SC"/>
              </a:rPr>
              <a:t xml:space="preserve"> human</a:t>
            </a:r>
            <a:r>
              <a:rPr lang="zh-CN" sz="1350">
                <a:solidFill>
                  <a:srgbClr val="2A2118"/>
                </a:solidFill>
                <a:latin typeface="PingFang SC"/>
                <a:ea typeface="PingFang SC"/>
              </a:rPr>
              <a:t>，也就是撤到「我上一次落子之前」。末尾再补一句</a:t>
            </a:r>
            <a:r>
              <a:rPr lang="en-US" sz="1350">
                <a:solidFill>
                  <a:srgbClr val="2A2118"/>
                </a:solidFill>
                <a:latin typeface="PingFang SC"/>
                <a:ea typeface="PingFang SC"/>
              </a:rPr>
              <a:t xml:space="preserve"> _schedule_ai_turn</a:t>
            </a:r>
            <a:r>
              <a:rPr lang="zh-CN" sz="1350">
                <a:solidFill>
                  <a:srgbClr val="2A2118"/>
                </a:solidFill>
                <a:latin typeface="PingFang SC"/>
                <a:ea typeface="PingFang SC"/>
              </a:rPr>
              <a:t>，万一</a:t>
            </a:r>
            <a:r>
              <a:rPr lang="en-US" sz="1350">
                <a:solidFill>
                  <a:srgbClr val="2A2118"/>
                </a:solidFill>
                <a:latin typeface="PingFang SC"/>
                <a:ea typeface="PingFang SC"/>
              </a:rPr>
              <a:t xml:space="preserve"> AI </a:t>
            </a:r>
            <a:r>
              <a:rPr lang="zh-CN" sz="1350">
                <a:solidFill>
                  <a:srgbClr val="2A2118"/>
                </a:solidFill>
                <a:latin typeface="PingFang SC"/>
                <a:ea typeface="PingFang SC"/>
              </a:rPr>
              <a:t>先手被撤光就重调度。</a:t>
            </a:r>
            <a:endParaRPr/>
          </a:p>
        </p:txBody>
      </p:sp>
      <p:sp>
        <p:nvSpPr>
          <p:cNvPr id="43" name="" descr="{&quot;isTemplate&quot;:true,&quot;type&quot;:&quot;text&quot;}"/>
          <p:cNvSpPr txBox="1"/>
          <p:nvPr/>
        </p:nvSpPr>
        <p:spPr>
          <a:xfrm rot="0" flipH="0" flipV="0">
            <a:off x="685800" y="3981450"/>
            <a:ext cx="8191500" cy="7048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350">
                <a:solidFill>
                  <a:srgbClr val="2A2118"/>
                </a:solidFill>
                <a:latin typeface="PingFang SC"/>
                <a:ea typeface="PingFang SC"/>
              </a:rPr>
              <a:t>这个缺陷从初始</a:t>
            </a:r>
            <a:r>
              <a:rPr lang="en-US" sz="1350">
                <a:solidFill>
                  <a:srgbClr val="2A2118"/>
                </a:solidFill>
                <a:latin typeface="PingFang SC"/>
                <a:ea typeface="PingFang SC"/>
              </a:rPr>
              <a:t xml:space="preserve"> commit </a:t>
            </a:r>
            <a:r>
              <a:rPr lang="zh-CN" sz="1350">
                <a:solidFill>
                  <a:srgbClr val="2A2118"/>
                </a:solidFill>
                <a:latin typeface="PingFang SC"/>
                <a:ea typeface="PingFang SC"/>
              </a:rPr>
              <a:t>就埋着：注释写的是「撤到人类可控」，实现却是「撤最近一轮」——注释和代码对不上，光看注释永远发现不了。</a:t>
            </a:r>
            <a:endParaRPr/>
          </a:p>
        </p:txBody>
      </p:sp>
      <p:sp>
        <p:nvSpPr>
          <p:cNvPr id="44" name="" descr="{&quot;isTemplate&quot;:true,&quot;type&quot;:&quot;text&quot;}"/>
          <p:cNvSpPr txBox="1"/>
          <p:nvPr/>
        </p:nvSpPr>
        <p:spPr>
          <a:xfrm rot="0" flipH="0" flipV="0">
            <a:off x="685800" y="6172200"/>
            <a:ext cx="14478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2A2118">
                    <a:alpha val="55000"/>
                  </a:srgbClr>
                </a:solidFill>
                <a:latin typeface="PingFang SC"/>
                <a:ea typeface="PingFang SC"/>
              </a:rPr>
              <a:t>弈趣棋苑</a:t>
            </a:r>
            <a:r>
              <a:rPr lang="en-US" sz="1050">
                <a:solidFill>
                  <a:srgbClr val="2A2118">
                    <a:alpha val="55000"/>
                  </a:srgbClr>
                </a:solidFill>
                <a:latin typeface="PingFang SC"/>
                <a:ea typeface="PingFang SC"/>
              </a:rPr>
              <a:t xml:space="preserve"> · </a:t>
            </a:r>
            <a:r>
              <a:rPr lang="zh-CN" sz="1050">
                <a:solidFill>
                  <a:srgbClr val="2A2118">
                    <a:alpha val="55000"/>
                  </a:srgbClr>
                </a:solidFill>
                <a:latin typeface="PingFang SC"/>
                <a:ea typeface="PingFang SC"/>
              </a:rPr>
              <a:t>项目开发汇报</a:t>
            </a:r>
            <a:endParaRPr/>
          </a:p>
        </p:txBody>
      </p:sp>
      <p:sp>
        <p:nvSpPr>
          <p:cNvPr id="45" name="" descr="{&quot;isTemplate&quot;:true,&quot;type&quot;:&quot;text&quot;}"/>
          <p:cNvSpPr txBox="1"/>
          <p:nvPr/>
        </p:nvSpPr>
        <p:spPr>
          <a:xfrm rot="0" flipH="0" flipV="0">
            <a:off x="11049000" y="61722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2A2118">
                    <a:alpha val="55000"/>
                  </a:srgbClr>
                </a:solidFill>
                <a:latin typeface="PingFang SC"/>
                <a:ea typeface="PingFang SC"/>
              </a:rPr>
              <a:t>12 / 64</a:t>
            </a:r>
            <a:endParaRPr/>
          </a:p>
        </p:txBody>
      </p:sp>
    </p:spTree>
  </p:cSld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46" name="" descr="&lt;Slide style={{ width: 1280, height: 720, padding: &quot;20px 72px&quot;, background: &quot;#F5E3BE&quot;, flexDirection: &quot;column&quot; }}&gt;&#10;  &lt;Box style={{ width: &quot;100%&quot;, height: 96, flexDirection: &quot;column&quot;, justifyContent: &quot;center&quot; }}&gt;&#10;    &lt;Text style={{ fontSize: 34, fontWeight: &quot;bold&quot;, color: &quot;#2A2118&quot;, fontFamily: &quot;'Songti SC', 'STSong', 'SimSun', serif&quot; }}&gt;氛围系统：音乐、音效、主题各归各&lt;/Text&gt;&#10;    &lt;Box style={{ width: 56, height: 2, background: &quot;#B3271E&quot;, marginTop: 10 }} /&gt;&#10;  &lt;/Box&gt;&#10;  &lt;Box style={{ width: &quot;100%&quot;, height: 516, flexDirection: &quot;column&quot; }}&gt;&#10;  &lt;Box style={{ flexDirection: &quot;row&quot;, height: &quot;100%&quot;, gap: 40 }}&gt;          &lt;Box style={{ flexDirection: &quot;column&quot;, gap: 10 }}&gt;&#10;      &lt;Image src=&quot;assets/shot_launcher.png&quot; style={{ width: 500, height: 300, objectFit: &quot;cover&quot;, borderRadius: 8, border: &quot;1px solid rgba(140,90,43,0.30)&quot; }} /&gt;&#10;      &lt;Text style={{ fontSize: 15, color: &quot;#8C5A2B&quot;, fontWeight: &quot;bold&quot;, fontFamily: &quot;'PingFang SC', 'Microsoft YaHei', sans-serif&quot; }}&gt;启动器：音乐入口与主题切换都在这里&lt;/Text&gt;&#10;    &lt;/Box&gt;&#10;        &lt;Box style={{ flex: 1, flexDirection: &quot;column&quot;, justifyContent: &quot;center&quot; }}&gt;&#10;    &lt;Text style={{ fontSize: 18, lineHeight: 1.7, color: &quot;#2A2118&quot;, fontFamily: &quot;'PingFang SC', 'Microsoft YaHei', sans-serif&quot;, marginBottom: 14 }}&gt;音乐有两个入口：启动页和对局侧栏都能点歌，点完高亮当前曲。背后是同一个 MusicPlayer，绝不自建第二个 MCI 引擎。&lt;/Text&gt;&#10;    &lt;Text style={{ fontSize: 18, lineHeight: 1.7, color: &quot;#2A2118&quot;, fontFamily: &quot;'PingFang SC', 'Microsoft YaHei', sans-serif&quot;, marginBottom: 14 }}&gt;落子音走双轨：mp3 异步快轨、wav 同步慢轨，按扩展名分流。棋盘主题和棋子材质解耦，5 套配色和 5 种材质各自下拉、随便组合——切换只重建精灵，不碰底板。&lt;/Text&gt;&#10;  &lt;/Box&gt;&#10;  &lt;/Box&gt;&#10;  &lt;/Box&gt;&#10;  &lt;Box style={{ width: &quot;100%&quot;, height: 48, flexDirection: &quot;row&quot;, alignItems: &quot;center&quot;, justifyContent: &quot;space-between&quot; }}&gt;&#10;    &lt;Text style={{ fontSize: 14, color: &quot;rgba(42,33,24,0.55)&quot;, fontFamily: &quot;'PingFang SC', 'Microsoft YaHei', sans-serif&quot; }}&gt;弈趣棋苑 · 项目开发汇报&lt;/Text&gt;&#10;    &lt;Text style={{ fontSize: 14, color: &quot;rgba(42,33,24,0.55)&quot;, fontFamily: &quot;'PingFang SC', 'Microsoft YaHei', sans-serif&quot; }}&gt;13 / 64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5E3BE"/>
          </a:solidFill>
          <a:ln/>
        </p:spPr>
        <p:txBody>
          <a:bodyPr/>
          <a:p/>
        </p:txBody>
      </p:sp>
      <p:sp>
        <p:nvSpPr>
          <p:cNvPr id="48" name="" descr="{&quot;isTemplate&quot;:true,&quot;type&quot;:&quot;text&quot;}"/>
          <p:cNvSpPr txBox="1"/>
          <p:nvPr/>
        </p:nvSpPr>
        <p:spPr>
          <a:xfrm rot="0" flipH="0" flipV="0">
            <a:off x="685800" y="400050"/>
            <a:ext cx="108204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A2118"/>
                </a:solidFill>
                <a:latin typeface="Songti SC"/>
                <a:ea typeface="Songti SC"/>
              </a:rPr>
              <a:t>氛围系统：音乐、音效、主题各归各</a:t>
            </a:r>
            <a:endParaRPr/>
          </a:p>
        </p:txBody>
      </p:sp>
      <p:sp>
        <p:nvSpPr>
          <p:cNvPr id="49" name=""/>
          <p:cNvSpPr/>
          <p:nvPr/>
        </p:nvSpPr>
        <p:spPr>
          <a:xfrm rot="0" flipH="0" flipV="0">
            <a:off x="685800" y="885825"/>
            <a:ext cx="533400" cy="19050"/>
          </a:xfrm>
          <a:prstGeom prst="rect">
            <a:avLst/>
          </a:prstGeom>
          <a:solidFill>
            <a:srgbClr val="B3271E"/>
          </a:solidFill>
          <a:ln/>
        </p:spPr>
        <p:txBody>
          <a:bodyPr/>
          <a:p/>
        </p:txBody>
      </p:sp>
      <p:sp>
        <p:nvSpPr>
          <p:cNvPr id="50" name=""/>
          <p:cNvSpPr/>
          <p:nvPr/>
        </p:nvSpPr>
        <p:spPr>
          <a:xfrm rot="0" flipH="0" flipV="0">
            <a:off x="685800" y="1104900"/>
            <a:ext cx="4762500" cy="2857500"/>
          </a:xfrm>
          <a:prstGeom prst="rect">
            <a:avLst/>
          </a:prstGeom>
          <a:ln w="12700">
            <a:solidFill>
              <a:srgbClr val="8C5A2B">
                <a:alpha val="3000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51" name=""/>
          <p:cNvPicPr>
            <a:picLocks noChangeAspect="1"/>
          </p:cNvPicPr>
          <p:nvPr/>
        </p:nvPicPr>
        <p:blipFill>
          <a:blip r:embed="rId1"/>
          <a:srcRect l="0" t="4634" r="0" b="4634"/>
          <a:stretch>
            <a:fillRect/>
          </a:stretch>
        </p:blipFill>
        <p:spPr>
          <a:xfrm rot="0" flipH="0" flipV="0">
            <a:off x="685800" y="1104900"/>
            <a:ext cx="4762500" cy="2857500"/>
          </a:xfrm>
          <a:prstGeom prst="roundRect">
            <a:avLst>
              <a:gd name="adj" fmla="val 2667"/>
            </a:avLst>
          </a:prstGeom>
          <a:ln/>
        </p:spPr>
      </p:pic>
      <p:sp>
        <p:nvSpPr>
          <p:cNvPr id="52" name="" descr="{&quot;isTemplate&quot;:true,&quot;type&quot;:&quot;text&quot;}"/>
          <p:cNvSpPr txBox="1"/>
          <p:nvPr/>
        </p:nvSpPr>
        <p:spPr>
          <a:xfrm rot="0" flipH="0" flipV="0">
            <a:off x="685800" y="4057650"/>
            <a:ext cx="4762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8C5A2B"/>
                </a:solidFill>
                <a:latin typeface="PingFang SC"/>
                <a:ea typeface="PingFang SC"/>
              </a:rPr>
              <a:t>启动器：音乐入口与主题切换都在这里</a:t>
            </a:r>
            <a:endParaRPr/>
          </a:p>
        </p:txBody>
      </p:sp>
      <p:sp>
        <p:nvSpPr>
          <p:cNvPr id="53" name="" descr="{&quot;isTemplate&quot;:true,&quot;type&quot;:&quot;text&quot;}"/>
          <p:cNvSpPr txBox="1"/>
          <p:nvPr/>
        </p:nvSpPr>
        <p:spPr>
          <a:xfrm rot="0" flipH="0" flipV="0">
            <a:off x="5829300" y="2552700"/>
            <a:ext cx="5676900" cy="7048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350">
                <a:solidFill>
                  <a:srgbClr val="2A2118"/>
                </a:solidFill>
                <a:latin typeface="PingFang SC"/>
                <a:ea typeface="PingFang SC"/>
              </a:rPr>
              <a:t>音乐有两个入口：启动页和对局侧栏都能点歌，点完高亮当前曲。背后是同一个</a:t>
            </a:r>
            <a:r>
              <a:rPr lang="en-US" sz="1350">
                <a:solidFill>
                  <a:srgbClr val="2A2118"/>
                </a:solidFill>
                <a:latin typeface="PingFang SC"/>
                <a:ea typeface="PingFang SC"/>
              </a:rPr>
              <a:t xml:space="preserve"> MusicPlayer</a:t>
            </a:r>
            <a:r>
              <a:rPr lang="zh-CN" sz="1350">
                <a:solidFill>
                  <a:srgbClr val="2A2118"/>
                </a:solidFill>
                <a:latin typeface="PingFang SC"/>
                <a:ea typeface="PingFang SC"/>
              </a:rPr>
              <a:t>，绝不自建第二个</a:t>
            </a:r>
            <a:r>
              <a:rPr lang="en-US" sz="1350">
                <a:solidFill>
                  <a:srgbClr val="2A2118"/>
                </a:solidFill>
                <a:latin typeface="PingFang SC"/>
                <a:ea typeface="PingFang SC"/>
              </a:rPr>
              <a:t xml:space="preserve"> MCI </a:t>
            </a:r>
            <a:r>
              <a:rPr lang="zh-CN" sz="1350">
                <a:solidFill>
                  <a:srgbClr val="2A2118"/>
                </a:solidFill>
                <a:latin typeface="PingFang SC"/>
                <a:ea typeface="PingFang SC"/>
              </a:rPr>
              <a:t>引擎。</a:t>
            </a:r>
            <a:endParaRPr/>
          </a:p>
        </p:txBody>
      </p:sp>
      <p:sp>
        <p:nvSpPr>
          <p:cNvPr id="54" name="" descr="{&quot;isTemplate&quot;:true,&quot;type&quot;:&quot;text&quot;}"/>
          <p:cNvSpPr txBox="1"/>
          <p:nvPr/>
        </p:nvSpPr>
        <p:spPr>
          <a:xfrm rot="0" flipH="0" flipV="0">
            <a:off x="5829300" y="3390900"/>
            <a:ext cx="5676900" cy="10572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350">
                <a:solidFill>
                  <a:srgbClr val="2A2118"/>
                </a:solidFill>
                <a:latin typeface="PingFang SC"/>
                <a:ea typeface="PingFang SC"/>
              </a:rPr>
              <a:t>落子音走双轨：</a:t>
            </a:r>
            <a:r>
              <a:rPr lang="en-US" sz="1350">
                <a:solidFill>
                  <a:srgbClr val="2A2118"/>
                </a:solidFill>
                <a:latin typeface="PingFang SC"/>
                <a:ea typeface="PingFang SC"/>
              </a:rPr>
              <a:t xml:space="preserve">mp3 </a:t>
            </a:r>
            <a:r>
              <a:rPr lang="zh-CN" sz="1350">
                <a:solidFill>
                  <a:srgbClr val="2A2118"/>
                </a:solidFill>
                <a:latin typeface="PingFang SC"/>
                <a:ea typeface="PingFang SC"/>
              </a:rPr>
              <a:t>异步快轨、</a:t>
            </a:r>
            <a:r>
              <a:rPr lang="en-US" sz="1350">
                <a:solidFill>
                  <a:srgbClr val="2A2118"/>
                </a:solidFill>
                <a:latin typeface="PingFang SC"/>
                <a:ea typeface="PingFang SC"/>
              </a:rPr>
              <a:t xml:space="preserve">wav </a:t>
            </a:r>
            <a:r>
              <a:rPr lang="zh-CN" sz="1350">
                <a:solidFill>
                  <a:srgbClr val="2A2118"/>
                </a:solidFill>
                <a:latin typeface="PingFang SC"/>
                <a:ea typeface="PingFang SC"/>
              </a:rPr>
              <a:t>同步慢轨，按扩展名分流。棋盘主题和棋子材质解耦，</a:t>
            </a:r>
            <a:r>
              <a:rPr lang="en-US" sz="1350">
                <a:solidFill>
                  <a:srgbClr val="2A2118"/>
                </a:solidFill>
                <a:latin typeface="PingFang SC"/>
                <a:ea typeface="PingFang SC"/>
              </a:rPr>
              <a:t xml:space="preserve">5 </a:t>
            </a:r>
            <a:r>
              <a:rPr lang="zh-CN" sz="1350">
                <a:solidFill>
                  <a:srgbClr val="2A2118"/>
                </a:solidFill>
                <a:latin typeface="PingFang SC"/>
                <a:ea typeface="PingFang SC"/>
              </a:rPr>
              <a:t>套配色和</a:t>
            </a:r>
            <a:r>
              <a:rPr lang="en-US" sz="1350">
                <a:solidFill>
                  <a:srgbClr val="2A2118"/>
                </a:solidFill>
                <a:latin typeface="PingFang SC"/>
                <a:ea typeface="PingFang SC"/>
              </a:rPr>
              <a:t xml:space="preserve"> 5 </a:t>
            </a:r>
            <a:r>
              <a:rPr lang="zh-CN" sz="1350">
                <a:solidFill>
                  <a:srgbClr val="2A2118"/>
                </a:solidFill>
                <a:latin typeface="PingFang SC"/>
                <a:ea typeface="PingFang SC"/>
              </a:rPr>
              <a:t>种材质各自下拉、随便组合——切换只重建精灵，不碰底板。</a:t>
            </a:r>
            <a:endParaRPr/>
          </a:p>
        </p:txBody>
      </p:sp>
      <p:sp>
        <p:nvSpPr>
          <p:cNvPr id="55" name="" descr="{&quot;isTemplate&quot;:true,&quot;type&quot;:&quot;text&quot;}"/>
          <p:cNvSpPr txBox="1"/>
          <p:nvPr/>
        </p:nvSpPr>
        <p:spPr>
          <a:xfrm rot="0" flipH="0" flipV="0">
            <a:off x="685800" y="6172200"/>
            <a:ext cx="14478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2A2118">
                    <a:alpha val="55000"/>
                  </a:srgbClr>
                </a:solidFill>
                <a:latin typeface="PingFang SC"/>
                <a:ea typeface="PingFang SC"/>
              </a:rPr>
              <a:t>弈趣棋苑</a:t>
            </a:r>
            <a:r>
              <a:rPr lang="en-US" sz="1050">
                <a:solidFill>
                  <a:srgbClr val="2A2118">
                    <a:alpha val="55000"/>
                  </a:srgbClr>
                </a:solidFill>
                <a:latin typeface="PingFang SC"/>
                <a:ea typeface="PingFang SC"/>
              </a:rPr>
              <a:t xml:space="preserve"> · </a:t>
            </a:r>
            <a:r>
              <a:rPr lang="zh-CN" sz="1050">
                <a:solidFill>
                  <a:srgbClr val="2A2118">
                    <a:alpha val="55000"/>
                  </a:srgbClr>
                </a:solidFill>
                <a:latin typeface="PingFang SC"/>
                <a:ea typeface="PingFang SC"/>
              </a:rPr>
              <a:t>项目开发汇报</a:t>
            </a:r>
            <a:endParaRPr/>
          </a:p>
        </p:txBody>
      </p:sp>
      <p:sp>
        <p:nvSpPr>
          <p:cNvPr id="56" name="" descr="{&quot;isTemplate&quot;:true,&quot;type&quot;:&quot;text&quot;}"/>
          <p:cNvSpPr txBox="1"/>
          <p:nvPr/>
        </p:nvSpPr>
        <p:spPr>
          <a:xfrm rot="0" flipH="0" flipV="0">
            <a:off x="11049000" y="61722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2A2118">
                    <a:alpha val="55000"/>
                  </a:srgbClr>
                </a:solidFill>
                <a:latin typeface="PingFang SC"/>
                <a:ea typeface="PingFang SC"/>
              </a:rPr>
              <a:t>13 / 64</a:t>
            </a:r>
            <a:endParaRPr/>
          </a:p>
        </p:txBody>
      </p:sp>
    </p:spTree>
  </p:cSld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57" name="" descr="&lt;Slide style={{ width: 1280, height: 720, position: &quot;relative&quot;, padding: &quot;0px&quot;, background: &quot;#2A2118&quot;, overflow: &quot;hidden&quot; }}&gt;&#10;  &lt;Image src=&quot;assets/wood_panel.jpg&quot; style={{ position: &quot;absolute&quot;, top: 0, left: 0, width: 1280, height: 720, objectFit: &quot;cover&quot;, opacity: 0.22 }} /&gt;&#10;  &lt;Box style={{ position: &quot;absolute&quot;, top: 0, left: 0, width: 1280, height: 720, background: &quot;linear-gradient(160deg, #2A2118 0%, #3E2E1E 55%, #8C5A2B 100%)&quot;, opacity: 0.55 }} /&gt;&#10;  &lt;Box style={{ position: &quot;absolute&quot;, right: 84, top: 48, flexDirection: &quot;column&quot;, alignItems: &quot;flex-end&quot; }}&gt;&#10;    &lt;Text style={{ fontSize: 210, fontWeight: &quot;bold&quot;, lineHeight: 1.0, color: &quot;rgba(179,39,30,0.85)&quot;, fontFamily: &quot;'Songti SC', 'STSong', 'SimSun', serif&quot; }}&gt;03&lt;/Text&gt;&#10;  &lt;/Box&gt;&#10;  &lt;Box style={{ position: &quot;relative&quot;, zIndex: 2, width: 1280, height: 720, padding: &quot;0px 96px&quot;, flexDirection: &quot;column&quot;, justifyContent: &quot;center&quot; }}&gt;&#10;    &lt;Text style={{ fontSize: 22, color: &quot;rgba(245,227,190,0.7)&quot;, fontFamily: &quot;'PingFang SC', 'Microsoft YaHei', sans-serif&quot;, letterSpacing: 6 }}&gt;第 03 章&lt;/Text&gt;&#10;    &lt;Text style={{ fontSize: 62, fontWeight: &quot;bold&quot;, color: &quot;#F5E3BE&quot;, fontFamily: &quot;'Songti SC', 'STSong', 'SimSun', serif&quot;, marginTop: 12 }}&gt;技术架构&lt;/Text&gt;&#10;    &lt;Box style={{ width: 70, height: 3, background: &quot;#B3271E&quot;, marginTop: 20 }} /&gt;&#10;    &lt;Text style={{ fontSize: 22, fontStyle: &quot;italic&quot;, color: &quot;rgba(245,227,190,0.82)&quot;, fontFamily: &quot;'PingFang SC', 'Microsoft YaHei', sans-serif&quot;, marginTop: 20 }}&gt;渲染 · 音频 · AI 三条主线的原理&lt;/Text&gt;&#10;  &lt;/Box&gt;&#10;  &lt;Box style={{ position: &quot;absolute&quot;, right: 60, bottom: 50, width: 52, height: 52, borderRadius: 6, background: &quot;#B3271E&quot;, justifyContent: &quot;center&quot;, alignItems: &quot;center&quot; }}&gt;&#10;    &lt;Text style={{ fontSize: 28, fontWeight: &quot;bold&quot;, color: &quot;#F5E3BE&quot;, fontFamily: &quot;'Songti SC', 'STSong', 'SimSun', serif&quot; }}&gt;弈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2A2118"/>
          </a:solidFill>
          <a:ln/>
        </p:spPr>
        <p:txBody>
          <a:bodyPr/>
          <a:p/>
        </p:txBody>
      </p:sp>
      <p:pic>
        <p:nvPicPr>
          <p:cNvPr id="59" name=""/>
          <p:cNvPicPr>
            <a:picLocks noChangeAspect="1"/>
          </p:cNvPicPr>
          <p:nvPr/>
        </p:nvPicPr>
        <p:blipFill>
          <a:blip r:embed="rId1">
            <a:alphaModFix amt="22000"/>
          </a:blip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  <p:sp>
        <p:nvSpPr>
          <p:cNvPr id="6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2A2118">
                  <a:alpha val="55000"/>
                </a:srgbClr>
              </a:gs>
              <a:gs pos="55000">
                <a:srgbClr val="3E2E1E">
                  <a:alpha val="55000"/>
                </a:srgbClr>
              </a:gs>
              <a:gs pos="100000">
                <a:srgbClr val="8C5A2B">
                  <a:alpha val="55000"/>
                </a:srgbClr>
              </a:gs>
            </a:gsLst>
            <a:lin ang="4200000" scaled="1"/>
          </a:gradFill>
          <a:ln/>
        </p:spPr>
        <p:txBody>
          <a:bodyPr/>
          <a:p/>
        </p:txBody>
      </p:sp>
      <p:sp>
        <p:nvSpPr>
          <p:cNvPr id="61" name="" descr="{&quot;isTemplate&quot;:true,&quot;type&quot;:&quot;text&quot;}"/>
          <p:cNvSpPr txBox="1"/>
          <p:nvPr/>
        </p:nvSpPr>
        <p:spPr>
          <a:xfrm rot="0" flipH="0" flipV="0">
            <a:off x="9515475" y="457200"/>
            <a:ext cx="1876425" cy="2400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750" b="1">
                <a:solidFill>
                  <a:srgbClr val="B3271E">
                    <a:alpha val="85000"/>
                  </a:srgbClr>
                </a:solidFill>
                <a:latin typeface="Songti SC"/>
                <a:ea typeface="Songti SC"/>
              </a:rPr>
              <a:t>03</a:t>
            </a:r>
            <a:endParaRPr/>
          </a:p>
        </p:txBody>
      </p:sp>
      <p:sp>
        <p:nvSpPr>
          <p:cNvPr id="62" name=""/>
          <p:cNvSpPr/>
          <p:nvPr/>
        </p:nvSpPr>
        <p:spPr>
          <a:xfrm rot="0" flipH="0" flipV="0">
            <a:off x="11125200" y="5886450"/>
            <a:ext cx="495300" cy="495300"/>
          </a:xfrm>
          <a:prstGeom prst="roundRect">
            <a:avLst>
              <a:gd name="adj" fmla="val 11538"/>
            </a:avLst>
          </a:prstGeom>
          <a:solidFill>
            <a:srgbClr val="B3271E"/>
          </a:solidFill>
          <a:ln/>
        </p:spPr>
        <p:txBody>
          <a:bodyPr/>
          <a:p/>
        </p:txBody>
      </p:sp>
      <p:sp>
        <p:nvSpPr>
          <p:cNvPr id="63" name="" descr="{&quot;isTemplate&quot;:true,&quot;type&quot;:&quot;text&quot;}"/>
          <p:cNvSpPr txBox="1"/>
          <p:nvPr/>
        </p:nvSpPr>
        <p:spPr>
          <a:xfrm rot="0" flipH="0" flipV="0">
            <a:off x="11239500" y="5972175"/>
            <a:ext cx="266700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100" b="1">
                <a:solidFill>
                  <a:srgbClr val="F5E3BE"/>
                </a:solidFill>
                <a:latin typeface="Songti SC"/>
                <a:ea typeface="Songti SC"/>
              </a:rPr>
              <a:t>弈</a:t>
            </a:r>
            <a:endParaRPr/>
          </a:p>
        </p:txBody>
      </p:sp>
      <p:sp>
        <p:nvSpPr>
          <p:cNvPr id="64" name="" descr="{&quot;isTemplate&quot;:true,&quot;type&quot;:&quot;text&quot;}"/>
          <p:cNvSpPr txBox="1"/>
          <p:nvPr/>
        </p:nvSpPr>
        <p:spPr>
          <a:xfrm rot="0" flipH="0" flipV="0">
            <a:off x="914400" y="2552700"/>
            <a:ext cx="103632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spc="450">
                <a:solidFill>
                  <a:srgbClr val="F5E3BE">
                    <a:alpha val="70000"/>
                  </a:srgbClr>
                </a:solidFill>
                <a:latin typeface="PingFang SC"/>
                <a:ea typeface="PingFang SC"/>
              </a:rPr>
              <a:t>第</a:t>
            </a:r>
            <a:r>
              <a:rPr lang="en-US" sz="1650" spc="450">
                <a:solidFill>
                  <a:srgbClr val="F5E3BE">
                    <a:alpha val="70000"/>
                  </a:srgbClr>
                </a:solidFill>
                <a:latin typeface="PingFang SC"/>
                <a:ea typeface="PingFang SC"/>
              </a:rPr>
              <a:t xml:space="preserve"> 03 </a:t>
            </a:r>
            <a:r>
              <a:rPr lang="zh-CN" sz="1650" spc="450">
                <a:solidFill>
                  <a:srgbClr val="F5E3BE">
                    <a:alpha val="70000"/>
                  </a:srgbClr>
                </a:solidFill>
                <a:latin typeface="PingFang SC"/>
                <a:ea typeface="PingFang SC"/>
              </a:rPr>
              <a:t>章</a:t>
            </a:r>
            <a:endParaRPr/>
          </a:p>
        </p:txBody>
      </p:sp>
      <p:sp>
        <p:nvSpPr>
          <p:cNvPr id="65" name="" descr="{&quot;isTemplate&quot;:true,&quot;type&quot;:&quot;text&quot;}"/>
          <p:cNvSpPr txBox="1"/>
          <p:nvPr/>
        </p:nvSpPr>
        <p:spPr>
          <a:xfrm rot="0" flipH="0" flipV="0">
            <a:off x="914400" y="2924175"/>
            <a:ext cx="10363200" cy="7143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4650" b="1">
                <a:solidFill>
                  <a:srgbClr val="F5E3BE"/>
                </a:solidFill>
                <a:latin typeface="Songti SC"/>
                <a:ea typeface="Songti SC"/>
              </a:rPr>
              <a:t>技术架构</a:t>
            </a:r>
            <a:endParaRPr/>
          </a:p>
        </p:txBody>
      </p:sp>
      <p:sp>
        <p:nvSpPr>
          <p:cNvPr id="66" name=""/>
          <p:cNvSpPr/>
          <p:nvPr/>
        </p:nvSpPr>
        <p:spPr>
          <a:xfrm rot="0" flipH="0" flipV="0">
            <a:off x="914400" y="3829050"/>
            <a:ext cx="666750" cy="28575"/>
          </a:xfrm>
          <a:prstGeom prst="rect">
            <a:avLst/>
          </a:prstGeom>
          <a:solidFill>
            <a:srgbClr val="B3271E"/>
          </a:solidFill>
          <a:ln/>
        </p:spPr>
        <p:txBody>
          <a:bodyPr/>
          <a:p/>
        </p:txBody>
      </p:sp>
      <p:sp>
        <p:nvSpPr>
          <p:cNvPr id="67" name="" descr="{&quot;isTemplate&quot;:true,&quot;type&quot;:&quot;text&quot;}"/>
          <p:cNvSpPr txBox="1"/>
          <p:nvPr/>
        </p:nvSpPr>
        <p:spPr>
          <a:xfrm rot="0" flipH="0" flipV="0">
            <a:off x="914400" y="4048125"/>
            <a:ext cx="103632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i="1">
                <a:solidFill>
                  <a:srgbClr val="F5E3BE">
                    <a:alpha val="82000"/>
                  </a:srgbClr>
                </a:solidFill>
                <a:latin typeface="PingFang SC"/>
                <a:ea typeface="PingFang SC"/>
              </a:rPr>
              <a:t>渲染</a:t>
            </a:r>
            <a:r>
              <a:rPr lang="en-US" sz="1650" i="1">
                <a:solidFill>
                  <a:srgbClr val="F5E3BE">
                    <a:alpha val="82000"/>
                  </a:srgbClr>
                </a:solidFill>
                <a:latin typeface="PingFang SC"/>
                <a:ea typeface="PingFang SC"/>
              </a:rPr>
              <a:t xml:space="preserve"> · </a:t>
            </a:r>
            <a:r>
              <a:rPr lang="zh-CN" sz="1650" i="1">
                <a:solidFill>
                  <a:srgbClr val="F5E3BE">
                    <a:alpha val="82000"/>
                  </a:srgbClr>
                </a:solidFill>
                <a:latin typeface="PingFang SC"/>
                <a:ea typeface="PingFang SC"/>
              </a:rPr>
              <a:t>音频</a:t>
            </a:r>
            <a:r>
              <a:rPr lang="en-US" sz="1650" i="1">
                <a:solidFill>
                  <a:srgbClr val="F5E3BE">
                    <a:alpha val="82000"/>
                  </a:srgbClr>
                </a:solidFill>
                <a:latin typeface="PingFang SC"/>
                <a:ea typeface="PingFang SC"/>
              </a:rPr>
              <a:t xml:space="preserve"> · AI </a:t>
            </a:r>
            <a:r>
              <a:rPr lang="zh-CN" sz="1650" i="1">
                <a:solidFill>
                  <a:srgbClr val="F5E3BE">
                    <a:alpha val="82000"/>
                  </a:srgbClr>
                </a:solidFill>
                <a:latin typeface="PingFang SC"/>
                <a:ea typeface="PingFang SC"/>
              </a:rPr>
              <a:t>三条主线的原理</a:t>
            </a:r>
            <a:endParaRPr/>
          </a:p>
        </p:txBody>
      </p:sp>
    </p:spTree>
  </p:cSld>
</p:sld>
</file>

<file path=ppt/slides/slide15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68" name="" descr="&lt;Slide style={{ width: 1280, height: 720, padding: &quot;20px 72px&quot;, background: &quot;#F5E3BE&quot;, flexDirection: &quot;column&quot; }}&gt;&#10;  &lt;Box style={{ width: &quot;100%&quot;, height: 96, flexDirection: &quot;column&quot;, justifyContent: &quot;center&quot; }}&gt;&#10;    &lt;Text style={{ fontSize: 34, fontWeight: &quot;bold&quot;, color: &quot;#2A2118&quot;, fontFamily: &quot;'Songti SC', 'STSong', 'SimSun', serif&quot; }}&gt;原理 · 总体分层与依赖方向&lt;/Text&gt;&#10;    &lt;Box style={{ width: 56, height: 2, background: &quot;#B3271E&quot;, marginTop: 10 }} /&gt;&#10;  &lt;/Box&gt;&#10;  &lt;Box style={{ width: &quot;100%&quot;, height: 516, flexDirection: &quot;column&quot; }}&gt;&#10;  &lt;Box style={{ flexDirection: &quot;column&quot;, height: &quot;100%&quot;, justifyContent: &quot;center&quot;, alignItems: &quot;center&quot;, gap: 14 }}&gt;&#10;    &lt;svg width=&quot;900&quot; height=&quot;320&quot; viewBox=&quot;0 0 900 320&quot; style={{ background: &quot;rgba(140,90,43,0.05)&quot;, borderRadius: 10 }}&gt;&#10;      &lt;rect x=&quot;40&quot; y=&quot;30&quot; width=&quot;820&quot; height=&quot;48&quot; rx=&quot;8&quot; fill=&quot;#8C5A2B&quot;/&gt;&lt;text x=&quot;60&quot; y=&quot;60&quot; font-size=&quot;17&quot; fill=&quot;#F5E3BE&quot; font-family=&quot;sans-serif&quot;&gt;表现层  gui / xiangqi_gui&lt;/text&gt;&#10;      &lt;rect x=&quot;40&quot; y=&quot;98&quot; width=&quot;820&quot; height=&quot;48&quot; rx=&quot;8&quot; fill=&quot;#B3271E&quot;/&gt;&lt;text x=&quot;60&quot; y=&quot;128&quot; font-size=&quot;17&quot; fill=&quot;#F5E3BE&quot; font-family=&quot;sans-serif&quot;&gt;逻辑层  game / board / xiangqi&lt;/text&gt;&#10;      &lt;rect x=&quot;40&quot; y=&quot;166&quot; width=&quot;820&quot; height=&quot;48&quot; rx=&quot;8&quot; fill=&quot;#2A2118&quot;/&gt;&lt;text x=&quot;60&quot; y=&quot;196&quot; font-size=&quot;17&quot; fill=&quot;#F5E3BE&quot; font-family=&quot;sans-serif&quot;&gt;智能层  ai / kill_search / pikafish_engine&lt;/text&gt;&#10;      &lt;rect x=&quot;40&quot; y=&quot;234&quot; width=&quot;820&quot; height=&quot;48&quot; rx=&quot;8&quot; fill=&quot;#8C5A2B&quot; opacity=&quot;0.7&quot;/&gt;&lt;text x=&quot;60&quot; y=&quot;264&quot; font-size=&quot;17&quot; fill=&quot;#F5E3BE&quot; font-family=&quot;sans-serif&quot;&gt;基础层  paths / fonts / music / sounds / winmm / database&lt;/text&gt;&#10;      &lt;line x1=&quot;450&quot; y1=&quot;78&quot; x2=&quot;450&quot; y2=&quot;98&quot; stroke=&quot;#2A2118&quot; stroke-width=&quot;2&quot;/&gt;&#10;      &lt;line x1=&quot;450&quot; y1=&quot;146&quot; x2=&quot;450&quot; y2=&quot;166&quot; stroke=&quot;#2A2118&quot; stroke-width=&quot;2&quot;/&gt;&#10;      &lt;line x1=&quot;450&quot; y1=&quot;214&quot; x2=&quot;450&quot; y2=&quot;234&quot; stroke=&quot;#2A2118&quot; stroke-width=&quot;2&quot;/&gt;&#10;    &lt;/svg&gt;&#10;    &lt;Text style={{ fontSize: 15, color: &quot;rgba(42,33,24,0.6)&quot;, fontFamily: &quot;'PingFang SC', 'Microsoft YaHei', sans-serif&quot; }}&gt;上层只消费下层服务，逻辑与渲染解耦，可独立测试&lt;/Text&gt;&#10;  &lt;/Box&gt;&#10;  &lt;/Box&gt;&#10;  &lt;Box style={{ width: &quot;100%&quot;, height: 48, flexDirection: &quot;row&quot;, alignItems: &quot;center&quot;, justifyContent: &quot;space-between&quot; }}&gt;&#10;    &lt;Text style={{ fontSize: 14, color: &quot;rgba(42,33,24,0.55)&quot;, fontFamily: &quot;'PingFang SC', 'Microsoft YaHei', sans-serif&quot; }}&gt;弈趣棋苑 · 项目开发汇报&lt;/Text&gt;&#10;    &lt;Text style={{ fontSize: 14, color: &quot;rgba(42,33,24,0.55)&quot;, fontFamily: &quot;'PingFang SC', 'Microsoft YaHei', sans-serif&quot; }}&gt;15 / 64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5E3BE"/>
          </a:solidFill>
          <a:ln/>
        </p:spPr>
        <p:txBody>
          <a:bodyPr/>
          <a:p/>
        </p:txBody>
      </p:sp>
      <p:sp>
        <p:nvSpPr>
          <p:cNvPr id="70" name="" descr="{&quot;isTemplate&quot;:true,&quot;type&quot;:&quot;text&quot;}"/>
          <p:cNvSpPr txBox="1"/>
          <p:nvPr/>
        </p:nvSpPr>
        <p:spPr>
          <a:xfrm rot="0" flipH="0" flipV="0">
            <a:off x="685800" y="400050"/>
            <a:ext cx="108204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A2118"/>
                </a:solidFill>
                <a:latin typeface="Songti SC"/>
                <a:ea typeface="Songti SC"/>
              </a:rPr>
              <a:t>原理</a:t>
            </a:r>
            <a:r>
              <a:rPr lang="en-US" sz="2550" b="1">
                <a:solidFill>
                  <a:srgbClr val="2A2118"/>
                </a:solidFill>
                <a:latin typeface="Songti SC"/>
                <a:ea typeface="Songti SC"/>
              </a:rPr>
              <a:t xml:space="preserve"> · </a:t>
            </a:r>
            <a:r>
              <a:rPr lang="zh-CN" sz="2550" b="1">
                <a:solidFill>
                  <a:srgbClr val="2A2118"/>
                </a:solidFill>
                <a:latin typeface="Songti SC"/>
                <a:ea typeface="Songti SC"/>
              </a:rPr>
              <a:t>总体分层与依赖方向</a:t>
            </a:r>
            <a:endParaRPr/>
          </a:p>
        </p:txBody>
      </p:sp>
      <p:sp>
        <p:nvSpPr>
          <p:cNvPr id="71" name=""/>
          <p:cNvSpPr/>
          <p:nvPr/>
        </p:nvSpPr>
        <p:spPr>
          <a:xfrm rot="0" flipH="0" flipV="0">
            <a:off x="685800" y="885825"/>
            <a:ext cx="533400" cy="19050"/>
          </a:xfrm>
          <a:prstGeom prst="rect">
            <a:avLst/>
          </a:prstGeom>
          <a:solidFill>
            <a:srgbClr val="B3271E"/>
          </a:solidFill>
          <a:ln/>
        </p:spPr>
        <p:txBody>
          <a:bodyPr/>
          <a:p/>
        </p:txBody>
      </p:sp>
      <p:sp>
        <p:nvSpPr>
          <p:cNvPr id="72" name=""/>
          <p:cNvSpPr/>
          <p:nvPr/>
        </p:nvSpPr>
        <p:spPr>
          <a:xfrm rot="0" flipH="0" flipV="0">
            <a:off x="1809750" y="1885950"/>
            <a:ext cx="8572500" cy="3048000"/>
          </a:xfrm>
          <a:prstGeom prst="roundRect">
            <a:avLst>
              <a:gd name="adj" fmla="val 3125"/>
            </a:avLst>
          </a:prstGeom>
          <a:ln/>
        </p:spPr>
        <p:txBody>
          <a:bodyPr/>
          <a:p/>
        </p:txBody>
      </p:sp>
      <p:pic>
        <p:nvPicPr>
          <p:cNvPr id="73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1809750" y="1885950"/>
            <a:ext cx="8572500" cy="3048000"/>
          </a:xfrm>
          <a:prstGeom prst="rect">
            <a:avLst/>
          </a:prstGeom>
          <a:ln/>
        </p:spPr>
      </p:pic>
      <p:sp>
        <p:nvSpPr>
          <p:cNvPr id="74" name="" descr="{&quot;isTemplate&quot;:true,&quot;type&quot;:&quot;text&quot;}"/>
          <p:cNvSpPr txBox="1"/>
          <p:nvPr/>
        </p:nvSpPr>
        <p:spPr>
          <a:xfrm rot="0" flipH="0" flipV="0">
            <a:off x="4457700" y="5067300"/>
            <a:ext cx="32861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A2118">
                    <a:alpha val="60000"/>
                  </a:srgbClr>
                </a:solidFill>
                <a:latin typeface="PingFang SC"/>
                <a:ea typeface="PingFang SC"/>
              </a:rPr>
              <a:t>上层只消费下层服务，逻辑与渲染解耦，可独立测试</a:t>
            </a:r>
            <a:endParaRPr/>
          </a:p>
        </p:txBody>
      </p:sp>
      <p:sp>
        <p:nvSpPr>
          <p:cNvPr id="75" name="" descr="{&quot;isTemplate&quot;:true,&quot;type&quot;:&quot;text&quot;}"/>
          <p:cNvSpPr txBox="1"/>
          <p:nvPr/>
        </p:nvSpPr>
        <p:spPr>
          <a:xfrm rot="0" flipH="0" flipV="0">
            <a:off x="685800" y="6172200"/>
            <a:ext cx="14478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2A2118">
                    <a:alpha val="55000"/>
                  </a:srgbClr>
                </a:solidFill>
                <a:latin typeface="PingFang SC"/>
                <a:ea typeface="PingFang SC"/>
              </a:rPr>
              <a:t>弈趣棋苑</a:t>
            </a:r>
            <a:r>
              <a:rPr lang="en-US" sz="1050">
                <a:solidFill>
                  <a:srgbClr val="2A2118">
                    <a:alpha val="55000"/>
                  </a:srgbClr>
                </a:solidFill>
                <a:latin typeface="PingFang SC"/>
                <a:ea typeface="PingFang SC"/>
              </a:rPr>
              <a:t xml:space="preserve"> · </a:t>
            </a:r>
            <a:r>
              <a:rPr lang="zh-CN" sz="1050">
                <a:solidFill>
                  <a:srgbClr val="2A2118">
                    <a:alpha val="55000"/>
                  </a:srgbClr>
                </a:solidFill>
                <a:latin typeface="PingFang SC"/>
                <a:ea typeface="PingFang SC"/>
              </a:rPr>
              <a:t>项目开发汇报</a:t>
            </a:r>
            <a:endParaRPr/>
          </a:p>
        </p:txBody>
      </p:sp>
      <p:sp>
        <p:nvSpPr>
          <p:cNvPr id="76" name="" descr="{&quot;isTemplate&quot;:true,&quot;type&quot;:&quot;text&quot;}"/>
          <p:cNvSpPr txBox="1"/>
          <p:nvPr/>
        </p:nvSpPr>
        <p:spPr>
          <a:xfrm rot="0" flipH="0" flipV="0">
            <a:off x="11049000" y="61722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2A2118">
                    <a:alpha val="55000"/>
                  </a:srgbClr>
                </a:solidFill>
                <a:latin typeface="PingFang SC"/>
                <a:ea typeface="PingFang SC"/>
              </a:rPr>
              <a:t>15 / 64</a:t>
            </a:r>
            <a:endParaRPr/>
          </a:p>
        </p:txBody>
      </p:sp>
    </p:spTree>
  </p:cSld>
</p:sld>
</file>

<file path=ppt/slides/slide16.xml><?xml version="1.0" encoding="utf-8"?>
<p:sld xmlns:p="http://schemas.openxmlformats.org/presentationml/2006/main" xmlns:a="http://schemas.openxmlformats.org/drawingml/2006/main">
  <p:cSld>
    <p:spTree>
      <p:nvGrpSpPr>
        <p:cNvPr id="77" name="" descr="&lt;Slide style={{ width: 1280, height: 720, padding: &quot;20px 72px&quot;, background: &quot;#F5E3BE&quot;, flexDirection: &quot;column&quot; }}&gt;&#10;  &lt;Box style={{ width: &quot;100%&quot;, height: 96, flexDirection: &quot;column&quot;, justifyContent: &quot;center&quot; }}&gt;&#10;    &lt;Text style={{ fontSize: 34, fontWeight: &quot;bold&quot;, color: &quot;#2A2118&quot;, fontFamily: &quot;'Songti SC', 'STSong', 'SimSun', serif&quot; }}&gt;原理 · 4× 超采样渲染管线&lt;/Text&gt;&#10;    &lt;Box style={{ width: 56, height: 2, background: &quot;#B3271E&quot;, marginTop: 10 }} /&gt;&#10;  &lt;/Box&gt;&#10;  &lt;Box style={{ width: &quot;100%&quot;, height: 516, flexDirection: &quot;column&quot; }}&gt;&#10;  &lt;Box style={{ flexDirection: &quot;row&quot;, alignItems: &quot;center&quot;, justifyContent: &quot;center&quot;, gap: 14, height: &quot;100%&quot; }}&gt;&#10;&lt;Box style={{ width: 184, background: &quot;rgba(140,90,43,0.10)&quot;, borderLeft: &quot;4px solid #8C5A2B&quot;, borderRadius: 6, padding: &quot;16px 14px&quot;, flexDirection: &quot;column&quot;, gap: 6 }}&gt;&#10;        &lt;Text style={{ fontSize: 15, fontWeight: &quot;bold&quot;, color: &quot;#2A2118&quot;, fontFamily: &quot;'Songti SC', 'STSong', 'SimSun', serif&quot; }}&gt;1. SS=4 绘制&lt;/Text&gt;&#10;        &lt;Text style={{ fontSize: 13, lineHeight: 1.5, color: &quot;rgba(42,33,24,0.7)&quot;, fontFamily: &quot;'PingFang SC', 'Microsoft YaHei', sans-serif&quot; }}&gt;在 4 倍分辨率空间画棋盘/棋子，天然抗锯齿&lt;/Text&gt;&#10;      &lt;/Box&gt;&#10;      &lt;Text style={{ fontSize: 26, color: &quot;#B3271E&quot;, fontFamily: &quot;'Songti SC', 'STSong', 'SimSun', serif&quot;, alignSelf: &quot;center&quot; }}&gt;→&lt;/Text&gt;&#10;      &lt;Box style={{ width: 184, background: &quot;rgba(140,90,43,0.10)&quot;, borderLeft: &quot;4px solid #8C5A2B&quot;, borderRadius: 6, padding: &quot;16px 14px&quot;, flexDirection: &quot;column&quot;, gap: 6 }}&gt;&#10;        &lt;Text style={{ fontSize: 15, fontWeight: &quot;bold&quot;, color: &quot;#2A2118&quot;, fontFamily: &quot;'Songti SC', 'STSong', 'SimSun', serif&quot; }}&gt;2. BOX 降采样&lt;/Text&gt;&#10;        &lt;Text style={{ fontSize: 13, lineHeight: 1.5, color: &quot;rgba(42,33,24,0.7)&quot;, fontFamily: &quot;'PingFang SC', 'Microsoft YaHei', sans-serif&quot; }}&gt;面积平均，无负瓣，边界无振铃&lt;/Text&gt;&#10;      &lt;/Box&gt;&#10;      &lt;Text style={{ fontSize: 26, color: &quot;#B3271E&quot;, fontFamily: &quot;'Songti SC', 'STSong', 'SimSun', serif&quot;, alignSelf: &quot;center&quot; }}&gt;→&lt;/Text&gt;&#10;      &lt;Box style={{ width: 184, background: &quot;rgba(140,90,43,0.10)&quot;, borderLeft: &quot;4px solid #8C5A2B&quot;, borderRadius: 6, padding: &quot;16px 14px&quot;, flexDirection: &quot;column&quot;, gap: 6 }}&gt;&#10;        &lt;Text style={{ fontSize: 15, fontWeight: &quot;bold&quot;, color: &quot;#2A2118&quot;, fontFamily: &quot;'Songti SC', 'STSong', 'SimSun', serif&quot; }}&gt;3. UnsharpMask&lt;/Text&gt;&#10;        &lt;Text style={{ fontSize: 13, lineHeight: 1.5, color: &quot;rgba(42,33,24,0.7)&quot;, fontFamily: &quot;'PingFang SC', 'Microsoft YaHei', sans-serif&quot; }}&gt;radius 1.1 / 60% / 阈值 2 找回锐度&lt;/Text&gt;&#10;      &lt;/Box&gt;&#10;      &lt;Text style={{ fontSize: 26, color: &quot;#B3271E&quot;, fontFamily: &quot;'Songti SC', 'STSong', 'SimSun', serif&quot;, alignSelf: &quot;center&quot; }}&gt;→&lt;/Text&gt;&#10;      &lt;Box style={{ width: 184, background: &quot;rgba(140,90,43,0.10)&quot;, borderLeft: &quot;4px solid #8C5A2B&quot;, borderRadius: 6, padding: &quot;16px 14px&quot;, flexDirection: &quot;column&quot;, gap: 6 }}&gt;&#10;        &lt;Text style={{ fontSize: 15, fontWeight: &quot;bold&quot;, color: &quot;#2A2118&quot;, fontFamily: &quot;'Songti SC', 'STSong', 'SimSun', serif&quot; }}&gt;4. 重建 Alpha&lt;/Text&gt;&#10;        &lt;Text style={{ fontSize: 13, lineHeight: 1.5, color: &quot;rgba(42,33,24,0.7)&quot;, fontFamily: &quot;'PingFang SC', 'Microsoft YaHei', sans-serif&quot; }}&gt;圆内不透明 + 最外羽化，与内容取 lighter&lt;/Text&gt;&#10;      &lt;/Box&gt;&#10;  &lt;/Box&gt;&#10;  &lt;/Box&gt;&#10;  &lt;Box style={{ width: &quot;100%&quot;, height: 48, flexDirection: &quot;row&quot;, alignItems: &quot;center&quot;, justifyContent: &quot;space-between&quot; }}&gt;&#10;    &lt;Text style={{ fontSize: 14, color: &quot;rgba(42,33,24,0.55)&quot;, fontFamily: &quot;'PingFang SC', 'Microsoft YaHei', sans-serif&quot; }}&gt;弈趣棋苑 · 项目开发汇报&lt;/Text&gt;&#10;    &lt;Text style={{ fontSize: 14, color: &quot;rgba(42,33,24,0.55)&quot;, fontFamily: &quot;'PingFang SC', 'Microsoft YaHei', sans-serif&quot; }}&gt;16 / 64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5E3BE"/>
          </a:solidFill>
          <a:ln/>
        </p:spPr>
        <p:txBody>
          <a:bodyPr/>
          <a:p/>
        </p:txBody>
      </p:sp>
      <p:sp>
        <p:nvSpPr>
          <p:cNvPr id="79" name="" descr="{&quot;isTemplate&quot;:true,&quot;type&quot;:&quot;text&quot;}"/>
          <p:cNvSpPr txBox="1"/>
          <p:nvPr/>
        </p:nvSpPr>
        <p:spPr>
          <a:xfrm rot="0" flipH="0" flipV="0">
            <a:off x="685800" y="400050"/>
            <a:ext cx="108204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A2118"/>
                </a:solidFill>
                <a:latin typeface="Songti SC"/>
                <a:ea typeface="Songti SC"/>
              </a:rPr>
              <a:t>原理</a:t>
            </a:r>
            <a:r>
              <a:rPr lang="en-US" sz="2550" b="1">
                <a:solidFill>
                  <a:srgbClr val="2A2118"/>
                </a:solidFill>
                <a:latin typeface="Songti SC"/>
                <a:ea typeface="Songti SC"/>
              </a:rPr>
              <a:t xml:space="preserve"> · 4× </a:t>
            </a:r>
            <a:r>
              <a:rPr lang="zh-CN" sz="2550" b="1">
                <a:solidFill>
                  <a:srgbClr val="2A2118"/>
                </a:solidFill>
                <a:latin typeface="Songti SC"/>
                <a:ea typeface="Songti SC"/>
              </a:rPr>
              <a:t>超采样渲染管线</a:t>
            </a:r>
            <a:endParaRPr/>
          </a:p>
        </p:txBody>
      </p:sp>
      <p:sp>
        <p:nvSpPr>
          <p:cNvPr id="80" name=""/>
          <p:cNvSpPr/>
          <p:nvPr/>
        </p:nvSpPr>
        <p:spPr>
          <a:xfrm rot="0" flipH="0" flipV="0">
            <a:off x="685800" y="885825"/>
            <a:ext cx="533400" cy="19050"/>
          </a:xfrm>
          <a:prstGeom prst="rect">
            <a:avLst/>
          </a:prstGeom>
          <a:solidFill>
            <a:srgbClr val="B3271E"/>
          </a:solidFill>
          <a:ln/>
        </p:spPr>
        <p:txBody>
          <a:bodyPr/>
          <a:p/>
        </p:txBody>
      </p:sp>
      <p:sp>
        <p:nvSpPr>
          <p:cNvPr id="81" name=""/>
          <p:cNvSpPr/>
          <p:nvPr/>
        </p:nvSpPr>
        <p:spPr>
          <a:xfrm rot="0" flipH="0" flipV="0">
            <a:off x="1857375" y="3076575"/>
            <a:ext cx="1714500" cy="981075"/>
          </a:xfrm>
          <a:prstGeom prst="roundRect">
            <a:avLst>
              <a:gd name="adj" fmla="val 5825"/>
            </a:avLst>
          </a:prstGeom>
          <a:solidFill>
            <a:srgbClr val="8C5A2B">
              <a:alpha val="10000"/>
            </a:srgbClr>
          </a:solidFill>
          <a:ln/>
        </p:spPr>
        <p:txBody>
          <a:bodyPr/>
          <a:p/>
        </p:txBody>
      </p:sp>
      <p:sp>
        <p:nvSpPr>
          <p:cNvPr id="82" name=""/>
          <p:cNvSpPr/>
          <p:nvPr/>
        </p:nvSpPr>
        <p:spPr>
          <a:xfrm rot="0" flipH="0" flipV="0">
            <a:off x="1857375" y="3076575"/>
            <a:ext cx="1714500" cy="981075"/>
          </a:xfrm>
          <a:custGeom>
            <a:pathLst>
              <a:path w="180" h="103">
                <a:moveTo>
                  <a:pt x="6" y="0"/>
                </a:moveTo>
                <a:cubicBezTo>
                  <a:pt x="5" y="0"/>
                  <a:pt x="4" y="1"/>
                  <a:pt x="4" y="2"/>
                </a:cubicBezTo>
                <a:lnTo>
                  <a:pt x="4" y="101"/>
                </a:lnTo>
                <a:cubicBezTo>
                  <a:pt x="4" y="102"/>
                  <a:pt x="5" y="103"/>
                  <a:pt x="6" y="103"/>
                </a:cubicBezTo>
                <a:cubicBezTo>
                  <a:pt x="3" y="103"/>
                  <a:pt x="0" y="100"/>
                  <a:pt x="0" y="97"/>
                </a:cubicBezTo>
                <a:lnTo>
                  <a:pt x="0" y="6"/>
                </a:lnTo>
                <a:cubicBezTo>
                  <a:pt x="0" y="3"/>
                  <a:pt x="3" y="0"/>
                  <a:pt x="6" y="0"/>
                </a:cubicBezTo>
                <a:close/>
              </a:path>
            </a:pathLst>
          </a:custGeom>
          <a:solidFill>
            <a:srgbClr val="8C5A2B"/>
          </a:solidFill>
          <a:ln/>
        </p:spPr>
        <p:txBody>
          <a:bodyPr/>
          <a:p/>
        </p:txBody>
      </p:sp>
      <p:sp>
        <p:nvSpPr>
          <p:cNvPr id="83" name="" descr="{&quot;isTemplate&quot;:true,&quot;type&quot;:&quot;text&quot;}"/>
          <p:cNvSpPr txBox="1"/>
          <p:nvPr/>
        </p:nvSpPr>
        <p:spPr>
          <a:xfrm rot="0" flipH="0" flipV="0">
            <a:off x="1990725" y="3228975"/>
            <a:ext cx="14478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2A2118"/>
                </a:solidFill>
                <a:latin typeface="Songti SC"/>
                <a:ea typeface="Songti SC"/>
              </a:rPr>
              <a:t xml:space="preserve">1. SS=4 </a:t>
            </a:r>
            <a:r>
              <a:rPr lang="zh-CN" sz="1125" b="1">
                <a:solidFill>
                  <a:srgbClr val="2A2118"/>
                </a:solidFill>
                <a:latin typeface="Songti SC"/>
                <a:ea typeface="Songti SC"/>
              </a:rPr>
              <a:t>绘制</a:t>
            </a:r>
            <a:endParaRPr/>
          </a:p>
        </p:txBody>
      </p:sp>
      <p:sp>
        <p:nvSpPr>
          <p:cNvPr id="84" name="" descr="{&quot;isTemplate&quot;:true,&quot;type&quot;:&quot;text&quot;}"/>
          <p:cNvSpPr txBox="1"/>
          <p:nvPr/>
        </p:nvSpPr>
        <p:spPr>
          <a:xfrm rot="0" flipH="0" flipV="0">
            <a:off x="1990725" y="3457575"/>
            <a:ext cx="1447800" cy="4476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975">
                <a:solidFill>
                  <a:srgbClr val="2A2118">
                    <a:alpha val="70000"/>
                  </a:srgbClr>
                </a:solidFill>
                <a:latin typeface="PingFang SC"/>
                <a:ea typeface="PingFang SC"/>
              </a:rPr>
              <a:t>在</a:t>
            </a:r>
            <a:r>
              <a:rPr lang="en-US" sz="975">
                <a:solidFill>
                  <a:srgbClr val="2A2118">
                    <a:alpha val="70000"/>
                  </a:srgbClr>
                </a:solidFill>
                <a:latin typeface="PingFang SC"/>
                <a:ea typeface="PingFang SC"/>
              </a:rPr>
              <a:t xml:space="preserve"> 4 </a:t>
            </a:r>
            <a:r>
              <a:rPr lang="zh-CN" sz="975">
                <a:solidFill>
                  <a:srgbClr val="2A2118">
                    <a:alpha val="70000"/>
                  </a:srgbClr>
                </a:solidFill>
                <a:latin typeface="PingFang SC"/>
                <a:ea typeface="PingFang SC"/>
              </a:rPr>
              <a:t>倍分辨率空间画棋盘</a:t>
            </a:r>
            <a:r>
              <a:rPr lang="en-US" sz="975">
                <a:solidFill>
                  <a:srgbClr val="2A2118">
                    <a:alpha val="70000"/>
                  </a:srgbClr>
                </a:solidFill>
                <a:latin typeface="PingFang SC"/>
                <a:ea typeface="PingFang SC"/>
              </a:rPr>
              <a:t>/</a:t>
            </a:r>
            <a:r>
              <a:rPr lang="zh-CN" sz="975">
                <a:solidFill>
                  <a:srgbClr val="2A2118">
                    <a:alpha val="70000"/>
                  </a:srgbClr>
                </a:solidFill>
                <a:latin typeface="PingFang SC"/>
                <a:ea typeface="PingFang SC"/>
              </a:rPr>
              <a:t>棋子，天然抗锯齿</a:t>
            </a:r>
            <a:endParaRPr/>
          </a:p>
        </p:txBody>
      </p:sp>
      <p:sp>
        <p:nvSpPr>
          <p:cNvPr id="85" name="" descr="{&quot;isTemplate&quot;:true,&quot;type&quot;:&quot;text&quot;}"/>
          <p:cNvSpPr txBox="1"/>
          <p:nvPr/>
        </p:nvSpPr>
        <p:spPr>
          <a:xfrm rot="0" flipH="0" flipV="0">
            <a:off x="3705225" y="3409950"/>
            <a:ext cx="24765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950">
                <a:solidFill>
                  <a:srgbClr val="B3271E"/>
                </a:solidFill>
                <a:latin typeface="Songti SC"/>
                <a:ea typeface="Songti SC"/>
              </a:rPr>
              <a:t>→</a:t>
            </a:r>
            <a:endParaRPr/>
          </a:p>
        </p:txBody>
      </p:sp>
      <p:sp>
        <p:nvSpPr>
          <p:cNvPr id="86" name=""/>
          <p:cNvSpPr/>
          <p:nvPr/>
        </p:nvSpPr>
        <p:spPr>
          <a:xfrm rot="0" flipH="0" flipV="0">
            <a:off x="4124325" y="3076575"/>
            <a:ext cx="1714500" cy="981075"/>
          </a:xfrm>
          <a:prstGeom prst="roundRect">
            <a:avLst>
              <a:gd name="adj" fmla="val 5825"/>
            </a:avLst>
          </a:prstGeom>
          <a:solidFill>
            <a:srgbClr val="8C5A2B">
              <a:alpha val="10000"/>
            </a:srgbClr>
          </a:solidFill>
          <a:ln/>
        </p:spPr>
        <p:txBody>
          <a:bodyPr/>
          <a:p/>
        </p:txBody>
      </p:sp>
      <p:sp>
        <p:nvSpPr>
          <p:cNvPr id="87" name=""/>
          <p:cNvSpPr/>
          <p:nvPr/>
        </p:nvSpPr>
        <p:spPr>
          <a:xfrm rot="0" flipH="0" flipV="0">
            <a:off x="4124325" y="3076575"/>
            <a:ext cx="1714500" cy="981075"/>
          </a:xfrm>
          <a:custGeom>
            <a:pathLst>
              <a:path w="180" h="103">
                <a:moveTo>
                  <a:pt x="6" y="0"/>
                </a:moveTo>
                <a:cubicBezTo>
                  <a:pt x="5" y="0"/>
                  <a:pt x="4" y="1"/>
                  <a:pt x="4" y="2"/>
                </a:cubicBezTo>
                <a:lnTo>
                  <a:pt x="4" y="101"/>
                </a:lnTo>
                <a:cubicBezTo>
                  <a:pt x="4" y="102"/>
                  <a:pt x="5" y="103"/>
                  <a:pt x="6" y="103"/>
                </a:cubicBezTo>
                <a:cubicBezTo>
                  <a:pt x="3" y="103"/>
                  <a:pt x="0" y="100"/>
                  <a:pt x="0" y="97"/>
                </a:cubicBezTo>
                <a:lnTo>
                  <a:pt x="0" y="6"/>
                </a:lnTo>
                <a:cubicBezTo>
                  <a:pt x="0" y="3"/>
                  <a:pt x="3" y="0"/>
                  <a:pt x="6" y="0"/>
                </a:cubicBezTo>
                <a:close/>
              </a:path>
            </a:pathLst>
          </a:custGeom>
          <a:solidFill>
            <a:srgbClr val="8C5A2B"/>
          </a:solidFill>
          <a:ln/>
        </p:spPr>
        <p:txBody>
          <a:bodyPr/>
          <a:p/>
        </p:txBody>
      </p:sp>
      <p:sp>
        <p:nvSpPr>
          <p:cNvPr id="88" name="" descr="{&quot;isTemplate&quot;:true,&quot;type&quot;:&quot;text&quot;}"/>
          <p:cNvSpPr txBox="1"/>
          <p:nvPr/>
        </p:nvSpPr>
        <p:spPr>
          <a:xfrm rot="0" flipH="0" flipV="0">
            <a:off x="4257675" y="3228975"/>
            <a:ext cx="14478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2A2118"/>
                </a:solidFill>
                <a:latin typeface="Songti SC"/>
                <a:ea typeface="Songti SC"/>
              </a:rPr>
              <a:t xml:space="preserve">2. BOX </a:t>
            </a:r>
            <a:r>
              <a:rPr lang="zh-CN" sz="1125" b="1">
                <a:solidFill>
                  <a:srgbClr val="2A2118"/>
                </a:solidFill>
                <a:latin typeface="Songti SC"/>
                <a:ea typeface="Songti SC"/>
              </a:rPr>
              <a:t>降采样</a:t>
            </a:r>
            <a:endParaRPr/>
          </a:p>
        </p:txBody>
      </p:sp>
      <p:sp>
        <p:nvSpPr>
          <p:cNvPr id="89" name="" descr="{&quot;isTemplate&quot;:true,&quot;type&quot;:&quot;text&quot;}"/>
          <p:cNvSpPr txBox="1"/>
          <p:nvPr/>
        </p:nvSpPr>
        <p:spPr>
          <a:xfrm rot="0" flipH="0" flipV="0">
            <a:off x="4257675" y="3457575"/>
            <a:ext cx="1447800" cy="4476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975">
                <a:solidFill>
                  <a:srgbClr val="2A2118">
                    <a:alpha val="70000"/>
                  </a:srgbClr>
                </a:solidFill>
                <a:latin typeface="PingFang SC"/>
                <a:ea typeface="PingFang SC"/>
              </a:rPr>
              <a:t>面积平均，无负瓣，边界无振铃</a:t>
            </a:r>
            <a:endParaRPr/>
          </a:p>
        </p:txBody>
      </p:sp>
      <p:sp>
        <p:nvSpPr>
          <p:cNvPr id="90" name="" descr="{&quot;isTemplate&quot;:true,&quot;type&quot;:&quot;text&quot;}"/>
          <p:cNvSpPr txBox="1"/>
          <p:nvPr/>
        </p:nvSpPr>
        <p:spPr>
          <a:xfrm rot="0" flipH="0" flipV="0">
            <a:off x="5972175" y="3409950"/>
            <a:ext cx="24765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950">
                <a:solidFill>
                  <a:srgbClr val="B3271E"/>
                </a:solidFill>
                <a:latin typeface="Songti SC"/>
                <a:ea typeface="Songti SC"/>
              </a:rPr>
              <a:t>→</a:t>
            </a:r>
            <a:endParaRPr/>
          </a:p>
        </p:txBody>
      </p:sp>
      <p:sp>
        <p:nvSpPr>
          <p:cNvPr id="91" name=""/>
          <p:cNvSpPr/>
          <p:nvPr/>
        </p:nvSpPr>
        <p:spPr>
          <a:xfrm rot="0" flipH="0" flipV="0">
            <a:off x="6391275" y="3076575"/>
            <a:ext cx="1714500" cy="981075"/>
          </a:xfrm>
          <a:prstGeom prst="roundRect">
            <a:avLst>
              <a:gd name="adj" fmla="val 5825"/>
            </a:avLst>
          </a:prstGeom>
          <a:solidFill>
            <a:srgbClr val="8C5A2B">
              <a:alpha val="10000"/>
            </a:srgbClr>
          </a:solidFill>
          <a:ln/>
        </p:spPr>
        <p:txBody>
          <a:bodyPr/>
          <a:p/>
        </p:txBody>
      </p:sp>
      <p:sp>
        <p:nvSpPr>
          <p:cNvPr id="92" name=""/>
          <p:cNvSpPr/>
          <p:nvPr/>
        </p:nvSpPr>
        <p:spPr>
          <a:xfrm rot="0" flipH="0" flipV="0">
            <a:off x="6391275" y="3076575"/>
            <a:ext cx="1714500" cy="981075"/>
          </a:xfrm>
          <a:custGeom>
            <a:pathLst>
              <a:path w="180" h="103">
                <a:moveTo>
                  <a:pt x="6" y="0"/>
                </a:moveTo>
                <a:cubicBezTo>
                  <a:pt x="5" y="0"/>
                  <a:pt x="4" y="1"/>
                  <a:pt x="4" y="2"/>
                </a:cubicBezTo>
                <a:lnTo>
                  <a:pt x="4" y="101"/>
                </a:lnTo>
                <a:cubicBezTo>
                  <a:pt x="4" y="102"/>
                  <a:pt x="5" y="103"/>
                  <a:pt x="6" y="103"/>
                </a:cubicBezTo>
                <a:cubicBezTo>
                  <a:pt x="3" y="103"/>
                  <a:pt x="0" y="100"/>
                  <a:pt x="0" y="97"/>
                </a:cubicBezTo>
                <a:lnTo>
                  <a:pt x="0" y="6"/>
                </a:lnTo>
                <a:cubicBezTo>
                  <a:pt x="0" y="3"/>
                  <a:pt x="3" y="0"/>
                  <a:pt x="6" y="0"/>
                </a:cubicBezTo>
                <a:close/>
              </a:path>
            </a:pathLst>
          </a:custGeom>
          <a:solidFill>
            <a:srgbClr val="8C5A2B"/>
          </a:solidFill>
          <a:ln/>
        </p:spPr>
        <p:txBody>
          <a:bodyPr/>
          <a:p/>
        </p:txBody>
      </p:sp>
      <p:sp>
        <p:nvSpPr>
          <p:cNvPr id="93" name="" descr="{&quot;isTemplate&quot;:true,&quot;type&quot;:&quot;text&quot;}"/>
          <p:cNvSpPr txBox="1"/>
          <p:nvPr/>
        </p:nvSpPr>
        <p:spPr>
          <a:xfrm rot="0" flipH="0" flipV="0">
            <a:off x="6524625" y="3228975"/>
            <a:ext cx="14478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2A2118"/>
                </a:solidFill>
                <a:latin typeface="Songti SC"/>
                <a:ea typeface="Songti SC"/>
              </a:rPr>
              <a:t>3. UnsharpMask</a:t>
            </a:r>
            <a:endParaRPr/>
          </a:p>
        </p:txBody>
      </p:sp>
      <p:sp>
        <p:nvSpPr>
          <p:cNvPr id="94" name="" descr="{&quot;isTemplate&quot;:true,&quot;type&quot;:&quot;text&quot;}"/>
          <p:cNvSpPr txBox="1"/>
          <p:nvPr/>
        </p:nvSpPr>
        <p:spPr>
          <a:xfrm rot="0" flipH="0" flipV="0">
            <a:off x="6524625" y="3457575"/>
            <a:ext cx="1447800" cy="4476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en-US" sz="975">
                <a:solidFill>
                  <a:srgbClr val="2A2118">
                    <a:alpha val="70000"/>
                  </a:srgbClr>
                </a:solidFill>
                <a:latin typeface="PingFang SC"/>
                <a:ea typeface="PingFang SC"/>
              </a:rPr>
              <a:t xml:space="preserve">radius 1.1 / 60% / </a:t>
            </a:r>
            <a:r>
              <a:rPr lang="zh-CN" sz="975">
                <a:solidFill>
                  <a:srgbClr val="2A2118">
                    <a:alpha val="70000"/>
                  </a:srgbClr>
                </a:solidFill>
                <a:latin typeface="PingFang SC"/>
                <a:ea typeface="PingFang SC"/>
              </a:rPr>
              <a:t>阈值</a:t>
            </a:r>
            <a:r>
              <a:rPr lang="en-US" sz="975">
                <a:solidFill>
                  <a:srgbClr val="2A2118">
                    <a:alpha val="70000"/>
                  </a:srgbClr>
                </a:solidFill>
                <a:latin typeface="PingFang SC"/>
                <a:ea typeface="PingFang SC"/>
              </a:rPr>
              <a:t xml:space="preserve"> 2 </a:t>
            </a:r>
            <a:r>
              <a:rPr lang="zh-CN" sz="975">
                <a:solidFill>
                  <a:srgbClr val="2A2118">
                    <a:alpha val="70000"/>
                  </a:srgbClr>
                </a:solidFill>
                <a:latin typeface="PingFang SC"/>
                <a:ea typeface="PingFang SC"/>
              </a:rPr>
              <a:t>找回锐度</a:t>
            </a:r>
            <a:endParaRPr/>
          </a:p>
        </p:txBody>
      </p:sp>
      <p:sp>
        <p:nvSpPr>
          <p:cNvPr id="95" name="" descr="{&quot;isTemplate&quot;:true,&quot;type&quot;:&quot;text&quot;}"/>
          <p:cNvSpPr txBox="1"/>
          <p:nvPr/>
        </p:nvSpPr>
        <p:spPr>
          <a:xfrm rot="0" flipH="0" flipV="0">
            <a:off x="8239125" y="3409950"/>
            <a:ext cx="24765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950">
                <a:solidFill>
                  <a:srgbClr val="B3271E"/>
                </a:solidFill>
                <a:latin typeface="Songti SC"/>
                <a:ea typeface="Songti SC"/>
              </a:rPr>
              <a:t>→</a:t>
            </a:r>
            <a:endParaRPr/>
          </a:p>
        </p:txBody>
      </p:sp>
      <p:sp>
        <p:nvSpPr>
          <p:cNvPr id="96" name=""/>
          <p:cNvSpPr/>
          <p:nvPr/>
        </p:nvSpPr>
        <p:spPr>
          <a:xfrm rot="0" flipH="0" flipV="0">
            <a:off x="8658225" y="3076575"/>
            <a:ext cx="1714500" cy="981075"/>
          </a:xfrm>
          <a:prstGeom prst="roundRect">
            <a:avLst>
              <a:gd name="adj" fmla="val 5825"/>
            </a:avLst>
          </a:prstGeom>
          <a:solidFill>
            <a:srgbClr val="8C5A2B">
              <a:alpha val="10000"/>
            </a:srgbClr>
          </a:solidFill>
          <a:ln/>
        </p:spPr>
        <p:txBody>
          <a:bodyPr/>
          <a:p/>
        </p:txBody>
      </p:sp>
      <p:sp>
        <p:nvSpPr>
          <p:cNvPr id="97" name=""/>
          <p:cNvSpPr/>
          <p:nvPr/>
        </p:nvSpPr>
        <p:spPr>
          <a:xfrm rot="0" flipH="0" flipV="0">
            <a:off x="8658225" y="3076575"/>
            <a:ext cx="1714500" cy="981075"/>
          </a:xfrm>
          <a:custGeom>
            <a:pathLst>
              <a:path w="180" h="103">
                <a:moveTo>
                  <a:pt x="6" y="0"/>
                </a:moveTo>
                <a:cubicBezTo>
                  <a:pt x="5" y="0"/>
                  <a:pt x="4" y="1"/>
                  <a:pt x="4" y="2"/>
                </a:cubicBezTo>
                <a:lnTo>
                  <a:pt x="4" y="101"/>
                </a:lnTo>
                <a:cubicBezTo>
                  <a:pt x="4" y="102"/>
                  <a:pt x="5" y="103"/>
                  <a:pt x="6" y="103"/>
                </a:cubicBezTo>
                <a:cubicBezTo>
                  <a:pt x="3" y="103"/>
                  <a:pt x="0" y="100"/>
                  <a:pt x="0" y="97"/>
                </a:cubicBezTo>
                <a:lnTo>
                  <a:pt x="0" y="6"/>
                </a:lnTo>
                <a:cubicBezTo>
                  <a:pt x="0" y="3"/>
                  <a:pt x="3" y="0"/>
                  <a:pt x="6" y="0"/>
                </a:cubicBezTo>
                <a:close/>
              </a:path>
            </a:pathLst>
          </a:custGeom>
          <a:solidFill>
            <a:srgbClr val="8C5A2B"/>
          </a:solidFill>
          <a:ln/>
        </p:spPr>
        <p:txBody>
          <a:bodyPr/>
          <a:p/>
        </p:txBody>
      </p:sp>
      <p:sp>
        <p:nvSpPr>
          <p:cNvPr id="98" name="" descr="{&quot;isTemplate&quot;:true,&quot;type&quot;:&quot;text&quot;}"/>
          <p:cNvSpPr txBox="1"/>
          <p:nvPr/>
        </p:nvSpPr>
        <p:spPr>
          <a:xfrm rot="0" flipH="0" flipV="0">
            <a:off x="8791575" y="3228975"/>
            <a:ext cx="14478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2A2118"/>
                </a:solidFill>
                <a:latin typeface="Songti SC"/>
                <a:ea typeface="Songti SC"/>
              </a:rPr>
              <a:t xml:space="preserve">4. </a:t>
            </a:r>
            <a:r>
              <a:rPr lang="zh-CN" sz="1125" b="1">
                <a:solidFill>
                  <a:srgbClr val="2A2118"/>
                </a:solidFill>
                <a:latin typeface="Songti SC"/>
                <a:ea typeface="Songti SC"/>
              </a:rPr>
              <a:t>重建</a:t>
            </a:r>
            <a:r>
              <a:rPr lang="en-US" sz="1125" b="1">
                <a:solidFill>
                  <a:srgbClr val="2A2118"/>
                </a:solidFill>
                <a:latin typeface="Songti SC"/>
                <a:ea typeface="Songti SC"/>
              </a:rPr>
              <a:t xml:space="preserve"> Alpha</a:t>
            </a:r>
            <a:endParaRPr/>
          </a:p>
        </p:txBody>
      </p:sp>
      <p:sp>
        <p:nvSpPr>
          <p:cNvPr id="99" name="" descr="{&quot;isTemplate&quot;:true,&quot;type&quot;:&quot;text&quot;}"/>
          <p:cNvSpPr txBox="1"/>
          <p:nvPr/>
        </p:nvSpPr>
        <p:spPr>
          <a:xfrm rot="0" flipH="0" flipV="0">
            <a:off x="8791575" y="3457575"/>
            <a:ext cx="1447800" cy="4476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975">
                <a:solidFill>
                  <a:srgbClr val="2A2118">
                    <a:alpha val="70000"/>
                  </a:srgbClr>
                </a:solidFill>
                <a:latin typeface="PingFang SC"/>
                <a:ea typeface="PingFang SC"/>
              </a:rPr>
              <a:t>圆内不透明</a:t>
            </a:r>
            <a:r>
              <a:rPr lang="en-US" sz="975">
                <a:solidFill>
                  <a:srgbClr val="2A2118">
                    <a:alpha val="70000"/>
                  </a:srgbClr>
                </a:solidFill>
                <a:latin typeface="PingFang SC"/>
                <a:ea typeface="PingFang SC"/>
              </a:rPr>
              <a:t xml:space="preserve"> + </a:t>
            </a:r>
            <a:r>
              <a:rPr lang="zh-CN" sz="975">
                <a:solidFill>
                  <a:srgbClr val="2A2118">
                    <a:alpha val="70000"/>
                  </a:srgbClr>
                </a:solidFill>
                <a:latin typeface="PingFang SC"/>
                <a:ea typeface="PingFang SC"/>
              </a:rPr>
              <a:t>最外羽化，与内容取</a:t>
            </a:r>
            <a:r>
              <a:rPr lang="en-US" sz="975">
                <a:solidFill>
                  <a:srgbClr val="2A2118">
                    <a:alpha val="70000"/>
                  </a:srgbClr>
                </a:solidFill>
                <a:latin typeface="PingFang SC"/>
                <a:ea typeface="PingFang SC"/>
              </a:rPr>
              <a:t xml:space="preserve"> lighter</a:t>
            </a:r>
            <a:endParaRPr/>
          </a:p>
        </p:txBody>
      </p:sp>
      <p:sp>
        <p:nvSpPr>
          <p:cNvPr id="100" name="" descr="{&quot;isTemplate&quot;:true,&quot;type&quot;:&quot;text&quot;}"/>
          <p:cNvSpPr txBox="1"/>
          <p:nvPr/>
        </p:nvSpPr>
        <p:spPr>
          <a:xfrm rot="0" flipH="0" flipV="0">
            <a:off x="685800" y="6172200"/>
            <a:ext cx="14478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2A2118">
                    <a:alpha val="55000"/>
                  </a:srgbClr>
                </a:solidFill>
                <a:latin typeface="PingFang SC"/>
                <a:ea typeface="PingFang SC"/>
              </a:rPr>
              <a:t>弈趣棋苑</a:t>
            </a:r>
            <a:r>
              <a:rPr lang="en-US" sz="1050">
                <a:solidFill>
                  <a:srgbClr val="2A2118">
                    <a:alpha val="55000"/>
                  </a:srgbClr>
                </a:solidFill>
                <a:latin typeface="PingFang SC"/>
                <a:ea typeface="PingFang SC"/>
              </a:rPr>
              <a:t xml:space="preserve"> · </a:t>
            </a:r>
            <a:r>
              <a:rPr lang="zh-CN" sz="1050">
                <a:solidFill>
                  <a:srgbClr val="2A2118">
                    <a:alpha val="55000"/>
                  </a:srgbClr>
                </a:solidFill>
                <a:latin typeface="PingFang SC"/>
                <a:ea typeface="PingFang SC"/>
              </a:rPr>
              <a:t>项目开发汇报</a:t>
            </a:r>
            <a:endParaRPr/>
          </a:p>
        </p:txBody>
      </p:sp>
      <p:sp>
        <p:nvSpPr>
          <p:cNvPr id="101" name="" descr="{&quot;isTemplate&quot;:true,&quot;type&quot;:&quot;text&quot;}"/>
          <p:cNvSpPr txBox="1"/>
          <p:nvPr/>
        </p:nvSpPr>
        <p:spPr>
          <a:xfrm rot="0" flipH="0" flipV="0">
            <a:off x="11049000" y="61722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2A2118">
                    <a:alpha val="55000"/>
                  </a:srgbClr>
                </a:solidFill>
                <a:latin typeface="PingFang SC"/>
                <a:ea typeface="PingFang SC"/>
              </a:rPr>
              <a:t>16 / 64</a:t>
            </a:r>
            <a:endParaRPr/>
          </a:p>
        </p:txBody>
      </p:sp>
    </p:spTree>
  </p:cSld>
</p:sld>
</file>

<file path=ppt/slides/slide17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102" name="" descr="&lt;Slide style={{ width: 1280, height: 720, padding: &quot;20px 72px&quot;, background: &quot;#F5E3BE&quot;, flexDirection: &quot;column&quot; }}&gt;&#10;  &lt;Box style={{ width: &quot;100%&quot;, height: 96, flexDirection: &quot;column&quot;, justifyContent: &quot;center&quot; }}&gt;&#10;    &lt;Text style={{ fontSize: 34, fontWeight: &quot;bold&quot;, color: &quot;#2A2118&quot;, fontFamily: &quot;'Songti SC', 'STSong', 'SimSun', serif&quot; }}&gt;原理 · 棋子材质渲染的八层管线&lt;/Text&gt;&#10;    &lt;Box style={{ width: 56, height: 2, background: &quot;#B3271E&quot;, marginTop: 10 }} /&gt;&#10;  &lt;/Box&gt;&#10;  &lt;Box style={{ width: &quot;100%&quot;, height: 516, flexDirection: &quot;column&quot; }}&gt;&#10;  &lt;Box style={{ flexDirection: &quot;column&quot;, height: &quot;100%&quot;, justifyContent: &quot;center&quot;, alignItems: &quot;center&quot;, gap: 14 }}&gt;&#10;    &lt;svg width=&quot;460&quot; height=&quot;320&quot; viewBox=&quot;0 0 460 320&quot; style={{ background: &quot;rgba(140,90,43,0.05)&quot;, borderRadius: 10 }}&gt;&#10;      &lt;rect x=&quot;30&quot; y=&quot;14&quot; width=&quot;400&quot; height=&quot;26&quot; rx=&quot;4&quot; fill=&quot;#8C5A2B&quot;/&gt;&lt;text x=&quot;44&quot; y=&quot;32&quot; font-size=&quot;13&quot; fill=&quot;#F5E3BE&quot; font-family=&quot;sans-serif&quot;&gt;1 侧壁&lt;/text&gt;&#10;      &lt;rect x=&quot;30&quot; y=&quot;46&quot; width=&quot;400&quot; height=&quot;26&quot; rx=&quot;4&quot; fill=&quot;#B3271E&quot;/&gt;&lt;text x=&quot;44&quot; y=&quot;64&quot; font-size=&quot;13&quot; fill=&quot;#F5E3BE&quot; font-family=&quot;sans-serif&quot;&gt;2 盘面渐变 · 3 年轮(外环) · 4 暗角&lt;/text&gt;&#10;      &lt;rect x=&quot;30&quot; y=&quot;78&quot; width=&quot;400&quot; height=&quot;26&quot; rx=&quot;4&quot; fill=&quot;#2A2118&quot;/&gt;&lt;text x=&quot;44&quot; y=&quot;96&quot; font-size=&quot;13&quot; fill=&quot;#F5E3BE&quot; font-family=&quot;sans-serif&quot;&gt;5 倒角明暗 · 6 底部反光 · 7 丝光(左上)&lt;/text&gt;&#10;      &lt;rect x=&quot;30&quot; y=&quot;110&quot; width=&quot;400&quot; height=&quot;26&quot; rx=&quot;4&quot; fill=&quot;#8C5A2B&quot;/&gt;&lt;text x=&quot;44&quot; y=&quot;128&quot; font-size=&quot;13&quot; fill=&quot;#F5E3BE&quot; font-family=&quot;sans-serif&quot;&gt;8 描边 · 9 阴刻字&lt;/text&gt;&#10;      &lt;rect x=&quot;150&quot; y=&quot;160&quot; width=&quot;160&quot; height=&quot;140&quot; rx=&quot;80&quot; fill=&quot;#8C5A2B&quot; opacity=&quot;0.25&quot;/&gt;&#10;      &lt;text x=&quot;230&quot; y=&quot;236&quot; font-size=&quot;15&quot; fill=&quot;#2A2118&quot; text-anchor=&quot;middle&quot; font-family=&quot;sans-serif&quot;&gt;圆形 · 不透明 · 木纹真实&lt;/text&gt;&#10;    &lt;/svg&gt;&#10;    &lt;Text style={{ fontSize: 15, color: &quot;rgba(42,33,24,0.6)&quot;, fontFamily: &quot;'PingFang SC', 'Microsoft YaHei', sans-serif&quot; }}&gt;侧壁→盘面→年轮→暗角→倒角→反光→丝光→描边→阴刻字&lt;/Text&gt;&#10;  &lt;/Box&gt;&#10;  &lt;/Box&gt;&#10;  &lt;Box style={{ width: &quot;100%&quot;, height: 48, flexDirection: &quot;row&quot;, alignItems: &quot;center&quot;, justifyContent: &quot;space-between&quot; }}&gt;&#10;    &lt;Text style={{ fontSize: 14, color: &quot;rgba(42,33,24,0.55)&quot;, fontFamily: &quot;'PingFang SC', 'Microsoft YaHei', sans-serif&quot; }}&gt;弈趣棋苑 · 项目开发汇报&lt;/Text&gt;&#10;    &lt;Text style={{ fontSize: 14, color: &quot;rgba(42,33,24,0.55)&quot;, fontFamily: &quot;'PingFang SC', 'Microsoft YaHei', sans-serif&quot; }}&gt;18 / 64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5E3BE"/>
          </a:solidFill>
          <a:ln/>
        </p:spPr>
        <p:txBody>
          <a:bodyPr/>
          <a:p/>
        </p:txBody>
      </p:sp>
      <p:sp>
        <p:nvSpPr>
          <p:cNvPr id="104" name="" descr="{&quot;isTemplate&quot;:true,&quot;type&quot;:&quot;text&quot;}"/>
          <p:cNvSpPr txBox="1"/>
          <p:nvPr/>
        </p:nvSpPr>
        <p:spPr>
          <a:xfrm rot="0" flipH="0" flipV="0">
            <a:off x="685800" y="400050"/>
            <a:ext cx="108204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A2118"/>
                </a:solidFill>
                <a:latin typeface="Songti SC"/>
                <a:ea typeface="Songti SC"/>
              </a:rPr>
              <a:t>原理</a:t>
            </a:r>
            <a:r>
              <a:rPr lang="en-US" sz="2550" b="1">
                <a:solidFill>
                  <a:srgbClr val="2A2118"/>
                </a:solidFill>
                <a:latin typeface="Songti SC"/>
                <a:ea typeface="Songti SC"/>
              </a:rPr>
              <a:t xml:space="preserve"> · </a:t>
            </a:r>
            <a:r>
              <a:rPr lang="zh-CN" sz="2550" b="1">
                <a:solidFill>
                  <a:srgbClr val="2A2118"/>
                </a:solidFill>
                <a:latin typeface="Songti SC"/>
                <a:ea typeface="Songti SC"/>
              </a:rPr>
              <a:t>棋子材质渲染的八层管线</a:t>
            </a:r>
            <a:endParaRPr/>
          </a:p>
        </p:txBody>
      </p:sp>
      <p:sp>
        <p:nvSpPr>
          <p:cNvPr id="105" name=""/>
          <p:cNvSpPr/>
          <p:nvPr/>
        </p:nvSpPr>
        <p:spPr>
          <a:xfrm rot="0" flipH="0" flipV="0">
            <a:off x="685800" y="885825"/>
            <a:ext cx="533400" cy="19050"/>
          </a:xfrm>
          <a:prstGeom prst="rect">
            <a:avLst/>
          </a:prstGeom>
          <a:solidFill>
            <a:srgbClr val="B3271E"/>
          </a:solidFill>
          <a:ln/>
        </p:spPr>
        <p:txBody>
          <a:bodyPr/>
          <a:p/>
        </p:txBody>
      </p:sp>
      <p:sp>
        <p:nvSpPr>
          <p:cNvPr id="106" name=""/>
          <p:cNvSpPr/>
          <p:nvPr/>
        </p:nvSpPr>
        <p:spPr>
          <a:xfrm rot="0" flipH="0" flipV="0">
            <a:off x="3905250" y="1885950"/>
            <a:ext cx="4381500" cy="3048000"/>
          </a:xfrm>
          <a:prstGeom prst="roundRect">
            <a:avLst>
              <a:gd name="adj" fmla="val 3125"/>
            </a:avLst>
          </a:prstGeom>
          <a:ln/>
        </p:spPr>
        <p:txBody>
          <a:bodyPr/>
          <a:p/>
        </p:txBody>
      </p:sp>
      <p:pic>
        <p:nvPicPr>
          <p:cNvPr id="107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3905250" y="1885950"/>
            <a:ext cx="4381500" cy="3048000"/>
          </a:xfrm>
          <a:prstGeom prst="rect">
            <a:avLst/>
          </a:prstGeom>
          <a:ln/>
        </p:spPr>
      </p:pic>
      <p:sp>
        <p:nvSpPr>
          <p:cNvPr id="108" name="" descr="{&quot;isTemplate&quot;:true,&quot;type&quot;:&quot;text&quot;}"/>
          <p:cNvSpPr txBox="1"/>
          <p:nvPr/>
        </p:nvSpPr>
        <p:spPr>
          <a:xfrm rot="0" flipH="0" flipV="0">
            <a:off x="4171950" y="5067300"/>
            <a:ext cx="38576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A2118">
                    <a:alpha val="60000"/>
                  </a:srgbClr>
                </a:solidFill>
                <a:latin typeface="PingFang SC"/>
                <a:ea typeface="PingFang SC"/>
              </a:rPr>
              <a:t>侧壁→盘面→年轮→暗角→倒角→反光→丝光→描边→阴刻字</a:t>
            </a:r>
            <a:endParaRPr/>
          </a:p>
        </p:txBody>
      </p:sp>
      <p:sp>
        <p:nvSpPr>
          <p:cNvPr id="109" name="" descr="{&quot;isTemplate&quot;:true,&quot;type&quot;:&quot;text&quot;}"/>
          <p:cNvSpPr txBox="1"/>
          <p:nvPr/>
        </p:nvSpPr>
        <p:spPr>
          <a:xfrm rot="0" flipH="0" flipV="0">
            <a:off x="685800" y="6172200"/>
            <a:ext cx="14478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2A2118">
                    <a:alpha val="55000"/>
                  </a:srgbClr>
                </a:solidFill>
                <a:latin typeface="PingFang SC"/>
                <a:ea typeface="PingFang SC"/>
              </a:rPr>
              <a:t>弈趣棋苑</a:t>
            </a:r>
            <a:r>
              <a:rPr lang="en-US" sz="1050">
                <a:solidFill>
                  <a:srgbClr val="2A2118">
                    <a:alpha val="55000"/>
                  </a:srgbClr>
                </a:solidFill>
                <a:latin typeface="PingFang SC"/>
                <a:ea typeface="PingFang SC"/>
              </a:rPr>
              <a:t xml:space="preserve"> · </a:t>
            </a:r>
            <a:r>
              <a:rPr lang="zh-CN" sz="1050">
                <a:solidFill>
                  <a:srgbClr val="2A2118">
                    <a:alpha val="55000"/>
                  </a:srgbClr>
                </a:solidFill>
                <a:latin typeface="PingFang SC"/>
                <a:ea typeface="PingFang SC"/>
              </a:rPr>
              <a:t>项目开发汇报</a:t>
            </a:r>
            <a:endParaRPr/>
          </a:p>
        </p:txBody>
      </p:sp>
      <p:sp>
        <p:nvSpPr>
          <p:cNvPr id="110" name="" descr="{&quot;isTemplate&quot;:true,&quot;type&quot;:&quot;text&quot;}"/>
          <p:cNvSpPr txBox="1"/>
          <p:nvPr/>
        </p:nvSpPr>
        <p:spPr>
          <a:xfrm rot="0" flipH="0" flipV="0">
            <a:off x="11049000" y="61722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2A2118">
                    <a:alpha val="55000"/>
                  </a:srgbClr>
                </a:solidFill>
                <a:latin typeface="PingFang SC"/>
                <a:ea typeface="PingFang SC"/>
              </a:rPr>
              <a:t>18 / 64</a:t>
            </a:r>
            <a:endParaRPr/>
          </a:p>
        </p:txBody>
      </p:sp>
    </p:spTree>
  </p:cSld>
</p:sld>
</file>

<file path=ppt/slides/slide18.xml><?xml version="1.0" encoding="utf-8"?>
<p:sld xmlns:p="http://schemas.openxmlformats.org/presentationml/2006/main" xmlns:a="http://schemas.openxmlformats.org/drawingml/2006/main">
  <p:cSld>
    <p:spTree>
      <p:nvGrpSpPr>
        <p:cNvPr id="111" name="" descr="&lt;Slide style={{ width: 1280, height: 720, padding: &quot;20px 72px&quot;, background: &quot;#F5E3BE&quot;, flexDirection: &quot;column&quot; }}&gt;&#10;  &lt;Box style={{ width: &quot;100%&quot;, height: 96, flexDirection: &quot;column&quot;, justifyContent: &quot;center&quot; }}&gt;&#10;    &lt;Text style={{ fontSize: 34, fontWeight: &quot;bold&quot;, color: &quot;#2A2118&quot;, fontFamily: &quot;'Songti SC', 'STSong', 'SimSun', serif&quot; }}&gt;原理 · 棋子材质的三个真实翻车点&lt;/Text&gt;&#10;    &lt;Box style={{ width: 56, height: 2, background: &quot;#B3271E&quot;, marginTop: 10 }} /&gt;&#10;  &lt;/Box&gt;&#10;  &lt;Box style={{ width: &quot;100%&quot;, height: 516, flexDirection: &quot;column&quot; }}&gt;&#10;  &lt;Box style={{ width: 860, height: &quot;100%&quot;, flexDirection: &quot;column&quot;, justifyContent: &quot;center&quot; }}&gt;&#10;    &lt;Text style={{ fontSize: 18, lineHeight: 1.7, color: &quot;#2A2118&quot;, fontFamily: &quot;'PingFang SC', 'Microsoft YaHei', sans-serif&quot;, marginBottom: 14 }}&gt;① `_vbar` 逐行渐变留了缝，小格子被降采样盖住、全屏大格子爆出横向条纹——改成连续矩形填行才消掉。&lt;/Text&gt;&#10;    &lt;Text style={{ fontSize: 18, lineHeight: 1.7, color: &quot;#2A2118&quot;, fontFamily: &quot;'PingFang SC', 'Microsoft YaHei', sans-serif&quot;, marginBottom: 14 }}&gt;② LANCZOS 振铃让描边发彩——换 BOX 降采样加 UnsharpMask。&lt;/Text&gt;&#10;    &lt;Text style={{ fontSize: 18, lineHeight: 1.7, color: &quot;#2A2118&quot;, fontFamily: &quot;'PingFang SC', 'Microsoft YaHei', sans-serif&quot;, marginBottom: 14 }}&gt;③ alpha mask 在低分辨率画圆有锯齿，必须在 4× 超采样空间画圆再降采样，最后与内容 alpha 取 lighter 合成，否则棋面 alpha 掉到 236 看着发虚。&lt;/Text&gt;&#10;  &lt;/Box&gt;&#10;  &lt;/Box&gt;&#10;  &lt;Box style={{ width: &quot;100%&quot;, height: 48, flexDirection: &quot;row&quot;, alignItems: &quot;center&quot;, justifyContent: &quot;space-between&quot; }}&gt;&#10;    &lt;Text style={{ fontSize: 14, color: &quot;rgba(42,33,24,0.55)&quot;, fontFamily: &quot;'PingFang SC', 'Microsoft YaHei', sans-serif&quot; }}&gt;弈趣棋苑 · 项目开发汇报&lt;/Text&gt;&#10;    &lt;Text style={{ fontSize: 14, color: &quot;rgba(42,33,24,0.55)&quot;, fontFamily: &quot;'PingFang SC', 'Microsoft YaHei', sans-serif&quot; }}&gt;19 / 64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5E3BE"/>
          </a:solidFill>
          <a:ln/>
        </p:spPr>
        <p:txBody>
          <a:bodyPr/>
          <a:p/>
        </p:txBody>
      </p:sp>
      <p:sp>
        <p:nvSpPr>
          <p:cNvPr id="113" name="" descr="{&quot;isTemplate&quot;:true,&quot;type&quot;:&quot;text&quot;}"/>
          <p:cNvSpPr txBox="1"/>
          <p:nvPr/>
        </p:nvSpPr>
        <p:spPr>
          <a:xfrm rot="0" flipH="0" flipV="0">
            <a:off x="685800" y="400050"/>
            <a:ext cx="108204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A2118"/>
                </a:solidFill>
                <a:latin typeface="Songti SC"/>
                <a:ea typeface="Songti SC"/>
              </a:rPr>
              <a:t>原理</a:t>
            </a:r>
            <a:r>
              <a:rPr lang="en-US" sz="2550" b="1">
                <a:solidFill>
                  <a:srgbClr val="2A2118"/>
                </a:solidFill>
                <a:latin typeface="Songti SC"/>
                <a:ea typeface="Songti SC"/>
              </a:rPr>
              <a:t xml:space="preserve"> · </a:t>
            </a:r>
            <a:r>
              <a:rPr lang="zh-CN" sz="2550" b="1">
                <a:solidFill>
                  <a:srgbClr val="2A2118"/>
                </a:solidFill>
                <a:latin typeface="Songti SC"/>
                <a:ea typeface="Songti SC"/>
              </a:rPr>
              <a:t>棋子材质的三个真实翻车点</a:t>
            </a:r>
            <a:endParaRPr/>
          </a:p>
        </p:txBody>
      </p:sp>
      <p:sp>
        <p:nvSpPr>
          <p:cNvPr id="114" name=""/>
          <p:cNvSpPr/>
          <p:nvPr/>
        </p:nvSpPr>
        <p:spPr>
          <a:xfrm rot="0" flipH="0" flipV="0">
            <a:off x="685800" y="885825"/>
            <a:ext cx="533400" cy="19050"/>
          </a:xfrm>
          <a:prstGeom prst="rect">
            <a:avLst/>
          </a:prstGeom>
          <a:solidFill>
            <a:srgbClr val="B3271E"/>
          </a:solidFill>
          <a:ln/>
        </p:spPr>
        <p:txBody>
          <a:bodyPr/>
          <a:p/>
        </p:txBody>
      </p:sp>
      <p:sp>
        <p:nvSpPr>
          <p:cNvPr id="115" name="" descr="{&quot;isTemplate&quot;:true,&quot;type&quot;:&quot;text&quot;}"/>
          <p:cNvSpPr txBox="1"/>
          <p:nvPr/>
        </p:nvSpPr>
        <p:spPr>
          <a:xfrm rot="0" flipH="0" flipV="0">
            <a:off x="685800" y="2486025"/>
            <a:ext cx="8191500" cy="7048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en-US" sz="1350">
                <a:solidFill>
                  <a:srgbClr val="2A2118"/>
                </a:solidFill>
                <a:latin typeface="PingFang SC"/>
                <a:ea typeface="PingFang SC"/>
              </a:rPr>
              <a:t xml:space="preserve">① `_vbar` </a:t>
            </a:r>
            <a:r>
              <a:rPr lang="zh-CN" sz="1350">
                <a:solidFill>
                  <a:srgbClr val="2A2118"/>
                </a:solidFill>
                <a:latin typeface="PingFang SC"/>
                <a:ea typeface="PingFang SC"/>
              </a:rPr>
              <a:t>逐行渐变留了缝，小格子被降采样盖住、全屏大格子爆出横向条纹——改成连续矩形填行才消掉。</a:t>
            </a:r>
            <a:endParaRPr/>
          </a:p>
        </p:txBody>
      </p:sp>
      <p:sp>
        <p:nvSpPr>
          <p:cNvPr id="116" name="" descr="{&quot;isTemplate&quot;:true,&quot;type&quot;:&quot;text&quot;}"/>
          <p:cNvSpPr txBox="1"/>
          <p:nvPr/>
        </p:nvSpPr>
        <p:spPr>
          <a:xfrm rot="0" flipH="0" flipV="0">
            <a:off x="685800" y="3324225"/>
            <a:ext cx="8191500" cy="35242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1350">
                <a:solidFill>
                  <a:srgbClr val="2A2118"/>
                </a:solidFill>
                <a:latin typeface="PingFang SC"/>
                <a:ea typeface="PingFang SC"/>
              </a:rPr>
              <a:t xml:space="preserve">② LANCZOS </a:t>
            </a:r>
            <a:r>
              <a:rPr lang="zh-CN" sz="1350">
                <a:solidFill>
                  <a:srgbClr val="2A2118"/>
                </a:solidFill>
                <a:latin typeface="PingFang SC"/>
                <a:ea typeface="PingFang SC"/>
              </a:rPr>
              <a:t>振铃让描边发彩——换</a:t>
            </a:r>
            <a:r>
              <a:rPr lang="en-US" sz="1350">
                <a:solidFill>
                  <a:srgbClr val="2A2118"/>
                </a:solidFill>
                <a:latin typeface="PingFang SC"/>
                <a:ea typeface="PingFang SC"/>
              </a:rPr>
              <a:t xml:space="preserve"> BOX </a:t>
            </a:r>
            <a:r>
              <a:rPr lang="zh-CN" sz="1350">
                <a:solidFill>
                  <a:srgbClr val="2A2118"/>
                </a:solidFill>
                <a:latin typeface="PingFang SC"/>
                <a:ea typeface="PingFang SC"/>
              </a:rPr>
              <a:t>降采样加</a:t>
            </a:r>
            <a:r>
              <a:rPr lang="en-US" sz="1350">
                <a:solidFill>
                  <a:srgbClr val="2A2118"/>
                </a:solidFill>
                <a:latin typeface="PingFang SC"/>
                <a:ea typeface="PingFang SC"/>
              </a:rPr>
              <a:t xml:space="preserve"> UnsharpMask</a:t>
            </a:r>
            <a:r>
              <a:rPr lang="zh-CN" sz="1350">
                <a:solidFill>
                  <a:srgbClr val="2A2118"/>
                </a:solidFill>
                <a:latin typeface="PingFang SC"/>
                <a:ea typeface="PingFang SC"/>
              </a:rPr>
              <a:t>。</a:t>
            </a:r>
            <a:endParaRPr/>
          </a:p>
        </p:txBody>
      </p:sp>
      <p:sp>
        <p:nvSpPr>
          <p:cNvPr id="117" name="" descr="{&quot;isTemplate&quot;:true,&quot;type&quot;:&quot;text&quot;}"/>
          <p:cNvSpPr txBox="1"/>
          <p:nvPr/>
        </p:nvSpPr>
        <p:spPr>
          <a:xfrm rot="0" flipH="0" flipV="0">
            <a:off x="685800" y="3810000"/>
            <a:ext cx="8191500" cy="7048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en-US" sz="1350">
                <a:solidFill>
                  <a:srgbClr val="2A2118"/>
                </a:solidFill>
                <a:latin typeface="PingFang SC"/>
                <a:ea typeface="PingFang SC"/>
              </a:rPr>
              <a:t xml:space="preserve">③ alpha mask </a:t>
            </a:r>
            <a:r>
              <a:rPr lang="zh-CN" sz="1350">
                <a:solidFill>
                  <a:srgbClr val="2A2118"/>
                </a:solidFill>
                <a:latin typeface="PingFang SC"/>
                <a:ea typeface="PingFang SC"/>
              </a:rPr>
              <a:t>在低分辨率画圆有锯齿，必须在</a:t>
            </a:r>
            <a:r>
              <a:rPr lang="en-US" sz="1350">
                <a:solidFill>
                  <a:srgbClr val="2A2118"/>
                </a:solidFill>
                <a:latin typeface="PingFang SC"/>
                <a:ea typeface="PingFang SC"/>
              </a:rPr>
              <a:t xml:space="preserve"> 4× </a:t>
            </a:r>
            <a:r>
              <a:rPr lang="zh-CN" sz="1350">
                <a:solidFill>
                  <a:srgbClr val="2A2118"/>
                </a:solidFill>
                <a:latin typeface="PingFang SC"/>
                <a:ea typeface="PingFang SC"/>
              </a:rPr>
              <a:t>超采样空间画圆再降采样，最后与内容</a:t>
            </a:r>
            <a:r>
              <a:rPr lang="en-US" sz="1350">
                <a:solidFill>
                  <a:srgbClr val="2A2118"/>
                </a:solidFill>
                <a:latin typeface="PingFang SC"/>
                <a:ea typeface="PingFang SC"/>
              </a:rPr>
              <a:t xml:space="preserve"> alpha </a:t>
            </a:r>
            <a:r>
              <a:rPr lang="zh-CN" sz="1350">
                <a:solidFill>
                  <a:srgbClr val="2A2118"/>
                </a:solidFill>
                <a:latin typeface="PingFang SC"/>
                <a:ea typeface="PingFang SC"/>
              </a:rPr>
              <a:t>取</a:t>
            </a:r>
            <a:r>
              <a:rPr lang="en-US" sz="1350">
                <a:solidFill>
                  <a:srgbClr val="2A2118"/>
                </a:solidFill>
                <a:latin typeface="PingFang SC"/>
                <a:ea typeface="PingFang SC"/>
              </a:rPr>
              <a:t xml:space="preserve"> lighter </a:t>
            </a:r>
            <a:r>
              <a:rPr lang="zh-CN" sz="1350">
                <a:solidFill>
                  <a:srgbClr val="2A2118"/>
                </a:solidFill>
                <a:latin typeface="PingFang SC"/>
                <a:ea typeface="PingFang SC"/>
              </a:rPr>
              <a:t>合成，否则棋面</a:t>
            </a:r>
            <a:r>
              <a:rPr lang="en-US" sz="1350">
                <a:solidFill>
                  <a:srgbClr val="2A2118"/>
                </a:solidFill>
                <a:latin typeface="PingFang SC"/>
                <a:ea typeface="PingFang SC"/>
              </a:rPr>
              <a:t xml:space="preserve"> alpha </a:t>
            </a:r>
            <a:r>
              <a:rPr lang="zh-CN" sz="1350">
                <a:solidFill>
                  <a:srgbClr val="2A2118"/>
                </a:solidFill>
                <a:latin typeface="PingFang SC"/>
                <a:ea typeface="PingFang SC"/>
              </a:rPr>
              <a:t>掉到</a:t>
            </a:r>
            <a:r>
              <a:rPr lang="en-US" sz="1350">
                <a:solidFill>
                  <a:srgbClr val="2A2118"/>
                </a:solidFill>
                <a:latin typeface="PingFang SC"/>
                <a:ea typeface="PingFang SC"/>
              </a:rPr>
              <a:t xml:space="preserve"> 236 </a:t>
            </a:r>
            <a:r>
              <a:rPr lang="zh-CN" sz="1350">
                <a:solidFill>
                  <a:srgbClr val="2A2118"/>
                </a:solidFill>
                <a:latin typeface="PingFang SC"/>
                <a:ea typeface="PingFang SC"/>
              </a:rPr>
              <a:t>看着发虚。</a:t>
            </a:r>
            <a:endParaRPr/>
          </a:p>
        </p:txBody>
      </p:sp>
      <p:sp>
        <p:nvSpPr>
          <p:cNvPr id="118" name="" descr="{&quot;isTemplate&quot;:true,&quot;type&quot;:&quot;text&quot;}"/>
          <p:cNvSpPr txBox="1"/>
          <p:nvPr/>
        </p:nvSpPr>
        <p:spPr>
          <a:xfrm rot="0" flipH="0" flipV="0">
            <a:off x="685800" y="6172200"/>
            <a:ext cx="14478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2A2118">
                    <a:alpha val="55000"/>
                  </a:srgbClr>
                </a:solidFill>
                <a:latin typeface="PingFang SC"/>
                <a:ea typeface="PingFang SC"/>
              </a:rPr>
              <a:t>弈趣棋苑</a:t>
            </a:r>
            <a:r>
              <a:rPr lang="en-US" sz="1050">
                <a:solidFill>
                  <a:srgbClr val="2A2118">
                    <a:alpha val="55000"/>
                  </a:srgbClr>
                </a:solidFill>
                <a:latin typeface="PingFang SC"/>
                <a:ea typeface="PingFang SC"/>
              </a:rPr>
              <a:t xml:space="preserve"> · </a:t>
            </a:r>
            <a:r>
              <a:rPr lang="zh-CN" sz="1050">
                <a:solidFill>
                  <a:srgbClr val="2A2118">
                    <a:alpha val="55000"/>
                  </a:srgbClr>
                </a:solidFill>
                <a:latin typeface="PingFang SC"/>
                <a:ea typeface="PingFang SC"/>
              </a:rPr>
              <a:t>项目开发汇报</a:t>
            </a:r>
            <a:endParaRPr/>
          </a:p>
        </p:txBody>
      </p:sp>
      <p:sp>
        <p:nvSpPr>
          <p:cNvPr id="119" name="" descr="{&quot;isTemplate&quot;:true,&quot;type&quot;:&quot;text&quot;}"/>
          <p:cNvSpPr txBox="1"/>
          <p:nvPr/>
        </p:nvSpPr>
        <p:spPr>
          <a:xfrm rot="0" flipH="0" flipV="0">
            <a:off x="11049000" y="61722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2A2118">
                    <a:alpha val="55000"/>
                  </a:srgbClr>
                </a:solidFill>
                <a:latin typeface="PingFang SC"/>
                <a:ea typeface="PingFang SC"/>
              </a:rPr>
              <a:t>19 / 64</a:t>
            </a:r>
            <a:endParaRPr/>
          </a:p>
        </p:txBody>
      </p:sp>
    </p:spTree>
  </p:cSld>
</p:sld>
</file>

<file path=ppt/slides/slide19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120" name="" descr="&lt;Slide style={{ width: 1280, height: 720, padding: &quot;20px 72px&quot;, background: &quot;#F5E3BE&quot;, flexDirection: &quot;column&quot; }}&gt;&#10;  &lt;Box style={{ width: &quot;100%&quot;, height: 96, flexDirection: &quot;column&quot;, justifyContent: &quot;center&quot; }}&gt;&#10;    &lt;Text style={{ fontSize: 34, fontWeight: &quot;bold&quot;, color: &quot;#2A2118&quot;, fontFamily: &quot;'Songti SC', 'STSong', 'SimSun', serif&quot; }}&gt;原理 · 音频系统的异步化与双轨&lt;/Text&gt;&#10;    &lt;Box style={{ width: 56, height: 2, background: &quot;#B3271E&quot;, marginTop: 10 }} /&gt;&#10;  &lt;/Box&gt;&#10;  &lt;Box style={{ width: &quot;100%&quot;, height: 516, flexDirection: &quot;column&quot; }}&gt;&#10;  &lt;Box style={{ flexDirection: &quot;column&quot;, height: &quot;100%&quot;, justifyContent: &quot;center&quot;, alignItems: &quot;center&quot;, gap: 14 }}&gt;&#10;    &lt;svg width=&quot;900&quot; height=&quot;220&quot; viewBox=&quot;0 0 900 220&quot; style={{ background: &quot;rgba(140,90,43,0.05)&quot;, borderRadius: 10 }}&gt;&#10;      &lt;rect x=&quot;30&quot; y=&quot;90&quot; width=&quot;150&quot; height=&quot;44&quot; rx=&quot;8&quot; fill=&quot;#8C5A2B&quot;/&gt;&lt;text x=&quot;105&quot; y=&quot;117&quot; font-size=&quot;14&quot; fill=&quot;#F5E3BE&quot; text-anchor=&quot;middle&quot; font-family=&quot;sans-serif&quot;&gt;UI 入队&lt;/text&gt;&#10;      &lt;rect x=&quot;220&quot; y=&quot;90&quot; width=&quot;150&quot; height=&quot;44&quot; rx=&quot;8&quot; fill=&quot;#B3271E&quot;/&gt;&lt;text x=&quot;295&quot; y=&quot;117&quot; font-size=&quot;14&quot; fill=&quot;#F5E3BE&quot; text-anchor=&quot;middle&quot; font-family=&quot;sans-serif&quot;&gt;双轨队列&lt;/text&gt;&#10;      &lt;rect x=&quot;410&quot; y=&quot;20&quot; width=&quot;170&quot; height=&quot;44&quot; rx=&quot;8&quot; fill=&quot;#2A2118&quot;/&gt;&lt;text x=&quot;495&quot; y=&quot;47&quot; font-size=&quot;14&quot; fill=&quot;#F5E3BE&quot; text-anchor=&quot;middle&quot; font-family=&quot;sans-serif&quot;&gt;worker 线程·mp3&lt;/text&gt;&#10;      &lt;rect x=&quot;410&quot; y=&quot;160&quot; width=&quot;170&quot; height=&quot;44&quot; rx=&quot;8&quot; fill=&quot;#2A2118&quot;/&gt;&lt;text x=&quot;495&quot; y=&quot;187&quot; font-size=&quot;14&quot; fill=&quot;#F5E3BE&quot; text-anchor=&quot;middle&quot; font-family=&quot;sans-serif&quot;&gt;worker 线程·wav&lt;/text&gt;&#10;      &lt;rect x=&quot;640&quot; y=&quot;90&quot; width=&quot;200&quot; height=&quot;44&quot; rx=&quot;8&quot; fill=&quot;#8C5A2B&quot; opacity=&quot;0.7&quot;/&gt;&lt;text x=&quot;740&quot; y=&quot;117&quot; font-size=&quot;14&quot; fill=&quot;#F5E3BE&quot; text-anchor=&quot;middle&quot; font-family=&quot;sans-serif&quot;&gt;MCI(winmm) 设备&lt;/text&gt;&#10;      &lt;line x1=&quot;180&quot; y1=&quot;112&quot; x2=&quot;220&quot; y2=&quot;112&quot; stroke=&quot;#2A2118&quot; stroke-width=&quot;2&quot;/&gt;&#10;      &lt;line x1=&quot;370&quot; y1=&quot;112&quot; x2=&quot;410&quot; y2=&quot;42&quot; stroke=&quot;#2A2118&quot; stroke-width=&quot;2&quot;/&gt;&#10;      &lt;line x1=&quot;370&quot; y1=&quot;112&quot; x2=&quot;410&quot; y2=&quot;182&quot; stroke=&quot;#2A2118&quot; stroke-width=&quot;2&quot;/&gt;&#10;      &lt;line x1=&quot;580&quot; y1=&quot;42&quot; x2=&quot;640&quot; y2=&quot;112&quot; stroke=&quot;#2A2118&quot; stroke-width=&quot;2&quot;/&gt;&#10;      &lt;line x1=&quot;580&quot; y1=&quot;182&quot; x2=&quot;640&quot; y2=&quot;112&quot; stroke=&quot;#2A2118&quot; stroke-width=&quot;2&quot;/&gt;&#10;    &lt;/svg&gt;&#10;    &lt;Text style={{ fontSize: 15, color: &quot;rgba(42,33,24,0.6)&quot;, fontFamily: &quot;'PingFang SC', 'Microsoft YaHei', sans-serif&quot; }}&gt;UI 只入队即返回；mp3/wav 分两条 worker 线程，避免 wav 阻塞拖慢落子音&lt;/Text&gt;&#10;  &lt;/Box&gt;&#10;  &lt;/Box&gt;&#10;  &lt;Box style={{ width: &quot;100%&quot;, height: 48, flexDirection: &quot;row&quot;, alignItems: &quot;center&quot;, justifyContent: &quot;space-between&quot; }}&gt;&#10;    &lt;Text style={{ fontSize: 14, color: &quot;rgba(42,33,24,0.55)&quot;, fontFamily: &quot;'PingFang SC', 'Microsoft YaHei', sans-serif&quot; }}&gt;弈趣棋苑 · 项目开发汇报&lt;/Text&gt;&#10;    &lt;Text style={{ fontSize: 14, color: &quot;rgba(42,33,24,0.55)&quot;, fontFamily: &quot;'PingFang SC', 'Microsoft YaHei', sans-serif&quot; }}&gt;20 / 64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5E3BE"/>
          </a:solidFill>
          <a:ln/>
        </p:spPr>
        <p:txBody>
          <a:bodyPr/>
          <a:p/>
        </p:txBody>
      </p:sp>
      <p:sp>
        <p:nvSpPr>
          <p:cNvPr id="122" name="" descr="{&quot;isTemplate&quot;:true,&quot;type&quot;:&quot;text&quot;}"/>
          <p:cNvSpPr txBox="1"/>
          <p:nvPr/>
        </p:nvSpPr>
        <p:spPr>
          <a:xfrm rot="0" flipH="0" flipV="0">
            <a:off x="685800" y="400050"/>
            <a:ext cx="108204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A2118"/>
                </a:solidFill>
                <a:latin typeface="Songti SC"/>
                <a:ea typeface="Songti SC"/>
              </a:rPr>
              <a:t>原理</a:t>
            </a:r>
            <a:r>
              <a:rPr lang="en-US" sz="2550" b="1">
                <a:solidFill>
                  <a:srgbClr val="2A2118"/>
                </a:solidFill>
                <a:latin typeface="Songti SC"/>
                <a:ea typeface="Songti SC"/>
              </a:rPr>
              <a:t xml:space="preserve"> · </a:t>
            </a:r>
            <a:r>
              <a:rPr lang="zh-CN" sz="2550" b="1">
                <a:solidFill>
                  <a:srgbClr val="2A2118"/>
                </a:solidFill>
                <a:latin typeface="Songti SC"/>
                <a:ea typeface="Songti SC"/>
              </a:rPr>
              <a:t>音频系统的异步化与双轨</a:t>
            </a:r>
            <a:endParaRPr/>
          </a:p>
        </p:txBody>
      </p:sp>
      <p:sp>
        <p:nvSpPr>
          <p:cNvPr id="123" name=""/>
          <p:cNvSpPr/>
          <p:nvPr/>
        </p:nvSpPr>
        <p:spPr>
          <a:xfrm rot="0" flipH="0" flipV="0">
            <a:off x="685800" y="885825"/>
            <a:ext cx="533400" cy="19050"/>
          </a:xfrm>
          <a:prstGeom prst="rect">
            <a:avLst/>
          </a:prstGeom>
          <a:solidFill>
            <a:srgbClr val="B3271E"/>
          </a:solidFill>
          <a:ln/>
        </p:spPr>
        <p:txBody>
          <a:bodyPr/>
          <a:p/>
        </p:txBody>
      </p:sp>
      <p:sp>
        <p:nvSpPr>
          <p:cNvPr id="124" name=""/>
          <p:cNvSpPr/>
          <p:nvPr/>
        </p:nvSpPr>
        <p:spPr>
          <a:xfrm rot="0" flipH="0" flipV="0">
            <a:off x="1809750" y="2362200"/>
            <a:ext cx="8572500" cy="2095500"/>
          </a:xfrm>
          <a:prstGeom prst="roundRect">
            <a:avLst>
              <a:gd name="adj" fmla="val 4545"/>
            </a:avLst>
          </a:prstGeom>
          <a:ln/>
        </p:spPr>
        <p:txBody>
          <a:bodyPr/>
          <a:p/>
        </p:txBody>
      </p:sp>
      <p:pic>
        <p:nvPicPr>
          <p:cNvPr id="125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1809750" y="2362200"/>
            <a:ext cx="8572500" cy="2095500"/>
          </a:xfrm>
          <a:prstGeom prst="rect">
            <a:avLst/>
          </a:prstGeom>
          <a:ln/>
        </p:spPr>
      </p:pic>
      <p:sp>
        <p:nvSpPr>
          <p:cNvPr id="126" name="" descr="{&quot;isTemplate&quot;:true,&quot;type&quot;:&quot;text&quot;}"/>
          <p:cNvSpPr txBox="1"/>
          <p:nvPr/>
        </p:nvSpPr>
        <p:spPr>
          <a:xfrm rot="0" flipH="0" flipV="0">
            <a:off x="3638550" y="4591050"/>
            <a:ext cx="49244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2A2118">
                    <a:alpha val="60000"/>
                  </a:srgbClr>
                </a:solidFill>
                <a:latin typeface="PingFang SC"/>
                <a:ea typeface="PingFang SC"/>
              </a:rPr>
              <a:t xml:space="preserve">UI </a:t>
            </a:r>
            <a:r>
              <a:rPr lang="zh-CN" sz="1125">
                <a:solidFill>
                  <a:srgbClr val="2A2118">
                    <a:alpha val="60000"/>
                  </a:srgbClr>
                </a:solidFill>
                <a:latin typeface="PingFang SC"/>
                <a:ea typeface="PingFang SC"/>
              </a:rPr>
              <a:t>只入队即返回；</a:t>
            </a:r>
            <a:r>
              <a:rPr lang="en-US" sz="1125">
                <a:solidFill>
                  <a:srgbClr val="2A2118">
                    <a:alpha val="60000"/>
                  </a:srgbClr>
                </a:solidFill>
                <a:latin typeface="PingFang SC"/>
                <a:ea typeface="PingFang SC"/>
              </a:rPr>
              <a:t xml:space="preserve">mp3/wav </a:t>
            </a:r>
            <a:r>
              <a:rPr lang="zh-CN" sz="1125">
                <a:solidFill>
                  <a:srgbClr val="2A2118">
                    <a:alpha val="60000"/>
                  </a:srgbClr>
                </a:solidFill>
                <a:latin typeface="PingFang SC"/>
                <a:ea typeface="PingFang SC"/>
              </a:rPr>
              <a:t>分两条</a:t>
            </a:r>
            <a:r>
              <a:rPr lang="en-US" sz="1125">
                <a:solidFill>
                  <a:srgbClr val="2A2118">
                    <a:alpha val="60000"/>
                  </a:srgbClr>
                </a:solidFill>
                <a:latin typeface="PingFang SC"/>
                <a:ea typeface="PingFang SC"/>
              </a:rPr>
              <a:t xml:space="preserve"> worker </a:t>
            </a:r>
            <a:r>
              <a:rPr lang="zh-CN" sz="1125">
                <a:solidFill>
                  <a:srgbClr val="2A2118">
                    <a:alpha val="60000"/>
                  </a:srgbClr>
                </a:solidFill>
                <a:latin typeface="PingFang SC"/>
                <a:ea typeface="PingFang SC"/>
              </a:rPr>
              <a:t>线程，避免</a:t>
            </a:r>
            <a:r>
              <a:rPr lang="en-US" sz="1125">
                <a:solidFill>
                  <a:srgbClr val="2A2118">
                    <a:alpha val="60000"/>
                  </a:srgbClr>
                </a:solidFill>
                <a:latin typeface="PingFang SC"/>
                <a:ea typeface="PingFang SC"/>
              </a:rPr>
              <a:t xml:space="preserve"> wav </a:t>
            </a:r>
            <a:r>
              <a:rPr lang="zh-CN" sz="1125">
                <a:solidFill>
                  <a:srgbClr val="2A2118">
                    <a:alpha val="60000"/>
                  </a:srgbClr>
                </a:solidFill>
                <a:latin typeface="PingFang SC"/>
                <a:ea typeface="PingFang SC"/>
              </a:rPr>
              <a:t>阻塞拖慢落子音</a:t>
            </a:r>
            <a:endParaRPr/>
          </a:p>
        </p:txBody>
      </p:sp>
      <p:sp>
        <p:nvSpPr>
          <p:cNvPr id="127" name="" descr="{&quot;isTemplate&quot;:true,&quot;type&quot;:&quot;text&quot;}"/>
          <p:cNvSpPr txBox="1"/>
          <p:nvPr/>
        </p:nvSpPr>
        <p:spPr>
          <a:xfrm rot="0" flipH="0" flipV="0">
            <a:off x="685800" y="6172200"/>
            <a:ext cx="14478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2A2118">
                    <a:alpha val="55000"/>
                  </a:srgbClr>
                </a:solidFill>
                <a:latin typeface="PingFang SC"/>
                <a:ea typeface="PingFang SC"/>
              </a:rPr>
              <a:t>弈趣棋苑</a:t>
            </a:r>
            <a:r>
              <a:rPr lang="en-US" sz="1050">
                <a:solidFill>
                  <a:srgbClr val="2A2118">
                    <a:alpha val="55000"/>
                  </a:srgbClr>
                </a:solidFill>
                <a:latin typeface="PingFang SC"/>
                <a:ea typeface="PingFang SC"/>
              </a:rPr>
              <a:t xml:space="preserve"> · </a:t>
            </a:r>
            <a:r>
              <a:rPr lang="zh-CN" sz="1050">
                <a:solidFill>
                  <a:srgbClr val="2A2118">
                    <a:alpha val="55000"/>
                  </a:srgbClr>
                </a:solidFill>
                <a:latin typeface="PingFang SC"/>
                <a:ea typeface="PingFang SC"/>
              </a:rPr>
              <a:t>项目开发汇报</a:t>
            </a:r>
            <a:endParaRPr/>
          </a:p>
        </p:txBody>
      </p:sp>
      <p:sp>
        <p:nvSpPr>
          <p:cNvPr id="128" name="" descr="{&quot;isTemplate&quot;:true,&quot;type&quot;:&quot;text&quot;}"/>
          <p:cNvSpPr txBox="1"/>
          <p:nvPr/>
        </p:nvSpPr>
        <p:spPr>
          <a:xfrm rot="0" flipH="0" flipV="0">
            <a:off x="11049000" y="61722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2A2118">
                    <a:alpha val="55000"/>
                  </a:srgbClr>
                </a:solidFill>
                <a:latin typeface="PingFang SC"/>
                <a:ea typeface="PingFang SC"/>
              </a:rPr>
              <a:t>20 / 64</a:t>
            </a:r>
            <a:endParaRPr/>
          </a:p>
        </p:txBody>
      </p:sp>
    </p:spTree>
  </p:cSld>
</p:sld>
</file>

<file path=ppt/slides/slide20.xml><?xml version="1.0" encoding="utf-8"?>
<p:sld xmlns:p="http://schemas.openxmlformats.org/presentationml/2006/main" xmlns:a="http://schemas.openxmlformats.org/drawingml/2006/main">
  <p:cSld>
    <p:spTree>
      <p:nvGrpSpPr>
        <p:cNvPr id="163" name="" descr="&lt;Slide style={{ width: 1280, height: 720, padding: &quot;20px 72px&quot;, background: &quot;#F5E3BE&quot;, flexDirection: &quot;column&quot; }}&gt;&#10;  &lt;Box style={{ width: &quot;100%&quot;, height: 96, flexDirection: &quot;column&quot;, justifyContent: &quot;center&quot; }}&gt;&#10;    &lt;Text style={{ fontSize: 34, fontWeight: &quot;bold&quot;, color: &quot;#2A2118&quot;, fontFamily: &quot;'Songti SC', 'STSong', 'SimSun', serif&quot; }}&gt;原理 · 音频锁死了怎么救回来&lt;/Text&gt;&#10;    &lt;Box style={{ width: 56, height: 2, background: &quot;#B3271E&quot;, marginTop: 10 }} /&gt;&#10;  &lt;/Box&gt;&#10;  &lt;Box style={{ width: &quot;100%&quot;, height: 516, flexDirection: &quot;column&quot; }}&gt;&#10;  &lt;Box style={{ width: 860, height: &quot;100%&quot;, flexDirection: &quot;column&quot;, justifyContent: &quot;center&quot; }}&gt;&#10;    &lt;Text style={{ fontSize: 18, lineHeight: 1.7, color: &quot;#2A2118&quot;, fontFamily: &quot;'PingFang SC', 'Microsoft YaHei', sans-serif&quot;, marginBottom: 14 }}&gt;锁用 winmm.locked(timeout)，timeout 只限「等锁」的时间。麻烦在拿到锁之后：万一 mciSendStringW 因为设备被独占永久不返回，finally 永不执行，锁就被死线程永久持有。&lt;/Text&gt;&#10;    &lt;Text style={{ fontSize: 18, lineHeight: 1.7, color: &quot;#2A2118&quot;, fontFamily: &quot;'PingFang SC', 'Microsoft YaHei', sans-serif&quot;, marginBottom: 14 }}&gt;后果是队列越积越多，音效和背景音一起静默。所以加了 force_unlock：探测到锁仍被占用，就整体换一把新锁；再 recover 清掉所有常驻 alias 重新开局。&lt;/Text&gt;&#10;    &lt;Text style={{ fontSize: 18, lineHeight: 1.7, color: &quot;#2A2118&quot;, fontFamily: &quot;'PingFang SC', 'Microsoft YaHei', sans-serif&quot;, marginBottom: 14 }}&gt;这条自愈链路是踩过实机死锁才补上的——没有它，一次设备异常就能让整个音频系统永久失声。&lt;/Text&gt;&#10;  &lt;/Box&gt;&#10;  &lt;/Box&gt;&#10;  &lt;Box style={{ width: &quot;100%&quot;, height: 48, flexDirection: &quot;row&quot;, alignItems: &quot;center&quot;, justifyContent: &quot;space-between&quot; }}&gt;&#10;    &lt;Text style={{ fontSize: 14, color: &quot;rgba(42,33,24,0.55)&quot;, fontFamily: &quot;'PingFang SC', 'Microsoft YaHei', sans-serif&quot; }}&gt;弈趣棋苑 · 项目开发汇报&lt;/Text&gt;&#10;    &lt;Text style={{ fontSize: 14, color: &quot;rgba(42,33,24,0.55)&quot;, fontFamily: &quot;'PingFang SC', 'Microsoft YaHei', sans-serif&quot; }}&gt;21 / 64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5E3BE"/>
          </a:solidFill>
          <a:ln/>
        </p:spPr>
        <p:txBody>
          <a:bodyPr/>
          <a:p/>
        </p:txBody>
      </p:sp>
      <p:sp>
        <p:nvSpPr>
          <p:cNvPr id="165" name="" descr="{&quot;isTemplate&quot;:true,&quot;type&quot;:&quot;text&quot;}"/>
          <p:cNvSpPr txBox="1"/>
          <p:nvPr/>
        </p:nvSpPr>
        <p:spPr>
          <a:xfrm rot="0" flipH="0" flipV="0">
            <a:off x="685800" y="400050"/>
            <a:ext cx="108204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A2118"/>
                </a:solidFill>
                <a:latin typeface="Songti SC"/>
                <a:ea typeface="Songti SC"/>
              </a:rPr>
              <a:t>原理</a:t>
            </a:r>
            <a:r>
              <a:rPr lang="en-US" sz="2550" b="1">
                <a:solidFill>
                  <a:srgbClr val="2A2118"/>
                </a:solidFill>
                <a:latin typeface="Songti SC"/>
                <a:ea typeface="Songti SC"/>
              </a:rPr>
              <a:t xml:space="preserve"> · </a:t>
            </a:r>
            <a:r>
              <a:rPr lang="zh-CN" sz="2550" b="1">
                <a:solidFill>
                  <a:srgbClr val="2A2118"/>
                </a:solidFill>
                <a:latin typeface="Songti SC"/>
                <a:ea typeface="Songti SC"/>
              </a:rPr>
              <a:t>音频锁死了怎么救回来</a:t>
            </a:r>
            <a:endParaRPr/>
          </a:p>
        </p:txBody>
      </p:sp>
      <p:sp>
        <p:nvSpPr>
          <p:cNvPr id="166" name=""/>
          <p:cNvSpPr/>
          <p:nvPr/>
        </p:nvSpPr>
        <p:spPr>
          <a:xfrm rot="0" flipH="0" flipV="0">
            <a:off x="685800" y="885825"/>
            <a:ext cx="533400" cy="19050"/>
          </a:xfrm>
          <a:prstGeom prst="rect">
            <a:avLst/>
          </a:prstGeom>
          <a:solidFill>
            <a:srgbClr val="B3271E"/>
          </a:solidFill>
          <a:ln/>
        </p:spPr>
        <p:txBody>
          <a:bodyPr/>
          <a:p/>
        </p:txBody>
      </p:sp>
      <p:sp>
        <p:nvSpPr>
          <p:cNvPr id="167" name="" descr="{&quot;isTemplate&quot;:true,&quot;type&quot;:&quot;text&quot;}"/>
          <p:cNvSpPr txBox="1"/>
          <p:nvPr/>
        </p:nvSpPr>
        <p:spPr>
          <a:xfrm rot="0" flipH="0" flipV="0">
            <a:off x="685800" y="2486025"/>
            <a:ext cx="8191500" cy="7048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350">
                <a:solidFill>
                  <a:srgbClr val="2A2118"/>
                </a:solidFill>
                <a:latin typeface="PingFang SC"/>
                <a:ea typeface="PingFang SC"/>
              </a:rPr>
              <a:t>锁用</a:t>
            </a:r>
            <a:r>
              <a:rPr lang="en-US" sz="1350">
                <a:solidFill>
                  <a:srgbClr val="2A2118"/>
                </a:solidFill>
                <a:latin typeface="PingFang SC"/>
                <a:ea typeface="PingFang SC"/>
              </a:rPr>
              <a:t xml:space="preserve"> winmm.locked(timeout)</a:t>
            </a:r>
            <a:r>
              <a:rPr lang="zh-CN" sz="1350">
                <a:solidFill>
                  <a:srgbClr val="2A2118"/>
                </a:solidFill>
                <a:latin typeface="PingFang SC"/>
                <a:ea typeface="PingFang SC"/>
              </a:rPr>
              <a:t>，</a:t>
            </a:r>
            <a:r>
              <a:rPr lang="en-US" sz="1350">
                <a:solidFill>
                  <a:srgbClr val="2A2118"/>
                </a:solidFill>
                <a:latin typeface="PingFang SC"/>
                <a:ea typeface="PingFang SC"/>
              </a:rPr>
              <a:t xml:space="preserve">timeout </a:t>
            </a:r>
            <a:r>
              <a:rPr lang="zh-CN" sz="1350">
                <a:solidFill>
                  <a:srgbClr val="2A2118"/>
                </a:solidFill>
                <a:latin typeface="PingFang SC"/>
                <a:ea typeface="PingFang SC"/>
              </a:rPr>
              <a:t>只限「等锁」的时间。麻烦在拿到锁之后：万一</a:t>
            </a:r>
            <a:r>
              <a:rPr lang="en-US" sz="1350">
                <a:solidFill>
                  <a:srgbClr val="2A2118"/>
                </a:solidFill>
                <a:latin typeface="PingFang SC"/>
                <a:ea typeface="PingFang SC"/>
              </a:rPr>
              <a:t xml:space="preserve"> mciSendStringW </a:t>
            </a:r>
            <a:r>
              <a:rPr lang="zh-CN" sz="1350">
                <a:solidFill>
                  <a:srgbClr val="2A2118"/>
                </a:solidFill>
                <a:latin typeface="PingFang SC"/>
                <a:ea typeface="PingFang SC"/>
              </a:rPr>
              <a:t>因为设备被独占永久不返回，</a:t>
            </a:r>
            <a:r>
              <a:rPr lang="en-US" sz="1350">
                <a:solidFill>
                  <a:srgbClr val="2A2118"/>
                </a:solidFill>
                <a:latin typeface="PingFang SC"/>
                <a:ea typeface="PingFang SC"/>
              </a:rPr>
              <a:t xml:space="preserve">finally </a:t>
            </a:r>
            <a:r>
              <a:rPr lang="zh-CN" sz="1350">
                <a:solidFill>
                  <a:srgbClr val="2A2118"/>
                </a:solidFill>
                <a:latin typeface="PingFang SC"/>
                <a:ea typeface="PingFang SC"/>
              </a:rPr>
              <a:t>永不执行，锁就被死线程永久持有。</a:t>
            </a:r>
            <a:endParaRPr/>
          </a:p>
        </p:txBody>
      </p:sp>
      <p:sp>
        <p:nvSpPr>
          <p:cNvPr id="168" name="" descr="{&quot;isTemplate&quot;:true,&quot;type&quot;:&quot;text&quot;}"/>
          <p:cNvSpPr txBox="1"/>
          <p:nvPr/>
        </p:nvSpPr>
        <p:spPr>
          <a:xfrm rot="0" flipH="0" flipV="0">
            <a:off x="685800" y="3324225"/>
            <a:ext cx="8191500" cy="7048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350">
                <a:solidFill>
                  <a:srgbClr val="2A2118"/>
                </a:solidFill>
                <a:latin typeface="PingFang SC"/>
                <a:ea typeface="PingFang SC"/>
              </a:rPr>
              <a:t>后果是队列越积越多，音效和背景音一起静默。所以加了</a:t>
            </a:r>
            <a:r>
              <a:rPr lang="en-US" sz="1350">
                <a:solidFill>
                  <a:srgbClr val="2A2118"/>
                </a:solidFill>
                <a:latin typeface="PingFang SC"/>
                <a:ea typeface="PingFang SC"/>
              </a:rPr>
              <a:t xml:space="preserve"> force_unlock</a:t>
            </a:r>
            <a:r>
              <a:rPr lang="zh-CN" sz="1350">
                <a:solidFill>
                  <a:srgbClr val="2A2118"/>
                </a:solidFill>
                <a:latin typeface="PingFang SC"/>
                <a:ea typeface="PingFang SC"/>
              </a:rPr>
              <a:t>：探测到锁仍被占用，就整体换一把新锁；再</a:t>
            </a:r>
            <a:r>
              <a:rPr lang="en-US" sz="1350">
                <a:solidFill>
                  <a:srgbClr val="2A2118"/>
                </a:solidFill>
                <a:latin typeface="PingFang SC"/>
                <a:ea typeface="PingFang SC"/>
              </a:rPr>
              <a:t xml:space="preserve"> recover </a:t>
            </a:r>
            <a:r>
              <a:rPr lang="zh-CN" sz="1350">
                <a:solidFill>
                  <a:srgbClr val="2A2118"/>
                </a:solidFill>
                <a:latin typeface="PingFang SC"/>
                <a:ea typeface="PingFang SC"/>
              </a:rPr>
              <a:t>清掉所有常驻</a:t>
            </a:r>
            <a:r>
              <a:rPr lang="en-US" sz="1350">
                <a:solidFill>
                  <a:srgbClr val="2A2118"/>
                </a:solidFill>
                <a:latin typeface="PingFang SC"/>
                <a:ea typeface="PingFang SC"/>
              </a:rPr>
              <a:t xml:space="preserve"> alias </a:t>
            </a:r>
            <a:r>
              <a:rPr lang="zh-CN" sz="1350">
                <a:solidFill>
                  <a:srgbClr val="2A2118"/>
                </a:solidFill>
                <a:latin typeface="PingFang SC"/>
                <a:ea typeface="PingFang SC"/>
              </a:rPr>
              <a:t>重新开局。</a:t>
            </a:r>
            <a:endParaRPr/>
          </a:p>
        </p:txBody>
      </p:sp>
      <p:sp>
        <p:nvSpPr>
          <p:cNvPr id="169" name="" descr="{&quot;isTemplate&quot;:true,&quot;type&quot;:&quot;text&quot;}"/>
          <p:cNvSpPr txBox="1"/>
          <p:nvPr/>
        </p:nvSpPr>
        <p:spPr>
          <a:xfrm rot="0" flipH="0" flipV="0">
            <a:off x="685800" y="4162425"/>
            <a:ext cx="8191500" cy="35242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350">
                <a:solidFill>
                  <a:srgbClr val="2A2118"/>
                </a:solidFill>
                <a:latin typeface="PingFang SC"/>
                <a:ea typeface="PingFang SC"/>
              </a:rPr>
              <a:t>这条自愈链路是踩过实机死锁才补上的——没有它，一次设备异常就能让整个音频系统永久失声。</a:t>
            </a:r>
            <a:endParaRPr/>
          </a:p>
        </p:txBody>
      </p:sp>
      <p:sp>
        <p:nvSpPr>
          <p:cNvPr id="170" name="" descr="{&quot;isTemplate&quot;:true,&quot;type&quot;:&quot;text&quot;}"/>
          <p:cNvSpPr txBox="1"/>
          <p:nvPr/>
        </p:nvSpPr>
        <p:spPr>
          <a:xfrm rot="0" flipH="0" flipV="0">
            <a:off x="685800" y="6172200"/>
            <a:ext cx="14478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2A2118">
                    <a:alpha val="55000"/>
                  </a:srgbClr>
                </a:solidFill>
                <a:latin typeface="PingFang SC"/>
                <a:ea typeface="PingFang SC"/>
              </a:rPr>
              <a:t>弈趣棋苑</a:t>
            </a:r>
            <a:r>
              <a:rPr lang="en-US" sz="1050">
                <a:solidFill>
                  <a:srgbClr val="2A2118">
                    <a:alpha val="55000"/>
                  </a:srgbClr>
                </a:solidFill>
                <a:latin typeface="PingFang SC"/>
                <a:ea typeface="PingFang SC"/>
              </a:rPr>
              <a:t xml:space="preserve"> · </a:t>
            </a:r>
            <a:r>
              <a:rPr lang="zh-CN" sz="1050">
                <a:solidFill>
                  <a:srgbClr val="2A2118">
                    <a:alpha val="55000"/>
                  </a:srgbClr>
                </a:solidFill>
                <a:latin typeface="PingFang SC"/>
                <a:ea typeface="PingFang SC"/>
              </a:rPr>
              <a:t>项目开发汇报</a:t>
            </a:r>
            <a:endParaRPr/>
          </a:p>
        </p:txBody>
      </p:sp>
      <p:sp>
        <p:nvSpPr>
          <p:cNvPr id="171" name="" descr="{&quot;isTemplate&quot;:true,&quot;type&quot;:&quot;text&quot;}"/>
          <p:cNvSpPr txBox="1"/>
          <p:nvPr/>
        </p:nvSpPr>
        <p:spPr>
          <a:xfrm rot="0" flipH="0" flipV="0">
            <a:off x="11049000" y="61722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2A2118">
                    <a:alpha val="55000"/>
                  </a:srgbClr>
                </a:solidFill>
                <a:latin typeface="PingFang SC"/>
                <a:ea typeface="PingFang SC"/>
              </a:rPr>
              <a:t>21 / 64</a:t>
            </a:r>
            <a:endParaRPr/>
          </a:p>
        </p:txBody>
      </p:sp>
    </p:spTree>
  </p:cSld>
</p:sld>
</file>

<file path=ppt/slides/slide21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172" name="" descr="&lt;Slide style={{ width: 1280, height: 720, padding: &quot;20px 72px&quot;, background: &quot;#F5E3BE&quot;, flexDirection: &quot;column&quot; }}&gt;&#10;  &lt;Box style={{ width: &quot;100%&quot;, height: 96, flexDirection: &quot;column&quot;, justifyContent: &quot;center&quot; }}&gt;&#10;    &lt;Text style={{ fontSize: 34, fontWeight: &quot;bold&quot;, color: &quot;#2A2118&quot;, fontFamily: &quot;'Songti SC', 'STSong', 'SimSun', serif&quot; }}&gt;原理 · AI 引擎：搜索、评估与剪枝&lt;/Text&gt;&#10;    &lt;Box style={{ width: 56, height: 2, background: &quot;#B3271E&quot;, marginTop: 10 }} /&gt;&#10;  &lt;/Box&gt;&#10;  &lt;Box style={{ width: &quot;100%&quot;, height: 516, flexDirection: &quot;column&quot; }}&gt;&#10;  &lt;Box style={{ flexDirection: &quot;column&quot;, height: &quot;100%&quot;, justifyContent: &quot;center&quot;, alignItems: &quot;center&quot;, gap: 14 }}&gt;&#10;    &lt;svg width=&quot;410&quot; height=&quot;290&quot; viewBox=&quot;0 0 410 290&quot; style={{ background: &quot;rgba(140,90,43,0.06)&quot;, borderRadius: 10 }}&gt;&#10;      &lt;circle cx=&quot;205&quot; cy=&quot;40&quot; r=&quot;22&quot; fill=&quot;#8C5A2B&quot;/&gt;&lt;text x=&quot;205&quot; y=&quot;46&quot; font-size=&quot;14&quot; fill=&quot;#F5E3BE&quot; text-anchor=&quot;middle&quot; font-family=&quot;sans-serif&quot;&gt;根&lt;/text&gt;&#10;      &lt;circle cx=&quot;105&quot; cy=&quot;130&quot; r=&quot;20&quot; fill=&quot;#2A2118&quot;/&gt;&lt;circle cx=&quot;305&quot; cy=&quot;130&quot; r=&quot;20&quot; fill=&quot;#2A2118&quot;/&gt;&#10;      &lt;circle cx=&quot;55&quot; cy=&quot;230&quot; r=&quot;18&quot; fill=&quot;#B3271E&quot;/&gt;&lt;circle cx=&quot;155&quot; cy=&quot;230&quot; r=&quot;18&quot; fill=&quot;#B3271E&quot;/&gt;&lt;circle cx=&quot;255&quot; cy=&quot;230&quot; r=&quot;18&quot; fill=&quot;#B3271E&quot;/&gt;&lt;circle cx=&quot;355&quot; cy=&quot;230&quot; r=&quot;18&quot; fill=&quot;#B3271E&quot;/&gt;&#10;      &lt;line x1=&quot;205&quot; y1=&quot;62&quot; x2=&quot;105&quot; y2=&quot;110&quot; stroke=&quot;#8C5A2B&quot; stroke-width=&quot;2&quot;/&gt;&lt;line x1=&quot;205&quot; y1=&quot;62&quot; x2=&quot;305&quot; y2=&quot;110&quot; stroke=&quot;#8C5A2B&quot; stroke-width=&quot;2&quot;/&gt;&#10;      &lt;line x1=&quot;105&quot; y1=&quot;150&quot; x2=&quot;55&quot; y2=&quot;212&quot; stroke=&quot;#B3271E&quot; stroke-width=&quot;2&quot;/&gt;&lt;line x1=&quot;105&quot; y1=&quot;150&quot; x2=&quot;155&quot; y2=&quot;212&quot; stroke=&quot;#B3271E&quot; stroke-width=&quot;2&quot;/&gt;&#10;      &lt;line x1=&quot;305&quot; y1=&quot;150&quot; x2=&quot;255&quot; y2=&quot;212&quot; stroke=&quot;#B3271E&quot; stroke-width=&quot;2&quot;/&gt;&lt;line x1=&quot;305&quot; y1=&quot;150&quot; x2=&quot;355&quot; y2=&quot;212&quot; stroke=&quot;#B3271E&quot; stroke-width=&quot;2&quot;/&gt;&#10;    &lt;/svg&gt;&#10;    &lt;Text style={{ fontSize: 15, color: &quot;rgba(42,33,24,0.6)&quot;, fontFamily: &quot;'PingFang SC', 'Microsoft YaHei', sans-serif&quot; }}&gt;Negamax + α/β 剪枝：宽度从 b^d 降到约 b^(d/2)&lt;/Text&gt;&#10;  &lt;/Box&gt;&#10;  &lt;/Box&gt;&#10;  &lt;Box style={{ width: &quot;100%&quot;, height: 48, flexDirection: &quot;row&quot;, alignItems: &quot;center&quot;, justifyContent: &quot;space-between&quot; }}&gt;&#10;    &lt;Text style={{ fontSize: 14, color: &quot;rgba(42,33,24,0.55)&quot;, fontFamily: &quot;'PingFang SC', 'Microsoft YaHei', sans-serif&quot; }}&gt;弈趣棋苑 · 项目开发汇报&lt;/Text&gt;&#10;    &lt;Text style={{ fontSize: 14, color: &quot;rgba(42,33,24,0.55)&quot;, fontFamily: &quot;'PingFang SC', 'Microsoft YaHei', sans-serif&quot; }}&gt;22 / 64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5E3BE"/>
          </a:solidFill>
          <a:ln/>
        </p:spPr>
        <p:txBody>
          <a:bodyPr/>
          <a:p/>
        </p:txBody>
      </p:sp>
      <p:sp>
        <p:nvSpPr>
          <p:cNvPr id="174" name="" descr="{&quot;isTemplate&quot;:true,&quot;type&quot;:&quot;text&quot;}"/>
          <p:cNvSpPr txBox="1"/>
          <p:nvPr/>
        </p:nvSpPr>
        <p:spPr>
          <a:xfrm rot="0" flipH="0" flipV="0">
            <a:off x="685800" y="400050"/>
            <a:ext cx="108204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A2118"/>
                </a:solidFill>
                <a:latin typeface="Songti SC"/>
                <a:ea typeface="Songti SC"/>
              </a:rPr>
              <a:t>原理</a:t>
            </a:r>
            <a:r>
              <a:rPr lang="en-US" sz="2550" b="1">
                <a:solidFill>
                  <a:srgbClr val="2A2118"/>
                </a:solidFill>
                <a:latin typeface="Songti SC"/>
                <a:ea typeface="Songti SC"/>
              </a:rPr>
              <a:t xml:space="preserve"> · AI </a:t>
            </a:r>
            <a:r>
              <a:rPr lang="zh-CN" sz="2550" b="1">
                <a:solidFill>
                  <a:srgbClr val="2A2118"/>
                </a:solidFill>
                <a:latin typeface="Songti SC"/>
                <a:ea typeface="Songti SC"/>
              </a:rPr>
              <a:t>引擎：搜索、评估与剪枝</a:t>
            </a:r>
            <a:endParaRPr/>
          </a:p>
        </p:txBody>
      </p:sp>
      <p:sp>
        <p:nvSpPr>
          <p:cNvPr id="175" name=""/>
          <p:cNvSpPr/>
          <p:nvPr/>
        </p:nvSpPr>
        <p:spPr>
          <a:xfrm rot="0" flipH="0" flipV="0">
            <a:off x="685800" y="885825"/>
            <a:ext cx="533400" cy="19050"/>
          </a:xfrm>
          <a:prstGeom prst="rect">
            <a:avLst/>
          </a:prstGeom>
          <a:solidFill>
            <a:srgbClr val="B3271E"/>
          </a:solidFill>
          <a:ln/>
        </p:spPr>
        <p:txBody>
          <a:bodyPr/>
          <a:p/>
        </p:txBody>
      </p:sp>
      <p:sp>
        <p:nvSpPr>
          <p:cNvPr id="176" name=""/>
          <p:cNvSpPr/>
          <p:nvPr/>
        </p:nvSpPr>
        <p:spPr>
          <a:xfrm rot="0" flipH="0" flipV="0">
            <a:off x="4143375" y="2028825"/>
            <a:ext cx="3905250" cy="2762250"/>
          </a:xfrm>
          <a:prstGeom prst="roundRect">
            <a:avLst>
              <a:gd name="adj" fmla="val 3448"/>
            </a:avLst>
          </a:prstGeom>
          <a:ln/>
        </p:spPr>
        <p:txBody>
          <a:bodyPr/>
          <a:p/>
        </p:txBody>
      </p:sp>
      <p:pic>
        <p:nvPicPr>
          <p:cNvPr id="177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4143375" y="2028825"/>
            <a:ext cx="3905250" cy="2762250"/>
          </a:xfrm>
          <a:prstGeom prst="rect">
            <a:avLst/>
          </a:prstGeom>
          <a:ln/>
        </p:spPr>
      </p:pic>
      <p:sp>
        <p:nvSpPr>
          <p:cNvPr id="178" name="" descr="{&quot;isTemplate&quot;:true,&quot;type&quot;:&quot;text&quot;}"/>
          <p:cNvSpPr txBox="1"/>
          <p:nvPr/>
        </p:nvSpPr>
        <p:spPr>
          <a:xfrm rot="0" flipH="0" flipV="0">
            <a:off x="4419600" y="4924425"/>
            <a:ext cx="33623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2A2118">
                    <a:alpha val="60000"/>
                  </a:srgbClr>
                </a:solidFill>
                <a:latin typeface="PingFang SC"/>
                <a:ea typeface="PingFang SC"/>
              </a:rPr>
              <a:t xml:space="preserve">Negamax + α/β </a:t>
            </a:r>
            <a:r>
              <a:rPr lang="zh-CN" sz="1125">
                <a:solidFill>
                  <a:srgbClr val="2A2118">
                    <a:alpha val="60000"/>
                  </a:srgbClr>
                </a:solidFill>
                <a:latin typeface="PingFang SC"/>
                <a:ea typeface="PingFang SC"/>
              </a:rPr>
              <a:t>剪枝：宽度从</a:t>
            </a:r>
            <a:r>
              <a:rPr lang="en-US" sz="1125">
                <a:solidFill>
                  <a:srgbClr val="2A2118">
                    <a:alpha val="60000"/>
                  </a:srgbClr>
                </a:solidFill>
                <a:latin typeface="PingFang SC"/>
                <a:ea typeface="PingFang SC"/>
              </a:rPr>
              <a:t xml:space="preserve"> b^d </a:t>
            </a:r>
            <a:r>
              <a:rPr lang="zh-CN" sz="1125">
                <a:solidFill>
                  <a:srgbClr val="2A2118">
                    <a:alpha val="60000"/>
                  </a:srgbClr>
                </a:solidFill>
                <a:latin typeface="PingFang SC"/>
                <a:ea typeface="PingFang SC"/>
              </a:rPr>
              <a:t>降到约</a:t>
            </a:r>
            <a:r>
              <a:rPr lang="en-US" sz="1125">
                <a:solidFill>
                  <a:srgbClr val="2A2118">
                    <a:alpha val="60000"/>
                  </a:srgbClr>
                </a:solidFill>
                <a:latin typeface="PingFang SC"/>
                <a:ea typeface="PingFang SC"/>
              </a:rPr>
              <a:t xml:space="preserve"> b^(d/2)</a:t>
            </a:r>
            <a:endParaRPr/>
          </a:p>
        </p:txBody>
      </p:sp>
      <p:sp>
        <p:nvSpPr>
          <p:cNvPr id="179" name="" descr="{&quot;isTemplate&quot;:true,&quot;type&quot;:&quot;text&quot;}"/>
          <p:cNvSpPr txBox="1"/>
          <p:nvPr/>
        </p:nvSpPr>
        <p:spPr>
          <a:xfrm rot="0" flipH="0" flipV="0">
            <a:off x="685800" y="6172200"/>
            <a:ext cx="14478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2A2118">
                    <a:alpha val="55000"/>
                  </a:srgbClr>
                </a:solidFill>
                <a:latin typeface="PingFang SC"/>
                <a:ea typeface="PingFang SC"/>
              </a:rPr>
              <a:t>弈趣棋苑</a:t>
            </a:r>
            <a:r>
              <a:rPr lang="en-US" sz="1050">
                <a:solidFill>
                  <a:srgbClr val="2A2118">
                    <a:alpha val="55000"/>
                  </a:srgbClr>
                </a:solidFill>
                <a:latin typeface="PingFang SC"/>
                <a:ea typeface="PingFang SC"/>
              </a:rPr>
              <a:t xml:space="preserve"> · </a:t>
            </a:r>
            <a:r>
              <a:rPr lang="zh-CN" sz="1050">
                <a:solidFill>
                  <a:srgbClr val="2A2118">
                    <a:alpha val="55000"/>
                  </a:srgbClr>
                </a:solidFill>
                <a:latin typeface="PingFang SC"/>
                <a:ea typeface="PingFang SC"/>
              </a:rPr>
              <a:t>项目开发汇报</a:t>
            </a:r>
            <a:endParaRPr/>
          </a:p>
        </p:txBody>
      </p:sp>
      <p:sp>
        <p:nvSpPr>
          <p:cNvPr id="180" name="" descr="{&quot;isTemplate&quot;:true,&quot;type&quot;:&quot;text&quot;}"/>
          <p:cNvSpPr txBox="1"/>
          <p:nvPr/>
        </p:nvSpPr>
        <p:spPr>
          <a:xfrm rot="0" flipH="0" flipV="0">
            <a:off x="11049000" y="61722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2A2118">
                    <a:alpha val="55000"/>
                  </a:srgbClr>
                </a:solidFill>
                <a:latin typeface="PingFang SC"/>
                <a:ea typeface="PingFang SC"/>
              </a:rPr>
              <a:t>22 / 64</a:t>
            </a:r>
            <a:endParaRPr/>
          </a:p>
        </p:txBody>
      </p:sp>
    </p:spTree>
  </p:cSld>
</p:sld>
</file>

<file path=ppt/slides/slide22.xml><?xml version="1.0" encoding="utf-8"?>
<p:sld xmlns:p="http://schemas.openxmlformats.org/presentationml/2006/main" xmlns:a="http://schemas.openxmlformats.org/drawingml/2006/main">
  <p:cSld>
    <p:spTree>
      <p:nvGrpSpPr>
        <p:cNvPr id="181" name="" descr="&lt;Slide style={{ width: 1280, height: 720, padding: &quot;20px 72px&quot;, background: &quot;#F5E3BE&quot;, flexDirection: &quot;column&quot; }}&gt;&#10;  &lt;Box style={{ width: &quot;100%&quot;, height: 96, flexDirection: &quot;column&quot;, justifyContent: &quot;center&quot; }}&gt;&#10;    &lt;Text style={{ fontSize: 34, fontWeight: &quot;bold&quot;, color: &quot;#2A2118&quot;, fontFamily: &quot;'Songti SC', 'STSong', 'SimSun', serif&quot; }}&gt;原理 · 评估与剪枝怎么做到不爆&lt;/Text&gt;&#10;    &lt;Box style={{ width: 56, height: 2, background: &quot;#B3271E&quot;, marginTop: 10 }} /&gt;&#10;  &lt;/Box&gt;&#10;  &lt;Box style={{ width: &quot;100%&quot;, height: 516, flexDirection: &quot;column&quot; }}&gt;&#10;  &lt;Box style={{ width: 860, height: &quot;100%&quot;, flexDirection: &quot;column&quot;, justifyContent: &quot;center&quot; }}&gt;&#10;    &lt;Text style={{ fontSize: 18, lineHeight: 1.7, color: &quot;#2A2118&quot;, fontFamily: &quot;'PingFang SC', 'Microsoft YaHei', sans-serif&quot;, marginBottom: 14 }}&gt;GomokuEval 不整盘扫描，只重算受落子影响的 ≤4 条线；Zobrist 哈希加置换表缓存子树结果，重复局面不再搜第二遍。&lt;/Text&gt;&#10;    &lt;Text style={{ fontSize: 18, lineHeight: 1.7, color: &quot;#2A2118&quot;, fontFamily: &quot;'PingFang SC', 'Microsoft YaHei', sans-serif&quot;, marginBottom: 14 }}&gt;Killer / History 启发把强着前置，更早触发剪枝；迭代加深保证在时限内返回「最深的已完成层」，而不是搜到一半被砍。&lt;/Text&gt;&#10;    &lt;Text style={{ fontSize: 18, lineHeight: 1.7, color: &quot;#2A2118&quot;, fontFamily: &quot;'PingFang SC', 'Microsoft YaHei', sans-serif&quot;, marginBottom: 14 }}&gt;每个节点都查 deadline，超限就放弃当前分支——宁可浅一点，也绝不烧满预算把界面卡死。&lt;/Text&gt;&#10;  &lt;/Box&gt;&#10;  &lt;/Box&gt;&#10;  &lt;Box style={{ width: &quot;100%&quot;, height: 48, flexDirection: &quot;row&quot;, alignItems: &quot;center&quot;, justifyContent: &quot;space-between&quot; }}&gt;&#10;    &lt;Text style={{ fontSize: 14, color: &quot;rgba(42,33,24,0.55)&quot;, fontFamily: &quot;'PingFang SC', 'Microsoft YaHei', sans-serif&quot; }}&gt;弈趣棋苑 · 项目开发汇报&lt;/Text&gt;&#10;    &lt;Text style={{ fontSize: 14, color: &quot;rgba(42,33,24,0.55)&quot;, fontFamily: &quot;'PingFang SC', 'Microsoft YaHei', sans-serif&quot; }}&gt;23 / 64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5E3BE"/>
          </a:solidFill>
          <a:ln/>
        </p:spPr>
        <p:txBody>
          <a:bodyPr/>
          <a:p/>
        </p:txBody>
      </p:sp>
      <p:sp>
        <p:nvSpPr>
          <p:cNvPr id="183" name="" descr="{&quot;isTemplate&quot;:true,&quot;type&quot;:&quot;text&quot;}"/>
          <p:cNvSpPr txBox="1"/>
          <p:nvPr/>
        </p:nvSpPr>
        <p:spPr>
          <a:xfrm rot="0" flipH="0" flipV="0">
            <a:off x="685800" y="400050"/>
            <a:ext cx="108204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A2118"/>
                </a:solidFill>
                <a:latin typeface="Songti SC"/>
                <a:ea typeface="Songti SC"/>
              </a:rPr>
              <a:t>原理</a:t>
            </a:r>
            <a:r>
              <a:rPr lang="en-US" sz="2550" b="1">
                <a:solidFill>
                  <a:srgbClr val="2A2118"/>
                </a:solidFill>
                <a:latin typeface="Songti SC"/>
                <a:ea typeface="Songti SC"/>
              </a:rPr>
              <a:t xml:space="preserve"> · </a:t>
            </a:r>
            <a:r>
              <a:rPr lang="zh-CN" sz="2550" b="1">
                <a:solidFill>
                  <a:srgbClr val="2A2118"/>
                </a:solidFill>
                <a:latin typeface="Songti SC"/>
                <a:ea typeface="Songti SC"/>
              </a:rPr>
              <a:t>评估与剪枝怎么做到不爆</a:t>
            </a:r>
            <a:endParaRPr/>
          </a:p>
        </p:txBody>
      </p:sp>
      <p:sp>
        <p:nvSpPr>
          <p:cNvPr id="184" name=""/>
          <p:cNvSpPr/>
          <p:nvPr/>
        </p:nvSpPr>
        <p:spPr>
          <a:xfrm rot="0" flipH="0" flipV="0">
            <a:off x="685800" y="885825"/>
            <a:ext cx="533400" cy="19050"/>
          </a:xfrm>
          <a:prstGeom prst="rect">
            <a:avLst/>
          </a:prstGeom>
          <a:solidFill>
            <a:srgbClr val="B3271E"/>
          </a:solidFill>
          <a:ln/>
        </p:spPr>
        <p:txBody>
          <a:bodyPr/>
          <a:p/>
        </p:txBody>
      </p:sp>
      <p:sp>
        <p:nvSpPr>
          <p:cNvPr id="185" name="" descr="{&quot;isTemplate&quot;:true,&quot;type&quot;:&quot;text&quot;}"/>
          <p:cNvSpPr txBox="1"/>
          <p:nvPr/>
        </p:nvSpPr>
        <p:spPr>
          <a:xfrm rot="0" flipH="0" flipV="0">
            <a:off x="685800" y="2486025"/>
            <a:ext cx="8191500" cy="7048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en-US" sz="1350">
                <a:solidFill>
                  <a:srgbClr val="2A2118"/>
                </a:solidFill>
                <a:latin typeface="PingFang SC"/>
                <a:ea typeface="PingFang SC"/>
              </a:rPr>
              <a:t xml:space="preserve">GomokuEval </a:t>
            </a:r>
            <a:r>
              <a:rPr lang="zh-CN" sz="1350">
                <a:solidFill>
                  <a:srgbClr val="2A2118"/>
                </a:solidFill>
                <a:latin typeface="PingFang SC"/>
                <a:ea typeface="PingFang SC"/>
              </a:rPr>
              <a:t>不整盘扫描，只重算受落子影响的</a:t>
            </a:r>
            <a:r>
              <a:rPr lang="en-US" sz="1350">
                <a:solidFill>
                  <a:srgbClr val="2A2118"/>
                </a:solidFill>
                <a:latin typeface="PingFang SC"/>
                <a:ea typeface="PingFang SC"/>
              </a:rPr>
              <a:t xml:space="preserve"> ≤4 </a:t>
            </a:r>
            <a:r>
              <a:rPr lang="zh-CN" sz="1350">
                <a:solidFill>
                  <a:srgbClr val="2A2118"/>
                </a:solidFill>
                <a:latin typeface="PingFang SC"/>
                <a:ea typeface="PingFang SC"/>
              </a:rPr>
              <a:t>条线；</a:t>
            </a:r>
            <a:r>
              <a:rPr lang="en-US" sz="1350">
                <a:solidFill>
                  <a:srgbClr val="2A2118"/>
                </a:solidFill>
                <a:latin typeface="PingFang SC"/>
                <a:ea typeface="PingFang SC"/>
              </a:rPr>
              <a:t xml:space="preserve">Zobrist </a:t>
            </a:r>
            <a:r>
              <a:rPr lang="zh-CN" sz="1350">
                <a:solidFill>
                  <a:srgbClr val="2A2118"/>
                </a:solidFill>
                <a:latin typeface="PingFang SC"/>
                <a:ea typeface="PingFang SC"/>
              </a:rPr>
              <a:t>哈希加置换表缓存子树结果，重复局面不再搜第二遍。</a:t>
            </a:r>
            <a:endParaRPr/>
          </a:p>
        </p:txBody>
      </p:sp>
      <p:sp>
        <p:nvSpPr>
          <p:cNvPr id="186" name="" descr="{&quot;isTemplate&quot;:true,&quot;type&quot;:&quot;text&quot;}"/>
          <p:cNvSpPr txBox="1"/>
          <p:nvPr/>
        </p:nvSpPr>
        <p:spPr>
          <a:xfrm rot="0" flipH="0" flipV="0">
            <a:off x="685800" y="3324225"/>
            <a:ext cx="8191500" cy="7048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en-US" sz="1350">
                <a:solidFill>
                  <a:srgbClr val="2A2118"/>
                </a:solidFill>
                <a:latin typeface="PingFang SC"/>
                <a:ea typeface="PingFang SC"/>
              </a:rPr>
              <a:t xml:space="preserve">Killer / History </a:t>
            </a:r>
            <a:r>
              <a:rPr lang="zh-CN" sz="1350">
                <a:solidFill>
                  <a:srgbClr val="2A2118"/>
                </a:solidFill>
                <a:latin typeface="PingFang SC"/>
                <a:ea typeface="PingFang SC"/>
              </a:rPr>
              <a:t>启发把强着前置，更早触发剪枝；迭代加深保证在时限内返回「最深的已完成层」，而不是搜到一半被砍。</a:t>
            </a:r>
            <a:endParaRPr/>
          </a:p>
        </p:txBody>
      </p:sp>
      <p:sp>
        <p:nvSpPr>
          <p:cNvPr id="187" name="" descr="{&quot;isTemplate&quot;:true,&quot;type&quot;:&quot;text&quot;}"/>
          <p:cNvSpPr txBox="1"/>
          <p:nvPr/>
        </p:nvSpPr>
        <p:spPr>
          <a:xfrm rot="0" flipH="0" flipV="0">
            <a:off x="685800" y="4162425"/>
            <a:ext cx="8191500" cy="35242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350">
                <a:solidFill>
                  <a:srgbClr val="2A2118"/>
                </a:solidFill>
                <a:latin typeface="PingFang SC"/>
                <a:ea typeface="PingFang SC"/>
              </a:rPr>
              <a:t>每个节点都查</a:t>
            </a:r>
            <a:r>
              <a:rPr lang="en-US" sz="1350">
                <a:solidFill>
                  <a:srgbClr val="2A2118"/>
                </a:solidFill>
                <a:latin typeface="PingFang SC"/>
                <a:ea typeface="PingFang SC"/>
              </a:rPr>
              <a:t xml:space="preserve"> deadline</a:t>
            </a:r>
            <a:r>
              <a:rPr lang="zh-CN" sz="1350">
                <a:solidFill>
                  <a:srgbClr val="2A2118"/>
                </a:solidFill>
                <a:latin typeface="PingFang SC"/>
                <a:ea typeface="PingFang SC"/>
              </a:rPr>
              <a:t>，超限就放弃当前分支——宁可浅一点，也绝不烧满预算把界面卡死。</a:t>
            </a:r>
            <a:endParaRPr/>
          </a:p>
        </p:txBody>
      </p:sp>
      <p:sp>
        <p:nvSpPr>
          <p:cNvPr id="188" name="" descr="{&quot;isTemplate&quot;:true,&quot;type&quot;:&quot;text&quot;}"/>
          <p:cNvSpPr txBox="1"/>
          <p:nvPr/>
        </p:nvSpPr>
        <p:spPr>
          <a:xfrm rot="0" flipH="0" flipV="0">
            <a:off x="685800" y="6172200"/>
            <a:ext cx="14478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2A2118">
                    <a:alpha val="55000"/>
                  </a:srgbClr>
                </a:solidFill>
                <a:latin typeface="PingFang SC"/>
                <a:ea typeface="PingFang SC"/>
              </a:rPr>
              <a:t>弈趣棋苑</a:t>
            </a:r>
            <a:r>
              <a:rPr lang="en-US" sz="1050">
                <a:solidFill>
                  <a:srgbClr val="2A2118">
                    <a:alpha val="55000"/>
                  </a:srgbClr>
                </a:solidFill>
                <a:latin typeface="PingFang SC"/>
                <a:ea typeface="PingFang SC"/>
              </a:rPr>
              <a:t xml:space="preserve"> · </a:t>
            </a:r>
            <a:r>
              <a:rPr lang="zh-CN" sz="1050">
                <a:solidFill>
                  <a:srgbClr val="2A2118">
                    <a:alpha val="55000"/>
                  </a:srgbClr>
                </a:solidFill>
                <a:latin typeface="PingFang SC"/>
                <a:ea typeface="PingFang SC"/>
              </a:rPr>
              <a:t>项目开发汇报</a:t>
            </a:r>
            <a:endParaRPr/>
          </a:p>
        </p:txBody>
      </p:sp>
      <p:sp>
        <p:nvSpPr>
          <p:cNvPr id="189" name="" descr="{&quot;isTemplate&quot;:true,&quot;type&quot;:&quot;text&quot;}"/>
          <p:cNvSpPr txBox="1"/>
          <p:nvPr/>
        </p:nvSpPr>
        <p:spPr>
          <a:xfrm rot="0" flipH="0" flipV="0">
            <a:off x="11049000" y="61722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2A2118">
                    <a:alpha val="55000"/>
                  </a:srgbClr>
                </a:solidFill>
                <a:latin typeface="PingFang SC"/>
                <a:ea typeface="PingFang SC"/>
              </a:rPr>
              <a:t>23 / 64</a:t>
            </a:r>
            <a:endParaRPr/>
          </a:p>
        </p:txBody>
      </p:sp>
    </p:spTree>
  </p:cSld>
</p:sld>
</file>

<file path=ppt/slides/slide23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190" name="" descr="&lt;Slide style={{ width: 1280, height: 720, padding: &quot;20px 72px&quot;, background: &quot;#F5E3BE&quot;, flexDirection: &quot;column&quot; }}&gt;&#10;  &lt;Box style={{ width: &quot;100%&quot;, height: 96, flexDirection: &quot;column&quot;, justifyContent: &quot;center&quot; }}&gt;&#10;    &lt;Text style={{ fontSize: 34, fontWeight: &quot;bold&quot;, color: &quot;#2A2118&quot;, fontFamily: &quot;'Songti SC', 'STSong', 'SimSun', serif&quot; }}&gt;原理 · 五子棋 VCF / VCT 算杀&lt;/Text&gt;&#10;    &lt;Box style={{ width: 56, height: 2, background: &quot;#B3271E&quot;, marginTop: 10 }} /&gt;&#10;  &lt;/Box&gt;&#10;  &lt;Box style={{ width: &quot;100%&quot;, height: 516, flexDirection: &quot;column&quot; }}&gt;&#10;  &lt;Box style={{ flexDirection: &quot;column&quot;, height: &quot;100%&quot;, justifyContent: &quot;center&quot;, alignItems: &quot;center&quot;, gap: 14 }}&gt;&#10;    &lt;svg width=&quot;420&quot; height=&quot;280&quot; viewBox=&quot;0 0 420 280&quot; style={{ background: &quot;rgba(140,90,43,0.06)&quot;, borderRadius: 10 }}&gt;&#10;      &lt;rect x=&quot;180&quot; y=&quot;20&quot; width=&quot;60&quot; height=&quot;40&quot; rx=&quot;8&quot; fill=&quot;#B3271E&quot;/&gt;&lt;text x=&quot;210&quot; y=&quot;45&quot; font-size=&quot;14&quot; fill=&quot;#F5E3BE&quot; text-anchor=&quot;middle&quot; font-family=&quot;sans-serif&quot;&gt;攻·冲四&lt;/text&gt;&#10;      &lt;rect x=&quot;90&quot; y=&quot;110&quot; width=&quot;60&quot; height=&quot;40&quot; rx=&quot;8&quot; fill=&quot;#2A2118&quot;/&gt;&lt;rect x=&quot;270&quot; y=&quot;110&quot; width=&quot;60&quot; height=&quot;40&quot; rx=&quot;8&quot; fill=&quot;#2A2118&quot;/&gt;&#10;      &lt;text x=&quot;120&quot; y=&quot;135&quot; font-size=&quot;13&quot; fill=&quot;#F5E3BE&quot; text-anchor=&quot;middle&quot; font-family=&quot;sans-serif&quot;&gt;守·堵A&lt;/text&gt;&lt;text x=&quot;300&quot; y=&quot;135&quot; font-size=&quot;13&quot; fill=&quot;#F5E3BE&quot; text-anchor=&quot;middle&quot; font-family=&quot;sans-serif&quot;&gt;守·堵B&lt;/text&gt;&#10;      &lt;rect x=&quot;40&quot; y=&quot;210&quot; width=&quot;60&quot; height=&quot;40&quot; rx=&quot;8&quot; fill=&quot;#8C5A2B&quot;/&gt;&lt;rect x=&quot;190&quot; y=&quot;210&quot; width=&quot;60&quot; height=&quot;40&quot; rx=&quot;8&quot; fill=&quot;#8C5A2B&quot;/&gt;&#10;      &lt;line x1=&quot;210&quot; y1=&quot;60&quot; x2=&quot;120&quot; y2=&quot;110&quot; stroke=&quot;#8C5A2B&quot; stroke-width=&quot;2&quot;/&gt;&lt;line x1=&quot;210&quot; y1=&quot;60&quot; x2=&quot;300&quot; y2=&quot;110&quot; stroke=&quot;#8C5A2B&quot; stroke-width=&quot;2&quot;/&gt;&#10;      &lt;line x1=&quot;120&quot; y1=&quot;150&quot; x2=&quot;70&quot; y2=&quot;210&quot; stroke=&quot;#B3271E&quot; stroke-width=&quot;2&quot;/&gt;&lt;line x1=&quot;300&quot; y1=&quot;150&quot; x2=&quot;220&quot; y2=&quot;210&quot; stroke=&quot;#B3271E&quot; stroke-width=&quot;2&quot;/&gt;&#10;    &lt;/svg&gt;&#10;    &lt;Text style={{ fontSize: 15, color: &quot;rgba(42,33,24,0.6)&quot;, fontFamily: &quot;'PingFang SC', 'Microsoft YaHei', sans-serif&quot; }}&gt;攻方「或」节点（任一成五即胜），守方「与」节点（须堵住全部威胁）&lt;/Text&gt;&#10;  &lt;/Box&gt;&#10;  &lt;/Box&gt;&#10;  &lt;Box style={{ width: &quot;100%&quot;, height: 48, flexDirection: &quot;row&quot;, alignItems: &quot;center&quot;, justifyContent: &quot;space-between&quot; }}&gt;&#10;    &lt;Text style={{ fontSize: 14, color: &quot;rgba(42,33,24,0.55)&quot;, fontFamily: &quot;'PingFang SC', 'Microsoft YaHei', sans-serif&quot; }}&gt;弈趣棋苑 · 项目开发汇报&lt;/Text&gt;&#10;    &lt;Text style={{ fontSize: 14, color: &quot;rgba(42,33,24,0.55)&quot;, fontFamily: &quot;'PingFang SC', 'Microsoft YaHei', sans-serif&quot; }}&gt;24 / 64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5E3BE"/>
          </a:solidFill>
          <a:ln/>
        </p:spPr>
        <p:txBody>
          <a:bodyPr/>
          <a:p/>
        </p:txBody>
      </p:sp>
      <p:sp>
        <p:nvSpPr>
          <p:cNvPr id="192" name="" descr="{&quot;isTemplate&quot;:true,&quot;type&quot;:&quot;text&quot;}"/>
          <p:cNvSpPr txBox="1"/>
          <p:nvPr/>
        </p:nvSpPr>
        <p:spPr>
          <a:xfrm rot="0" flipH="0" flipV="0">
            <a:off x="685800" y="400050"/>
            <a:ext cx="108204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A2118"/>
                </a:solidFill>
                <a:latin typeface="Songti SC"/>
                <a:ea typeface="Songti SC"/>
              </a:rPr>
              <a:t>原理</a:t>
            </a:r>
            <a:r>
              <a:rPr lang="en-US" sz="2550" b="1">
                <a:solidFill>
                  <a:srgbClr val="2A2118"/>
                </a:solidFill>
                <a:latin typeface="Songti SC"/>
                <a:ea typeface="Songti SC"/>
              </a:rPr>
              <a:t xml:space="preserve"> · </a:t>
            </a:r>
            <a:r>
              <a:rPr lang="zh-CN" sz="2550" b="1">
                <a:solidFill>
                  <a:srgbClr val="2A2118"/>
                </a:solidFill>
                <a:latin typeface="Songti SC"/>
                <a:ea typeface="Songti SC"/>
              </a:rPr>
              <a:t>五子棋</a:t>
            </a:r>
            <a:r>
              <a:rPr lang="en-US" sz="2550" b="1">
                <a:solidFill>
                  <a:srgbClr val="2A2118"/>
                </a:solidFill>
                <a:latin typeface="Songti SC"/>
                <a:ea typeface="Songti SC"/>
              </a:rPr>
              <a:t xml:space="preserve"> VCF / VCT </a:t>
            </a:r>
            <a:r>
              <a:rPr lang="zh-CN" sz="2550" b="1">
                <a:solidFill>
                  <a:srgbClr val="2A2118"/>
                </a:solidFill>
                <a:latin typeface="Songti SC"/>
                <a:ea typeface="Songti SC"/>
              </a:rPr>
              <a:t>算杀</a:t>
            </a:r>
            <a:endParaRPr/>
          </a:p>
        </p:txBody>
      </p:sp>
      <p:sp>
        <p:nvSpPr>
          <p:cNvPr id="193" name=""/>
          <p:cNvSpPr/>
          <p:nvPr/>
        </p:nvSpPr>
        <p:spPr>
          <a:xfrm rot="0" flipH="0" flipV="0">
            <a:off x="685800" y="885825"/>
            <a:ext cx="533400" cy="19050"/>
          </a:xfrm>
          <a:prstGeom prst="rect">
            <a:avLst/>
          </a:prstGeom>
          <a:solidFill>
            <a:srgbClr val="B3271E"/>
          </a:solidFill>
          <a:ln/>
        </p:spPr>
        <p:txBody>
          <a:bodyPr/>
          <a:p/>
        </p:txBody>
      </p:sp>
      <p:sp>
        <p:nvSpPr>
          <p:cNvPr id="194" name=""/>
          <p:cNvSpPr/>
          <p:nvPr/>
        </p:nvSpPr>
        <p:spPr>
          <a:xfrm rot="0" flipH="0" flipV="0">
            <a:off x="4095750" y="2076450"/>
            <a:ext cx="4000500" cy="2667000"/>
          </a:xfrm>
          <a:prstGeom prst="roundRect">
            <a:avLst>
              <a:gd name="adj" fmla="val 3571"/>
            </a:avLst>
          </a:prstGeom>
          <a:ln/>
        </p:spPr>
        <p:txBody>
          <a:bodyPr/>
          <a:p/>
        </p:txBody>
      </p:sp>
      <p:pic>
        <p:nvPicPr>
          <p:cNvPr id="195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4095750" y="2076450"/>
            <a:ext cx="4000500" cy="2667000"/>
          </a:xfrm>
          <a:prstGeom prst="rect">
            <a:avLst/>
          </a:prstGeom>
          <a:ln/>
        </p:spPr>
      </p:pic>
      <p:sp>
        <p:nvSpPr>
          <p:cNvPr id="196" name="" descr="{&quot;isTemplate&quot;:true,&quot;type&quot;:&quot;text&quot;}"/>
          <p:cNvSpPr txBox="1"/>
          <p:nvPr/>
        </p:nvSpPr>
        <p:spPr>
          <a:xfrm rot="0" flipH="0" flipV="0">
            <a:off x="3810000" y="4876800"/>
            <a:ext cx="45720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A2118">
                    <a:alpha val="60000"/>
                  </a:srgbClr>
                </a:solidFill>
                <a:latin typeface="PingFang SC"/>
                <a:ea typeface="PingFang SC"/>
              </a:rPr>
              <a:t>攻方「或」节点（任一成五即胜），守方「与」节点（须堵住全部威胁）</a:t>
            </a:r>
            <a:endParaRPr/>
          </a:p>
        </p:txBody>
      </p:sp>
      <p:sp>
        <p:nvSpPr>
          <p:cNvPr id="197" name="" descr="{&quot;isTemplate&quot;:true,&quot;type&quot;:&quot;text&quot;}"/>
          <p:cNvSpPr txBox="1"/>
          <p:nvPr/>
        </p:nvSpPr>
        <p:spPr>
          <a:xfrm rot="0" flipH="0" flipV="0">
            <a:off x="685800" y="6172200"/>
            <a:ext cx="14478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2A2118">
                    <a:alpha val="55000"/>
                  </a:srgbClr>
                </a:solidFill>
                <a:latin typeface="PingFang SC"/>
                <a:ea typeface="PingFang SC"/>
              </a:rPr>
              <a:t>弈趣棋苑</a:t>
            </a:r>
            <a:r>
              <a:rPr lang="en-US" sz="1050">
                <a:solidFill>
                  <a:srgbClr val="2A2118">
                    <a:alpha val="55000"/>
                  </a:srgbClr>
                </a:solidFill>
                <a:latin typeface="PingFang SC"/>
                <a:ea typeface="PingFang SC"/>
              </a:rPr>
              <a:t xml:space="preserve"> · </a:t>
            </a:r>
            <a:r>
              <a:rPr lang="zh-CN" sz="1050">
                <a:solidFill>
                  <a:srgbClr val="2A2118">
                    <a:alpha val="55000"/>
                  </a:srgbClr>
                </a:solidFill>
                <a:latin typeface="PingFang SC"/>
                <a:ea typeface="PingFang SC"/>
              </a:rPr>
              <a:t>项目开发汇报</a:t>
            </a:r>
            <a:endParaRPr/>
          </a:p>
        </p:txBody>
      </p:sp>
      <p:sp>
        <p:nvSpPr>
          <p:cNvPr id="198" name="" descr="{&quot;isTemplate&quot;:true,&quot;type&quot;:&quot;text&quot;}"/>
          <p:cNvSpPr txBox="1"/>
          <p:nvPr/>
        </p:nvSpPr>
        <p:spPr>
          <a:xfrm rot="0" flipH="0" flipV="0">
            <a:off x="11049000" y="61722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2A2118">
                    <a:alpha val="55000"/>
                  </a:srgbClr>
                </a:solidFill>
                <a:latin typeface="PingFang SC"/>
                <a:ea typeface="PingFang SC"/>
              </a:rPr>
              <a:t>24 / 64</a:t>
            </a:r>
            <a:endParaRPr/>
          </a:p>
        </p:txBody>
      </p:sp>
    </p:spTree>
  </p:cSld>
</p:sld>
</file>

<file path=ppt/slides/slide24.xml><?xml version="1.0" encoding="utf-8"?>
<p:sld xmlns:p="http://schemas.openxmlformats.org/presentationml/2006/main" xmlns:a="http://schemas.openxmlformats.org/drawingml/2006/main">
  <p:cSld>
    <p:spTree>
      <p:nvGrpSpPr>
        <p:cNvPr id="199" name="" descr="&lt;Slide style={{ width: 1280, height: 720, padding: &quot;20px 72px&quot;, background: &quot;#F5E3BE&quot;, flexDirection: &quot;column&quot; }}&gt;&#10;  &lt;Box style={{ width: &quot;100%&quot;, height: 96, flexDirection: &quot;column&quot;, justifyContent: &quot;center&quot; }}&gt;&#10;    &lt;Text style={{ fontSize: 34, fontWeight: &quot;bold&quot;, color: &quot;#2A2118&quot;, fontFamily: &quot;'Songti SC', 'STSong', 'SimSun', serif&quot; }}&gt;原理 · 算杀层的四个真实 bug&lt;/Text&gt;&#10;    &lt;Box style={{ width: 56, height: 2, background: &quot;#B3271E&quot;, marginTop: 10 }} /&gt;&#10;  &lt;/Box&gt;&#10;  &lt;Box style={{ width: &quot;100%&quot;, height: 516, flexDirection: &quot;column&quot; }}&gt;&#10;  &lt;Box style={{ width: 860, height: &quot;100%&quot;, flexDirection: &quot;column&quot;, justifyContent: &quot;center&quot; }}&gt;&#10;    &lt;Text style={{ fontSize: 18, lineHeight: 1.7, color: &quot;#2A2118&quot;, fontFamily: &quot;'PingFang SC', 'Microsoft YaHei', sans-serif&quot;, marginBottom: 14 }}&gt;① 奇偶校验让 foe5 分支连堵两手，跳过对手整回合，制造假必胜——改成双成五点直接返回 None，单点不跳回合。&lt;/Text&gt;&#10;    &lt;Text style={{ fontSize: 18, lineHeight: 1.7, color: &quot;#2A2118&quot;, fontFamily: &quot;'PingFang SC', 'Microsoft YaHei', sans-serif&quot;, marginBottom: 14 }}&gt;② `_find_groups` 把隔着对方子的两段误连成跳形——联合条件补上 cells[gap]==0。&lt;/Text&gt;&#10;    &lt;Text style={{ fontSize: 18, lineHeight: 1.7, color: &quot;#2A2118&quot;, fontFamily: &quot;'PingFang SC', 'Microsoft YaHei', sans-serif&quot;, marginBottom: 14 }}&gt;③ 三三/四三捷径没验证对手反手冲四——只在 not foe_fours 时成立。&lt;/Text&gt;&#10;    &lt;Text style={{ fontSize: 18, lineHeight: 1.7, color: &quot;#2A2118&quot;, fontFamily: &quot;'PingFang SC', 'Microsoft YaHei', sans-serif&quot;, marginBottom: 14 }}&gt;④ 活三识别把己方子误记 2（应为 1），VCT 直接退化——改记 1，双活三即胜。对齐 Allis《Go-Moku and Threat-Space Search》：双成五点=无解必败。&lt;/Text&gt;&#10;  &lt;/Box&gt;&#10;  &lt;/Box&gt;&#10;  &lt;Box style={{ width: &quot;100%&quot;, height: 48, flexDirection: &quot;row&quot;, alignItems: &quot;center&quot;, justifyContent: &quot;space-between&quot; }}&gt;&#10;    &lt;Text style={{ fontSize: 14, color: &quot;rgba(42,33,24,0.55)&quot;, fontFamily: &quot;'PingFang SC', 'Microsoft YaHei', sans-serif&quot; }}&gt;弈趣棋苑 · 项目开发汇报&lt;/Text&gt;&#10;    &lt;Text style={{ fontSize: 14, color: &quot;rgba(42,33,24,0.55)&quot;, fontFamily: &quot;'PingFang SC', 'Microsoft YaHei', sans-serif&quot; }}&gt;25 / 64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5E3BE"/>
          </a:solidFill>
          <a:ln/>
        </p:spPr>
        <p:txBody>
          <a:bodyPr/>
          <a:p/>
        </p:txBody>
      </p:sp>
      <p:sp>
        <p:nvSpPr>
          <p:cNvPr id="201" name="" descr="{&quot;isTemplate&quot;:true,&quot;type&quot;:&quot;text&quot;}"/>
          <p:cNvSpPr txBox="1"/>
          <p:nvPr/>
        </p:nvSpPr>
        <p:spPr>
          <a:xfrm rot="0" flipH="0" flipV="0">
            <a:off x="685800" y="400050"/>
            <a:ext cx="108204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A2118"/>
                </a:solidFill>
                <a:latin typeface="Songti SC"/>
                <a:ea typeface="Songti SC"/>
              </a:rPr>
              <a:t>原理</a:t>
            </a:r>
            <a:r>
              <a:rPr lang="en-US" sz="2550" b="1">
                <a:solidFill>
                  <a:srgbClr val="2A2118"/>
                </a:solidFill>
                <a:latin typeface="Songti SC"/>
                <a:ea typeface="Songti SC"/>
              </a:rPr>
              <a:t xml:space="preserve"> · </a:t>
            </a:r>
            <a:r>
              <a:rPr lang="zh-CN" sz="2550" b="1">
                <a:solidFill>
                  <a:srgbClr val="2A2118"/>
                </a:solidFill>
                <a:latin typeface="Songti SC"/>
                <a:ea typeface="Songti SC"/>
              </a:rPr>
              <a:t>算杀层的四个真实</a:t>
            </a:r>
            <a:r>
              <a:rPr lang="en-US" sz="2550" b="1">
                <a:solidFill>
                  <a:srgbClr val="2A2118"/>
                </a:solidFill>
                <a:latin typeface="Songti SC"/>
                <a:ea typeface="Songti SC"/>
              </a:rPr>
              <a:t xml:space="preserve"> bug</a:t>
            </a:r>
            <a:endParaRPr/>
          </a:p>
        </p:txBody>
      </p:sp>
      <p:sp>
        <p:nvSpPr>
          <p:cNvPr id="202" name=""/>
          <p:cNvSpPr/>
          <p:nvPr/>
        </p:nvSpPr>
        <p:spPr>
          <a:xfrm rot="0" flipH="0" flipV="0">
            <a:off x="685800" y="885825"/>
            <a:ext cx="533400" cy="19050"/>
          </a:xfrm>
          <a:prstGeom prst="rect">
            <a:avLst/>
          </a:prstGeom>
          <a:solidFill>
            <a:srgbClr val="B3271E"/>
          </a:solidFill>
          <a:ln/>
        </p:spPr>
        <p:txBody>
          <a:bodyPr/>
          <a:p/>
        </p:txBody>
      </p:sp>
      <p:sp>
        <p:nvSpPr>
          <p:cNvPr id="203" name="" descr="{&quot;isTemplate&quot;:true,&quot;type&quot;:&quot;text&quot;}"/>
          <p:cNvSpPr txBox="1"/>
          <p:nvPr/>
        </p:nvSpPr>
        <p:spPr>
          <a:xfrm rot="0" flipH="0" flipV="0">
            <a:off x="685800" y="2238375"/>
            <a:ext cx="8191500" cy="7048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en-US" sz="1350">
                <a:solidFill>
                  <a:srgbClr val="2A2118"/>
                </a:solidFill>
                <a:latin typeface="PingFang SC"/>
                <a:ea typeface="PingFang SC"/>
              </a:rPr>
              <a:t xml:space="preserve">① </a:t>
            </a:r>
            <a:r>
              <a:rPr lang="zh-CN" sz="1350">
                <a:solidFill>
                  <a:srgbClr val="2A2118"/>
                </a:solidFill>
                <a:latin typeface="PingFang SC"/>
                <a:ea typeface="PingFang SC"/>
              </a:rPr>
              <a:t>奇偶校验让</a:t>
            </a:r>
            <a:r>
              <a:rPr lang="en-US" sz="1350">
                <a:solidFill>
                  <a:srgbClr val="2A2118"/>
                </a:solidFill>
                <a:latin typeface="PingFang SC"/>
                <a:ea typeface="PingFang SC"/>
              </a:rPr>
              <a:t xml:space="preserve"> foe5 </a:t>
            </a:r>
            <a:r>
              <a:rPr lang="zh-CN" sz="1350">
                <a:solidFill>
                  <a:srgbClr val="2A2118"/>
                </a:solidFill>
                <a:latin typeface="PingFang SC"/>
                <a:ea typeface="PingFang SC"/>
              </a:rPr>
              <a:t>分支连堵两手，跳过对手整回合，制造假必胜——改成双成五点直接返回</a:t>
            </a:r>
            <a:r>
              <a:rPr lang="en-US" sz="1350">
                <a:solidFill>
                  <a:srgbClr val="2A2118"/>
                </a:solidFill>
                <a:latin typeface="PingFang SC"/>
                <a:ea typeface="PingFang SC"/>
              </a:rPr>
              <a:t xml:space="preserve"> None</a:t>
            </a:r>
            <a:r>
              <a:rPr lang="zh-CN" sz="1350">
                <a:solidFill>
                  <a:srgbClr val="2A2118"/>
                </a:solidFill>
                <a:latin typeface="PingFang SC"/>
                <a:ea typeface="PingFang SC"/>
              </a:rPr>
              <a:t>，单点不跳回合。</a:t>
            </a:r>
            <a:endParaRPr/>
          </a:p>
        </p:txBody>
      </p:sp>
      <p:sp>
        <p:nvSpPr>
          <p:cNvPr id="204" name="" descr="{&quot;isTemplate&quot;:true,&quot;type&quot;:&quot;text&quot;}"/>
          <p:cNvSpPr txBox="1"/>
          <p:nvPr/>
        </p:nvSpPr>
        <p:spPr>
          <a:xfrm rot="0" flipH="0" flipV="0">
            <a:off x="685800" y="3076575"/>
            <a:ext cx="8191500" cy="35242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1350">
                <a:solidFill>
                  <a:srgbClr val="2A2118"/>
                </a:solidFill>
                <a:latin typeface="PingFang SC"/>
                <a:ea typeface="PingFang SC"/>
              </a:rPr>
              <a:t xml:space="preserve">② `_find_groups` </a:t>
            </a:r>
            <a:r>
              <a:rPr lang="zh-CN" sz="1350">
                <a:solidFill>
                  <a:srgbClr val="2A2118"/>
                </a:solidFill>
                <a:latin typeface="PingFang SC"/>
                <a:ea typeface="PingFang SC"/>
              </a:rPr>
              <a:t>把隔着对方子的两段误连成跳形——联合条件补上</a:t>
            </a:r>
            <a:r>
              <a:rPr lang="en-US" sz="1350">
                <a:solidFill>
                  <a:srgbClr val="2A2118"/>
                </a:solidFill>
                <a:latin typeface="PingFang SC"/>
                <a:ea typeface="PingFang SC"/>
              </a:rPr>
              <a:t xml:space="preserve"> cells[gap]==0</a:t>
            </a:r>
            <a:r>
              <a:rPr lang="zh-CN" sz="1350">
                <a:solidFill>
                  <a:srgbClr val="2A2118"/>
                </a:solidFill>
                <a:latin typeface="PingFang SC"/>
                <a:ea typeface="PingFang SC"/>
              </a:rPr>
              <a:t>。</a:t>
            </a:r>
            <a:endParaRPr/>
          </a:p>
        </p:txBody>
      </p:sp>
      <p:sp>
        <p:nvSpPr>
          <p:cNvPr id="205" name="" descr="{&quot;isTemplate&quot;:true,&quot;type&quot;:&quot;text&quot;}"/>
          <p:cNvSpPr txBox="1"/>
          <p:nvPr/>
        </p:nvSpPr>
        <p:spPr>
          <a:xfrm rot="0" flipH="0" flipV="0">
            <a:off x="685800" y="3562350"/>
            <a:ext cx="8191500" cy="35242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1350">
                <a:solidFill>
                  <a:srgbClr val="2A2118"/>
                </a:solidFill>
                <a:latin typeface="PingFang SC"/>
                <a:ea typeface="PingFang SC"/>
              </a:rPr>
              <a:t xml:space="preserve">③ </a:t>
            </a:r>
            <a:r>
              <a:rPr lang="zh-CN" sz="1350">
                <a:solidFill>
                  <a:srgbClr val="2A2118"/>
                </a:solidFill>
                <a:latin typeface="PingFang SC"/>
                <a:ea typeface="PingFang SC"/>
              </a:rPr>
              <a:t>三三</a:t>
            </a:r>
            <a:r>
              <a:rPr lang="en-US" sz="1350">
                <a:solidFill>
                  <a:srgbClr val="2A2118"/>
                </a:solidFill>
                <a:latin typeface="PingFang SC"/>
                <a:ea typeface="PingFang SC"/>
              </a:rPr>
              <a:t>/</a:t>
            </a:r>
            <a:r>
              <a:rPr lang="zh-CN" sz="1350">
                <a:solidFill>
                  <a:srgbClr val="2A2118"/>
                </a:solidFill>
                <a:latin typeface="PingFang SC"/>
                <a:ea typeface="PingFang SC"/>
              </a:rPr>
              <a:t>四三捷径没验证对手反手冲四——只在</a:t>
            </a:r>
            <a:r>
              <a:rPr lang="en-US" sz="1350">
                <a:solidFill>
                  <a:srgbClr val="2A2118"/>
                </a:solidFill>
                <a:latin typeface="PingFang SC"/>
                <a:ea typeface="PingFang SC"/>
              </a:rPr>
              <a:t xml:space="preserve"> not foe_fours </a:t>
            </a:r>
            <a:r>
              <a:rPr lang="zh-CN" sz="1350">
                <a:solidFill>
                  <a:srgbClr val="2A2118"/>
                </a:solidFill>
                <a:latin typeface="PingFang SC"/>
                <a:ea typeface="PingFang SC"/>
              </a:rPr>
              <a:t>时成立。</a:t>
            </a:r>
            <a:endParaRPr/>
          </a:p>
        </p:txBody>
      </p:sp>
      <p:sp>
        <p:nvSpPr>
          <p:cNvPr id="206" name="" descr="{&quot;isTemplate&quot;:true,&quot;type&quot;:&quot;text&quot;}"/>
          <p:cNvSpPr txBox="1"/>
          <p:nvPr/>
        </p:nvSpPr>
        <p:spPr>
          <a:xfrm rot="0" flipH="0" flipV="0">
            <a:off x="685800" y="4048125"/>
            <a:ext cx="8191500" cy="7048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en-US" sz="1350">
                <a:solidFill>
                  <a:srgbClr val="2A2118"/>
                </a:solidFill>
                <a:latin typeface="PingFang SC"/>
                <a:ea typeface="PingFang SC"/>
              </a:rPr>
              <a:t xml:space="preserve">④ </a:t>
            </a:r>
            <a:r>
              <a:rPr lang="zh-CN" sz="1350">
                <a:solidFill>
                  <a:srgbClr val="2A2118"/>
                </a:solidFill>
                <a:latin typeface="PingFang SC"/>
                <a:ea typeface="PingFang SC"/>
              </a:rPr>
              <a:t>活三识别把己方子误记</a:t>
            </a:r>
            <a:r>
              <a:rPr lang="en-US" sz="1350">
                <a:solidFill>
                  <a:srgbClr val="2A2118"/>
                </a:solidFill>
                <a:latin typeface="PingFang SC"/>
                <a:ea typeface="PingFang SC"/>
              </a:rPr>
              <a:t xml:space="preserve"> 2</a:t>
            </a:r>
            <a:r>
              <a:rPr lang="zh-CN" sz="1350">
                <a:solidFill>
                  <a:srgbClr val="2A2118"/>
                </a:solidFill>
                <a:latin typeface="PingFang SC"/>
                <a:ea typeface="PingFang SC"/>
              </a:rPr>
              <a:t>（应为</a:t>
            </a:r>
            <a:r>
              <a:rPr lang="en-US" sz="1350">
                <a:solidFill>
                  <a:srgbClr val="2A2118"/>
                </a:solidFill>
                <a:latin typeface="PingFang SC"/>
                <a:ea typeface="PingFang SC"/>
              </a:rPr>
              <a:t xml:space="preserve"> 1</a:t>
            </a:r>
            <a:r>
              <a:rPr lang="zh-CN" sz="1350">
                <a:solidFill>
                  <a:srgbClr val="2A2118"/>
                </a:solidFill>
                <a:latin typeface="PingFang SC"/>
                <a:ea typeface="PingFang SC"/>
              </a:rPr>
              <a:t>），</a:t>
            </a:r>
            <a:r>
              <a:rPr lang="en-US" sz="1350">
                <a:solidFill>
                  <a:srgbClr val="2A2118"/>
                </a:solidFill>
                <a:latin typeface="PingFang SC"/>
                <a:ea typeface="PingFang SC"/>
              </a:rPr>
              <a:t xml:space="preserve">VCT </a:t>
            </a:r>
            <a:r>
              <a:rPr lang="zh-CN" sz="1350">
                <a:solidFill>
                  <a:srgbClr val="2A2118"/>
                </a:solidFill>
                <a:latin typeface="PingFang SC"/>
                <a:ea typeface="PingFang SC"/>
              </a:rPr>
              <a:t>直接退化——改记</a:t>
            </a:r>
            <a:r>
              <a:rPr lang="en-US" sz="1350">
                <a:solidFill>
                  <a:srgbClr val="2A2118"/>
                </a:solidFill>
                <a:latin typeface="PingFang SC"/>
                <a:ea typeface="PingFang SC"/>
              </a:rPr>
              <a:t xml:space="preserve"> 1</a:t>
            </a:r>
            <a:r>
              <a:rPr lang="zh-CN" sz="1350">
                <a:solidFill>
                  <a:srgbClr val="2A2118"/>
                </a:solidFill>
                <a:latin typeface="PingFang SC"/>
                <a:ea typeface="PingFang SC"/>
              </a:rPr>
              <a:t>，双活三即胜。对齐</a:t>
            </a:r>
            <a:r>
              <a:rPr lang="en-US" sz="1350">
                <a:solidFill>
                  <a:srgbClr val="2A2118"/>
                </a:solidFill>
                <a:latin typeface="PingFang SC"/>
                <a:ea typeface="PingFang SC"/>
              </a:rPr>
              <a:t xml:space="preserve"> Allis</a:t>
            </a:r>
            <a:r>
              <a:rPr lang="zh-CN" sz="1350">
                <a:solidFill>
                  <a:srgbClr val="2A2118"/>
                </a:solidFill>
                <a:latin typeface="PingFang SC"/>
                <a:ea typeface="PingFang SC"/>
              </a:rPr>
              <a:t>《</a:t>
            </a:r>
            <a:r>
              <a:rPr lang="en-US" sz="1350">
                <a:solidFill>
                  <a:srgbClr val="2A2118"/>
                </a:solidFill>
                <a:latin typeface="PingFang SC"/>
                <a:ea typeface="PingFang SC"/>
              </a:rPr>
              <a:t>Go-Moku and Threat-Space Search</a:t>
            </a:r>
            <a:r>
              <a:rPr lang="zh-CN" sz="1350">
                <a:solidFill>
                  <a:srgbClr val="2A2118"/>
                </a:solidFill>
                <a:latin typeface="PingFang SC"/>
                <a:ea typeface="PingFang SC"/>
              </a:rPr>
              <a:t>》：双成五点</a:t>
            </a:r>
            <a:r>
              <a:rPr lang="en-US" sz="1350">
                <a:solidFill>
                  <a:srgbClr val="2A2118"/>
                </a:solidFill>
                <a:latin typeface="PingFang SC"/>
                <a:ea typeface="PingFang SC"/>
              </a:rPr>
              <a:t>=</a:t>
            </a:r>
            <a:r>
              <a:rPr lang="zh-CN" sz="1350">
                <a:solidFill>
                  <a:srgbClr val="2A2118"/>
                </a:solidFill>
                <a:latin typeface="PingFang SC"/>
                <a:ea typeface="PingFang SC"/>
              </a:rPr>
              <a:t>无解必败。</a:t>
            </a:r>
            <a:endParaRPr/>
          </a:p>
        </p:txBody>
      </p:sp>
      <p:sp>
        <p:nvSpPr>
          <p:cNvPr id="207" name="" descr="{&quot;isTemplate&quot;:true,&quot;type&quot;:&quot;text&quot;}"/>
          <p:cNvSpPr txBox="1"/>
          <p:nvPr/>
        </p:nvSpPr>
        <p:spPr>
          <a:xfrm rot="0" flipH="0" flipV="0">
            <a:off x="685800" y="6172200"/>
            <a:ext cx="14478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2A2118">
                    <a:alpha val="55000"/>
                  </a:srgbClr>
                </a:solidFill>
                <a:latin typeface="PingFang SC"/>
                <a:ea typeface="PingFang SC"/>
              </a:rPr>
              <a:t>弈趣棋苑</a:t>
            </a:r>
            <a:r>
              <a:rPr lang="en-US" sz="1050">
                <a:solidFill>
                  <a:srgbClr val="2A2118">
                    <a:alpha val="55000"/>
                  </a:srgbClr>
                </a:solidFill>
                <a:latin typeface="PingFang SC"/>
                <a:ea typeface="PingFang SC"/>
              </a:rPr>
              <a:t xml:space="preserve"> · </a:t>
            </a:r>
            <a:r>
              <a:rPr lang="zh-CN" sz="1050">
                <a:solidFill>
                  <a:srgbClr val="2A2118">
                    <a:alpha val="55000"/>
                  </a:srgbClr>
                </a:solidFill>
                <a:latin typeface="PingFang SC"/>
                <a:ea typeface="PingFang SC"/>
              </a:rPr>
              <a:t>项目开发汇报</a:t>
            </a:r>
            <a:endParaRPr/>
          </a:p>
        </p:txBody>
      </p:sp>
      <p:sp>
        <p:nvSpPr>
          <p:cNvPr id="208" name="" descr="{&quot;isTemplate&quot;:true,&quot;type&quot;:&quot;text&quot;}"/>
          <p:cNvSpPr txBox="1"/>
          <p:nvPr/>
        </p:nvSpPr>
        <p:spPr>
          <a:xfrm rot="0" flipH="0" flipV="0">
            <a:off x="11049000" y="61722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2A2118">
                    <a:alpha val="55000"/>
                  </a:srgbClr>
                </a:solidFill>
                <a:latin typeface="PingFang SC"/>
                <a:ea typeface="PingFang SC"/>
              </a:rPr>
              <a:t>25 / 64</a:t>
            </a:r>
            <a:endParaRPr/>
          </a:p>
        </p:txBody>
      </p:sp>
    </p:spTree>
  </p:cSld>
</p:sld>
</file>

<file path=ppt/slides/slide25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209" name="" descr="&lt;Slide style={{ width: 1280, height: 720, padding: &quot;20px 72px&quot;, background: &quot;#F5E3BE&quot;, flexDirection: &quot;column&quot; }}&gt;&#10;  &lt;Box style={{ width: &quot;100%&quot;, height: 96, flexDirection: &quot;column&quot;, justifyContent: &quot;center&quot; }}&gt;&#10;    &lt;Text style={{ fontSize: 34, fontWeight: &quot;bold&quot;, color: &quot;#2A2118&quot;, fontFamily: &quot;'Songti SC', 'STSong', 'SimSun', serif&quot; }}&gt;原理 · 象棋接入本地 Pikafish NNUE&lt;/Text&gt;&#10;    &lt;Box style={{ width: 56, height: 2, background: &quot;#B3271E&quot;, marginTop: 10 }} /&gt;&#10;  &lt;/Box&gt;&#10;  &lt;Box style={{ width: &quot;100%&quot;, height: 516, flexDirection: &quot;column&quot; }}&gt;&#10;  &lt;Box style={{ flexDirection: &quot;column&quot;, height: &quot;100%&quot;, justifyContent: &quot;center&quot;, alignItems: &quot;center&quot;, gap: 14 }}&gt;&#10;    &lt;svg width=&quot;900&quot; height=&quot;150&quot; viewBox=&quot;0 0 900 150&quot; style={{ background: &quot;rgba(140,90,43,0.05)&quot;, borderRadius: 10 }}&gt;&#10;      &lt;rect x=&quot;20&quot; y=&quot;55&quot; width=&quot;120&quot; height=&quot;40&quot; rx=&quot;8&quot; fill=&quot;#8C5A2B&quot;/&gt;&lt;text x=&quot;80&quot; y=&quot;80&quot; font-size=&quot;13&quot; fill=&quot;#F5E3BE&quot; text-anchor=&quot;middle&quot; font-family=&quot;sans-serif&quot;&gt;主线程&lt;/text&gt;&#10;      &lt;rect x=&quot;170&quot; y=&quot;55&quot; width=&quot;140&quot; height=&quot;40&quot; rx=&quot;8&quot; fill=&quot;#B3271E&quot;/&gt;&lt;text x=&quot;240&quot; y=&quot;80&quot; font-size=&quot;13&quot; fill=&quot;#F5E3BE&quot; text-anchor=&quot;middle&quot; font-family=&quot;sans-serif&quot;&gt;起 UCI 子进程&lt;/text&gt;&#10;      &lt;rect x=&quot;340&quot; y=&quot;55&quot; width=&quot;120&quot; height=&quot;40&quot; rx=&quot;8&quot; fill=&quot;#2A2118&quot;/&gt;&lt;text x=&quot;400&quot; y=&quot;80&quot; font-size=&quot;13&quot; fill=&quot;#F5E3BE&quot; text-anchor=&quot;middle&quot; font-family=&quot;sans-serif&quot;&gt;uci→isready&lt;/text&gt;&#10;      &lt;rect x=&quot;490&quot; y=&quot;55&quot; width=&quot;120&quot; height=&quot;40&quot; rx=&quot;8&quot; fill=&quot;#2A2118&quot;/&gt;&lt;text x=&quot;550&quot; y=&quot;80&quot; font-size=&quot;13&quot; fill=&quot;#F5E3BE&quot; text-anchor=&quot;middle&quot; font-family=&quot;sans-serif&quot;&gt;position&lt;/text&gt;&#10;      &lt;rect x=&quot;640&quot; y=&quot;55&quot; width=&quot;100&quot; height=&quot;40&quot; rx=&quot;8&quot; fill=&quot;#2A2118&quot;/&gt;&lt;text x=&quot;690&quot; y=&quot;80&quot; font-size=&quot;13&quot; fill=&quot;#F5E3BE&quot; text-anchor=&quot;middle&quot; font-family=&quot;sans-serif&quot;&gt;go&lt;/text&gt;&#10;      &lt;rect x=&quot;770&quot; y=&quot;55&quot; width=&quot;110&quot; height=&quot;40&quot; rx=&quot;8&quot; fill=&quot;#8C5A2B&quot; opacity=&quot;0.7&quot;/&gt;&lt;text x=&quot;825&quot; y=&quot;80&quot; font-size=&quot;13&quot; fill=&quot;#F5E3BE&quot; text-anchor=&quot;middle&quot; font-family=&quot;sans-serif&quot;&gt;bestmove&lt;/text&gt;&#10;      &lt;line x1=&quot;140&quot; y1=&quot;75&quot; x2=&quot;170&quot; y2=&quot;75&quot; stroke=&quot;#2A2118&quot; stroke-width=&quot;2&quot;/&gt;&lt;line x1=&quot;310&quot; y1=&quot;75&quot; x2=&quot;340&quot; y2=&quot;75&quot; stroke=&quot;#2A2118&quot; stroke-width=&quot;2&quot;/&gt;&lt;line x1=&quot;460&quot; y1=&quot;75&quot; x2=&quot;490&quot; y2=&quot;75&quot; stroke=&quot;#2A2118&quot; stroke-width=&quot;2&quot;/&gt;&lt;line x1=&quot;610&quot; y1=&quot;75&quot; x2=&quot;640&quot; y2=&quot;75&quot; stroke=&quot;#2A2118&quot; stroke-width=&quot;2&quot;/&gt;&lt;line x1=&quot;740&quot; y1=&quot;75&quot; x2=&quot;770&quot; y2=&quot;75&quot; stroke=&quot;#2A2118&quot; stroke-width=&quot;2&quot;/&gt;&#10;    &lt;/svg&gt;&#10;    &lt;Text style={{ fontSize: 15, color: &quot;rgba(42,33,24,0.6)&quot;, fontFamily: &quot;'PingFang SC', 'Microsoft YaHei', sans-serif&quot; }}&gt;UCI 协议封装：起子进程走 uci→isready→position→go，三档难度=搜索深度&lt;/Text&gt;&#10;  &lt;/Box&gt;&#10;  &lt;/Box&gt;&#10;  &lt;Box style={{ width: &quot;100%&quot;, height: 48, flexDirection: &quot;row&quot;, alignItems: &quot;center&quot;, justifyContent: &quot;space-between&quot; }}&gt;&#10;    &lt;Text style={{ fontSize: 14, color: &quot;rgba(42,33,24,0.55)&quot;, fontFamily: &quot;'PingFang SC', 'Microsoft YaHei', sans-serif&quot; }}&gt;弈趣棋苑 · 项目开发汇报&lt;/Text&gt;&#10;    &lt;Text style={{ fontSize: 14, color: &quot;rgba(42,33,24,0.55)&quot;, fontFamily: &quot;'PingFang SC', 'Microsoft YaHei', sans-serif&quot; }}&gt;26 / 64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5E3BE"/>
          </a:solidFill>
          <a:ln/>
        </p:spPr>
        <p:txBody>
          <a:bodyPr/>
          <a:p/>
        </p:txBody>
      </p:sp>
      <p:sp>
        <p:nvSpPr>
          <p:cNvPr id="211" name="" descr="{&quot;isTemplate&quot;:true,&quot;type&quot;:&quot;text&quot;}"/>
          <p:cNvSpPr txBox="1"/>
          <p:nvPr/>
        </p:nvSpPr>
        <p:spPr>
          <a:xfrm rot="0" flipH="0" flipV="0">
            <a:off x="685800" y="400050"/>
            <a:ext cx="108204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A2118"/>
                </a:solidFill>
                <a:latin typeface="Songti SC"/>
                <a:ea typeface="Songti SC"/>
              </a:rPr>
              <a:t>原理</a:t>
            </a:r>
            <a:r>
              <a:rPr lang="en-US" sz="2550" b="1">
                <a:solidFill>
                  <a:srgbClr val="2A2118"/>
                </a:solidFill>
                <a:latin typeface="Songti SC"/>
                <a:ea typeface="Songti SC"/>
              </a:rPr>
              <a:t xml:space="preserve"> · </a:t>
            </a:r>
            <a:r>
              <a:rPr lang="zh-CN" sz="2550" b="1">
                <a:solidFill>
                  <a:srgbClr val="2A2118"/>
                </a:solidFill>
                <a:latin typeface="Songti SC"/>
                <a:ea typeface="Songti SC"/>
              </a:rPr>
              <a:t>象棋接入本地</a:t>
            </a:r>
            <a:r>
              <a:rPr lang="en-US" sz="2550" b="1">
                <a:solidFill>
                  <a:srgbClr val="2A2118"/>
                </a:solidFill>
                <a:latin typeface="Songti SC"/>
                <a:ea typeface="Songti SC"/>
              </a:rPr>
              <a:t xml:space="preserve"> Pikafish NNUE</a:t>
            </a:r>
            <a:endParaRPr/>
          </a:p>
        </p:txBody>
      </p:sp>
      <p:sp>
        <p:nvSpPr>
          <p:cNvPr id="212" name=""/>
          <p:cNvSpPr/>
          <p:nvPr/>
        </p:nvSpPr>
        <p:spPr>
          <a:xfrm rot="0" flipH="0" flipV="0">
            <a:off x="685800" y="885825"/>
            <a:ext cx="533400" cy="19050"/>
          </a:xfrm>
          <a:prstGeom prst="rect">
            <a:avLst/>
          </a:prstGeom>
          <a:solidFill>
            <a:srgbClr val="B3271E"/>
          </a:solidFill>
          <a:ln/>
        </p:spPr>
        <p:txBody>
          <a:bodyPr/>
          <a:p/>
        </p:txBody>
      </p:sp>
      <p:sp>
        <p:nvSpPr>
          <p:cNvPr id="213" name=""/>
          <p:cNvSpPr/>
          <p:nvPr/>
        </p:nvSpPr>
        <p:spPr>
          <a:xfrm rot="0" flipH="0" flipV="0">
            <a:off x="1809750" y="2695575"/>
            <a:ext cx="8572500" cy="1428750"/>
          </a:xfrm>
          <a:prstGeom prst="roundRect">
            <a:avLst>
              <a:gd name="adj" fmla="val 6667"/>
            </a:avLst>
          </a:prstGeom>
          <a:ln/>
        </p:spPr>
        <p:txBody>
          <a:bodyPr/>
          <a:p/>
        </p:txBody>
      </p:sp>
      <p:pic>
        <p:nvPicPr>
          <p:cNvPr id="214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1809750" y="2695575"/>
            <a:ext cx="8572500" cy="1428750"/>
          </a:xfrm>
          <a:prstGeom prst="rect">
            <a:avLst/>
          </a:prstGeom>
          <a:ln/>
        </p:spPr>
      </p:pic>
      <p:sp>
        <p:nvSpPr>
          <p:cNvPr id="215" name="" descr="{&quot;isTemplate&quot;:true,&quot;type&quot;:&quot;text&quot;}"/>
          <p:cNvSpPr txBox="1"/>
          <p:nvPr/>
        </p:nvSpPr>
        <p:spPr>
          <a:xfrm rot="0" flipH="0" flipV="0">
            <a:off x="3600450" y="4257675"/>
            <a:ext cx="50006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2A2118">
                    <a:alpha val="60000"/>
                  </a:srgbClr>
                </a:solidFill>
                <a:latin typeface="PingFang SC"/>
                <a:ea typeface="PingFang SC"/>
              </a:rPr>
              <a:t xml:space="preserve">UCI </a:t>
            </a:r>
            <a:r>
              <a:rPr lang="zh-CN" sz="1125">
                <a:solidFill>
                  <a:srgbClr val="2A2118">
                    <a:alpha val="60000"/>
                  </a:srgbClr>
                </a:solidFill>
                <a:latin typeface="PingFang SC"/>
                <a:ea typeface="PingFang SC"/>
              </a:rPr>
              <a:t>协议封装：起子进程走</a:t>
            </a:r>
            <a:r>
              <a:rPr lang="en-US" sz="1125">
                <a:solidFill>
                  <a:srgbClr val="2A2118">
                    <a:alpha val="60000"/>
                  </a:srgbClr>
                </a:solidFill>
                <a:latin typeface="PingFang SC"/>
                <a:ea typeface="PingFang SC"/>
              </a:rPr>
              <a:t xml:space="preserve"> uci→isready→position→go</a:t>
            </a:r>
            <a:r>
              <a:rPr lang="zh-CN" sz="1125">
                <a:solidFill>
                  <a:srgbClr val="2A2118">
                    <a:alpha val="60000"/>
                  </a:srgbClr>
                </a:solidFill>
                <a:latin typeface="PingFang SC"/>
                <a:ea typeface="PingFang SC"/>
              </a:rPr>
              <a:t>，三档难度</a:t>
            </a:r>
            <a:r>
              <a:rPr lang="en-US" sz="1125">
                <a:solidFill>
                  <a:srgbClr val="2A2118">
                    <a:alpha val="60000"/>
                  </a:srgbClr>
                </a:solidFill>
                <a:latin typeface="PingFang SC"/>
                <a:ea typeface="PingFang SC"/>
              </a:rPr>
              <a:t>=</a:t>
            </a:r>
            <a:r>
              <a:rPr lang="zh-CN" sz="1125">
                <a:solidFill>
                  <a:srgbClr val="2A2118">
                    <a:alpha val="60000"/>
                  </a:srgbClr>
                </a:solidFill>
                <a:latin typeface="PingFang SC"/>
                <a:ea typeface="PingFang SC"/>
              </a:rPr>
              <a:t>搜索深度</a:t>
            </a:r>
            <a:endParaRPr/>
          </a:p>
        </p:txBody>
      </p:sp>
      <p:sp>
        <p:nvSpPr>
          <p:cNvPr id="216" name="" descr="{&quot;isTemplate&quot;:true,&quot;type&quot;:&quot;text&quot;}"/>
          <p:cNvSpPr txBox="1"/>
          <p:nvPr/>
        </p:nvSpPr>
        <p:spPr>
          <a:xfrm rot="0" flipH="0" flipV="0">
            <a:off x="685800" y="6172200"/>
            <a:ext cx="14478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2A2118">
                    <a:alpha val="55000"/>
                  </a:srgbClr>
                </a:solidFill>
                <a:latin typeface="PingFang SC"/>
                <a:ea typeface="PingFang SC"/>
              </a:rPr>
              <a:t>弈趣棋苑</a:t>
            </a:r>
            <a:r>
              <a:rPr lang="en-US" sz="1050">
                <a:solidFill>
                  <a:srgbClr val="2A2118">
                    <a:alpha val="55000"/>
                  </a:srgbClr>
                </a:solidFill>
                <a:latin typeface="PingFang SC"/>
                <a:ea typeface="PingFang SC"/>
              </a:rPr>
              <a:t xml:space="preserve"> · </a:t>
            </a:r>
            <a:r>
              <a:rPr lang="zh-CN" sz="1050">
                <a:solidFill>
                  <a:srgbClr val="2A2118">
                    <a:alpha val="55000"/>
                  </a:srgbClr>
                </a:solidFill>
                <a:latin typeface="PingFang SC"/>
                <a:ea typeface="PingFang SC"/>
              </a:rPr>
              <a:t>项目开发汇报</a:t>
            </a:r>
            <a:endParaRPr/>
          </a:p>
        </p:txBody>
      </p:sp>
      <p:sp>
        <p:nvSpPr>
          <p:cNvPr id="217" name="" descr="{&quot;isTemplate&quot;:true,&quot;type&quot;:&quot;text&quot;}"/>
          <p:cNvSpPr txBox="1"/>
          <p:nvPr/>
        </p:nvSpPr>
        <p:spPr>
          <a:xfrm rot="0" flipH="0" flipV="0">
            <a:off x="11049000" y="61722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2A2118">
                    <a:alpha val="55000"/>
                  </a:srgbClr>
                </a:solidFill>
                <a:latin typeface="PingFang SC"/>
                <a:ea typeface="PingFang SC"/>
              </a:rPr>
              <a:t>26 / 64</a:t>
            </a:r>
            <a:endParaRPr/>
          </a:p>
        </p:txBody>
      </p:sp>
    </p:spTree>
  </p:cSld>
</p:sld>
</file>

<file path=ppt/slides/slide26.xml><?xml version="1.0" encoding="utf-8"?>
<p:sld xmlns:p="http://schemas.openxmlformats.org/presentationml/2006/main" xmlns:a="http://schemas.openxmlformats.org/drawingml/2006/main">
  <p:cSld>
    <p:spTree>
      <p:nvGrpSpPr>
        <p:cNvPr id="218" name="" descr="&lt;Slide style={{ width: 1280, height: 720, padding: &quot;20px 72px&quot;, background: &quot;#F5E3BE&quot;, flexDirection: &quot;column&quot; }}&gt;&#10;  &lt;Box style={{ width: &quot;100%&quot;, height: 96, flexDirection: &quot;column&quot;, justifyContent: &quot;center&quot; }}&gt;&#10;    &lt;Text style={{ fontSize: 34, fontWeight: &quot;bold&quot;, color: &quot;#2A2118&quot;, fontFamily: &quot;'Songti SC', 'STSong', 'SimSun', serif&quot; }}&gt;原理 · 分数怎么变成胜率&lt;/Text&gt;&#10;    &lt;Box style={{ width: 56, height: 2, background: &quot;#B3271E&quot;, marginTop: 10 }} /&gt;&#10;  &lt;/Box&gt;&#10;  &lt;Box style={{ width: &quot;100%&quot;, height: 516, flexDirection: &quot;column&quot; }}&gt;&#10;  &lt;Box style={{ width: 860, height: &quot;100%&quot;, flexDirection: &quot;column&quot;, justifyContent: &quot;center&quot; }}&gt;&#10;    &lt;Text style={{ fontSize: 18, lineHeight: 1.7, color: &quot;#2A2118&quot;, fontFamily: &quot;'PingFang SC', 'Microsoft YaHei', sans-serif&quot;, marginBottom: 14 }}&gt;象棋 AI 返回的是评估分 cp。要变成人能读的胜率，用 Elo 公式：P = 1 / (1 + 10^(-cp/400))，按 Pikafish 官方 D=400 锚点换算，封顶 [5,95]（象棋和棋率太高，不能给到 0/100）。&lt;/Text&gt;&#10;    &lt;Text style={{ fontSize: 18, lineHeight: 1.7, color: &quot;#2A2118&quot;, fontFamily: &quot;'PingFang SC', 'Microsoft YaHei', sans-serif&quot;, marginBottom: 14 }}&gt;横轴是真实 ply，曲线在概率域做 EMA 平滑，再单步限幅 10 个百分点——平滑绝不能「最后一点不平滑」，否则原始值直接显示会跳变。&lt;/Text&gt;&#10;    &lt;Text style={{ fontSize: 18, lineHeight: 1.7, color: &quot;#2A2118&quot;, fontFamily: &quot;'PingFang SC', 'Microsoft YaHei', sans-serif&quot;, marginBottom: 14 }}&gt;这一步把「这步棋好不好」翻译成「我大概几成胜算」，评委和玩家都能一眼看懂。&lt;/Text&gt;&#10;  &lt;/Box&gt;&#10;  &lt;/Box&gt;&#10;  &lt;Box style={{ width: &quot;100%&quot;, height: 48, flexDirection: &quot;row&quot;, alignItems: &quot;center&quot;, justifyContent: &quot;space-between&quot; }}&gt;&#10;    &lt;Text style={{ fontSize: 14, color: &quot;rgba(42,33,24,0.55)&quot;, fontFamily: &quot;'PingFang SC', 'Microsoft YaHei', sans-serif&quot; }}&gt;弈趣棋苑 · 项目开发汇报&lt;/Text&gt;&#10;    &lt;Text style={{ fontSize: 14, color: &quot;rgba(42,33,24,0.55)&quot;, fontFamily: &quot;'PingFang SC', 'Microsoft YaHei', sans-serif&quot; }}&gt;27 / 64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5E3BE"/>
          </a:solidFill>
          <a:ln/>
        </p:spPr>
        <p:txBody>
          <a:bodyPr/>
          <a:p/>
        </p:txBody>
      </p:sp>
      <p:sp>
        <p:nvSpPr>
          <p:cNvPr id="220" name="" descr="{&quot;isTemplate&quot;:true,&quot;type&quot;:&quot;text&quot;}"/>
          <p:cNvSpPr txBox="1"/>
          <p:nvPr/>
        </p:nvSpPr>
        <p:spPr>
          <a:xfrm rot="0" flipH="0" flipV="0">
            <a:off x="685800" y="400050"/>
            <a:ext cx="108204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A2118"/>
                </a:solidFill>
                <a:latin typeface="Songti SC"/>
                <a:ea typeface="Songti SC"/>
              </a:rPr>
              <a:t>原理</a:t>
            </a:r>
            <a:r>
              <a:rPr lang="en-US" sz="2550" b="1">
                <a:solidFill>
                  <a:srgbClr val="2A2118"/>
                </a:solidFill>
                <a:latin typeface="Songti SC"/>
                <a:ea typeface="Songti SC"/>
              </a:rPr>
              <a:t xml:space="preserve"> · </a:t>
            </a:r>
            <a:r>
              <a:rPr lang="zh-CN" sz="2550" b="1">
                <a:solidFill>
                  <a:srgbClr val="2A2118"/>
                </a:solidFill>
                <a:latin typeface="Songti SC"/>
                <a:ea typeface="Songti SC"/>
              </a:rPr>
              <a:t>分数怎么变成胜率</a:t>
            </a:r>
            <a:endParaRPr/>
          </a:p>
        </p:txBody>
      </p:sp>
      <p:sp>
        <p:nvSpPr>
          <p:cNvPr id="221" name=""/>
          <p:cNvSpPr/>
          <p:nvPr/>
        </p:nvSpPr>
        <p:spPr>
          <a:xfrm rot="0" flipH="0" flipV="0">
            <a:off x="685800" y="885825"/>
            <a:ext cx="533400" cy="19050"/>
          </a:xfrm>
          <a:prstGeom prst="rect">
            <a:avLst/>
          </a:prstGeom>
          <a:solidFill>
            <a:srgbClr val="B3271E"/>
          </a:solidFill>
          <a:ln/>
        </p:spPr>
        <p:txBody>
          <a:bodyPr/>
          <a:p/>
        </p:txBody>
      </p:sp>
      <p:sp>
        <p:nvSpPr>
          <p:cNvPr id="222" name="" descr="{&quot;isTemplate&quot;:true,&quot;type&quot;:&quot;text&quot;}"/>
          <p:cNvSpPr txBox="1"/>
          <p:nvPr/>
        </p:nvSpPr>
        <p:spPr>
          <a:xfrm rot="0" flipH="0" flipV="0">
            <a:off x="685800" y="2486025"/>
            <a:ext cx="8191500" cy="7048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350">
                <a:solidFill>
                  <a:srgbClr val="2A2118"/>
                </a:solidFill>
                <a:latin typeface="PingFang SC"/>
                <a:ea typeface="PingFang SC"/>
              </a:rPr>
              <a:t>象棋</a:t>
            </a:r>
            <a:r>
              <a:rPr lang="en-US" sz="1350">
                <a:solidFill>
                  <a:srgbClr val="2A2118"/>
                </a:solidFill>
                <a:latin typeface="PingFang SC"/>
                <a:ea typeface="PingFang SC"/>
              </a:rPr>
              <a:t xml:space="preserve"> AI </a:t>
            </a:r>
            <a:r>
              <a:rPr lang="zh-CN" sz="1350">
                <a:solidFill>
                  <a:srgbClr val="2A2118"/>
                </a:solidFill>
                <a:latin typeface="PingFang SC"/>
                <a:ea typeface="PingFang SC"/>
              </a:rPr>
              <a:t>返回的是评估分</a:t>
            </a:r>
            <a:r>
              <a:rPr lang="en-US" sz="1350">
                <a:solidFill>
                  <a:srgbClr val="2A2118"/>
                </a:solidFill>
                <a:latin typeface="PingFang SC"/>
                <a:ea typeface="PingFang SC"/>
              </a:rPr>
              <a:t xml:space="preserve"> cp</a:t>
            </a:r>
            <a:r>
              <a:rPr lang="zh-CN" sz="1350">
                <a:solidFill>
                  <a:srgbClr val="2A2118"/>
                </a:solidFill>
                <a:latin typeface="PingFang SC"/>
                <a:ea typeface="PingFang SC"/>
              </a:rPr>
              <a:t>。要变成人能读的胜率，用</a:t>
            </a:r>
            <a:r>
              <a:rPr lang="en-US" sz="1350">
                <a:solidFill>
                  <a:srgbClr val="2A2118"/>
                </a:solidFill>
                <a:latin typeface="PingFang SC"/>
                <a:ea typeface="PingFang SC"/>
              </a:rPr>
              <a:t xml:space="preserve"> Elo </a:t>
            </a:r>
            <a:r>
              <a:rPr lang="zh-CN" sz="1350">
                <a:solidFill>
                  <a:srgbClr val="2A2118"/>
                </a:solidFill>
                <a:latin typeface="PingFang SC"/>
                <a:ea typeface="PingFang SC"/>
              </a:rPr>
              <a:t>公式：</a:t>
            </a:r>
            <a:r>
              <a:rPr lang="en-US" sz="1350">
                <a:solidFill>
                  <a:srgbClr val="2A2118"/>
                </a:solidFill>
                <a:latin typeface="PingFang SC"/>
                <a:ea typeface="PingFang SC"/>
              </a:rPr>
              <a:t>P = 1 / (1 + 10^(-cp/400))</a:t>
            </a:r>
            <a:r>
              <a:rPr lang="zh-CN" sz="1350">
                <a:solidFill>
                  <a:srgbClr val="2A2118"/>
                </a:solidFill>
                <a:latin typeface="PingFang SC"/>
                <a:ea typeface="PingFang SC"/>
              </a:rPr>
              <a:t>，按</a:t>
            </a:r>
            <a:r>
              <a:rPr lang="en-US" sz="1350">
                <a:solidFill>
                  <a:srgbClr val="2A2118"/>
                </a:solidFill>
                <a:latin typeface="PingFang SC"/>
                <a:ea typeface="PingFang SC"/>
              </a:rPr>
              <a:t xml:space="preserve"> Pikafish </a:t>
            </a:r>
            <a:r>
              <a:rPr lang="zh-CN" sz="1350">
                <a:solidFill>
                  <a:srgbClr val="2A2118"/>
                </a:solidFill>
                <a:latin typeface="PingFang SC"/>
                <a:ea typeface="PingFang SC"/>
              </a:rPr>
              <a:t>官方</a:t>
            </a:r>
            <a:r>
              <a:rPr lang="en-US" sz="1350">
                <a:solidFill>
                  <a:srgbClr val="2A2118"/>
                </a:solidFill>
                <a:latin typeface="PingFang SC"/>
                <a:ea typeface="PingFang SC"/>
              </a:rPr>
              <a:t xml:space="preserve"> D=400 </a:t>
            </a:r>
            <a:r>
              <a:rPr lang="zh-CN" sz="1350">
                <a:solidFill>
                  <a:srgbClr val="2A2118"/>
                </a:solidFill>
                <a:latin typeface="PingFang SC"/>
                <a:ea typeface="PingFang SC"/>
              </a:rPr>
              <a:t>锚点换算，封顶</a:t>
            </a:r>
            <a:r>
              <a:rPr lang="en-US" sz="1350">
                <a:solidFill>
                  <a:srgbClr val="2A2118"/>
                </a:solidFill>
                <a:latin typeface="PingFang SC"/>
                <a:ea typeface="PingFang SC"/>
              </a:rPr>
              <a:t xml:space="preserve"> [5,95]</a:t>
            </a:r>
            <a:r>
              <a:rPr lang="zh-CN" sz="1350">
                <a:solidFill>
                  <a:srgbClr val="2A2118"/>
                </a:solidFill>
                <a:latin typeface="PingFang SC"/>
                <a:ea typeface="PingFang SC"/>
              </a:rPr>
              <a:t>（象棋和棋率太高，不能给到</a:t>
            </a:r>
            <a:r>
              <a:rPr lang="en-US" sz="1350">
                <a:solidFill>
                  <a:srgbClr val="2A2118"/>
                </a:solidFill>
                <a:latin typeface="PingFang SC"/>
                <a:ea typeface="PingFang SC"/>
              </a:rPr>
              <a:t xml:space="preserve"> 0/100</a:t>
            </a:r>
            <a:r>
              <a:rPr lang="zh-CN" sz="1350">
                <a:solidFill>
                  <a:srgbClr val="2A2118"/>
                </a:solidFill>
                <a:latin typeface="PingFang SC"/>
                <a:ea typeface="PingFang SC"/>
              </a:rPr>
              <a:t>）。</a:t>
            </a:r>
            <a:endParaRPr/>
          </a:p>
        </p:txBody>
      </p:sp>
      <p:sp>
        <p:nvSpPr>
          <p:cNvPr id="223" name="" descr="{&quot;isTemplate&quot;:true,&quot;type&quot;:&quot;text&quot;}"/>
          <p:cNvSpPr txBox="1"/>
          <p:nvPr/>
        </p:nvSpPr>
        <p:spPr>
          <a:xfrm rot="0" flipH="0" flipV="0">
            <a:off x="685800" y="3324225"/>
            <a:ext cx="8191500" cy="7048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350">
                <a:solidFill>
                  <a:srgbClr val="2A2118"/>
                </a:solidFill>
                <a:latin typeface="PingFang SC"/>
                <a:ea typeface="PingFang SC"/>
              </a:rPr>
              <a:t>横轴是真实</a:t>
            </a:r>
            <a:r>
              <a:rPr lang="en-US" sz="1350">
                <a:solidFill>
                  <a:srgbClr val="2A2118"/>
                </a:solidFill>
                <a:latin typeface="PingFang SC"/>
                <a:ea typeface="PingFang SC"/>
              </a:rPr>
              <a:t xml:space="preserve"> ply</a:t>
            </a:r>
            <a:r>
              <a:rPr lang="zh-CN" sz="1350">
                <a:solidFill>
                  <a:srgbClr val="2A2118"/>
                </a:solidFill>
                <a:latin typeface="PingFang SC"/>
                <a:ea typeface="PingFang SC"/>
              </a:rPr>
              <a:t>，曲线在概率域做</a:t>
            </a:r>
            <a:r>
              <a:rPr lang="en-US" sz="1350">
                <a:solidFill>
                  <a:srgbClr val="2A2118"/>
                </a:solidFill>
                <a:latin typeface="PingFang SC"/>
                <a:ea typeface="PingFang SC"/>
              </a:rPr>
              <a:t xml:space="preserve"> EMA </a:t>
            </a:r>
            <a:r>
              <a:rPr lang="zh-CN" sz="1350">
                <a:solidFill>
                  <a:srgbClr val="2A2118"/>
                </a:solidFill>
                <a:latin typeface="PingFang SC"/>
                <a:ea typeface="PingFang SC"/>
              </a:rPr>
              <a:t>平滑，再单步限幅</a:t>
            </a:r>
            <a:r>
              <a:rPr lang="en-US" sz="1350">
                <a:solidFill>
                  <a:srgbClr val="2A2118"/>
                </a:solidFill>
                <a:latin typeface="PingFang SC"/>
                <a:ea typeface="PingFang SC"/>
              </a:rPr>
              <a:t xml:space="preserve"> 10 </a:t>
            </a:r>
            <a:r>
              <a:rPr lang="zh-CN" sz="1350">
                <a:solidFill>
                  <a:srgbClr val="2A2118"/>
                </a:solidFill>
                <a:latin typeface="PingFang SC"/>
                <a:ea typeface="PingFang SC"/>
              </a:rPr>
              <a:t>个百分点——平滑绝不能「最后一点不平滑」，否则原始值直接显示会跳变。</a:t>
            </a:r>
            <a:endParaRPr/>
          </a:p>
        </p:txBody>
      </p:sp>
      <p:sp>
        <p:nvSpPr>
          <p:cNvPr id="224" name="" descr="{&quot;isTemplate&quot;:true,&quot;type&quot;:&quot;text&quot;}"/>
          <p:cNvSpPr txBox="1"/>
          <p:nvPr/>
        </p:nvSpPr>
        <p:spPr>
          <a:xfrm rot="0" flipH="0" flipV="0">
            <a:off x="685800" y="4162425"/>
            <a:ext cx="8191500" cy="35242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350">
                <a:solidFill>
                  <a:srgbClr val="2A2118"/>
                </a:solidFill>
                <a:latin typeface="PingFang SC"/>
                <a:ea typeface="PingFang SC"/>
              </a:rPr>
              <a:t>这一步把「这步棋好不好」翻译成「我大概几成胜算」，评委和玩家都能一眼看懂。</a:t>
            </a:r>
            <a:endParaRPr/>
          </a:p>
        </p:txBody>
      </p:sp>
      <p:sp>
        <p:nvSpPr>
          <p:cNvPr id="225" name="" descr="{&quot;isTemplate&quot;:true,&quot;type&quot;:&quot;text&quot;}"/>
          <p:cNvSpPr txBox="1"/>
          <p:nvPr/>
        </p:nvSpPr>
        <p:spPr>
          <a:xfrm rot="0" flipH="0" flipV="0">
            <a:off x="685800" y="6172200"/>
            <a:ext cx="14478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2A2118">
                    <a:alpha val="55000"/>
                  </a:srgbClr>
                </a:solidFill>
                <a:latin typeface="PingFang SC"/>
                <a:ea typeface="PingFang SC"/>
              </a:rPr>
              <a:t>弈趣棋苑</a:t>
            </a:r>
            <a:r>
              <a:rPr lang="en-US" sz="1050">
                <a:solidFill>
                  <a:srgbClr val="2A2118">
                    <a:alpha val="55000"/>
                  </a:srgbClr>
                </a:solidFill>
                <a:latin typeface="PingFang SC"/>
                <a:ea typeface="PingFang SC"/>
              </a:rPr>
              <a:t xml:space="preserve"> · </a:t>
            </a:r>
            <a:r>
              <a:rPr lang="zh-CN" sz="1050">
                <a:solidFill>
                  <a:srgbClr val="2A2118">
                    <a:alpha val="55000"/>
                  </a:srgbClr>
                </a:solidFill>
                <a:latin typeface="PingFang SC"/>
                <a:ea typeface="PingFang SC"/>
              </a:rPr>
              <a:t>项目开发汇报</a:t>
            </a:r>
            <a:endParaRPr/>
          </a:p>
        </p:txBody>
      </p:sp>
      <p:sp>
        <p:nvSpPr>
          <p:cNvPr id="226" name="" descr="{&quot;isTemplate&quot;:true,&quot;type&quot;:&quot;text&quot;}"/>
          <p:cNvSpPr txBox="1"/>
          <p:nvPr/>
        </p:nvSpPr>
        <p:spPr>
          <a:xfrm rot="0" flipH="0" flipV="0">
            <a:off x="11049000" y="61722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2A2118">
                    <a:alpha val="55000"/>
                  </a:srgbClr>
                </a:solidFill>
                <a:latin typeface="PingFang SC"/>
                <a:ea typeface="PingFang SC"/>
              </a:rPr>
              <a:t>27 / 64</a:t>
            </a:r>
            <a:endParaRPr/>
          </a:p>
        </p:txBody>
      </p:sp>
    </p:spTree>
  </p:cSld>
</p:sld>
</file>

<file path=ppt/slides/slide2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227" name="" descr="&lt;Slide style={{ width: 1280, height: 720, position: &quot;relative&quot;, padding: &quot;0px&quot;, background: &quot;#2A2118&quot;, overflow: &quot;hidden&quot; }}&gt;&#10;  &lt;Image src=&quot;assets/wood_panel.jpg&quot; style={{ position: &quot;absolute&quot;, top: 0, left: 0, width: 1280, height: 720, objectFit: &quot;cover&quot;, opacity: 0.22 }} /&gt;&#10;  &lt;Box style={{ position: &quot;absolute&quot;, top: 0, left: 0, width: 1280, height: 720, background: &quot;linear-gradient(160deg, #2A2118 0%, #3E2E1E 55%, #8C5A2B 100%)&quot;, opacity: 0.55 }} /&gt;&#10;  &lt;Box style={{ position: &quot;absolute&quot;, right: 84, top: 48, flexDirection: &quot;column&quot;, alignItems: &quot;flex-end&quot; }}&gt;&#10;    &lt;Text style={{ fontSize: 210, fontWeight: &quot;bold&quot;, lineHeight: 1.0, color: &quot;rgba(179,39,30,0.85)&quot;, fontFamily: &quot;'Songti SC', 'STSong', 'SimSun', serif&quot; }}&gt;04&lt;/Text&gt;&#10;  &lt;/Box&gt;&#10;  &lt;Box style={{ position: &quot;relative&quot;, zIndex: 2, width: 1280, height: 720, padding: &quot;0px 96px&quot;, flexDirection: &quot;column&quot;, justifyContent: &quot;center&quot; }}&gt;&#10;    &lt;Text style={{ fontSize: 22, color: &quot;rgba(245,227,190,0.7)&quot;, fontFamily: &quot;'PingFang SC', 'Microsoft YaHei', sans-serif&quot;, letterSpacing: 6 }}&gt;第 04 章&lt;/Text&gt;&#10;    &lt;Text style={{ fontSize: 62, fontWeight: &quot;bold&quot;, color: &quot;#F5E3BE&quot;, fontFamily: &quot;'Songti SC', 'STSong', 'SimSun', serif&quot;, marginTop: 12 }}&gt;开发流程&lt;/Text&gt;&#10;    &lt;Box style={{ width: 70, height: 3, background: &quot;#B3271E&quot;, marginTop: 20 }} /&gt;&#10;    &lt;Text style={{ fontSize: 22, fontStyle: &quot;italic&quot;, color: &quot;rgba(245,227,190,0.82)&quot;, fontFamily: &quot;'PingFang SC', 'Microsoft YaHei', sans-serif&quot;, marginTop: 20 }}&gt;五轮迭代，每轮都是完整闭环&lt;/Text&gt;&#10;  &lt;/Box&gt;&#10;  &lt;Box style={{ position: &quot;absolute&quot;, right: 60, bottom: 50, width: 52, height: 52, borderRadius: 6, background: &quot;#B3271E&quot;, justifyContent: &quot;center&quot;, alignItems: &quot;center&quot; }}&gt;&#10;    &lt;Text style={{ fontSize: 28, fontWeight: &quot;bold&quot;, color: &quot;#F5E3BE&quot;, fontFamily: &quot;'Songti SC', 'STSong', 'SimSun', serif&quot; }}&gt;弈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2A2118"/>
          </a:solidFill>
          <a:ln/>
        </p:spPr>
        <p:txBody>
          <a:bodyPr/>
          <a:p/>
        </p:txBody>
      </p:sp>
      <p:pic>
        <p:nvPicPr>
          <p:cNvPr id="229" name=""/>
          <p:cNvPicPr>
            <a:picLocks noChangeAspect="1"/>
          </p:cNvPicPr>
          <p:nvPr/>
        </p:nvPicPr>
        <p:blipFill>
          <a:blip r:embed="rId1">
            <a:alphaModFix amt="22000"/>
          </a:blip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  <p:sp>
        <p:nvSpPr>
          <p:cNvPr id="23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2A2118">
                  <a:alpha val="55000"/>
                </a:srgbClr>
              </a:gs>
              <a:gs pos="55000">
                <a:srgbClr val="3E2E1E">
                  <a:alpha val="55000"/>
                </a:srgbClr>
              </a:gs>
              <a:gs pos="100000">
                <a:srgbClr val="8C5A2B">
                  <a:alpha val="55000"/>
                </a:srgbClr>
              </a:gs>
            </a:gsLst>
            <a:lin ang="4200000" scaled="1"/>
          </a:gradFill>
          <a:ln/>
        </p:spPr>
        <p:txBody>
          <a:bodyPr/>
          <a:p/>
        </p:txBody>
      </p:sp>
      <p:sp>
        <p:nvSpPr>
          <p:cNvPr id="231" name="" descr="{&quot;isTemplate&quot;:true,&quot;type&quot;:&quot;text&quot;}"/>
          <p:cNvSpPr txBox="1"/>
          <p:nvPr/>
        </p:nvSpPr>
        <p:spPr>
          <a:xfrm rot="0" flipH="0" flipV="0">
            <a:off x="9515475" y="457200"/>
            <a:ext cx="1876425" cy="2400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750" b="1">
                <a:solidFill>
                  <a:srgbClr val="B3271E">
                    <a:alpha val="85000"/>
                  </a:srgbClr>
                </a:solidFill>
                <a:latin typeface="Songti SC"/>
                <a:ea typeface="Songti SC"/>
              </a:rPr>
              <a:t>04</a:t>
            </a:r>
            <a:endParaRPr/>
          </a:p>
        </p:txBody>
      </p:sp>
      <p:sp>
        <p:nvSpPr>
          <p:cNvPr id="232" name=""/>
          <p:cNvSpPr/>
          <p:nvPr/>
        </p:nvSpPr>
        <p:spPr>
          <a:xfrm rot="0" flipH="0" flipV="0">
            <a:off x="11125200" y="5886450"/>
            <a:ext cx="495300" cy="495300"/>
          </a:xfrm>
          <a:prstGeom prst="roundRect">
            <a:avLst>
              <a:gd name="adj" fmla="val 11538"/>
            </a:avLst>
          </a:prstGeom>
          <a:solidFill>
            <a:srgbClr val="B3271E"/>
          </a:solidFill>
          <a:ln/>
        </p:spPr>
        <p:txBody>
          <a:bodyPr/>
          <a:p/>
        </p:txBody>
      </p:sp>
      <p:sp>
        <p:nvSpPr>
          <p:cNvPr id="233" name="" descr="{&quot;isTemplate&quot;:true,&quot;type&quot;:&quot;text&quot;}"/>
          <p:cNvSpPr txBox="1"/>
          <p:nvPr/>
        </p:nvSpPr>
        <p:spPr>
          <a:xfrm rot="0" flipH="0" flipV="0">
            <a:off x="11239500" y="5972175"/>
            <a:ext cx="266700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100" b="1">
                <a:solidFill>
                  <a:srgbClr val="F5E3BE"/>
                </a:solidFill>
                <a:latin typeface="Songti SC"/>
                <a:ea typeface="Songti SC"/>
              </a:rPr>
              <a:t>弈</a:t>
            </a:r>
            <a:endParaRPr/>
          </a:p>
        </p:txBody>
      </p:sp>
      <p:sp>
        <p:nvSpPr>
          <p:cNvPr id="234" name="" descr="{&quot;isTemplate&quot;:true,&quot;type&quot;:&quot;text&quot;}"/>
          <p:cNvSpPr txBox="1"/>
          <p:nvPr/>
        </p:nvSpPr>
        <p:spPr>
          <a:xfrm rot="0" flipH="0" flipV="0">
            <a:off x="914400" y="2552700"/>
            <a:ext cx="103632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spc="450">
                <a:solidFill>
                  <a:srgbClr val="F5E3BE">
                    <a:alpha val="70000"/>
                  </a:srgbClr>
                </a:solidFill>
                <a:latin typeface="PingFang SC"/>
                <a:ea typeface="PingFang SC"/>
              </a:rPr>
              <a:t>第</a:t>
            </a:r>
            <a:r>
              <a:rPr lang="en-US" sz="1650" spc="450">
                <a:solidFill>
                  <a:srgbClr val="F5E3BE">
                    <a:alpha val="70000"/>
                  </a:srgbClr>
                </a:solidFill>
                <a:latin typeface="PingFang SC"/>
                <a:ea typeface="PingFang SC"/>
              </a:rPr>
              <a:t xml:space="preserve"> 04 </a:t>
            </a:r>
            <a:r>
              <a:rPr lang="zh-CN" sz="1650" spc="450">
                <a:solidFill>
                  <a:srgbClr val="F5E3BE">
                    <a:alpha val="70000"/>
                  </a:srgbClr>
                </a:solidFill>
                <a:latin typeface="PingFang SC"/>
                <a:ea typeface="PingFang SC"/>
              </a:rPr>
              <a:t>章</a:t>
            </a:r>
            <a:endParaRPr/>
          </a:p>
        </p:txBody>
      </p:sp>
      <p:sp>
        <p:nvSpPr>
          <p:cNvPr id="235" name="" descr="{&quot;isTemplate&quot;:true,&quot;type&quot;:&quot;text&quot;}"/>
          <p:cNvSpPr txBox="1"/>
          <p:nvPr/>
        </p:nvSpPr>
        <p:spPr>
          <a:xfrm rot="0" flipH="0" flipV="0">
            <a:off x="914400" y="2924175"/>
            <a:ext cx="10363200" cy="7143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4650" b="1">
                <a:solidFill>
                  <a:srgbClr val="F5E3BE"/>
                </a:solidFill>
                <a:latin typeface="Songti SC"/>
                <a:ea typeface="Songti SC"/>
              </a:rPr>
              <a:t>开发流程</a:t>
            </a:r>
            <a:endParaRPr/>
          </a:p>
        </p:txBody>
      </p:sp>
      <p:sp>
        <p:nvSpPr>
          <p:cNvPr id="236" name=""/>
          <p:cNvSpPr/>
          <p:nvPr/>
        </p:nvSpPr>
        <p:spPr>
          <a:xfrm rot="0" flipH="0" flipV="0">
            <a:off x="914400" y="3829050"/>
            <a:ext cx="666750" cy="28575"/>
          </a:xfrm>
          <a:prstGeom prst="rect">
            <a:avLst/>
          </a:prstGeom>
          <a:solidFill>
            <a:srgbClr val="B3271E"/>
          </a:solidFill>
          <a:ln/>
        </p:spPr>
        <p:txBody>
          <a:bodyPr/>
          <a:p/>
        </p:txBody>
      </p:sp>
      <p:sp>
        <p:nvSpPr>
          <p:cNvPr id="237" name="" descr="{&quot;isTemplate&quot;:true,&quot;type&quot;:&quot;text&quot;}"/>
          <p:cNvSpPr txBox="1"/>
          <p:nvPr/>
        </p:nvSpPr>
        <p:spPr>
          <a:xfrm rot="0" flipH="0" flipV="0">
            <a:off x="914400" y="4048125"/>
            <a:ext cx="103632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i="1">
                <a:solidFill>
                  <a:srgbClr val="F5E3BE">
                    <a:alpha val="82000"/>
                  </a:srgbClr>
                </a:solidFill>
                <a:latin typeface="PingFang SC"/>
                <a:ea typeface="PingFang SC"/>
              </a:rPr>
              <a:t>五轮迭代，每轮都是完整闭环</a:t>
            </a:r>
            <a:endParaRPr/>
          </a:p>
        </p:txBody>
      </p:sp>
    </p:spTree>
  </p:cSld>
</p:sld>
</file>

<file path=ppt/slides/slide28.xml><?xml version="1.0" encoding="utf-8"?>
<p:sld xmlns:p="http://schemas.openxmlformats.org/presentationml/2006/main" xmlns:a="http://schemas.openxmlformats.org/drawingml/2006/main">
  <p:cSld>
    <p:spTree>
      <p:nvGrpSpPr>
        <p:cNvPr id="238" name="" descr="&lt;Slide style={{ width: 1280, height: 720, padding: &quot;20px 72px&quot;, background: &quot;#F5E3BE&quot;, flexDirection: &quot;column&quot; }}&gt;&#10;  &lt;Box style={{ width: &quot;100%&quot;, height: 96, flexDirection: &quot;column&quot;, justifyContent: &quot;center&quot; }}&gt;&#10;    &lt;Text style={{ fontSize: 34, fontWeight: &quot;bold&quot;, color: &quot;#2A2118&quot;, fontFamily: &quot;'Songti SC', 'STSong', 'SimSun', serif&quot; }}&gt;五轮迭代：从画面修到交付物&lt;/Text&gt;&#10;    &lt;Box style={{ width: 56, height: 2, background: &quot;#B3271E&quot;, marginTop: 10 }} /&gt;&#10;  &lt;/Box&gt;&#10;  &lt;Box style={{ width: &quot;100%&quot;, height: 516, flexDirection: &quot;column&quot; }}&gt;&#10;  &lt;Box style={{ flexDirection: &quot;row&quot;, alignItems: &quot;center&quot;, justifyContent: &quot;center&quot;, gap: 14, height: &quot;100%&quot; }}&gt;&#10;&lt;Box style={{ width: 184, background: &quot;rgba(140,90,43,0.10)&quot;, borderLeft: &quot;4px solid #8C5A2B&quot;, borderRadius: 6, padding: &quot;16px 14px&quot;, flexDirection: &quot;column&quot;, gap: 6 }}&gt;&#10;        &lt;Text style={{ fontSize: 15, fontWeight: &quot;bold&quot;, color: &quot;#2A2118&quot;, fontFamily: &quot;'Songti SC', 'STSong', 'SimSun', serif&quot; }}&gt;1. 迭代一 画面&lt;/Text&gt;&#10;        &lt;Text style={{ fontSize: 13, lineHeight: 1.5, color: &quot;rgba(42,33,24,0.7)&quot;, fontFamily: &quot;'PingFang SC', 'Microsoft YaHei', sans-serif&quot; }}&gt;刮痕/光环/落子音/歌单/缩放验证&lt;/Text&gt;&#10;      &lt;/Box&gt;&#10;      &lt;Text style={{ fontSize: 26, color: &quot;#B3271E&quot;, fontFamily: &quot;'Songti SC', 'STSong', 'SimSun', serif&quot;, alignSelf: &quot;center&quot; }}&gt;→&lt;/Text&gt;&#10;      &lt;Box style={{ width: 184, background: &quot;rgba(140,90,43,0.10)&quot;, borderLeft: &quot;4px solid #8C5A2B&quot;, borderRadius: 6, padding: &quot;16px 14px&quot;, flexDirection: &quot;column&quot;, gap: 6 }}&gt;&#10;        &lt;Text style={{ fontSize: 15, fontWeight: &quot;bold&quot;, color: &quot;#2A2118&quot;, fontFamily: &quot;'Songti SC', 'STSong', 'SimSun', serif&quot; }}&gt;2. 迭代二 音效图标&lt;/Text&gt;&#10;        &lt;Text style={{ fontSize: 13, lineHeight: 1.5, color: &quot;rgba(42,33,24,0.7)&quot;, fontFamily: &quot;'PingFang SC', 'Microsoft YaHei', sans-serif&quot; }}&gt;MP3 音效/图标方向/歌单乱码&lt;/Text&gt;&#10;      &lt;/Box&gt;&#10;      &lt;Text style={{ fontSize: 26, color: &quot;#B3271E&quot;, fontFamily: &quot;'Songti SC', 'STSong', 'SimSun', serif&quot;, alignSelf: &quot;center&quot; }}&gt;→&lt;/Text&gt;&#10;      &lt;Box style={{ width: 184, background: &quot;rgba(140,90,43,0.10)&quot;, borderLeft: &quot;4px solid #8C5A2B&quot;, borderRadius: 6, padding: &quot;16px 14px&quot;, flexDirection: &quot;column&quot;, gap: 6 }}&gt;&#10;        &lt;Text style={{ fontSize: 15, fontWeight: &quot;bold&quot;, color: &quot;#2A2118&quot;, fontFamily: &quot;'Songti SC', 'STSong', 'SimSun', serif&quot; }}&gt;3. 迭代三 PG 配置&lt;/Text&gt;&#10;        &lt;Text style={{ fontSize: 13, lineHeight: 1.5, color: &quot;rgba(42,33,24,0.7)&quot;, fontFamily: &quot;'PingFang SC', 'Microsoft YaHei', sans-serif&quot; }}&gt;安装引导 + 启动检测一键化&lt;/Text&gt;&#10;      &lt;/Box&gt;&#10;      &lt;Text style={{ fontSize: 26, color: &quot;#B3271E&quot;, fontFamily: &quot;'Songti SC', 'STSong', 'SimSun', serif&quot;, alignSelf: &quot;center&quot; }}&gt;→&lt;/Text&gt;&#10;      &lt;Box style={{ width: 184, background: &quot;rgba(140,90,43,0.10)&quot;, borderLeft: &quot;4px solid #8C5A2B&quot;, borderRadius: 6, padding: &quot;16px 14px&quot;, flexDirection: &quot;column&quot;, gap: 6 }}&gt;&#10;        &lt;Text style={{ fontSize: 15, fontWeight: &quot;bold&quot;, color: &quot;#2A2118&quot;, fontFamily: &quot;'Songti SC', 'STSong', 'SimSun', serif&quot; }}&gt;4. 迭代四 体积清理&lt;/Text&gt;&#10;        &lt;Text style={{ fontSize: 13, lineHeight: 1.5, color: &quot;rgba(42,33,24,0.7)&quot;, fontFamily: &quot;'PingFang SC', 'Microsoft YaHei', sans-serif&quot; }}&gt;定位 627MB 重复副本&lt;/Text&gt;&#10;      &lt;/Box&gt;&#10;      &lt;Text style={{ fontSize: 26, color: &quot;#B3271E&quot;, fontFamily: &quot;'Songti SC', 'STSong', 'SimSun', serif&quot;, alignSelf: &quot;center&quot; }}&gt;→&lt;/Text&gt;&#10;      &lt;Box style={{ width: 184, background: &quot;rgba(140,90,43,0.10)&quot;, borderLeft: &quot;4px solid #8C5A2B&quot;, borderRadius: 6, padding: &quot;16px 14px&quot;, flexDirection: &quot;column&quot;, gap: 6 }}&gt;&#10;        &lt;Text style={{ fontSize: 15, fontWeight: &quot;bold&quot;, color: &quot;#2A2118&quot;, fontFamily: &quot;'Songti SC', 'STSong', 'SimSun', serif&quot; }}&gt;5. 迭代五 文档&lt;/Text&gt;&#10;        &lt;Text style={{ fontSize: 13, lineHeight: 1.5, color: &quot;rgba(42,33,24,0.7)&quot;, fontFamily: &quot;'PingFang SC', 'Microsoft YaHei', sans-serif&quot; }}&gt;产品/算法/讲义/报告四份 Word&lt;/Text&gt;&#10;      &lt;/Box&gt;&#10;  &lt;/Box&gt;&#10;  &lt;/Box&gt;&#10;  &lt;Box style={{ width: &quot;100%&quot;, height: 48, flexDirection: &quot;row&quot;, alignItems: &quot;center&quot;, justifyContent: &quot;space-between&quot; }}&gt;&#10;    &lt;Text style={{ fontSize: 14, color: &quot;rgba(42,33,24,0.55)&quot;, fontFamily: &quot;'PingFang SC', 'Microsoft YaHei', sans-serif&quot; }}&gt;弈趣棋苑 · 项目开发汇报&lt;/Text&gt;&#10;    &lt;Text style={{ fontSize: 14, color: &quot;rgba(42,33,24,0.55)&quot;, fontFamily: &quot;'PingFang SC', 'Microsoft YaHei', sans-serif&quot; }}&gt;29 / 64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5E3BE"/>
          </a:solidFill>
          <a:ln/>
        </p:spPr>
        <p:txBody>
          <a:bodyPr/>
          <a:p/>
        </p:txBody>
      </p:sp>
      <p:sp>
        <p:nvSpPr>
          <p:cNvPr id="240" name="" descr="{&quot;isTemplate&quot;:true,&quot;type&quot;:&quot;text&quot;}"/>
          <p:cNvSpPr txBox="1"/>
          <p:nvPr/>
        </p:nvSpPr>
        <p:spPr>
          <a:xfrm rot="0" flipH="0" flipV="0">
            <a:off x="685800" y="400050"/>
            <a:ext cx="108204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A2118"/>
                </a:solidFill>
                <a:latin typeface="Songti SC"/>
                <a:ea typeface="Songti SC"/>
              </a:rPr>
              <a:t>五轮迭代：从画面修到交付物</a:t>
            </a:r>
            <a:endParaRPr/>
          </a:p>
        </p:txBody>
      </p:sp>
      <p:sp>
        <p:nvSpPr>
          <p:cNvPr id="241" name=""/>
          <p:cNvSpPr/>
          <p:nvPr/>
        </p:nvSpPr>
        <p:spPr>
          <a:xfrm rot="0" flipH="0" flipV="0">
            <a:off x="685800" y="885825"/>
            <a:ext cx="533400" cy="19050"/>
          </a:xfrm>
          <a:prstGeom prst="rect">
            <a:avLst/>
          </a:prstGeom>
          <a:solidFill>
            <a:srgbClr val="B3271E"/>
          </a:solidFill>
          <a:ln/>
        </p:spPr>
        <p:txBody>
          <a:bodyPr/>
          <a:p/>
        </p:txBody>
      </p:sp>
      <p:sp>
        <p:nvSpPr>
          <p:cNvPr id="242" name=""/>
          <p:cNvSpPr/>
          <p:nvPr/>
        </p:nvSpPr>
        <p:spPr>
          <a:xfrm rot="0" flipH="0" flipV="0">
            <a:off x="723900" y="3076575"/>
            <a:ext cx="1714500" cy="981075"/>
          </a:xfrm>
          <a:prstGeom prst="roundRect">
            <a:avLst>
              <a:gd name="adj" fmla="val 5825"/>
            </a:avLst>
          </a:prstGeom>
          <a:solidFill>
            <a:srgbClr val="8C5A2B">
              <a:alpha val="10000"/>
            </a:srgbClr>
          </a:solidFill>
          <a:ln/>
        </p:spPr>
        <p:txBody>
          <a:bodyPr/>
          <a:p/>
        </p:txBody>
      </p:sp>
      <p:sp>
        <p:nvSpPr>
          <p:cNvPr id="243" name=""/>
          <p:cNvSpPr/>
          <p:nvPr/>
        </p:nvSpPr>
        <p:spPr>
          <a:xfrm rot="0" flipH="0" flipV="0">
            <a:off x="723900" y="3076575"/>
            <a:ext cx="1714500" cy="981075"/>
          </a:xfrm>
          <a:custGeom>
            <a:pathLst>
              <a:path w="180" h="103">
                <a:moveTo>
                  <a:pt x="6" y="0"/>
                </a:moveTo>
                <a:cubicBezTo>
                  <a:pt x="5" y="0"/>
                  <a:pt x="4" y="1"/>
                  <a:pt x="4" y="2"/>
                </a:cubicBezTo>
                <a:lnTo>
                  <a:pt x="4" y="101"/>
                </a:lnTo>
                <a:cubicBezTo>
                  <a:pt x="4" y="102"/>
                  <a:pt x="5" y="103"/>
                  <a:pt x="6" y="103"/>
                </a:cubicBezTo>
                <a:cubicBezTo>
                  <a:pt x="3" y="103"/>
                  <a:pt x="0" y="100"/>
                  <a:pt x="0" y="97"/>
                </a:cubicBezTo>
                <a:lnTo>
                  <a:pt x="0" y="6"/>
                </a:lnTo>
                <a:cubicBezTo>
                  <a:pt x="0" y="3"/>
                  <a:pt x="3" y="0"/>
                  <a:pt x="6" y="0"/>
                </a:cubicBezTo>
                <a:close/>
              </a:path>
            </a:pathLst>
          </a:custGeom>
          <a:solidFill>
            <a:srgbClr val="8C5A2B"/>
          </a:solidFill>
          <a:ln/>
        </p:spPr>
        <p:txBody>
          <a:bodyPr/>
          <a:p/>
        </p:txBody>
      </p:sp>
      <p:sp>
        <p:nvSpPr>
          <p:cNvPr id="244" name="" descr="{&quot;isTemplate&quot;:true,&quot;type&quot;:&quot;text&quot;}"/>
          <p:cNvSpPr txBox="1"/>
          <p:nvPr/>
        </p:nvSpPr>
        <p:spPr>
          <a:xfrm rot="0" flipH="0" flipV="0">
            <a:off x="857250" y="3228975"/>
            <a:ext cx="14478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2A2118"/>
                </a:solidFill>
                <a:latin typeface="Songti SC"/>
                <a:ea typeface="Songti SC"/>
              </a:rPr>
              <a:t xml:space="preserve">1. </a:t>
            </a:r>
            <a:r>
              <a:rPr lang="zh-CN" sz="1125" b="1">
                <a:solidFill>
                  <a:srgbClr val="2A2118"/>
                </a:solidFill>
                <a:latin typeface="Songti SC"/>
                <a:ea typeface="Songti SC"/>
              </a:rPr>
              <a:t>迭代一</a:t>
            </a:r>
            <a:r>
              <a:rPr lang="en-US" sz="1125" b="1">
                <a:solidFill>
                  <a:srgbClr val="2A2118"/>
                </a:solidFill>
                <a:latin typeface="Songti SC"/>
                <a:ea typeface="Songti SC"/>
              </a:rPr>
              <a:t xml:space="preserve"> </a:t>
            </a:r>
            <a:r>
              <a:rPr lang="zh-CN" sz="1125" b="1">
                <a:solidFill>
                  <a:srgbClr val="2A2118"/>
                </a:solidFill>
                <a:latin typeface="Songti SC"/>
                <a:ea typeface="Songti SC"/>
              </a:rPr>
              <a:t>画面</a:t>
            </a:r>
            <a:endParaRPr/>
          </a:p>
        </p:txBody>
      </p:sp>
      <p:sp>
        <p:nvSpPr>
          <p:cNvPr id="245" name="" descr="{&quot;isTemplate&quot;:true,&quot;type&quot;:&quot;text&quot;}"/>
          <p:cNvSpPr txBox="1"/>
          <p:nvPr/>
        </p:nvSpPr>
        <p:spPr>
          <a:xfrm rot="0" flipH="0" flipV="0">
            <a:off x="857250" y="3457575"/>
            <a:ext cx="1447800" cy="4476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975">
                <a:solidFill>
                  <a:srgbClr val="2A2118">
                    <a:alpha val="70000"/>
                  </a:srgbClr>
                </a:solidFill>
                <a:latin typeface="PingFang SC"/>
                <a:ea typeface="PingFang SC"/>
              </a:rPr>
              <a:t>刮痕</a:t>
            </a:r>
            <a:r>
              <a:rPr lang="en-US" sz="975">
                <a:solidFill>
                  <a:srgbClr val="2A2118">
                    <a:alpha val="70000"/>
                  </a:srgbClr>
                </a:solidFill>
                <a:latin typeface="PingFang SC"/>
                <a:ea typeface="PingFang SC"/>
              </a:rPr>
              <a:t>/</a:t>
            </a:r>
            <a:r>
              <a:rPr lang="zh-CN" sz="975">
                <a:solidFill>
                  <a:srgbClr val="2A2118">
                    <a:alpha val="70000"/>
                  </a:srgbClr>
                </a:solidFill>
                <a:latin typeface="PingFang SC"/>
                <a:ea typeface="PingFang SC"/>
              </a:rPr>
              <a:t>光环</a:t>
            </a:r>
            <a:r>
              <a:rPr lang="en-US" sz="975">
                <a:solidFill>
                  <a:srgbClr val="2A2118">
                    <a:alpha val="70000"/>
                  </a:srgbClr>
                </a:solidFill>
                <a:latin typeface="PingFang SC"/>
                <a:ea typeface="PingFang SC"/>
              </a:rPr>
              <a:t>/</a:t>
            </a:r>
            <a:r>
              <a:rPr lang="zh-CN" sz="975">
                <a:solidFill>
                  <a:srgbClr val="2A2118">
                    <a:alpha val="70000"/>
                  </a:srgbClr>
                </a:solidFill>
                <a:latin typeface="PingFang SC"/>
                <a:ea typeface="PingFang SC"/>
              </a:rPr>
              <a:t>落子音</a:t>
            </a:r>
            <a:r>
              <a:rPr lang="en-US" sz="975">
                <a:solidFill>
                  <a:srgbClr val="2A2118">
                    <a:alpha val="70000"/>
                  </a:srgbClr>
                </a:solidFill>
                <a:latin typeface="PingFang SC"/>
                <a:ea typeface="PingFang SC"/>
              </a:rPr>
              <a:t>/</a:t>
            </a:r>
            <a:r>
              <a:rPr lang="zh-CN" sz="975">
                <a:solidFill>
                  <a:srgbClr val="2A2118">
                    <a:alpha val="70000"/>
                  </a:srgbClr>
                </a:solidFill>
                <a:latin typeface="PingFang SC"/>
                <a:ea typeface="PingFang SC"/>
              </a:rPr>
              <a:t>歌单</a:t>
            </a:r>
            <a:r>
              <a:rPr lang="en-US" sz="975">
                <a:solidFill>
                  <a:srgbClr val="2A2118">
                    <a:alpha val="70000"/>
                  </a:srgbClr>
                </a:solidFill>
                <a:latin typeface="PingFang SC"/>
                <a:ea typeface="PingFang SC"/>
              </a:rPr>
              <a:t>/</a:t>
            </a:r>
            <a:r>
              <a:rPr lang="zh-CN" sz="975">
                <a:solidFill>
                  <a:srgbClr val="2A2118">
                    <a:alpha val="70000"/>
                  </a:srgbClr>
                </a:solidFill>
                <a:latin typeface="PingFang SC"/>
                <a:ea typeface="PingFang SC"/>
              </a:rPr>
              <a:t>缩放验证</a:t>
            </a:r>
            <a:endParaRPr/>
          </a:p>
        </p:txBody>
      </p:sp>
      <p:sp>
        <p:nvSpPr>
          <p:cNvPr id="246" name="" descr="{&quot;isTemplate&quot;:true,&quot;type&quot;:&quot;text&quot;}"/>
          <p:cNvSpPr txBox="1"/>
          <p:nvPr/>
        </p:nvSpPr>
        <p:spPr>
          <a:xfrm rot="0" flipH="0" flipV="0">
            <a:off x="2571750" y="3409950"/>
            <a:ext cx="24765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950">
                <a:solidFill>
                  <a:srgbClr val="B3271E"/>
                </a:solidFill>
                <a:latin typeface="Songti SC"/>
                <a:ea typeface="Songti SC"/>
              </a:rPr>
              <a:t>→</a:t>
            </a:r>
            <a:endParaRPr/>
          </a:p>
        </p:txBody>
      </p:sp>
      <p:sp>
        <p:nvSpPr>
          <p:cNvPr id="247" name=""/>
          <p:cNvSpPr/>
          <p:nvPr/>
        </p:nvSpPr>
        <p:spPr>
          <a:xfrm rot="0" flipH="0" flipV="0">
            <a:off x="2990850" y="3076575"/>
            <a:ext cx="1714500" cy="981075"/>
          </a:xfrm>
          <a:prstGeom prst="roundRect">
            <a:avLst>
              <a:gd name="adj" fmla="val 5825"/>
            </a:avLst>
          </a:prstGeom>
          <a:solidFill>
            <a:srgbClr val="8C5A2B">
              <a:alpha val="10000"/>
            </a:srgbClr>
          </a:solidFill>
          <a:ln/>
        </p:spPr>
        <p:txBody>
          <a:bodyPr/>
          <a:p/>
        </p:txBody>
      </p:sp>
      <p:sp>
        <p:nvSpPr>
          <p:cNvPr id="248" name=""/>
          <p:cNvSpPr/>
          <p:nvPr/>
        </p:nvSpPr>
        <p:spPr>
          <a:xfrm rot="0" flipH="0" flipV="0">
            <a:off x="2990850" y="3076575"/>
            <a:ext cx="1714500" cy="981075"/>
          </a:xfrm>
          <a:custGeom>
            <a:pathLst>
              <a:path w="180" h="103">
                <a:moveTo>
                  <a:pt x="6" y="0"/>
                </a:moveTo>
                <a:cubicBezTo>
                  <a:pt x="5" y="0"/>
                  <a:pt x="4" y="1"/>
                  <a:pt x="4" y="2"/>
                </a:cubicBezTo>
                <a:lnTo>
                  <a:pt x="4" y="101"/>
                </a:lnTo>
                <a:cubicBezTo>
                  <a:pt x="4" y="102"/>
                  <a:pt x="5" y="103"/>
                  <a:pt x="6" y="103"/>
                </a:cubicBezTo>
                <a:cubicBezTo>
                  <a:pt x="3" y="103"/>
                  <a:pt x="0" y="100"/>
                  <a:pt x="0" y="97"/>
                </a:cubicBezTo>
                <a:lnTo>
                  <a:pt x="0" y="6"/>
                </a:lnTo>
                <a:cubicBezTo>
                  <a:pt x="0" y="3"/>
                  <a:pt x="3" y="0"/>
                  <a:pt x="6" y="0"/>
                </a:cubicBezTo>
                <a:close/>
              </a:path>
            </a:pathLst>
          </a:custGeom>
          <a:solidFill>
            <a:srgbClr val="8C5A2B"/>
          </a:solidFill>
          <a:ln/>
        </p:spPr>
        <p:txBody>
          <a:bodyPr/>
          <a:p/>
        </p:txBody>
      </p:sp>
      <p:sp>
        <p:nvSpPr>
          <p:cNvPr id="249" name="" descr="{&quot;isTemplate&quot;:true,&quot;type&quot;:&quot;text&quot;}"/>
          <p:cNvSpPr txBox="1"/>
          <p:nvPr/>
        </p:nvSpPr>
        <p:spPr>
          <a:xfrm rot="0" flipH="0" flipV="0">
            <a:off x="3124200" y="3228975"/>
            <a:ext cx="14478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2A2118"/>
                </a:solidFill>
                <a:latin typeface="Songti SC"/>
                <a:ea typeface="Songti SC"/>
              </a:rPr>
              <a:t xml:space="preserve">2. </a:t>
            </a:r>
            <a:r>
              <a:rPr lang="zh-CN" sz="1125" b="1">
                <a:solidFill>
                  <a:srgbClr val="2A2118"/>
                </a:solidFill>
                <a:latin typeface="Songti SC"/>
                <a:ea typeface="Songti SC"/>
              </a:rPr>
              <a:t>迭代二</a:t>
            </a:r>
            <a:r>
              <a:rPr lang="en-US" sz="1125" b="1">
                <a:solidFill>
                  <a:srgbClr val="2A2118"/>
                </a:solidFill>
                <a:latin typeface="Songti SC"/>
                <a:ea typeface="Songti SC"/>
              </a:rPr>
              <a:t xml:space="preserve"> </a:t>
            </a:r>
            <a:r>
              <a:rPr lang="zh-CN" sz="1125" b="1">
                <a:solidFill>
                  <a:srgbClr val="2A2118"/>
                </a:solidFill>
                <a:latin typeface="Songti SC"/>
                <a:ea typeface="Songti SC"/>
              </a:rPr>
              <a:t>音效图标</a:t>
            </a:r>
            <a:endParaRPr/>
          </a:p>
        </p:txBody>
      </p:sp>
      <p:sp>
        <p:nvSpPr>
          <p:cNvPr id="250" name="" descr="{&quot;isTemplate&quot;:true,&quot;type&quot;:&quot;text&quot;}"/>
          <p:cNvSpPr txBox="1"/>
          <p:nvPr/>
        </p:nvSpPr>
        <p:spPr>
          <a:xfrm rot="0" flipH="0" flipV="0">
            <a:off x="3124200" y="3457575"/>
            <a:ext cx="1447800" cy="4476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en-US" sz="975">
                <a:solidFill>
                  <a:srgbClr val="2A2118">
                    <a:alpha val="70000"/>
                  </a:srgbClr>
                </a:solidFill>
                <a:latin typeface="PingFang SC"/>
                <a:ea typeface="PingFang SC"/>
              </a:rPr>
              <a:t xml:space="preserve">MP3 </a:t>
            </a:r>
            <a:r>
              <a:rPr lang="zh-CN" sz="975">
                <a:solidFill>
                  <a:srgbClr val="2A2118">
                    <a:alpha val="70000"/>
                  </a:srgbClr>
                </a:solidFill>
                <a:latin typeface="PingFang SC"/>
                <a:ea typeface="PingFang SC"/>
              </a:rPr>
              <a:t>音效</a:t>
            </a:r>
            <a:r>
              <a:rPr lang="en-US" sz="975">
                <a:solidFill>
                  <a:srgbClr val="2A2118">
                    <a:alpha val="70000"/>
                  </a:srgbClr>
                </a:solidFill>
                <a:latin typeface="PingFang SC"/>
                <a:ea typeface="PingFang SC"/>
              </a:rPr>
              <a:t>/</a:t>
            </a:r>
            <a:r>
              <a:rPr lang="zh-CN" sz="975">
                <a:solidFill>
                  <a:srgbClr val="2A2118">
                    <a:alpha val="70000"/>
                  </a:srgbClr>
                </a:solidFill>
                <a:latin typeface="PingFang SC"/>
                <a:ea typeface="PingFang SC"/>
              </a:rPr>
              <a:t>图标方向</a:t>
            </a:r>
            <a:r>
              <a:rPr lang="en-US" sz="975">
                <a:solidFill>
                  <a:srgbClr val="2A2118">
                    <a:alpha val="70000"/>
                  </a:srgbClr>
                </a:solidFill>
                <a:latin typeface="PingFang SC"/>
                <a:ea typeface="PingFang SC"/>
              </a:rPr>
              <a:t>/</a:t>
            </a:r>
            <a:r>
              <a:rPr lang="zh-CN" sz="975">
                <a:solidFill>
                  <a:srgbClr val="2A2118">
                    <a:alpha val="70000"/>
                  </a:srgbClr>
                </a:solidFill>
                <a:latin typeface="PingFang SC"/>
                <a:ea typeface="PingFang SC"/>
              </a:rPr>
              <a:t>歌单乱码</a:t>
            </a:r>
            <a:endParaRPr/>
          </a:p>
        </p:txBody>
      </p:sp>
      <p:sp>
        <p:nvSpPr>
          <p:cNvPr id="251" name="" descr="{&quot;isTemplate&quot;:true,&quot;type&quot;:&quot;text&quot;}"/>
          <p:cNvSpPr txBox="1"/>
          <p:nvPr/>
        </p:nvSpPr>
        <p:spPr>
          <a:xfrm rot="0" flipH="0" flipV="0">
            <a:off x="4838700" y="3409950"/>
            <a:ext cx="24765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950">
                <a:solidFill>
                  <a:srgbClr val="B3271E"/>
                </a:solidFill>
                <a:latin typeface="Songti SC"/>
                <a:ea typeface="Songti SC"/>
              </a:rPr>
              <a:t>→</a:t>
            </a:r>
            <a:endParaRPr/>
          </a:p>
        </p:txBody>
      </p:sp>
      <p:sp>
        <p:nvSpPr>
          <p:cNvPr id="252" name=""/>
          <p:cNvSpPr/>
          <p:nvPr/>
        </p:nvSpPr>
        <p:spPr>
          <a:xfrm rot="0" flipH="0" flipV="0">
            <a:off x="5257800" y="3076575"/>
            <a:ext cx="1714500" cy="981075"/>
          </a:xfrm>
          <a:prstGeom prst="roundRect">
            <a:avLst>
              <a:gd name="adj" fmla="val 5825"/>
            </a:avLst>
          </a:prstGeom>
          <a:solidFill>
            <a:srgbClr val="8C5A2B">
              <a:alpha val="10000"/>
            </a:srgbClr>
          </a:solidFill>
          <a:ln/>
        </p:spPr>
        <p:txBody>
          <a:bodyPr/>
          <a:p/>
        </p:txBody>
      </p:sp>
      <p:sp>
        <p:nvSpPr>
          <p:cNvPr id="253" name=""/>
          <p:cNvSpPr/>
          <p:nvPr/>
        </p:nvSpPr>
        <p:spPr>
          <a:xfrm rot="0" flipH="0" flipV="0">
            <a:off x="5257800" y="3076575"/>
            <a:ext cx="1714500" cy="981075"/>
          </a:xfrm>
          <a:custGeom>
            <a:pathLst>
              <a:path w="180" h="103">
                <a:moveTo>
                  <a:pt x="6" y="0"/>
                </a:moveTo>
                <a:cubicBezTo>
                  <a:pt x="5" y="0"/>
                  <a:pt x="4" y="1"/>
                  <a:pt x="4" y="2"/>
                </a:cubicBezTo>
                <a:lnTo>
                  <a:pt x="4" y="101"/>
                </a:lnTo>
                <a:cubicBezTo>
                  <a:pt x="4" y="102"/>
                  <a:pt x="5" y="103"/>
                  <a:pt x="6" y="103"/>
                </a:cubicBezTo>
                <a:cubicBezTo>
                  <a:pt x="3" y="103"/>
                  <a:pt x="0" y="100"/>
                  <a:pt x="0" y="97"/>
                </a:cubicBezTo>
                <a:lnTo>
                  <a:pt x="0" y="6"/>
                </a:lnTo>
                <a:cubicBezTo>
                  <a:pt x="0" y="3"/>
                  <a:pt x="3" y="0"/>
                  <a:pt x="6" y="0"/>
                </a:cubicBezTo>
                <a:close/>
              </a:path>
            </a:pathLst>
          </a:custGeom>
          <a:solidFill>
            <a:srgbClr val="8C5A2B"/>
          </a:solidFill>
          <a:ln/>
        </p:spPr>
        <p:txBody>
          <a:bodyPr/>
          <a:p/>
        </p:txBody>
      </p:sp>
      <p:sp>
        <p:nvSpPr>
          <p:cNvPr id="254" name="" descr="{&quot;isTemplate&quot;:true,&quot;type&quot;:&quot;text&quot;}"/>
          <p:cNvSpPr txBox="1"/>
          <p:nvPr/>
        </p:nvSpPr>
        <p:spPr>
          <a:xfrm rot="0" flipH="0" flipV="0">
            <a:off x="5391150" y="3228975"/>
            <a:ext cx="14478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2A2118"/>
                </a:solidFill>
                <a:latin typeface="Songti SC"/>
                <a:ea typeface="Songti SC"/>
              </a:rPr>
              <a:t xml:space="preserve">3. </a:t>
            </a:r>
            <a:r>
              <a:rPr lang="zh-CN" sz="1125" b="1">
                <a:solidFill>
                  <a:srgbClr val="2A2118"/>
                </a:solidFill>
                <a:latin typeface="Songti SC"/>
                <a:ea typeface="Songti SC"/>
              </a:rPr>
              <a:t>迭代三</a:t>
            </a:r>
            <a:r>
              <a:rPr lang="en-US" sz="1125" b="1">
                <a:solidFill>
                  <a:srgbClr val="2A2118"/>
                </a:solidFill>
                <a:latin typeface="Songti SC"/>
                <a:ea typeface="Songti SC"/>
              </a:rPr>
              <a:t xml:space="preserve"> PG </a:t>
            </a:r>
            <a:r>
              <a:rPr lang="zh-CN" sz="1125" b="1">
                <a:solidFill>
                  <a:srgbClr val="2A2118"/>
                </a:solidFill>
                <a:latin typeface="Songti SC"/>
                <a:ea typeface="Songti SC"/>
              </a:rPr>
              <a:t>配置</a:t>
            </a:r>
            <a:endParaRPr/>
          </a:p>
        </p:txBody>
      </p:sp>
      <p:sp>
        <p:nvSpPr>
          <p:cNvPr id="255" name="" descr="{&quot;isTemplate&quot;:true,&quot;type&quot;:&quot;text&quot;}"/>
          <p:cNvSpPr txBox="1"/>
          <p:nvPr/>
        </p:nvSpPr>
        <p:spPr>
          <a:xfrm rot="0" flipH="0" flipV="0">
            <a:off x="5391150" y="3457575"/>
            <a:ext cx="1447800" cy="4476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975">
                <a:solidFill>
                  <a:srgbClr val="2A2118">
                    <a:alpha val="70000"/>
                  </a:srgbClr>
                </a:solidFill>
                <a:latin typeface="PingFang SC"/>
                <a:ea typeface="PingFang SC"/>
              </a:rPr>
              <a:t>安装引导</a:t>
            </a:r>
            <a:r>
              <a:rPr lang="en-US" sz="975">
                <a:solidFill>
                  <a:srgbClr val="2A2118">
                    <a:alpha val="70000"/>
                  </a:srgbClr>
                </a:solidFill>
                <a:latin typeface="PingFang SC"/>
                <a:ea typeface="PingFang SC"/>
              </a:rPr>
              <a:t xml:space="preserve"> + </a:t>
            </a:r>
            <a:r>
              <a:rPr lang="zh-CN" sz="975">
                <a:solidFill>
                  <a:srgbClr val="2A2118">
                    <a:alpha val="70000"/>
                  </a:srgbClr>
                </a:solidFill>
                <a:latin typeface="PingFang SC"/>
                <a:ea typeface="PingFang SC"/>
              </a:rPr>
              <a:t>启动检测一键化</a:t>
            </a:r>
            <a:endParaRPr/>
          </a:p>
        </p:txBody>
      </p:sp>
      <p:sp>
        <p:nvSpPr>
          <p:cNvPr id="256" name="" descr="{&quot;isTemplate&quot;:true,&quot;type&quot;:&quot;text&quot;}"/>
          <p:cNvSpPr txBox="1"/>
          <p:nvPr/>
        </p:nvSpPr>
        <p:spPr>
          <a:xfrm rot="0" flipH="0" flipV="0">
            <a:off x="7105650" y="3409950"/>
            <a:ext cx="24765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950">
                <a:solidFill>
                  <a:srgbClr val="B3271E"/>
                </a:solidFill>
                <a:latin typeface="Songti SC"/>
                <a:ea typeface="Songti SC"/>
              </a:rPr>
              <a:t>→</a:t>
            </a:r>
            <a:endParaRPr/>
          </a:p>
        </p:txBody>
      </p:sp>
      <p:sp>
        <p:nvSpPr>
          <p:cNvPr id="257" name=""/>
          <p:cNvSpPr/>
          <p:nvPr/>
        </p:nvSpPr>
        <p:spPr>
          <a:xfrm rot="0" flipH="0" flipV="0">
            <a:off x="7524750" y="3181350"/>
            <a:ext cx="1714500" cy="762000"/>
          </a:xfrm>
          <a:prstGeom prst="roundRect">
            <a:avLst>
              <a:gd name="adj" fmla="val 7500"/>
            </a:avLst>
          </a:prstGeom>
          <a:solidFill>
            <a:srgbClr val="8C5A2B">
              <a:alpha val="10000"/>
            </a:srgbClr>
          </a:solidFill>
          <a:ln/>
        </p:spPr>
        <p:txBody>
          <a:bodyPr/>
          <a:p/>
        </p:txBody>
      </p:sp>
      <p:sp>
        <p:nvSpPr>
          <p:cNvPr id="258" name=""/>
          <p:cNvSpPr/>
          <p:nvPr/>
        </p:nvSpPr>
        <p:spPr>
          <a:xfrm rot="0" flipH="0" flipV="0">
            <a:off x="7524750" y="3181350"/>
            <a:ext cx="1714500" cy="762000"/>
          </a:xfrm>
          <a:custGeom>
            <a:pathLst>
              <a:path w="180" h="80">
                <a:moveTo>
                  <a:pt x="6" y="0"/>
                </a:moveTo>
                <a:cubicBezTo>
                  <a:pt x="5" y="0"/>
                  <a:pt x="4" y="1"/>
                  <a:pt x="4" y="2"/>
                </a:cubicBezTo>
                <a:lnTo>
                  <a:pt x="4" y="78"/>
                </a:lnTo>
                <a:cubicBezTo>
                  <a:pt x="4" y="79"/>
                  <a:pt x="5" y="80"/>
                  <a:pt x="6" y="80"/>
                </a:cubicBezTo>
                <a:cubicBezTo>
                  <a:pt x="3" y="80"/>
                  <a:pt x="0" y="77"/>
                  <a:pt x="0" y="74"/>
                </a:cubicBezTo>
                <a:lnTo>
                  <a:pt x="0" y="6"/>
                </a:lnTo>
                <a:cubicBezTo>
                  <a:pt x="0" y="3"/>
                  <a:pt x="3" y="0"/>
                  <a:pt x="6" y="0"/>
                </a:cubicBezTo>
                <a:close/>
              </a:path>
            </a:pathLst>
          </a:custGeom>
          <a:solidFill>
            <a:srgbClr val="8C5A2B"/>
          </a:solidFill>
          <a:ln/>
        </p:spPr>
        <p:txBody>
          <a:bodyPr/>
          <a:p/>
        </p:txBody>
      </p:sp>
      <p:sp>
        <p:nvSpPr>
          <p:cNvPr id="259" name="" descr="{&quot;isTemplate&quot;:true,&quot;type&quot;:&quot;text&quot;}"/>
          <p:cNvSpPr txBox="1"/>
          <p:nvPr/>
        </p:nvSpPr>
        <p:spPr>
          <a:xfrm rot="0" flipH="0" flipV="0">
            <a:off x="7658100" y="3333750"/>
            <a:ext cx="14478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2A2118"/>
                </a:solidFill>
                <a:latin typeface="Songti SC"/>
                <a:ea typeface="Songti SC"/>
              </a:rPr>
              <a:t xml:space="preserve">4. </a:t>
            </a:r>
            <a:r>
              <a:rPr lang="zh-CN" sz="1125" b="1">
                <a:solidFill>
                  <a:srgbClr val="2A2118"/>
                </a:solidFill>
                <a:latin typeface="Songti SC"/>
                <a:ea typeface="Songti SC"/>
              </a:rPr>
              <a:t>迭代四</a:t>
            </a:r>
            <a:r>
              <a:rPr lang="en-US" sz="1125" b="1">
                <a:solidFill>
                  <a:srgbClr val="2A2118"/>
                </a:solidFill>
                <a:latin typeface="Songti SC"/>
                <a:ea typeface="Songti SC"/>
              </a:rPr>
              <a:t xml:space="preserve"> </a:t>
            </a:r>
            <a:r>
              <a:rPr lang="zh-CN" sz="1125" b="1">
                <a:solidFill>
                  <a:srgbClr val="2A2118"/>
                </a:solidFill>
                <a:latin typeface="Songti SC"/>
                <a:ea typeface="Songti SC"/>
              </a:rPr>
              <a:t>体积清理</a:t>
            </a:r>
            <a:endParaRPr/>
          </a:p>
        </p:txBody>
      </p:sp>
      <p:sp>
        <p:nvSpPr>
          <p:cNvPr id="260" name="" descr="{&quot;isTemplate&quot;:true,&quot;type&quot;:&quot;text&quot;}"/>
          <p:cNvSpPr txBox="1"/>
          <p:nvPr/>
        </p:nvSpPr>
        <p:spPr>
          <a:xfrm rot="0" flipH="0" flipV="0">
            <a:off x="7658100" y="3562350"/>
            <a:ext cx="1447800" cy="2286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975">
                <a:solidFill>
                  <a:srgbClr val="2A2118">
                    <a:alpha val="70000"/>
                  </a:srgbClr>
                </a:solidFill>
                <a:latin typeface="PingFang SC"/>
                <a:ea typeface="PingFang SC"/>
              </a:rPr>
              <a:t>定位</a:t>
            </a:r>
            <a:r>
              <a:rPr lang="en-US" sz="975">
                <a:solidFill>
                  <a:srgbClr val="2A2118">
                    <a:alpha val="70000"/>
                  </a:srgbClr>
                </a:solidFill>
                <a:latin typeface="PingFang SC"/>
                <a:ea typeface="PingFang SC"/>
              </a:rPr>
              <a:t xml:space="preserve"> 627MB </a:t>
            </a:r>
            <a:r>
              <a:rPr lang="zh-CN" sz="975">
                <a:solidFill>
                  <a:srgbClr val="2A2118">
                    <a:alpha val="70000"/>
                  </a:srgbClr>
                </a:solidFill>
                <a:latin typeface="PingFang SC"/>
                <a:ea typeface="PingFang SC"/>
              </a:rPr>
              <a:t>重复副本</a:t>
            </a:r>
            <a:endParaRPr/>
          </a:p>
        </p:txBody>
      </p:sp>
      <p:sp>
        <p:nvSpPr>
          <p:cNvPr id="261" name="" descr="{&quot;isTemplate&quot;:true,&quot;type&quot;:&quot;text&quot;}"/>
          <p:cNvSpPr txBox="1"/>
          <p:nvPr/>
        </p:nvSpPr>
        <p:spPr>
          <a:xfrm rot="0" flipH="0" flipV="0">
            <a:off x="9372600" y="3409950"/>
            <a:ext cx="24765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950">
                <a:solidFill>
                  <a:srgbClr val="B3271E"/>
                </a:solidFill>
                <a:latin typeface="Songti SC"/>
                <a:ea typeface="Songti SC"/>
              </a:rPr>
              <a:t>→</a:t>
            </a:r>
            <a:endParaRPr/>
          </a:p>
        </p:txBody>
      </p:sp>
      <p:sp>
        <p:nvSpPr>
          <p:cNvPr id="262" name=""/>
          <p:cNvSpPr/>
          <p:nvPr/>
        </p:nvSpPr>
        <p:spPr>
          <a:xfrm rot="0" flipH="0" flipV="0">
            <a:off x="9791700" y="3076575"/>
            <a:ext cx="1714500" cy="981075"/>
          </a:xfrm>
          <a:prstGeom prst="roundRect">
            <a:avLst>
              <a:gd name="adj" fmla="val 5825"/>
            </a:avLst>
          </a:prstGeom>
          <a:solidFill>
            <a:srgbClr val="8C5A2B">
              <a:alpha val="10000"/>
            </a:srgbClr>
          </a:solidFill>
          <a:ln/>
        </p:spPr>
        <p:txBody>
          <a:bodyPr/>
          <a:p/>
        </p:txBody>
      </p:sp>
      <p:sp>
        <p:nvSpPr>
          <p:cNvPr id="263" name=""/>
          <p:cNvSpPr/>
          <p:nvPr/>
        </p:nvSpPr>
        <p:spPr>
          <a:xfrm rot="0" flipH="0" flipV="0">
            <a:off x="9791700" y="3076575"/>
            <a:ext cx="1714500" cy="981075"/>
          </a:xfrm>
          <a:custGeom>
            <a:pathLst>
              <a:path w="180" h="103">
                <a:moveTo>
                  <a:pt x="6" y="0"/>
                </a:moveTo>
                <a:cubicBezTo>
                  <a:pt x="5" y="0"/>
                  <a:pt x="4" y="1"/>
                  <a:pt x="4" y="2"/>
                </a:cubicBezTo>
                <a:lnTo>
                  <a:pt x="4" y="101"/>
                </a:lnTo>
                <a:cubicBezTo>
                  <a:pt x="4" y="102"/>
                  <a:pt x="5" y="103"/>
                  <a:pt x="6" y="103"/>
                </a:cubicBezTo>
                <a:cubicBezTo>
                  <a:pt x="3" y="103"/>
                  <a:pt x="0" y="100"/>
                  <a:pt x="0" y="97"/>
                </a:cubicBezTo>
                <a:lnTo>
                  <a:pt x="0" y="6"/>
                </a:lnTo>
                <a:cubicBezTo>
                  <a:pt x="0" y="3"/>
                  <a:pt x="3" y="0"/>
                  <a:pt x="6" y="0"/>
                </a:cubicBezTo>
                <a:close/>
              </a:path>
            </a:pathLst>
          </a:custGeom>
          <a:solidFill>
            <a:srgbClr val="8C5A2B"/>
          </a:solidFill>
          <a:ln/>
        </p:spPr>
        <p:txBody>
          <a:bodyPr/>
          <a:p/>
        </p:txBody>
      </p:sp>
      <p:sp>
        <p:nvSpPr>
          <p:cNvPr id="264" name="" descr="{&quot;isTemplate&quot;:true,&quot;type&quot;:&quot;text&quot;}"/>
          <p:cNvSpPr txBox="1"/>
          <p:nvPr/>
        </p:nvSpPr>
        <p:spPr>
          <a:xfrm rot="0" flipH="0" flipV="0">
            <a:off x="9925050" y="3228975"/>
            <a:ext cx="14478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2A2118"/>
                </a:solidFill>
                <a:latin typeface="Songti SC"/>
                <a:ea typeface="Songti SC"/>
              </a:rPr>
              <a:t xml:space="preserve">5. </a:t>
            </a:r>
            <a:r>
              <a:rPr lang="zh-CN" sz="1125" b="1">
                <a:solidFill>
                  <a:srgbClr val="2A2118"/>
                </a:solidFill>
                <a:latin typeface="Songti SC"/>
                <a:ea typeface="Songti SC"/>
              </a:rPr>
              <a:t>迭代五</a:t>
            </a:r>
            <a:r>
              <a:rPr lang="en-US" sz="1125" b="1">
                <a:solidFill>
                  <a:srgbClr val="2A2118"/>
                </a:solidFill>
                <a:latin typeface="Songti SC"/>
                <a:ea typeface="Songti SC"/>
              </a:rPr>
              <a:t xml:space="preserve"> </a:t>
            </a:r>
            <a:r>
              <a:rPr lang="zh-CN" sz="1125" b="1">
                <a:solidFill>
                  <a:srgbClr val="2A2118"/>
                </a:solidFill>
                <a:latin typeface="Songti SC"/>
                <a:ea typeface="Songti SC"/>
              </a:rPr>
              <a:t>文档</a:t>
            </a:r>
            <a:endParaRPr/>
          </a:p>
        </p:txBody>
      </p:sp>
      <p:sp>
        <p:nvSpPr>
          <p:cNvPr id="265" name="" descr="{&quot;isTemplate&quot;:true,&quot;type&quot;:&quot;text&quot;}"/>
          <p:cNvSpPr txBox="1"/>
          <p:nvPr/>
        </p:nvSpPr>
        <p:spPr>
          <a:xfrm rot="0" flipH="0" flipV="0">
            <a:off x="9925050" y="3457575"/>
            <a:ext cx="1447800" cy="4476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975">
                <a:solidFill>
                  <a:srgbClr val="2A2118">
                    <a:alpha val="70000"/>
                  </a:srgbClr>
                </a:solidFill>
                <a:latin typeface="PingFang SC"/>
                <a:ea typeface="PingFang SC"/>
              </a:rPr>
              <a:t>产品</a:t>
            </a:r>
            <a:r>
              <a:rPr lang="en-US" sz="975">
                <a:solidFill>
                  <a:srgbClr val="2A2118">
                    <a:alpha val="70000"/>
                  </a:srgbClr>
                </a:solidFill>
                <a:latin typeface="PingFang SC"/>
                <a:ea typeface="PingFang SC"/>
              </a:rPr>
              <a:t>/</a:t>
            </a:r>
            <a:r>
              <a:rPr lang="zh-CN" sz="975">
                <a:solidFill>
                  <a:srgbClr val="2A2118">
                    <a:alpha val="70000"/>
                  </a:srgbClr>
                </a:solidFill>
                <a:latin typeface="PingFang SC"/>
                <a:ea typeface="PingFang SC"/>
              </a:rPr>
              <a:t>算法</a:t>
            </a:r>
            <a:r>
              <a:rPr lang="en-US" sz="975">
                <a:solidFill>
                  <a:srgbClr val="2A2118">
                    <a:alpha val="70000"/>
                  </a:srgbClr>
                </a:solidFill>
                <a:latin typeface="PingFang SC"/>
                <a:ea typeface="PingFang SC"/>
              </a:rPr>
              <a:t>/</a:t>
            </a:r>
            <a:r>
              <a:rPr lang="zh-CN" sz="975">
                <a:solidFill>
                  <a:srgbClr val="2A2118">
                    <a:alpha val="70000"/>
                  </a:srgbClr>
                </a:solidFill>
                <a:latin typeface="PingFang SC"/>
                <a:ea typeface="PingFang SC"/>
              </a:rPr>
              <a:t>讲义</a:t>
            </a:r>
            <a:r>
              <a:rPr lang="en-US" sz="975">
                <a:solidFill>
                  <a:srgbClr val="2A2118">
                    <a:alpha val="70000"/>
                  </a:srgbClr>
                </a:solidFill>
                <a:latin typeface="PingFang SC"/>
                <a:ea typeface="PingFang SC"/>
              </a:rPr>
              <a:t>/</a:t>
            </a:r>
            <a:r>
              <a:rPr lang="zh-CN" sz="975">
                <a:solidFill>
                  <a:srgbClr val="2A2118">
                    <a:alpha val="70000"/>
                  </a:srgbClr>
                </a:solidFill>
                <a:latin typeface="PingFang SC"/>
                <a:ea typeface="PingFang SC"/>
              </a:rPr>
              <a:t>报告四份</a:t>
            </a:r>
            <a:r>
              <a:rPr lang="en-US" sz="975">
                <a:solidFill>
                  <a:srgbClr val="2A2118">
                    <a:alpha val="70000"/>
                  </a:srgbClr>
                </a:solidFill>
                <a:latin typeface="PingFang SC"/>
                <a:ea typeface="PingFang SC"/>
              </a:rPr>
              <a:t xml:space="preserve"> Word</a:t>
            </a:r>
            <a:endParaRPr/>
          </a:p>
        </p:txBody>
      </p:sp>
      <p:sp>
        <p:nvSpPr>
          <p:cNvPr id="266" name="" descr="{&quot;isTemplate&quot;:true,&quot;type&quot;:&quot;text&quot;}"/>
          <p:cNvSpPr txBox="1"/>
          <p:nvPr/>
        </p:nvSpPr>
        <p:spPr>
          <a:xfrm rot="0" flipH="0" flipV="0">
            <a:off x="685800" y="6172200"/>
            <a:ext cx="14478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2A2118">
                    <a:alpha val="55000"/>
                  </a:srgbClr>
                </a:solidFill>
                <a:latin typeface="PingFang SC"/>
                <a:ea typeface="PingFang SC"/>
              </a:rPr>
              <a:t>弈趣棋苑</a:t>
            </a:r>
            <a:r>
              <a:rPr lang="en-US" sz="1050">
                <a:solidFill>
                  <a:srgbClr val="2A2118">
                    <a:alpha val="55000"/>
                  </a:srgbClr>
                </a:solidFill>
                <a:latin typeface="PingFang SC"/>
                <a:ea typeface="PingFang SC"/>
              </a:rPr>
              <a:t xml:space="preserve"> · </a:t>
            </a:r>
            <a:r>
              <a:rPr lang="zh-CN" sz="1050">
                <a:solidFill>
                  <a:srgbClr val="2A2118">
                    <a:alpha val="55000"/>
                  </a:srgbClr>
                </a:solidFill>
                <a:latin typeface="PingFang SC"/>
                <a:ea typeface="PingFang SC"/>
              </a:rPr>
              <a:t>项目开发汇报</a:t>
            </a:r>
            <a:endParaRPr/>
          </a:p>
        </p:txBody>
      </p:sp>
      <p:sp>
        <p:nvSpPr>
          <p:cNvPr id="267" name="" descr="{&quot;isTemplate&quot;:true,&quot;type&quot;:&quot;text&quot;}"/>
          <p:cNvSpPr txBox="1"/>
          <p:nvPr/>
        </p:nvSpPr>
        <p:spPr>
          <a:xfrm rot="0" flipH="0" flipV="0">
            <a:off x="11049000" y="61722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2A2118">
                    <a:alpha val="55000"/>
                  </a:srgbClr>
                </a:solidFill>
                <a:latin typeface="PingFang SC"/>
                <a:ea typeface="PingFang SC"/>
              </a:rPr>
              <a:t>29 / 64</a:t>
            </a:r>
            <a:endParaRPr/>
          </a:p>
        </p:txBody>
      </p:sp>
    </p:spTree>
  </p:cSld>
</p:sld>
</file>

<file path=ppt/slides/slide29.xml><?xml version="1.0" encoding="utf-8"?>
<p:sld xmlns:p="http://schemas.openxmlformats.org/presentationml/2006/main" xmlns:a="http://schemas.openxmlformats.org/drawingml/2006/main">
  <p:cSld>
    <p:spTree>
      <p:nvGrpSpPr>
        <p:cNvPr id="268" name="" descr="&lt;Slide style={{ width: 1280, height: 720, padding: &quot;20px 72px&quot;, background: &quot;#F5E3BE&quot;, flexDirection: &quot;column&quot; }}&gt;&#10;  &lt;Box style={{ width: &quot;100%&quot;, height: 96, flexDirection: &quot;column&quot;, justifyContent: &quot;center&quot; }}&gt;&#10;    &lt;Text style={{ fontSize: 34, fontWeight: &quot;bold&quot;, color: &quot;#2A2118&quot;, fontFamily: &quot;'Songti SC', 'STSong', 'SimSun', serif&quot; }}&gt;迭代一：先让画面能看&lt;/Text&gt;&#10;    &lt;Box style={{ width: 56, height: 2, background: &quot;#B3271E&quot;, marginTop: 10 }} /&gt;&#10;  &lt;/Box&gt;&#10;  &lt;Box style={{ width: &quot;100%&quot;, height: 516, flexDirection: &quot;column&quot; }}&gt;&#10;  &lt;Box style={{ width: 860, height: &quot;100%&quot;, flexDirection: &quot;column&quot;, justifyContent: &quot;center&quot; }}&gt;&#10;    &lt;Text style={{ fontSize: 18, lineHeight: 1.7, color: &quot;#2A2118&quot;, fontFamily: &quot;'PingFang SC', 'Microsoft YaHei', sans-serif&quot;, marginBottom: 14 }}&gt;这一轮全在画面上：移除棋盘刮痕、修掉大棋子的方形阴影光环、加上嗒嗒嗒的落子音、接好歌单、稳住侧栏滚动、验证棋盘在不同窗口尺寸下都居中。&lt;/Text&gt;&#10;    &lt;Text style={{ fontSize: 18, lineHeight: 1.7, color: &quot;#2A2118&quot;, fontFamily: &quot;'PingFang SC', 'Microsoft YaHei', sans-serif&quot;, marginBottom: 14 }}&gt;目标很朴素——打开不丑、下了不卡。它是后面所有打磨的地基。&lt;/Text&gt;&#10;  &lt;/Box&gt;&#10;  &lt;/Box&gt;&#10;  &lt;Box style={{ width: &quot;100%&quot;, height: 48, flexDirection: &quot;row&quot;, alignItems: &quot;center&quot;, justifyContent: &quot;space-between&quot; }}&gt;&#10;    &lt;Text style={{ fontSize: 14, color: &quot;rgba(42,33,24,0.55)&quot;, fontFamily: &quot;'PingFang SC', 'Microsoft YaHei', sans-serif&quot; }}&gt;弈趣棋苑 · 项目开发汇报&lt;/Text&gt;&#10;    &lt;Text style={{ fontSize: 14, color: &quot;rgba(42,33,24,0.55)&quot;, fontFamily: &quot;'PingFang SC', 'Microsoft YaHei', sans-serif&quot; }}&gt;30 / 64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5E3BE"/>
          </a:solidFill>
          <a:ln/>
        </p:spPr>
        <p:txBody>
          <a:bodyPr/>
          <a:p/>
        </p:txBody>
      </p:sp>
      <p:sp>
        <p:nvSpPr>
          <p:cNvPr id="270" name="" descr="{&quot;isTemplate&quot;:true,&quot;type&quot;:&quot;text&quot;}"/>
          <p:cNvSpPr txBox="1"/>
          <p:nvPr/>
        </p:nvSpPr>
        <p:spPr>
          <a:xfrm rot="0" flipH="0" flipV="0">
            <a:off x="685800" y="400050"/>
            <a:ext cx="108204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A2118"/>
                </a:solidFill>
                <a:latin typeface="Songti SC"/>
                <a:ea typeface="Songti SC"/>
              </a:rPr>
              <a:t>迭代一：先让画面能看</a:t>
            </a:r>
            <a:endParaRPr/>
          </a:p>
        </p:txBody>
      </p:sp>
      <p:sp>
        <p:nvSpPr>
          <p:cNvPr id="271" name=""/>
          <p:cNvSpPr/>
          <p:nvPr/>
        </p:nvSpPr>
        <p:spPr>
          <a:xfrm rot="0" flipH="0" flipV="0">
            <a:off x="685800" y="885825"/>
            <a:ext cx="533400" cy="19050"/>
          </a:xfrm>
          <a:prstGeom prst="rect">
            <a:avLst/>
          </a:prstGeom>
          <a:solidFill>
            <a:srgbClr val="B3271E"/>
          </a:solidFill>
          <a:ln/>
        </p:spPr>
        <p:txBody>
          <a:bodyPr/>
          <a:p/>
        </p:txBody>
      </p:sp>
      <p:sp>
        <p:nvSpPr>
          <p:cNvPr id="272" name="" descr="{&quot;isTemplate&quot;:true,&quot;type&quot;:&quot;text&quot;}"/>
          <p:cNvSpPr txBox="1"/>
          <p:nvPr/>
        </p:nvSpPr>
        <p:spPr>
          <a:xfrm rot="0" flipH="0" flipV="0">
            <a:off x="685800" y="2905125"/>
            <a:ext cx="8191500" cy="7048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350">
                <a:solidFill>
                  <a:srgbClr val="2A2118"/>
                </a:solidFill>
                <a:latin typeface="PingFang SC"/>
                <a:ea typeface="PingFang SC"/>
              </a:rPr>
              <a:t>这一轮全在画面上：移除棋盘刮痕、修掉大棋子的方形阴影光环、加上嗒嗒嗒的落子音、接好歌单、稳住侧栏滚动、验证棋盘在不同窗口尺寸下都居中。</a:t>
            </a:r>
            <a:endParaRPr/>
          </a:p>
        </p:txBody>
      </p:sp>
      <p:sp>
        <p:nvSpPr>
          <p:cNvPr id="273" name="" descr="{&quot;isTemplate&quot;:true,&quot;type&quot;:&quot;text&quot;}"/>
          <p:cNvSpPr txBox="1"/>
          <p:nvPr/>
        </p:nvSpPr>
        <p:spPr>
          <a:xfrm rot="0" flipH="0" flipV="0">
            <a:off x="685800" y="3743325"/>
            <a:ext cx="8191500" cy="35242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350">
                <a:solidFill>
                  <a:srgbClr val="2A2118"/>
                </a:solidFill>
                <a:latin typeface="PingFang SC"/>
                <a:ea typeface="PingFang SC"/>
              </a:rPr>
              <a:t>目标很朴素——打开不丑、下了不卡。它是后面所有打磨的地基。</a:t>
            </a:r>
            <a:endParaRPr/>
          </a:p>
        </p:txBody>
      </p:sp>
      <p:sp>
        <p:nvSpPr>
          <p:cNvPr id="274" name="" descr="{&quot;isTemplate&quot;:true,&quot;type&quot;:&quot;text&quot;}"/>
          <p:cNvSpPr txBox="1"/>
          <p:nvPr/>
        </p:nvSpPr>
        <p:spPr>
          <a:xfrm rot="0" flipH="0" flipV="0">
            <a:off x="685800" y="6172200"/>
            <a:ext cx="14478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2A2118">
                    <a:alpha val="55000"/>
                  </a:srgbClr>
                </a:solidFill>
                <a:latin typeface="PingFang SC"/>
                <a:ea typeface="PingFang SC"/>
              </a:rPr>
              <a:t>弈趣棋苑</a:t>
            </a:r>
            <a:r>
              <a:rPr lang="en-US" sz="1050">
                <a:solidFill>
                  <a:srgbClr val="2A2118">
                    <a:alpha val="55000"/>
                  </a:srgbClr>
                </a:solidFill>
                <a:latin typeface="PingFang SC"/>
                <a:ea typeface="PingFang SC"/>
              </a:rPr>
              <a:t xml:space="preserve"> · </a:t>
            </a:r>
            <a:r>
              <a:rPr lang="zh-CN" sz="1050">
                <a:solidFill>
                  <a:srgbClr val="2A2118">
                    <a:alpha val="55000"/>
                  </a:srgbClr>
                </a:solidFill>
                <a:latin typeface="PingFang SC"/>
                <a:ea typeface="PingFang SC"/>
              </a:rPr>
              <a:t>项目开发汇报</a:t>
            </a:r>
            <a:endParaRPr/>
          </a:p>
        </p:txBody>
      </p:sp>
      <p:sp>
        <p:nvSpPr>
          <p:cNvPr id="275" name="" descr="{&quot;isTemplate&quot;:true,&quot;type&quot;:&quot;text&quot;}"/>
          <p:cNvSpPr txBox="1"/>
          <p:nvPr/>
        </p:nvSpPr>
        <p:spPr>
          <a:xfrm rot="0" flipH="0" flipV="0">
            <a:off x="11049000" y="61722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2A2118">
                    <a:alpha val="55000"/>
                  </a:srgbClr>
                </a:solidFill>
                <a:latin typeface="PingFang SC"/>
                <a:ea typeface="PingFang SC"/>
              </a:rPr>
              <a:t>30 / 64</a:t>
            </a:r>
            <a:endParaRPr/>
          </a:p>
        </p:txBody>
      </p:sp>
    </p:spTree>
  </p:cSld>
</p:sld>
</file>

<file path=ppt/slides/slide30.xml><?xml version="1.0" encoding="utf-8"?>
<p:sld xmlns:p="http://schemas.openxmlformats.org/presentationml/2006/main" xmlns:a="http://schemas.openxmlformats.org/drawingml/2006/main">
  <p:cSld>
    <p:spTree>
      <p:nvGrpSpPr>
        <p:cNvPr id="285" name="" descr="&lt;Slide style={{ width: 1280, height: 720, padding: &quot;20px 72px&quot;, background: &quot;#F5E3BE&quot;, flexDirection: &quot;column&quot; }}&gt;&#10;  &lt;Box style={{ width: &quot;100%&quot;, height: 96, flexDirection: &quot;column&quot;, justifyContent: &quot;center&quot; }}&gt;&#10;    &lt;Text style={{ fontSize: 34, fontWeight: &quot;bold&quot;, color: &quot;#2A2118&quot;, fontFamily: &quot;'Songti SC', 'STSong', 'SimSun', serif&quot; }}&gt;迭代二：音效与图标&lt;/Text&gt;&#10;    &lt;Box style={{ width: 56, height: 2, background: &quot;#B3271E&quot;, marginTop: 10 }} /&gt;&#10;  &lt;/Box&gt;&#10;  &lt;Box style={{ width: &quot;100%&quot;, height: 516, flexDirection: &quot;column&quot; }}&gt;&#10;  &lt;Box style={{ width: 860, height: &quot;100%&quot;, flexDirection: &quot;column&quot;, justifyContent: &quot;center&quot; }}&gt;&#10;    &lt;Text style={{ fontSize: 18, lineHeight: 1.7, color: &quot;#2A2118&quot;, fontFamily: &quot;'PingFang SC', 'Microsoft YaHei', sans-serif&quot;, marginBottom: 14 }}&gt;把旧音效换成 MP3 落子音；修正上下首图标的指向（之前是反的）；修掉歌单里的中文乱码；让侧栏在各种操作下不再抖动。&lt;/Text&gt;&#10;    &lt;Text style={{ fontSize: 18, lineHeight: 1.7, color: &quot;#2A2118&quot;, fontFamily: &quot;'PingFang SC', 'Microsoft YaHei', sans-serif&quot;, marginBottom: 14 }}&gt;音频从「能响」走到「不刺耳、不乱码」。&lt;/Text&gt;&#10;  &lt;/Box&gt;&#10;  &lt;/Box&gt;&#10;  &lt;Box style={{ width: &quot;100%&quot;, height: 48, flexDirection: &quot;row&quot;, alignItems: &quot;center&quot;, justifyContent: &quot;space-between&quot; }}&gt;&#10;    &lt;Text style={{ fontSize: 14, color: &quot;rgba(42,33,24,0.55)&quot;, fontFamily: &quot;'PingFang SC', 'Microsoft YaHei', sans-serif&quot; }}&gt;弈趣棋苑 · 项目开发汇报&lt;/Text&gt;&#10;    &lt;Text style={{ fontSize: 14, color: &quot;rgba(42,33,24,0.55)&quot;, fontFamily: &quot;'PingFang SC', 'Microsoft YaHei', sans-serif&quot; }}&gt;31 / 64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5E3BE"/>
          </a:solidFill>
          <a:ln/>
        </p:spPr>
        <p:txBody>
          <a:bodyPr/>
          <a:p/>
        </p:txBody>
      </p:sp>
      <p:sp>
        <p:nvSpPr>
          <p:cNvPr id="287" name="" descr="{&quot;isTemplate&quot;:true,&quot;type&quot;:&quot;text&quot;}"/>
          <p:cNvSpPr txBox="1"/>
          <p:nvPr/>
        </p:nvSpPr>
        <p:spPr>
          <a:xfrm rot="0" flipH="0" flipV="0">
            <a:off x="685800" y="400050"/>
            <a:ext cx="108204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A2118"/>
                </a:solidFill>
                <a:latin typeface="Songti SC"/>
                <a:ea typeface="Songti SC"/>
              </a:rPr>
              <a:t>迭代二：音效与图标</a:t>
            </a:r>
            <a:endParaRPr/>
          </a:p>
        </p:txBody>
      </p:sp>
      <p:sp>
        <p:nvSpPr>
          <p:cNvPr id="288" name=""/>
          <p:cNvSpPr/>
          <p:nvPr/>
        </p:nvSpPr>
        <p:spPr>
          <a:xfrm rot="0" flipH="0" flipV="0">
            <a:off x="685800" y="885825"/>
            <a:ext cx="533400" cy="19050"/>
          </a:xfrm>
          <a:prstGeom prst="rect">
            <a:avLst/>
          </a:prstGeom>
          <a:solidFill>
            <a:srgbClr val="B3271E"/>
          </a:solidFill>
          <a:ln/>
        </p:spPr>
        <p:txBody>
          <a:bodyPr/>
          <a:p/>
        </p:txBody>
      </p:sp>
      <p:sp>
        <p:nvSpPr>
          <p:cNvPr id="289" name="" descr="{&quot;isTemplate&quot;:true,&quot;type&quot;:&quot;text&quot;}"/>
          <p:cNvSpPr txBox="1"/>
          <p:nvPr/>
        </p:nvSpPr>
        <p:spPr>
          <a:xfrm rot="0" flipH="0" flipV="0">
            <a:off x="685800" y="2905125"/>
            <a:ext cx="8191500" cy="7048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350">
                <a:solidFill>
                  <a:srgbClr val="2A2118"/>
                </a:solidFill>
                <a:latin typeface="PingFang SC"/>
                <a:ea typeface="PingFang SC"/>
              </a:rPr>
              <a:t>把旧音效换成</a:t>
            </a:r>
            <a:r>
              <a:rPr lang="en-US" sz="1350">
                <a:solidFill>
                  <a:srgbClr val="2A2118"/>
                </a:solidFill>
                <a:latin typeface="PingFang SC"/>
                <a:ea typeface="PingFang SC"/>
              </a:rPr>
              <a:t xml:space="preserve"> MP3 </a:t>
            </a:r>
            <a:r>
              <a:rPr lang="zh-CN" sz="1350">
                <a:solidFill>
                  <a:srgbClr val="2A2118"/>
                </a:solidFill>
                <a:latin typeface="PingFang SC"/>
                <a:ea typeface="PingFang SC"/>
              </a:rPr>
              <a:t>落子音；修正上下首图标的指向（之前是反的）；修掉歌单里的中文乱码；让侧栏在各种操作下不再抖动。</a:t>
            </a:r>
            <a:endParaRPr/>
          </a:p>
        </p:txBody>
      </p:sp>
      <p:sp>
        <p:nvSpPr>
          <p:cNvPr id="290" name="" descr="{&quot;isTemplate&quot;:true,&quot;type&quot;:&quot;text&quot;}"/>
          <p:cNvSpPr txBox="1"/>
          <p:nvPr/>
        </p:nvSpPr>
        <p:spPr>
          <a:xfrm rot="0" flipH="0" flipV="0">
            <a:off x="685800" y="3743325"/>
            <a:ext cx="8191500" cy="35242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350">
                <a:solidFill>
                  <a:srgbClr val="2A2118"/>
                </a:solidFill>
                <a:latin typeface="PingFang SC"/>
                <a:ea typeface="PingFang SC"/>
              </a:rPr>
              <a:t>音频从「能响」走到「不刺耳、不乱码」。</a:t>
            </a:r>
            <a:endParaRPr/>
          </a:p>
        </p:txBody>
      </p:sp>
      <p:sp>
        <p:nvSpPr>
          <p:cNvPr id="291" name="" descr="{&quot;isTemplate&quot;:true,&quot;type&quot;:&quot;text&quot;}"/>
          <p:cNvSpPr txBox="1"/>
          <p:nvPr/>
        </p:nvSpPr>
        <p:spPr>
          <a:xfrm rot="0" flipH="0" flipV="0">
            <a:off x="685800" y="6172200"/>
            <a:ext cx="14478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2A2118">
                    <a:alpha val="55000"/>
                  </a:srgbClr>
                </a:solidFill>
                <a:latin typeface="PingFang SC"/>
                <a:ea typeface="PingFang SC"/>
              </a:rPr>
              <a:t>弈趣棋苑</a:t>
            </a:r>
            <a:r>
              <a:rPr lang="en-US" sz="1050">
                <a:solidFill>
                  <a:srgbClr val="2A2118">
                    <a:alpha val="55000"/>
                  </a:srgbClr>
                </a:solidFill>
                <a:latin typeface="PingFang SC"/>
                <a:ea typeface="PingFang SC"/>
              </a:rPr>
              <a:t xml:space="preserve"> · </a:t>
            </a:r>
            <a:r>
              <a:rPr lang="zh-CN" sz="1050">
                <a:solidFill>
                  <a:srgbClr val="2A2118">
                    <a:alpha val="55000"/>
                  </a:srgbClr>
                </a:solidFill>
                <a:latin typeface="PingFang SC"/>
                <a:ea typeface="PingFang SC"/>
              </a:rPr>
              <a:t>项目开发汇报</a:t>
            </a:r>
            <a:endParaRPr/>
          </a:p>
        </p:txBody>
      </p:sp>
      <p:sp>
        <p:nvSpPr>
          <p:cNvPr id="292" name="" descr="{&quot;isTemplate&quot;:true,&quot;type&quot;:&quot;text&quot;}"/>
          <p:cNvSpPr txBox="1"/>
          <p:nvPr/>
        </p:nvSpPr>
        <p:spPr>
          <a:xfrm rot="0" flipH="0" flipV="0">
            <a:off x="11049000" y="61722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2A2118">
                    <a:alpha val="55000"/>
                  </a:srgbClr>
                </a:solidFill>
                <a:latin typeface="PingFang SC"/>
                <a:ea typeface="PingFang SC"/>
              </a:rPr>
              <a:t>31 / 64</a:t>
            </a:r>
            <a:endParaRPr/>
          </a:p>
        </p:txBody>
      </p:sp>
    </p:spTree>
  </p:cSld>
</p:sld>
</file>

<file path=ppt/slides/slide31.xml><?xml version="1.0" encoding="utf-8"?>
<p:sld xmlns:p="http://schemas.openxmlformats.org/presentationml/2006/main" xmlns:a="http://schemas.openxmlformats.org/drawingml/2006/main">
  <p:cSld>
    <p:spTree>
      <p:nvGrpSpPr>
        <p:cNvPr id="293" name="" descr="&lt;Slide style={{ width: 1280, height: 720, padding: &quot;20px 72px&quot;, background: &quot;#F5E3BE&quot;, flexDirection: &quot;column&quot; }}&gt;&#10;  &lt;Box style={{ width: &quot;100%&quot;, height: 96, flexDirection: &quot;column&quot;, justifyContent: &quot;center&quot; }}&gt;&#10;    &lt;Text style={{ fontSize: 34, fontWeight: &quot;bold&quot;, color: &quot;#2A2118&quot;, fontFamily: &quot;'Songti SC', 'STSong', 'SimSun', serif&quot; }}&gt;迭代三：PostgreSQL 一键配置&lt;/Text&gt;&#10;    &lt;Box style={{ width: 56, height: 2, background: &quot;#B3271E&quot;, marginTop: 10 }} /&gt;&#10;  &lt;/Box&gt;&#10;  &lt;Box style={{ width: &quot;100%&quot;, height: 516, flexDirection: &quot;column&quot; }}&gt;&#10;  &lt;Box style={{ width: 860, height: &quot;100%&quot;, flexDirection: &quot;column&quot;, justifyContent: &quot;center&quot; }}&gt;&#10;    &lt;Text style={{ fontSize: 18, lineHeight: 1.7, color: &quot;#2A2118&quot;, fontFamily: &quot;'PingFang SC', 'Microsoft YaHei', sans-serif&quot;, marginBottom: 14 }}&gt;数据库是很多人的门槛。这轮写了一个安装引导脚本加启动检测，把「自己配连接串」降级成「点一下就行」。&lt;/Text&gt;&#10;    &lt;Text style={{ fontSize: 18, lineHeight: 1.7, color: &quot;#2A2118&quot;, fontFamily: &quot;'PingFang SC', 'Microsoft YaHei', sans-serif&quot;, marginBottom: 14 }}&gt;配套状态栏和 Toast 双反馈，存档成功失败都看得见。&lt;/Text&gt;&#10;  &lt;/Box&gt;&#10;  &lt;/Box&gt;&#10;  &lt;Box style={{ width: &quot;100%&quot;, height: 48, flexDirection: &quot;row&quot;, alignItems: &quot;center&quot;, justifyContent: &quot;space-between&quot; }}&gt;&#10;    &lt;Text style={{ fontSize: 14, color: &quot;rgba(42,33,24,0.55)&quot;, fontFamily: &quot;'PingFang SC', 'Microsoft YaHei', sans-serif&quot; }}&gt;弈趣棋苑 · 项目开发汇报&lt;/Text&gt;&#10;    &lt;Text style={{ fontSize: 14, color: &quot;rgba(42,33,24,0.55)&quot;, fontFamily: &quot;'PingFang SC', 'Microsoft YaHei', sans-serif&quot; }}&gt;32 / 64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5E3BE"/>
          </a:solidFill>
          <a:ln/>
        </p:spPr>
        <p:txBody>
          <a:bodyPr/>
          <a:p/>
        </p:txBody>
      </p:sp>
      <p:sp>
        <p:nvSpPr>
          <p:cNvPr id="295" name="" descr="{&quot;isTemplate&quot;:true,&quot;type&quot;:&quot;text&quot;}"/>
          <p:cNvSpPr txBox="1"/>
          <p:nvPr/>
        </p:nvSpPr>
        <p:spPr>
          <a:xfrm rot="0" flipH="0" flipV="0">
            <a:off x="685800" y="400050"/>
            <a:ext cx="108204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A2118"/>
                </a:solidFill>
                <a:latin typeface="Songti SC"/>
                <a:ea typeface="Songti SC"/>
              </a:rPr>
              <a:t>迭代三：</a:t>
            </a:r>
            <a:r>
              <a:rPr lang="en-US" sz="2550" b="1">
                <a:solidFill>
                  <a:srgbClr val="2A2118"/>
                </a:solidFill>
                <a:latin typeface="Songti SC"/>
                <a:ea typeface="Songti SC"/>
              </a:rPr>
              <a:t xml:space="preserve">PostgreSQL </a:t>
            </a:r>
            <a:r>
              <a:rPr lang="zh-CN" sz="2550" b="1">
                <a:solidFill>
                  <a:srgbClr val="2A2118"/>
                </a:solidFill>
                <a:latin typeface="Songti SC"/>
                <a:ea typeface="Songti SC"/>
              </a:rPr>
              <a:t>一键配置</a:t>
            </a:r>
            <a:endParaRPr/>
          </a:p>
        </p:txBody>
      </p:sp>
      <p:sp>
        <p:nvSpPr>
          <p:cNvPr id="296" name=""/>
          <p:cNvSpPr/>
          <p:nvPr/>
        </p:nvSpPr>
        <p:spPr>
          <a:xfrm rot="0" flipH="0" flipV="0">
            <a:off x="685800" y="885825"/>
            <a:ext cx="533400" cy="19050"/>
          </a:xfrm>
          <a:prstGeom prst="rect">
            <a:avLst/>
          </a:prstGeom>
          <a:solidFill>
            <a:srgbClr val="B3271E"/>
          </a:solidFill>
          <a:ln/>
        </p:spPr>
        <p:txBody>
          <a:bodyPr/>
          <a:p/>
        </p:txBody>
      </p:sp>
      <p:sp>
        <p:nvSpPr>
          <p:cNvPr id="297" name="" descr="{&quot;isTemplate&quot;:true,&quot;type&quot;:&quot;text&quot;}"/>
          <p:cNvSpPr txBox="1"/>
          <p:nvPr/>
        </p:nvSpPr>
        <p:spPr>
          <a:xfrm rot="0" flipH="0" flipV="0">
            <a:off x="685800" y="2905125"/>
            <a:ext cx="8191500" cy="7048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350">
                <a:solidFill>
                  <a:srgbClr val="2A2118"/>
                </a:solidFill>
                <a:latin typeface="PingFang SC"/>
                <a:ea typeface="PingFang SC"/>
              </a:rPr>
              <a:t>数据库是很多人的门槛。这轮写了一个安装引导脚本加启动检测，把「自己配连接串」降级成「点一下就行」。</a:t>
            </a:r>
            <a:endParaRPr/>
          </a:p>
        </p:txBody>
      </p:sp>
      <p:sp>
        <p:nvSpPr>
          <p:cNvPr id="298" name="" descr="{&quot;isTemplate&quot;:true,&quot;type&quot;:&quot;text&quot;}"/>
          <p:cNvSpPr txBox="1"/>
          <p:nvPr/>
        </p:nvSpPr>
        <p:spPr>
          <a:xfrm rot="0" flipH="0" flipV="0">
            <a:off x="685800" y="3743325"/>
            <a:ext cx="8191500" cy="35242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350">
                <a:solidFill>
                  <a:srgbClr val="2A2118"/>
                </a:solidFill>
                <a:latin typeface="PingFang SC"/>
                <a:ea typeface="PingFang SC"/>
              </a:rPr>
              <a:t>配套状态栏和</a:t>
            </a:r>
            <a:r>
              <a:rPr lang="en-US" sz="1350">
                <a:solidFill>
                  <a:srgbClr val="2A2118"/>
                </a:solidFill>
                <a:latin typeface="PingFang SC"/>
                <a:ea typeface="PingFang SC"/>
              </a:rPr>
              <a:t xml:space="preserve"> Toast </a:t>
            </a:r>
            <a:r>
              <a:rPr lang="zh-CN" sz="1350">
                <a:solidFill>
                  <a:srgbClr val="2A2118"/>
                </a:solidFill>
                <a:latin typeface="PingFang SC"/>
                <a:ea typeface="PingFang SC"/>
              </a:rPr>
              <a:t>双反馈，存档成功失败都看得见。</a:t>
            </a:r>
            <a:endParaRPr/>
          </a:p>
        </p:txBody>
      </p:sp>
      <p:sp>
        <p:nvSpPr>
          <p:cNvPr id="299" name="" descr="{&quot;isTemplate&quot;:true,&quot;type&quot;:&quot;text&quot;}"/>
          <p:cNvSpPr txBox="1"/>
          <p:nvPr/>
        </p:nvSpPr>
        <p:spPr>
          <a:xfrm rot="0" flipH="0" flipV="0">
            <a:off x="685800" y="6172200"/>
            <a:ext cx="14478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2A2118">
                    <a:alpha val="55000"/>
                  </a:srgbClr>
                </a:solidFill>
                <a:latin typeface="PingFang SC"/>
                <a:ea typeface="PingFang SC"/>
              </a:rPr>
              <a:t>弈趣棋苑</a:t>
            </a:r>
            <a:r>
              <a:rPr lang="en-US" sz="1050">
                <a:solidFill>
                  <a:srgbClr val="2A2118">
                    <a:alpha val="55000"/>
                  </a:srgbClr>
                </a:solidFill>
                <a:latin typeface="PingFang SC"/>
                <a:ea typeface="PingFang SC"/>
              </a:rPr>
              <a:t xml:space="preserve"> · </a:t>
            </a:r>
            <a:r>
              <a:rPr lang="zh-CN" sz="1050">
                <a:solidFill>
                  <a:srgbClr val="2A2118">
                    <a:alpha val="55000"/>
                  </a:srgbClr>
                </a:solidFill>
                <a:latin typeface="PingFang SC"/>
                <a:ea typeface="PingFang SC"/>
              </a:rPr>
              <a:t>项目开发汇报</a:t>
            </a:r>
            <a:endParaRPr/>
          </a:p>
        </p:txBody>
      </p:sp>
      <p:sp>
        <p:nvSpPr>
          <p:cNvPr id="300" name="" descr="{&quot;isTemplate&quot;:true,&quot;type&quot;:&quot;text&quot;}"/>
          <p:cNvSpPr txBox="1"/>
          <p:nvPr/>
        </p:nvSpPr>
        <p:spPr>
          <a:xfrm rot="0" flipH="0" flipV="0">
            <a:off x="11049000" y="61722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2A2118">
                    <a:alpha val="55000"/>
                  </a:srgbClr>
                </a:solidFill>
                <a:latin typeface="PingFang SC"/>
                <a:ea typeface="PingFang SC"/>
              </a:rPr>
              <a:t>32 / 64</a:t>
            </a:r>
            <a:endParaRPr/>
          </a:p>
        </p:txBody>
      </p:sp>
    </p:spTree>
  </p:cSld>
</p:sld>
</file>

<file path=ppt/slides/slide32.xml><?xml version="1.0" encoding="utf-8"?>
<p:sld xmlns:p="http://schemas.openxmlformats.org/presentationml/2006/main" xmlns:a="http://schemas.openxmlformats.org/drawingml/2006/main">
  <p:cSld>
    <p:spTree>
      <p:nvGrpSpPr>
        <p:cNvPr id="301" name="" descr="&lt;Slide style={{ width: 1280, height: 720, padding: &quot;20px 72px&quot;, background: &quot;#F5E3BE&quot;, flexDirection: &quot;column&quot; }}&gt;&#10;  &lt;Box style={{ width: &quot;100%&quot;, height: 96, flexDirection: &quot;column&quot;, justifyContent: &quot;center&quot; }}&gt;&#10;    &lt;Text style={{ fontSize: 34, fontWeight: &quot;bold&quot;, color: &quot;#2A2118&quot;, fontFamily: &quot;'Songti SC', 'STSong', 'SimSun', serif&quot; }}&gt;迭代四：体积清理诊断&lt;/Text&gt;&#10;    &lt;Box style={{ width: 56, height: 2, background: &quot;#B3271E&quot;, marginTop: 10 }} /&gt;&#10;  &lt;/Box&gt;&#10;  &lt;Box style={{ width: &quot;100%&quot;, height: 516, flexDirection: &quot;column&quot; }}&gt;&#10;  &lt;Box style={{ width: 860, height: &quot;100%&quot;, flexDirection: &quot;column&quot;, justifyContent: &quot;center&quot; }}&gt;&#10;    &lt;Text style={{ fontSize: 18, lineHeight: 1.7, color: &quot;#2A2118&quot;, fontFamily: &quot;'PingFang SC', 'Microsoft YaHei', sans-serif&quot;, marginBottom: 14 }}&gt;935MB 的工程在磁盘上太臃肿。这轮做体积诊断，定位出 627MB 是同一素材的多份重复副本。&lt;/Text&gt;&#10;    &lt;Text style={{ fontSize: 18, lineHeight: 1.7, color: &quot;#2A2118&quot;, fontFamily: &quot;'PingFang SC', 'Microsoft YaHei', sans-serif&quot;, marginBottom: 14 }}&gt;清掉之后，目录结构一眼可读，发布体积也降下来了。&lt;/Text&gt;&#10;  &lt;/Box&gt;&#10;  &lt;/Box&gt;&#10;  &lt;Box style={{ width: &quot;100%&quot;, height: 48, flexDirection: &quot;row&quot;, alignItems: &quot;center&quot;, justifyContent: &quot;space-between&quot; }}&gt;&#10;    &lt;Text style={{ fontSize: 14, color: &quot;rgba(42,33,24,0.55)&quot;, fontFamily: &quot;'PingFang SC', 'Microsoft YaHei', sans-serif&quot; }}&gt;弈趣棋苑 · 项目开发汇报&lt;/Text&gt;&#10;    &lt;Text style={{ fontSize: 14, color: &quot;rgba(42,33,24,0.55)&quot;, fontFamily: &quot;'PingFang SC', 'Microsoft YaHei', sans-serif&quot; }}&gt;33 / 64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5E3BE"/>
          </a:solidFill>
          <a:ln/>
        </p:spPr>
        <p:txBody>
          <a:bodyPr/>
          <a:p/>
        </p:txBody>
      </p:sp>
      <p:sp>
        <p:nvSpPr>
          <p:cNvPr id="303" name="" descr="{&quot;isTemplate&quot;:true,&quot;type&quot;:&quot;text&quot;}"/>
          <p:cNvSpPr txBox="1"/>
          <p:nvPr/>
        </p:nvSpPr>
        <p:spPr>
          <a:xfrm rot="0" flipH="0" flipV="0">
            <a:off x="685800" y="400050"/>
            <a:ext cx="108204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A2118"/>
                </a:solidFill>
                <a:latin typeface="Songti SC"/>
                <a:ea typeface="Songti SC"/>
              </a:rPr>
              <a:t>迭代四：体积清理诊断</a:t>
            </a:r>
            <a:endParaRPr/>
          </a:p>
        </p:txBody>
      </p:sp>
      <p:sp>
        <p:nvSpPr>
          <p:cNvPr id="304" name=""/>
          <p:cNvSpPr/>
          <p:nvPr/>
        </p:nvSpPr>
        <p:spPr>
          <a:xfrm rot="0" flipH="0" flipV="0">
            <a:off x="685800" y="885825"/>
            <a:ext cx="533400" cy="19050"/>
          </a:xfrm>
          <a:prstGeom prst="rect">
            <a:avLst/>
          </a:prstGeom>
          <a:solidFill>
            <a:srgbClr val="B3271E"/>
          </a:solidFill>
          <a:ln/>
        </p:spPr>
        <p:txBody>
          <a:bodyPr/>
          <a:p/>
        </p:txBody>
      </p:sp>
      <p:sp>
        <p:nvSpPr>
          <p:cNvPr id="305" name="" descr="{&quot;isTemplate&quot;:true,&quot;type&quot;:&quot;text&quot;}"/>
          <p:cNvSpPr txBox="1"/>
          <p:nvPr/>
        </p:nvSpPr>
        <p:spPr>
          <a:xfrm rot="0" flipH="0" flipV="0">
            <a:off x="685800" y="3076575"/>
            <a:ext cx="8191500" cy="35242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1350">
                <a:solidFill>
                  <a:srgbClr val="2A2118"/>
                </a:solidFill>
                <a:latin typeface="PingFang SC"/>
                <a:ea typeface="PingFang SC"/>
              </a:rPr>
              <a:t xml:space="preserve">935MB </a:t>
            </a:r>
            <a:r>
              <a:rPr lang="zh-CN" sz="1350">
                <a:solidFill>
                  <a:srgbClr val="2A2118"/>
                </a:solidFill>
                <a:latin typeface="PingFang SC"/>
                <a:ea typeface="PingFang SC"/>
              </a:rPr>
              <a:t>的工程在磁盘上太臃肿。这轮做体积诊断，定位出</a:t>
            </a:r>
            <a:r>
              <a:rPr lang="en-US" sz="1350">
                <a:solidFill>
                  <a:srgbClr val="2A2118"/>
                </a:solidFill>
                <a:latin typeface="PingFang SC"/>
                <a:ea typeface="PingFang SC"/>
              </a:rPr>
              <a:t xml:space="preserve"> 627MB </a:t>
            </a:r>
            <a:r>
              <a:rPr lang="zh-CN" sz="1350">
                <a:solidFill>
                  <a:srgbClr val="2A2118"/>
                </a:solidFill>
                <a:latin typeface="PingFang SC"/>
                <a:ea typeface="PingFang SC"/>
              </a:rPr>
              <a:t>是同一素材的多份重复副本。</a:t>
            </a:r>
            <a:endParaRPr/>
          </a:p>
        </p:txBody>
      </p:sp>
      <p:sp>
        <p:nvSpPr>
          <p:cNvPr id="306" name="" descr="{&quot;isTemplate&quot;:true,&quot;type&quot;:&quot;text&quot;}"/>
          <p:cNvSpPr txBox="1"/>
          <p:nvPr/>
        </p:nvSpPr>
        <p:spPr>
          <a:xfrm rot="0" flipH="0" flipV="0">
            <a:off x="685800" y="3562350"/>
            <a:ext cx="8191500" cy="35242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350">
                <a:solidFill>
                  <a:srgbClr val="2A2118"/>
                </a:solidFill>
                <a:latin typeface="PingFang SC"/>
                <a:ea typeface="PingFang SC"/>
              </a:rPr>
              <a:t>清掉之后，目录结构一眼可读，发布体积也降下来了。</a:t>
            </a:r>
            <a:endParaRPr/>
          </a:p>
        </p:txBody>
      </p:sp>
      <p:sp>
        <p:nvSpPr>
          <p:cNvPr id="307" name="" descr="{&quot;isTemplate&quot;:true,&quot;type&quot;:&quot;text&quot;}"/>
          <p:cNvSpPr txBox="1"/>
          <p:nvPr/>
        </p:nvSpPr>
        <p:spPr>
          <a:xfrm rot="0" flipH="0" flipV="0">
            <a:off x="685800" y="6172200"/>
            <a:ext cx="14478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2A2118">
                    <a:alpha val="55000"/>
                  </a:srgbClr>
                </a:solidFill>
                <a:latin typeface="PingFang SC"/>
                <a:ea typeface="PingFang SC"/>
              </a:rPr>
              <a:t>弈趣棋苑</a:t>
            </a:r>
            <a:r>
              <a:rPr lang="en-US" sz="1050">
                <a:solidFill>
                  <a:srgbClr val="2A2118">
                    <a:alpha val="55000"/>
                  </a:srgbClr>
                </a:solidFill>
                <a:latin typeface="PingFang SC"/>
                <a:ea typeface="PingFang SC"/>
              </a:rPr>
              <a:t xml:space="preserve"> · </a:t>
            </a:r>
            <a:r>
              <a:rPr lang="zh-CN" sz="1050">
                <a:solidFill>
                  <a:srgbClr val="2A2118">
                    <a:alpha val="55000"/>
                  </a:srgbClr>
                </a:solidFill>
                <a:latin typeface="PingFang SC"/>
                <a:ea typeface="PingFang SC"/>
              </a:rPr>
              <a:t>项目开发汇报</a:t>
            </a:r>
            <a:endParaRPr/>
          </a:p>
        </p:txBody>
      </p:sp>
      <p:sp>
        <p:nvSpPr>
          <p:cNvPr id="308" name="" descr="{&quot;isTemplate&quot;:true,&quot;type&quot;:&quot;text&quot;}"/>
          <p:cNvSpPr txBox="1"/>
          <p:nvPr/>
        </p:nvSpPr>
        <p:spPr>
          <a:xfrm rot="0" flipH="0" flipV="0">
            <a:off x="11049000" y="61722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2A2118">
                    <a:alpha val="55000"/>
                  </a:srgbClr>
                </a:solidFill>
                <a:latin typeface="PingFang SC"/>
                <a:ea typeface="PingFang SC"/>
              </a:rPr>
              <a:t>33 / 64</a:t>
            </a:r>
            <a:endParaRPr/>
          </a:p>
        </p:txBody>
      </p:sp>
    </p:spTree>
  </p:cSld>
</p:sld>
</file>

<file path=ppt/slides/slide33.xml><?xml version="1.0" encoding="utf-8"?>
<p:sld xmlns:p="http://schemas.openxmlformats.org/presentationml/2006/main" xmlns:a="http://schemas.openxmlformats.org/drawingml/2006/main">
  <p:cSld>
    <p:spTree>
      <p:nvGrpSpPr>
        <p:cNvPr id="309" name="" descr="&lt;Slide style={{ width: 1280, height: 720, padding: &quot;20px 72px&quot;, background: &quot;#F5E3BE&quot;, flexDirection: &quot;column&quot; }}&gt;&#10;  &lt;Box style={{ width: &quot;100%&quot;, height: 96, flexDirection: &quot;column&quot;, justifyContent: &quot;center&quot; }}&gt;&#10;    &lt;Text style={{ fontSize: 34, fontWeight: &quot;bold&quot;, color: &quot;#2A2118&quot;, fontFamily: &quot;'Songti SC', 'STSong', 'SimSun', serif&quot; }}&gt;迭代五：Word 交付文档&lt;/Text&gt;&#10;    &lt;Box style={{ width: 56, height: 2, background: &quot;#B3271E&quot;, marginTop: 10 }} /&gt;&#10;  &lt;/Box&gt;&#10;  &lt;Box style={{ width: &quot;100%&quot;, height: 516, flexDirection: &quot;column&quot; }}&gt;&#10;  &lt;Box style={{ width: 860, height: &quot;100%&quot;, flexDirection: &quot;column&quot;, justifyContent: &quot;center&quot; }}&gt;&#10;    &lt;Text style={{ fontSize: 18, lineHeight: 1.7, color: &quot;#2A2118&quot;, fontFamily: &quot;'PingFang SC', 'Microsoft YaHei', sans-serif&quot;, marginBottom: 14 }}&gt;代码之外，按受众写了四份 Word：产品说明、算法实现、本科生讲义、课程设计报告。&lt;/Text&gt;&#10;    &lt;Text style={{ fontSize: 18, lineHeight: 1.7, color: &quot;#2A2118&quot;, fontFamily: &quot;'PingFang SC', 'Microsoft YaHei', sans-serif&quot;, marginBottom: 14 }}&gt;同一份工程，给评审、给同学、给老师，口径各不同——这是「可交付」的最后一环。&lt;/Text&gt;&#10;  &lt;/Box&gt;&#10;  &lt;/Box&gt;&#10;  &lt;Box style={{ width: &quot;100%&quot;, height: 48, flexDirection: &quot;row&quot;, alignItems: &quot;center&quot;, justifyContent: &quot;space-between&quot; }}&gt;&#10;    &lt;Text style={{ fontSize: 14, color: &quot;rgba(42,33,24,0.55)&quot;, fontFamily: &quot;'PingFang SC', 'Microsoft YaHei', sans-serif&quot; }}&gt;弈趣棋苑 · 项目开发汇报&lt;/Text&gt;&#10;    &lt;Text style={{ fontSize: 14, color: &quot;rgba(42,33,24,0.55)&quot;, fontFamily: &quot;'PingFang SC', 'Microsoft YaHei', sans-serif&quot; }}&gt;34 / 64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5E3BE"/>
          </a:solidFill>
          <a:ln/>
        </p:spPr>
        <p:txBody>
          <a:bodyPr/>
          <a:p/>
        </p:txBody>
      </p:sp>
      <p:sp>
        <p:nvSpPr>
          <p:cNvPr id="311" name="" descr="{&quot;isTemplate&quot;:true,&quot;type&quot;:&quot;text&quot;}"/>
          <p:cNvSpPr txBox="1"/>
          <p:nvPr/>
        </p:nvSpPr>
        <p:spPr>
          <a:xfrm rot="0" flipH="0" flipV="0">
            <a:off x="685800" y="400050"/>
            <a:ext cx="108204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A2118"/>
                </a:solidFill>
                <a:latin typeface="Songti SC"/>
                <a:ea typeface="Songti SC"/>
              </a:rPr>
              <a:t>迭代五：</a:t>
            </a:r>
            <a:r>
              <a:rPr lang="en-US" sz="2550" b="1">
                <a:solidFill>
                  <a:srgbClr val="2A2118"/>
                </a:solidFill>
                <a:latin typeface="Songti SC"/>
                <a:ea typeface="Songti SC"/>
              </a:rPr>
              <a:t xml:space="preserve">Word </a:t>
            </a:r>
            <a:r>
              <a:rPr lang="zh-CN" sz="2550" b="1">
                <a:solidFill>
                  <a:srgbClr val="2A2118"/>
                </a:solidFill>
                <a:latin typeface="Songti SC"/>
                <a:ea typeface="Songti SC"/>
              </a:rPr>
              <a:t>交付文档</a:t>
            </a:r>
            <a:endParaRPr/>
          </a:p>
        </p:txBody>
      </p:sp>
      <p:sp>
        <p:nvSpPr>
          <p:cNvPr id="312" name=""/>
          <p:cNvSpPr/>
          <p:nvPr/>
        </p:nvSpPr>
        <p:spPr>
          <a:xfrm rot="0" flipH="0" flipV="0">
            <a:off x="685800" y="885825"/>
            <a:ext cx="533400" cy="19050"/>
          </a:xfrm>
          <a:prstGeom prst="rect">
            <a:avLst/>
          </a:prstGeom>
          <a:solidFill>
            <a:srgbClr val="B3271E"/>
          </a:solidFill>
          <a:ln/>
        </p:spPr>
        <p:txBody>
          <a:bodyPr/>
          <a:p/>
        </p:txBody>
      </p:sp>
      <p:sp>
        <p:nvSpPr>
          <p:cNvPr id="313" name="" descr="{&quot;isTemplate&quot;:true,&quot;type&quot;:&quot;text&quot;}"/>
          <p:cNvSpPr txBox="1"/>
          <p:nvPr/>
        </p:nvSpPr>
        <p:spPr>
          <a:xfrm rot="0" flipH="0" flipV="0">
            <a:off x="685800" y="3076575"/>
            <a:ext cx="8191500" cy="35242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350">
                <a:solidFill>
                  <a:srgbClr val="2A2118"/>
                </a:solidFill>
                <a:latin typeface="PingFang SC"/>
                <a:ea typeface="PingFang SC"/>
              </a:rPr>
              <a:t>代码之外，按受众写了四份</a:t>
            </a:r>
            <a:r>
              <a:rPr lang="en-US" sz="1350">
                <a:solidFill>
                  <a:srgbClr val="2A2118"/>
                </a:solidFill>
                <a:latin typeface="PingFang SC"/>
                <a:ea typeface="PingFang SC"/>
              </a:rPr>
              <a:t xml:space="preserve"> Word</a:t>
            </a:r>
            <a:r>
              <a:rPr lang="zh-CN" sz="1350">
                <a:solidFill>
                  <a:srgbClr val="2A2118"/>
                </a:solidFill>
                <a:latin typeface="PingFang SC"/>
                <a:ea typeface="PingFang SC"/>
              </a:rPr>
              <a:t>：产品说明、算法实现、本科生讲义、课程设计报告。</a:t>
            </a:r>
            <a:endParaRPr/>
          </a:p>
        </p:txBody>
      </p:sp>
      <p:sp>
        <p:nvSpPr>
          <p:cNvPr id="314" name="" descr="{&quot;isTemplate&quot;:true,&quot;type&quot;:&quot;text&quot;}"/>
          <p:cNvSpPr txBox="1"/>
          <p:nvPr/>
        </p:nvSpPr>
        <p:spPr>
          <a:xfrm rot="0" flipH="0" flipV="0">
            <a:off x="685800" y="3562350"/>
            <a:ext cx="8191500" cy="35242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350">
                <a:solidFill>
                  <a:srgbClr val="2A2118"/>
                </a:solidFill>
                <a:latin typeface="PingFang SC"/>
                <a:ea typeface="PingFang SC"/>
              </a:rPr>
              <a:t>同一份工程，给评审、给同学、给老师，口径各不同——这是「可交付」的最后一环。</a:t>
            </a:r>
            <a:endParaRPr/>
          </a:p>
        </p:txBody>
      </p:sp>
      <p:sp>
        <p:nvSpPr>
          <p:cNvPr id="315" name="" descr="{&quot;isTemplate&quot;:true,&quot;type&quot;:&quot;text&quot;}"/>
          <p:cNvSpPr txBox="1"/>
          <p:nvPr/>
        </p:nvSpPr>
        <p:spPr>
          <a:xfrm rot="0" flipH="0" flipV="0">
            <a:off x="685800" y="6172200"/>
            <a:ext cx="14478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2A2118">
                    <a:alpha val="55000"/>
                  </a:srgbClr>
                </a:solidFill>
                <a:latin typeface="PingFang SC"/>
                <a:ea typeface="PingFang SC"/>
              </a:rPr>
              <a:t>弈趣棋苑</a:t>
            </a:r>
            <a:r>
              <a:rPr lang="en-US" sz="1050">
                <a:solidFill>
                  <a:srgbClr val="2A2118">
                    <a:alpha val="55000"/>
                  </a:srgbClr>
                </a:solidFill>
                <a:latin typeface="PingFang SC"/>
                <a:ea typeface="PingFang SC"/>
              </a:rPr>
              <a:t xml:space="preserve"> · </a:t>
            </a:r>
            <a:r>
              <a:rPr lang="zh-CN" sz="1050">
                <a:solidFill>
                  <a:srgbClr val="2A2118">
                    <a:alpha val="55000"/>
                  </a:srgbClr>
                </a:solidFill>
                <a:latin typeface="PingFang SC"/>
                <a:ea typeface="PingFang SC"/>
              </a:rPr>
              <a:t>项目开发汇报</a:t>
            </a:r>
            <a:endParaRPr/>
          </a:p>
        </p:txBody>
      </p:sp>
      <p:sp>
        <p:nvSpPr>
          <p:cNvPr id="316" name="" descr="{&quot;isTemplate&quot;:true,&quot;type&quot;:&quot;text&quot;}"/>
          <p:cNvSpPr txBox="1"/>
          <p:nvPr/>
        </p:nvSpPr>
        <p:spPr>
          <a:xfrm rot="0" flipH="0" flipV="0">
            <a:off x="11049000" y="61722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2A2118">
                    <a:alpha val="55000"/>
                  </a:srgbClr>
                </a:solidFill>
                <a:latin typeface="PingFang SC"/>
                <a:ea typeface="PingFang SC"/>
              </a:rPr>
              <a:t>34 / 64</a:t>
            </a:r>
            <a:endParaRPr/>
          </a:p>
        </p:txBody>
      </p:sp>
    </p:spTree>
  </p:cSld>
</p:sld>
</file>

<file path=ppt/slides/slide34.xml><?xml version="1.0" encoding="utf-8"?>
<p:sld xmlns:p="http://schemas.openxmlformats.org/presentationml/2006/main" xmlns:a="http://schemas.openxmlformats.org/drawingml/2006/main">
  <p:cSld>
    <p:spTree>
      <p:nvGrpSpPr>
        <p:cNvPr id="317" name="" descr="&lt;Slide style={{ width: 1280, height: 720, padding: &quot;20px 72px&quot;, background: &quot;#F5E3BE&quot;, flexDirection: &quot;column&quot; }}&gt;&#10;  &lt;Box style={{ width: &quot;100%&quot;, height: 96, flexDirection: &quot;column&quot;, justifyContent: &quot;center&quot; }}&gt;&#10;    &lt;Text style={{ fontSize: 34, fontWeight: &quot;bold&quot;, color: &quot;#2A2118&quot;, fontFamily: &quot;'Songti SC', 'STSong', 'SimSun', serif&quot; }}&gt;方法：现象 → 根因 → 修复 → 验证&lt;/Text&gt;&#10;    &lt;Box style={{ width: 56, height: 2, background: &quot;#B3271E&quot;, marginTop: 10 }} /&gt;&#10;  &lt;/Box&gt;&#10;  &lt;Box style={{ width: &quot;100%&quot;, height: 516, flexDirection: &quot;column&quot; }}&gt;&#10;  &lt;Box style={{ width: 860, height: &quot;100%&quot;, flexDirection: &quot;column&quot;, justifyContent: &quot;center&quot; }}&gt;&#10;    &lt;Text style={{ fontSize: 18, lineHeight: 1.7, color: &quot;#2A2118&quot;, fontFamily: &quot;'PingFang SC', 'Microsoft YaHei', sans-serif&quot;, marginBottom: 14 }}&gt;每个改动都走四步。先盯可观察的现象（用户说「圈圈太大」），再下探到系统调用层量根因（MCI 直测 309~460ms），然后选最小改动面去修，最后用几何自检 / 端到端脚本 / 数学推导说清验证结论。&lt;/Text&gt;&#10;    &lt;Text style={{ fontSize: 18, lineHeight: 1.7, color: &quot;#2A2118&quot;, fontFamily: &quot;'PingFang SC', 'Microsoft YaHei', sans-serif&quot;, marginBottom: 14 }}&gt;关键不是「改完了」，是「改完且证明改对了」。比如落子音 16ms，是 MCI 直测计时得出的，不是嘴上说快了。&lt;/Text&gt;&#10;  &lt;/Box&gt;&#10;  &lt;/Box&gt;&#10;  &lt;Box style={{ width: &quot;100%&quot;, height: 48, flexDirection: &quot;row&quot;, alignItems: &quot;center&quot;, justifyContent: &quot;space-between&quot; }}&gt;&#10;    &lt;Text style={{ fontSize: 14, color: &quot;rgba(42,33,24,0.55)&quot;, fontFamily: &quot;'PingFang SC', 'Microsoft YaHei', sans-serif&quot; }}&gt;弈趣棋苑 · 项目开发汇报&lt;/Text&gt;&#10;    &lt;Text style={{ fontSize: 14, color: &quot;rgba(42,33,24,0.55)&quot;, fontFamily: &quot;'PingFang SC', 'Microsoft YaHei', sans-serif&quot; }}&gt;35 / 64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5E3BE"/>
          </a:solidFill>
          <a:ln/>
        </p:spPr>
        <p:txBody>
          <a:bodyPr/>
          <a:p/>
        </p:txBody>
      </p:sp>
      <p:sp>
        <p:nvSpPr>
          <p:cNvPr id="319" name="" descr="{&quot;isTemplate&quot;:true,&quot;type&quot;:&quot;text&quot;}"/>
          <p:cNvSpPr txBox="1"/>
          <p:nvPr/>
        </p:nvSpPr>
        <p:spPr>
          <a:xfrm rot="0" flipH="0" flipV="0">
            <a:off x="685800" y="400050"/>
            <a:ext cx="108204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A2118"/>
                </a:solidFill>
                <a:latin typeface="Songti SC"/>
                <a:ea typeface="Songti SC"/>
              </a:rPr>
              <a:t>方法：现象</a:t>
            </a:r>
            <a:r>
              <a:rPr lang="en-US" sz="2550" b="1">
                <a:solidFill>
                  <a:srgbClr val="2A2118"/>
                </a:solidFill>
                <a:latin typeface="Songti SC"/>
                <a:ea typeface="Songti SC"/>
              </a:rPr>
              <a:t xml:space="preserve"> → </a:t>
            </a:r>
            <a:r>
              <a:rPr lang="zh-CN" sz="2550" b="1">
                <a:solidFill>
                  <a:srgbClr val="2A2118"/>
                </a:solidFill>
                <a:latin typeface="Songti SC"/>
                <a:ea typeface="Songti SC"/>
              </a:rPr>
              <a:t>根因</a:t>
            </a:r>
            <a:r>
              <a:rPr lang="en-US" sz="2550" b="1">
                <a:solidFill>
                  <a:srgbClr val="2A2118"/>
                </a:solidFill>
                <a:latin typeface="Songti SC"/>
                <a:ea typeface="Songti SC"/>
              </a:rPr>
              <a:t xml:space="preserve"> → </a:t>
            </a:r>
            <a:r>
              <a:rPr lang="zh-CN" sz="2550" b="1">
                <a:solidFill>
                  <a:srgbClr val="2A2118"/>
                </a:solidFill>
                <a:latin typeface="Songti SC"/>
                <a:ea typeface="Songti SC"/>
              </a:rPr>
              <a:t>修复</a:t>
            </a:r>
            <a:r>
              <a:rPr lang="en-US" sz="2550" b="1">
                <a:solidFill>
                  <a:srgbClr val="2A2118"/>
                </a:solidFill>
                <a:latin typeface="Songti SC"/>
                <a:ea typeface="Songti SC"/>
              </a:rPr>
              <a:t xml:space="preserve"> → </a:t>
            </a:r>
            <a:r>
              <a:rPr lang="zh-CN" sz="2550" b="1">
                <a:solidFill>
                  <a:srgbClr val="2A2118"/>
                </a:solidFill>
                <a:latin typeface="Songti SC"/>
                <a:ea typeface="Songti SC"/>
              </a:rPr>
              <a:t>验证</a:t>
            </a:r>
            <a:endParaRPr/>
          </a:p>
        </p:txBody>
      </p:sp>
      <p:sp>
        <p:nvSpPr>
          <p:cNvPr id="320" name=""/>
          <p:cNvSpPr/>
          <p:nvPr/>
        </p:nvSpPr>
        <p:spPr>
          <a:xfrm rot="0" flipH="0" flipV="0">
            <a:off x="685800" y="885825"/>
            <a:ext cx="533400" cy="19050"/>
          </a:xfrm>
          <a:prstGeom prst="rect">
            <a:avLst/>
          </a:prstGeom>
          <a:solidFill>
            <a:srgbClr val="B3271E"/>
          </a:solidFill>
          <a:ln/>
        </p:spPr>
        <p:txBody>
          <a:bodyPr/>
          <a:p/>
        </p:txBody>
      </p:sp>
      <p:sp>
        <p:nvSpPr>
          <p:cNvPr id="321" name="" descr="{&quot;isTemplate&quot;:true,&quot;type&quot;:&quot;text&quot;}"/>
          <p:cNvSpPr txBox="1"/>
          <p:nvPr/>
        </p:nvSpPr>
        <p:spPr>
          <a:xfrm rot="0" flipH="0" flipV="0">
            <a:off x="685800" y="2724150"/>
            <a:ext cx="8191500" cy="7048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350">
                <a:solidFill>
                  <a:srgbClr val="2A2118"/>
                </a:solidFill>
                <a:latin typeface="PingFang SC"/>
                <a:ea typeface="PingFang SC"/>
              </a:rPr>
              <a:t>每个改动都走四步。先盯可观察的现象（用户说「圈圈太大」），再下探到系统调用层量根因（</a:t>
            </a:r>
            <a:r>
              <a:rPr lang="en-US" sz="1350">
                <a:solidFill>
                  <a:srgbClr val="2A2118"/>
                </a:solidFill>
                <a:latin typeface="PingFang SC"/>
                <a:ea typeface="PingFang SC"/>
              </a:rPr>
              <a:t xml:space="preserve">MCI </a:t>
            </a:r>
            <a:r>
              <a:rPr lang="zh-CN" sz="1350">
                <a:solidFill>
                  <a:srgbClr val="2A2118"/>
                </a:solidFill>
                <a:latin typeface="PingFang SC"/>
                <a:ea typeface="PingFang SC"/>
              </a:rPr>
              <a:t>直测</a:t>
            </a:r>
            <a:r>
              <a:rPr lang="en-US" sz="1350">
                <a:solidFill>
                  <a:srgbClr val="2A2118"/>
                </a:solidFill>
                <a:latin typeface="PingFang SC"/>
                <a:ea typeface="PingFang SC"/>
              </a:rPr>
              <a:t xml:space="preserve"> 309~460ms</a:t>
            </a:r>
            <a:r>
              <a:rPr lang="zh-CN" sz="1350">
                <a:solidFill>
                  <a:srgbClr val="2A2118"/>
                </a:solidFill>
                <a:latin typeface="PingFang SC"/>
                <a:ea typeface="PingFang SC"/>
              </a:rPr>
              <a:t>），然后选最小改动面去修，最后用几何自检</a:t>
            </a:r>
            <a:r>
              <a:rPr lang="en-US" sz="1350">
                <a:solidFill>
                  <a:srgbClr val="2A2118"/>
                </a:solidFill>
                <a:latin typeface="PingFang SC"/>
                <a:ea typeface="PingFang SC"/>
              </a:rPr>
              <a:t xml:space="preserve"> / </a:t>
            </a:r>
            <a:r>
              <a:rPr lang="zh-CN" sz="1350">
                <a:solidFill>
                  <a:srgbClr val="2A2118"/>
                </a:solidFill>
                <a:latin typeface="PingFang SC"/>
                <a:ea typeface="PingFang SC"/>
              </a:rPr>
              <a:t>端到端脚本</a:t>
            </a:r>
            <a:r>
              <a:rPr lang="en-US" sz="1350">
                <a:solidFill>
                  <a:srgbClr val="2A2118"/>
                </a:solidFill>
                <a:latin typeface="PingFang SC"/>
                <a:ea typeface="PingFang SC"/>
              </a:rPr>
              <a:t xml:space="preserve"> / </a:t>
            </a:r>
            <a:r>
              <a:rPr lang="zh-CN" sz="1350">
                <a:solidFill>
                  <a:srgbClr val="2A2118"/>
                </a:solidFill>
                <a:latin typeface="PingFang SC"/>
                <a:ea typeface="PingFang SC"/>
              </a:rPr>
              <a:t>数学推导说清验证结论。</a:t>
            </a:r>
            <a:endParaRPr/>
          </a:p>
        </p:txBody>
      </p:sp>
      <p:sp>
        <p:nvSpPr>
          <p:cNvPr id="322" name="" descr="{&quot;isTemplate&quot;:true,&quot;type&quot;:&quot;text&quot;}"/>
          <p:cNvSpPr txBox="1"/>
          <p:nvPr/>
        </p:nvSpPr>
        <p:spPr>
          <a:xfrm rot="0" flipH="0" flipV="0">
            <a:off x="685800" y="3562350"/>
            <a:ext cx="8191500" cy="7048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350">
                <a:solidFill>
                  <a:srgbClr val="2A2118"/>
                </a:solidFill>
                <a:latin typeface="PingFang SC"/>
                <a:ea typeface="PingFang SC"/>
              </a:rPr>
              <a:t>关键不是「改完了」，是「改完且证明改对了」。比如落子音</a:t>
            </a:r>
            <a:r>
              <a:rPr lang="en-US" sz="1350">
                <a:solidFill>
                  <a:srgbClr val="2A2118"/>
                </a:solidFill>
                <a:latin typeface="PingFang SC"/>
                <a:ea typeface="PingFang SC"/>
              </a:rPr>
              <a:t xml:space="preserve"> 16ms</a:t>
            </a:r>
            <a:r>
              <a:rPr lang="zh-CN" sz="1350">
                <a:solidFill>
                  <a:srgbClr val="2A2118"/>
                </a:solidFill>
                <a:latin typeface="PingFang SC"/>
                <a:ea typeface="PingFang SC"/>
              </a:rPr>
              <a:t>，是</a:t>
            </a:r>
            <a:r>
              <a:rPr lang="en-US" sz="1350">
                <a:solidFill>
                  <a:srgbClr val="2A2118"/>
                </a:solidFill>
                <a:latin typeface="PingFang SC"/>
                <a:ea typeface="PingFang SC"/>
              </a:rPr>
              <a:t xml:space="preserve"> MCI </a:t>
            </a:r>
            <a:r>
              <a:rPr lang="zh-CN" sz="1350">
                <a:solidFill>
                  <a:srgbClr val="2A2118"/>
                </a:solidFill>
                <a:latin typeface="PingFang SC"/>
                <a:ea typeface="PingFang SC"/>
              </a:rPr>
              <a:t>直测计时得出的，不是嘴上说快了。</a:t>
            </a:r>
            <a:endParaRPr/>
          </a:p>
        </p:txBody>
      </p:sp>
      <p:sp>
        <p:nvSpPr>
          <p:cNvPr id="323" name="" descr="{&quot;isTemplate&quot;:true,&quot;type&quot;:&quot;text&quot;}"/>
          <p:cNvSpPr txBox="1"/>
          <p:nvPr/>
        </p:nvSpPr>
        <p:spPr>
          <a:xfrm rot="0" flipH="0" flipV="0">
            <a:off x="685800" y="6172200"/>
            <a:ext cx="14478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2A2118">
                    <a:alpha val="55000"/>
                  </a:srgbClr>
                </a:solidFill>
                <a:latin typeface="PingFang SC"/>
                <a:ea typeface="PingFang SC"/>
              </a:rPr>
              <a:t>弈趣棋苑</a:t>
            </a:r>
            <a:r>
              <a:rPr lang="en-US" sz="1050">
                <a:solidFill>
                  <a:srgbClr val="2A2118">
                    <a:alpha val="55000"/>
                  </a:srgbClr>
                </a:solidFill>
                <a:latin typeface="PingFang SC"/>
                <a:ea typeface="PingFang SC"/>
              </a:rPr>
              <a:t xml:space="preserve"> · </a:t>
            </a:r>
            <a:r>
              <a:rPr lang="zh-CN" sz="1050">
                <a:solidFill>
                  <a:srgbClr val="2A2118">
                    <a:alpha val="55000"/>
                  </a:srgbClr>
                </a:solidFill>
                <a:latin typeface="PingFang SC"/>
                <a:ea typeface="PingFang SC"/>
              </a:rPr>
              <a:t>项目开发汇报</a:t>
            </a:r>
            <a:endParaRPr/>
          </a:p>
        </p:txBody>
      </p:sp>
      <p:sp>
        <p:nvSpPr>
          <p:cNvPr id="324" name="" descr="{&quot;isTemplate&quot;:true,&quot;type&quot;:&quot;text&quot;}"/>
          <p:cNvSpPr txBox="1"/>
          <p:nvPr/>
        </p:nvSpPr>
        <p:spPr>
          <a:xfrm rot="0" flipH="0" flipV="0">
            <a:off x="11049000" y="61722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2A2118">
                    <a:alpha val="55000"/>
                  </a:srgbClr>
                </a:solidFill>
                <a:latin typeface="PingFang SC"/>
                <a:ea typeface="PingFang SC"/>
              </a:rPr>
              <a:t>35 / 64</a:t>
            </a:r>
            <a:endParaRPr/>
          </a:p>
        </p:txBody>
      </p:sp>
    </p:spTree>
  </p:cSld>
</p:sld>
</file>

<file path=ppt/slides/slide35.xml><?xml version="1.0" encoding="utf-8"?>
<p:sld xmlns:p="http://schemas.openxmlformats.org/presentationml/2006/main" xmlns:a="http://schemas.openxmlformats.org/drawingml/2006/main">
  <p:cSld>
    <p:spTree>
      <p:nvGrpSpPr>
        <p:cNvPr id="325" name="" descr="&lt;Slide style={{ width: 1280, height: 720, padding: &quot;20px 72px&quot;, background: &quot;#F5E3BE&quot;, flexDirection: &quot;column&quot; }}&gt;&#10;  &lt;Box style={{ width: &quot;100%&quot;, height: 96, flexDirection: &quot;column&quot;, justifyContent: &quot;center&quot; }}&gt;&#10;    &lt;Text style={{ fontSize: 34, fontWeight: &quot;bold&quot;, color: &quot;#2A2118&quot;, fontFamily: &quot;'Songti SC', 'STSong', 'SimSun', serif&quot; }}&gt;质量保障：四道验证手段&lt;/Text&gt;&#10;    &lt;Box style={{ width: 56, height: 2, background: &quot;#B3271E&quot;, marginTop: 10 }} /&gt;&#10;  &lt;/Box&gt;&#10;  &lt;Box style={{ width: &quot;100%&quot;, height: 516, flexDirection: &quot;column&quot; }}&gt;&#10;  &lt;Box style={{ width: 860, height: &quot;100%&quot;, flexDirection: &quot;column&quot;, justifyContent: &quot;center&quot; }}&gt;&#10;    &lt;Text style={{ fontSize: 18, lineHeight: 1.7, color: &quot;#2A2118&quot;, fontFamily: &quot;'PingFang SC', 'Microsoft YaHei', sans-serif&quot;, marginBottom: 14 }}&gt;① 几何自检：10 种窗口尺寸（640×520 ~ 1920×1080）验证棋盘居中、点击映射可逆、棋子不重叠。&lt;/Text&gt;&#10;    &lt;Text style={{ fontSize: 18, lineHeight: 1.7, color: &quot;#2A2118&quot;, fontFamily: &quot;'PingFang SC', 'Microsoft YaHei', sans-serif&quot;, marginBottom: 14 }}&gt;② 端到端脚本：用 venv 里的真实 Tk 实例驱动对话与落子，断言状态、引用、可见性。&lt;/Text&gt;&#10;    &lt;Text style={{ fontSize: 18, lineHeight: 1.7, color: &quot;#2A2118&quot;, fontFamily: &quot;'PingFang SC', 'Microsoft YaHei', sans-serif&quot;, marginBottom: 14 }}&gt;③ 数学推导：胜率 Elo 公式锚点、评估分值对称性，用公式而非感觉校验正确性。&lt;/Text&gt;&#10;    &lt;Text style={{ fontSize: 18, lineHeight: 1.7, color: &quot;#2A2118&quot;, fontFamily: &quot;'PingFang SC', 'Microsoft YaHei', sans-serif&quot;, marginBottom: 14 }}&gt;④ 版本取证：git show / git log -S 比对，定位「缺陷从何时存在」，避免乱改。&lt;/Text&gt;&#10;  &lt;/Box&gt;&#10;  &lt;/Box&gt;&#10;  &lt;Box style={{ width: &quot;100%&quot;, height: 48, flexDirection: &quot;row&quot;, alignItems: &quot;center&quot;, justifyContent: &quot;space-between&quot; }}&gt;&#10;    &lt;Text style={{ fontSize: 14, color: &quot;rgba(42,33,24,0.55)&quot;, fontFamily: &quot;'PingFang SC', 'Microsoft YaHei', sans-serif&quot; }}&gt;弈趣棋苑 · 项目开发汇报&lt;/Text&gt;&#10;    &lt;Text style={{ fontSize: 14, color: &quot;rgba(42,33,24,0.55)&quot;, fontFamily: &quot;'PingFang SC', 'Microsoft YaHei', sans-serif&quot; }}&gt;36 / 64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5E3BE"/>
          </a:solidFill>
          <a:ln/>
        </p:spPr>
        <p:txBody>
          <a:bodyPr/>
          <a:p/>
        </p:txBody>
      </p:sp>
      <p:sp>
        <p:nvSpPr>
          <p:cNvPr id="327" name="" descr="{&quot;isTemplate&quot;:true,&quot;type&quot;:&quot;text&quot;}"/>
          <p:cNvSpPr txBox="1"/>
          <p:nvPr/>
        </p:nvSpPr>
        <p:spPr>
          <a:xfrm rot="0" flipH="0" flipV="0">
            <a:off x="685800" y="400050"/>
            <a:ext cx="108204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A2118"/>
                </a:solidFill>
                <a:latin typeface="Songti SC"/>
                <a:ea typeface="Songti SC"/>
              </a:rPr>
              <a:t>质量保障：四道验证手段</a:t>
            </a:r>
            <a:endParaRPr/>
          </a:p>
        </p:txBody>
      </p:sp>
      <p:sp>
        <p:nvSpPr>
          <p:cNvPr id="328" name=""/>
          <p:cNvSpPr/>
          <p:nvPr/>
        </p:nvSpPr>
        <p:spPr>
          <a:xfrm rot="0" flipH="0" flipV="0">
            <a:off x="685800" y="885825"/>
            <a:ext cx="533400" cy="19050"/>
          </a:xfrm>
          <a:prstGeom prst="rect">
            <a:avLst/>
          </a:prstGeom>
          <a:solidFill>
            <a:srgbClr val="B3271E"/>
          </a:solidFill>
          <a:ln/>
        </p:spPr>
        <p:txBody>
          <a:bodyPr/>
          <a:p/>
        </p:txBody>
      </p:sp>
      <p:sp>
        <p:nvSpPr>
          <p:cNvPr id="329" name="" descr="{&quot;isTemplate&quot;:true,&quot;type&quot;:&quot;text&quot;}"/>
          <p:cNvSpPr txBox="1"/>
          <p:nvPr/>
        </p:nvSpPr>
        <p:spPr>
          <a:xfrm rot="0" flipH="0" flipV="0">
            <a:off x="685800" y="2590800"/>
            <a:ext cx="8191500" cy="35242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1350">
                <a:solidFill>
                  <a:srgbClr val="2A2118"/>
                </a:solidFill>
                <a:latin typeface="PingFang SC"/>
                <a:ea typeface="PingFang SC"/>
              </a:rPr>
              <a:t xml:space="preserve">① </a:t>
            </a:r>
            <a:r>
              <a:rPr lang="zh-CN" sz="1350">
                <a:solidFill>
                  <a:srgbClr val="2A2118"/>
                </a:solidFill>
                <a:latin typeface="PingFang SC"/>
                <a:ea typeface="PingFang SC"/>
              </a:rPr>
              <a:t>几何自检：</a:t>
            </a:r>
            <a:r>
              <a:rPr lang="en-US" sz="1350">
                <a:solidFill>
                  <a:srgbClr val="2A2118"/>
                </a:solidFill>
                <a:latin typeface="PingFang SC"/>
                <a:ea typeface="PingFang SC"/>
              </a:rPr>
              <a:t xml:space="preserve">10 </a:t>
            </a:r>
            <a:r>
              <a:rPr lang="zh-CN" sz="1350">
                <a:solidFill>
                  <a:srgbClr val="2A2118"/>
                </a:solidFill>
                <a:latin typeface="PingFang SC"/>
                <a:ea typeface="PingFang SC"/>
              </a:rPr>
              <a:t>种窗口尺寸（</a:t>
            </a:r>
            <a:r>
              <a:rPr lang="en-US" sz="1350">
                <a:solidFill>
                  <a:srgbClr val="2A2118"/>
                </a:solidFill>
                <a:latin typeface="PingFang SC"/>
                <a:ea typeface="PingFang SC"/>
              </a:rPr>
              <a:t>640×520 ~ 1920×1080</a:t>
            </a:r>
            <a:r>
              <a:rPr lang="zh-CN" sz="1350">
                <a:solidFill>
                  <a:srgbClr val="2A2118"/>
                </a:solidFill>
                <a:latin typeface="PingFang SC"/>
                <a:ea typeface="PingFang SC"/>
              </a:rPr>
              <a:t>）验证棋盘居中、点击映射可逆、棋子不重叠。</a:t>
            </a:r>
            <a:endParaRPr/>
          </a:p>
        </p:txBody>
      </p:sp>
      <p:sp>
        <p:nvSpPr>
          <p:cNvPr id="330" name="" descr="{&quot;isTemplate&quot;:true,&quot;type&quot;:&quot;text&quot;}"/>
          <p:cNvSpPr txBox="1"/>
          <p:nvPr/>
        </p:nvSpPr>
        <p:spPr>
          <a:xfrm rot="0" flipH="0" flipV="0">
            <a:off x="685800" y="3076575"/>
            <a:ext cx="8191500" cy="35242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1350">
                <a:solidFill>
                  <a:srgbClr val="2A2118"/>
                </a:solidFill>
                <a:latin typeface="PingFang SC"/>
                <a:ea typeface="PingFang SC"/>
              </a:rPr>
              <a:t xml:space="preserve">② </a:t>
            </a:r>
            <a:r>
              <a:rPr lang="zh-CN" sz="1350">
                <a:solidFill>
                  <a:srgbClr val="2A2118"/>
                </a:solidFill>
                <a:latin typeface="PingFang SC"/>
                <a:ea typeface="PingFang SC"/>
              </a:rPr>
              <a:t>端到端脚本：用</a:t>
            </a:r>
            <a:r>
              <a:rPr lang="en-US" sz="1350">
                <a:solidFill>
                  <a:srgbClr val="2A2118"/>
                </a:solidFill>
                <a:latin typeface="PingFang SC"/>
                <a:ea typeface="PingFang SC"/>
              </a:rPr>
              <a:t xml:space="preserve"> venv </a:t>
            </a:r>
            <a:r>
              <a:rPr lang="zh-CN" sz="1350">
                <a:solidFill>
                  <a:srgbClr val="2A2118"/>
                </a:solidFill>
                <a:latin typeface="PingFang SC"/>
                <a:ea typeface="PingFang SC"/>
              </a:rPr>
              <a:t>里的真实</a:t>
            </a:r>
            <a:r>
              <a:rPr lang="en-US" sz="1350">
                <a:solidFill>
                  <a:srgbClr val="2A2118"/>
                </a:solidFill>
                <a:latin typeface="PingFang SC"/>
                <a:ea typeface="PingFang SC"/>
              </a:rPr>
              <a:t xml:space="preserve"> Tk </a:t>
            </a:r>
            <a:r>
              <a:rPr lang="zh-CN" sz="1350">
                <a:solidFill>
                  <a:srgbClr val="2A2118"/>
                </a:solidFill>
                <a:latin typeface="PingFang SC"/>
                <a:ea typeface="PingFang SC"/>
              </a:rPr>
              <a:t>实例驱动对话与落子，断言状态、引用、可见性。</a:t>
            </a:r>
            <a:endParaRPr/>
          </a:p>
        </p:txBody>
      </p:sp>
      <p:sp>
        <p:nvSpPr>
          <p:cNvPr id="331" name="" descr="{&quot;isTemplate&quot;:true,&quot;type&quot;:&quot;text&quot;}"/>
          <p:cNvSpPr txBox="1"/>
          <p:nvPr/>
        </p:nvSpPr>
        <p:spPr>
          <a:xfrm rot="0" flipH="0" flipV="0">
            <a:off x="685800" y="3562350"/>
            <a:ext cx="8191500" cy="35242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1350">
                <a:solidFill>
                  <a:srgbClr val="2A2118"/>
                </a:solidFill>
                <a:latin typeface="PingFang SC"/>
                <a:ea typeface="PingFang SC"/>
              </a:rPr>
              <a:t xml:space="preserve">③ </a:t>
            </a:r>
            <a:r>
              <a:rPr lang="zh-CN" sz="1350">
                <a:solidFill>
                  <a:srgbClr val="2A2118"/>
                </a:solidFill>
                <a:latin typeface="PingFang SC"/>
                <a:ea typeface="PingFang SC"/>
              </a:rPr>
              <a:t>数学推导：胜率</a:t>
            </a:r>
            <a:r>
              <a:rPr lang="en-US" sz="1350">
                <a:solidFill>
                  <a:srgbClr val="2A2118"/>
                </a:solidFill>
                <a:latin typeface="PingFang SC"/>
                <a:ea typeface="PingFang SC"/>
              </a:rPr>
              <a:t xml:space="preserve"> Elo </a:t>
            </a:r>
            <a:r>
              <a:rPr lang="zh-CN" sz="1350">
                <a:solidFill>
                  <a:srgbClr val="2A2118"/>
                </a:solidFill>
                <a:latin typeface="PingFang SC"/>
                <a:ea typeface="PingFang SC"/>
              </a:rPr>
              <a:t>公式锚点、评估分值对称性，用公式而非感觉校验正确性。</a:t>
            </a:r>
            <a:endParaRPr/>
          </a:p>
        </p:txBody>
      </p:sp>
      <p:sp>
        <p:nvSpPr>
          <p:cNvPr id="332" name="" descr="{&quot;isTemplate&quot;:true,&quot;type&quot;:&quot;text&quot;}"/>
          <p:cNvSpPr txBox="1"/>
          <p:nvPr/>
        </p:nvSpPr>
        <p:spPr>
          <a:xfrm rot="0" flipH="0" flipV="0">
            <a:off x="685800" y="4048125"/>
            <a:ext cx="8191500" cy="35242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1350">
                <a:solidFill>
                  <a:srgbClr val="2A2118"/>
                </a:solidFill>
                <a:latin typeface="PingFang SC"/>
                <a:ea typeface="PingFang SC"/>
              </a:rPr>
              <a:t xml:space="preserve">④ </a:t>
            </a:r>
            <a:r>
              <a:rPr lang="zh-CN" sz="1350">
                <a:solidFill>
                  <a:srgbClr val="2A2118"/>
                </a:solidFill>
                <a:latin typeface="PingFang SC"/>
                <a:ea typeface="PingFang SC"/>
              </a:rPr>
              <a:t>版本取证：</a:t>
            </a:r>
            <a:r>
              <a:rPr lang="en-US" sz="1350">
                <a:solidFill>
                  <a:srgbClr val="2A2118"/>
                </a:solidFill>
                <a:latin typeface="PingFang SC"/>
                <a:ea typeface="PingFang SC"/>
              </a:rPr>
              <a:t xml:space="preserve">git show / git log -S </a:t>
            </a:r>
            <a:r>
              <a:rPr lang="zh-CN" sz="1350">
                <a:solidFill>
                  <a:srgbClr val="2A2118"/>
                </a:solidFill>
                <a:latin typeface="PingFang SC"/>
                <a:ea typeface="PingFang SC"/>
              </a:rPr>
              <a:t>比对，定位「缺陷从何时存在」，避免乱改。</a:t>
            </a:r>
            <a:endParaRPr/>
          </a:p>
        </p:txBody>
      </p:sp>
      <p:sp>
        <p:nvSpPr>
          <p:cNvPr id="333" name="" descr="{&quot;isTemplate&quot;:true,&quot;type&quot;:&quot;text&quot;}"/>
          <p:cNvSpPr txBox="1"/>
          <p:nvPr/>
        </p:nvSpPr>
        <p:spPr>
          <a:xfrm rot="0" flipH="0" flipV="0">
            <a:off x="685800" y="6172200"/>
            <a:ext cx="14478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2A2118">
                    <a:alpha val="55000"/>
                  </a:srgbClr>
                </a:solidFill>
                <a:latin typeface="PingFang SC"/>
                <a:ea typeface="PingFang SC"/>
              </a:rPr>
              <a:t>弈趣棋苑</a:t>
            </a:r>
            <a:r>
              <a:rPr lang="en-US" sz="1050">
                <a:solidFill>
                  <a:srgbClr val="2A2118">
                    <a:alpha val="55000"/>
                  </a:srgbClr>
                </a:solidFill>
                <a:latin typeface="PingFang SC"/>
                <a:ea typeface="PingFang SC"/>
              </a:rPr>
              <a:t xml:space="preserve"> · </a:t>
            </a:r>
            <a:r>
              <a:rPr lang="zh-CN" sz="1050">
                <a:solidFill>
                  <a:srgbClr val="2A2118">
                    <a:alpha val="55000"/>
                  </a:srgbClr>
                </a:solidFill>
                <a:latin typeface="PingFang SC"/>
                <a:ea typeface="PingFang SC"/>
              </a:rPr>
              <a:t>项目开发汇报</a:t>
            </a:r>
            <a:endParaRPr/>
          </a:p>
        </p:txBody>
      </p:sp>
      <p:sp>
        <p:nvSpPr>
          <p:cNvPr id="334" name="" descr="{&quot;isTemplate&quot;:true,&quot;type&quot;:&quot;text&quot;}"/>
          <p:cNvSpPr txBox="1"/>
          <p:nvPr/>
        </p:nvSpPr>
        <p:spPr>
          <a:xfrm rot="0" flipH="0" flipV="0">
            <a:off x="11049000" y="61722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2A2118">
                    <a:alpha val="55000"/>
                  </a:srgbClr>
                </a:solidFill>
                <a:latin typeface="PingFang SC"/>
                <a:ea typeface="PingFang SC"/>
              </a:rPr>
              <a:t>36 / 64</a:t>
            </a:r>
            <a:endParaRPr/>
          </a:p>
        </p:txBody>
      </p:sp>
    </p:spTree>
  </p:cSld>
</p:sld>
</file>

<file path=ppt/slides/slide3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335" name="" descr="&lt;Slide style={{ width: 1280, height: 720, position: &quot;relative&quot;, padding: &quot;0px&quot;, background: &quot;#2A2118&quot;, overflow: &quot;hidden&quot; }}&gt;&#10;  &lt;Image src=&quot;assets/wood_panel.jpg&quot; style={{ position: &quot;absolute&quot;, top: 0, left: 0, width: 1280, height: 720, objectFit: &quot;cover&quot;, opacity: 0.22 }} /&gt;&#10;  &lt;Box style={{ position: &quot;absolute&quot;, top: 0, left: 0, width: 1280, height: 720, background: &quot;linear-gradient(160deg, #2A2118 0%, #3E2E1E 55%, #8C5A2B 100%)&quot;, opacity: 0.55 }} /&gt;&#10;  &lt;Box style={{ position: &quot;absolute&quot;, right: 84, top: 48, flexDirection: &quot;column&quot;, alignItems: &quot;flex-end&quot; }}&gt;&#10;    &lt;Text style={{ fontSize: 210, fontWeight: &quot;bold&quot;, lineHeight: 1.0, color: &quot;rgba(179,39,30,0.85)&quot;, fontFamily: &quot;'Songti SC', 'STSong', 'SimSun', serif&quot; }}&gt;05&lt;/Text&gt;&#10;  &lt;/Box&gt;&#10;  &lt;Box style={{ position: &quot;relative&quot;, zIndex: 2, width: 1280, height: 720, padding: &quot;0px 96px&quot;, flexDirection: &quot;column&quot;, justifyContent: &quot;center&quot; }}&gt;&#10;    &lt;Text style={{ fontSize: 22, color: &quot;rgba(245,227,190,0.7)&quot;, fontFamily: &quot;'PingFang SC', 'Microsoft YaHei', sans-serif&quot;, letterSpacing: 6 }}&gt;第 05 章&lt;/Text&gt;&#10;    &lt;Text style={{ fontSize: 62, fontWeight: &quot;bold&quot;, color: &quot;#F5E3BE&quot;, fontFamily: &quot;'Songti SC', 'STSong', 'SimSun', serif&quot;, marginTop: 12 }}&gt;难点与解决方案&lt;/Text&gt;&#10;    &lt;Box style={{ width: 70, height: 3, background: &quot;#B3271E&quot;, marginTop: 20 }} /&gt;&#10;    &lt;Text style={{ fontSize: 22, fontStyle: &quot;italic&quot;, color: &quot;rgba(245,227,190,0.82)&quot;, fontFamily: &quot;'PingFang SC', 'Microsoft YaHei', sans-serif&quot;, marginTop: 20 }}&gt;把「看起来不对」变成可定位的根因&lt;/Text&gt;&#10;  &lt;/Box&gt;&#10;  &lt;Box style={{ position: &quot;absolute&quot;, right: 60, bottom: 50, width: 52, height: 52, borderRadius: 6, background: &quot;#B3271E&quot;, justifyContent: &quot;center&quot;, alignItems: &quot;center&quot; }}&gt;&#10;    &lt;Text style={{ fontSize: 28, fontWeight: &quot;bold&quot;, color: &quot;#F5E3BE&quot;, fontFamily: &quot;'Songti SC', 'STSong', 'SimSun', serif&quot; }}&gt;弈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2A2118"/>
          </a:solidFill>
          <a:ln/>
        </p:spPr>
        <p:txBody>
          <a:bodyPr/>
          <a:p/>
        </p:txBody>
      </p:sp>
      <p:pic>
        <p:nvPicPr>
          <p:cNvPr id="337" name=""/>
          <p:cNvPicPr>
            <a:picLocks noChangeAspect="1"/>
          </p:cNvPicPr>
          <p:nvPr/>
        </p:nvPicPr>
        <p:blipFill>
          <a:blip r:embed="rId1">
            <a:alphaModFix amt="22000"/>
          </a:blip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  <p:sp>
        <p:nvSpPr>
          <p:cNvPr id="33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2A2118">
                  <a:alpha val="55000"/>
                </a:srgbClr>
              </a:gs>
              <a:gs pos="55000">
                <a:srgbClr val="3E2E1E">
                  <a:alpha val="55000"/>
                </a:srgbClr>
              </a:gs>
              <a:gs pos="100000">
                <a:srgbClr val="8C5A2B">
                  <a:alpha val="55000"/>
                </a:srgbClr>
              </a:gs>
            </a:gsLst>
            <a:lin ang="4200000" scaled="1"/>
          </a:gradFill>
          <a:ln/>
        </p:spPr>
        <p:txBody>
          <a:bodyPr/>
          <a:p/>
        </p:txBody>
      </p:sp>
      <p:sp>
        <p:nvSpPr>
          <p:cNvPr id="339" name="" descr="{&quot;isTemplate&quot;:true,&quot;type&quot;:&quot;text&quot;}"/>
          <p:cNvSpPr txBox="1"/>
          <p:nvPr/>
        </p:nvSpPr>
        <p:spPr>
          <a:xfrm rot="0" flipH="0" flipV="0">
            <a:off x="9515475" y="457200"/>
            <a:ext cx="1876425" cy="2400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750" b="1">
                <a:solidFill>
                  <a:srgbClr val="B3271E">
                    <a:alpha val="85000"/>
                  </a:srgbClr>
                </a:solidFill>
                <a:latin typeface="Songti SC"/>
                <a:ea typeface="Songti SC"/>
              </a:rPr>
              <a:t>05</a:t>
            </a:r>
            <a:endParaRPr/>
          </a:p>
        </p:txBody>
      </p:sp>
      <p:sp>
        <p:nvSpPr>
          <p:cNvPr id="340" name=""/>
          <p:cNvSpPr/>
          <p:nvPr/>
        </p:nvSpPr>
        <p:spPr>
          <a:xfrm rot="0" flipH="0" flipV="0">
            <a:off x="11125200" y="5886450"/>
            <a:ext cx="495300" cy="495300"/>
          </a:xfrm>
          <a:prstGeom prst="roundRect">
            <a:avLst>
              <a:gd name="adj" fmla="val 11538"/>
            </a:avLst>
          </a:prstGeom>
          <a:solidFill>
            <a:srgbClr val="B3271E"/>
          </a:solidFill>
          <a:ln/>
        </p:spPr>
        <p:txBody>
          <a:bodyPr/>
          <a:p/>
        </p:txBody>
      </p:sp>
      <p:sp>
        <p:nvSpPr>
          <p:cNvPr id="341" name="" descr="{&quot;isTemplate&quot;:true,&quot;type&quot;:&quot;text&quot;}"/>
          <p:cNvSpPr txBox="1"/>
          <p:nvPr/>
        </p:nvSpPr>
        <p:spPr>
          <a:xfrm rot="0" flipH="0" flipV="0">
            <a:off x="11239500" y="5972175"/>
            <a:ext cx="266700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100" b="1">
                <a:solidFill>
                  <a:srgbClr val="F5E3BE"/>
                </a:solidFill>
                <a:latin typeface="Songti SC"/>
                <a:ea typeface="Songti SC"/>
              </a:rPr>
              <a:t>弈</a:t>
            </a:r>
            <a:endParaRPr/>
          </a:p>
        </p:txBody>
      </p:sp>
      <p:sp>
        <p:nvSpPr>
          <p:cNvPr id="342" name="" descr="{&quot;isTemplate&quot;:true,&quot;type&quot;:&quot;text&quot;}"/>
          <p:cNvSpPr txBox="1"/>
          <p:nvPr/>
        </p:nvSpPr>
        <p:spPr>
          <a:xfrm rot="0" flipH="0" flipV="0">
            <a:off x="914400" y="2552700"/>
            <a:ext cx="103632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spc="450">
                <a:solidFill>
                  <a:srgbClr val="F5E3BE">
                    <a:alpha val="70000"/>
                  </a:srgbClr>
                </a:solidFill>
                <a:latin typeface="PingFang SC"/>
                <a:ea typeface="PingFang SC"/>
              </a:rPr>
              <a:t>第</a:t>
            </a:r>
            <a:r>
              <a:rPr lang="en-US" sz="1650" spc="450">
                <a:solidFill>
                  <a:srgbClr val="F5E3BE">
                    <a:alpha val="70000"/>
                  </a:srgbClr>
                </a:solidFill>
                <a:latin typeface="PingFang SC"/>
                <a:ea typeface="PingFang SC"/>
              </a:rPr>
              <a:t xml:space="preserve"> 05 </a:t>
            </a:r>
            <a:r>
              <a:rPr lang="zh-CN" sz="1650" spc="450">
                <a:solidFill>
                  <a:srgbClr val="F5E3BE">
                    <a:alpha val="70000"/>
                  </a:srgbClr>
                </a:solidFill>
                <a:latin typeface="PingFang SC"/>
                <a:ea typeface="PingFang SC"/>
              </a:rPr>
              <a:t>章</a:t>
            </a:r>
            <a:endParaRPr/>
          </a:p>
        </p:txBody>
      </p:sp>
      <p:sp>
        <p:nvSpPr>
          <p:cNvPr id="343" name="" descr="{&quot;isTemplate&quot;:true,&quot;type&quot;:&quot;text&quot;}"/>
          <p:cNvSpPr txBox="1"/>
          <p:nvPr/>
        </p:nvSpPr>
        <p:spPr>
          <a:xfrm rot="0" flipH="0" flipV="0">
            <a:off x="914400" y="2924175"/>
            <a:ext cx="10363200" cy="7143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4650" b="1">
                <a:solidFill>
                  <a:srgbClr val="F5E3BE"/>
                </a:solidFill>
                <a:latin typeface="Songti SC"/>
                <a:ea typeface="Songti SC"/>
              </a:rPr>
              <a:t>难点与解决方案</a:t>
            </a:r>
            <a:endParaRPr/>
          </a:p>
        </p:txBody>
      </p:sp>
      <p:sp>
        <p:nvSpPr>
          <p:cNvPr id="344" name=""/>
          <p:cNvSpPr/>
          <p:nvPr/>
        </p:nvSpPr>
        <p:spPr>
          <a:xfrm rot="0" flipH="0" flipV="0">
            <a:off x="914400" y="3829050"/>
            <a:ext cx="666750" cy="28575"/>
          </a:xfrm>
          <a:prstGeom prst="rect">
            <a:avLst/>
          </a:prstGeom>
          <a:solidFill>
            <a:srgbClr val="B3271E"/>
          </a:solidFill>
          <a:ln/>
        </p:spPr>
        <p:txBody>
          <a:bodyPr/>
          <a:p/>
        </p:txBody>
      </p:sp>
      <p:sp>
        <p:nvSpPr>
          <p:cNvPr id="345" name="" descr="{&quot;isTemplate&quot;:true,&quot;type&quot;:&quot;text&quot;}"/>
          <p:cNvSpPr txBox="1"/>
          <p:nvPr/>
        </p:nvSpPr>
        <p:spPr>
          <a:xfrm rot="0" flipH="0" flipV="0">
            <a:off x="914400" y="4048125"/>
            <a:ext cx="103632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i="1">
                <a:solidFill>
                  <a:srgbClr val="F5E3BE">
                    <a:alpha val="82000"/>
                  </a:srgbClr>
                </a:solidFill>
                <a:latin typeface="PingFang SC"/>
                <a:ea typeface="PingFang SC"/>
              </a:rPr>
              <a:t>把「看起来不对」变成可定位的根因</a:t>
            </a:r>
            <a:endParaRPr/>
          </a:p>
        </p:txBody>
      </p:sp>
    </p:spTree>
  </p:cSld>
</p:sld>
</file>

<file path=ppt/slides/slide37.xml><?xml version="1.0" encoding="utf-8"?>
<p:sld xmlns:p="http://schemas.openxmlformats.org/presentationml/2006/main" xmlns:a="http://schemas.openxmlformats.org/drawingml/2006/main">
  <p:cSld>
    <p:spTree>
      <p:nvGrpSpPr>
        <p:cNvPr id="346" name="" descr="&lt;Slide style={{ width: 1280, height: 720, padding: &quot;20px 72px&quot;, background: &quot;#F5E3BE&quot;, flexDirection: &quot;column&quot; }}&gt;&#10;  &lt;Box style={{ width: &quot;100%&quot;, height: 96, flexDirection: &quot;column&quot;, justifyContent: &quot;center&quot; }}&gt;&#10;    &lt;Text style={{ fontSize: 34, fontWeight: &quot;bold&quot;, color: &quot;#2A2118&quot;, fontFamily: &quot;'Songti SC', 'STSong', 'SimSun', serif&quot; }}&gt;难点一 · 棋盘像被划了一道道伤&lt;/Text&gt;&#10;    &lt;Box style={{ width: 56, height: 2, background: &quot;#B3271E&quot;, marginTop: 10 }} /&gt;&#10;  &lt;/Box&gt;&#10;  &lt;Box style={{ width: &quot;100%&quot;, height: 516, flexDirection: &quot;column&quot; }}&gt;&#10;  &lt;Box style={{ flexDirection: &quot;row&quot;, height: &quot;100%&quot;, gap: 24, alignItems: &quot;center&quot; }}&gt;&#10;    &lt;Box style={{ flex: 1, background: &quot;rgba(140,90,43,0.06)&quot;, border: &quot;1px solid rgba(140,90,43,0.2)&quot;, borderRadius: 8, padding: &quot;22px 24px&quot;, flexDirection: &quot;column&quot;, gap: 10 }}&gt;&#10;      &lt;Text style={{ fontSize: 18, fontWeight: &quot;bold&quot;, color: &quot;rgba(42,33,24,0.5)&quot;, fontFamily: &quot;'Songti SC', 'STSong', 'SimSun', serif&quot; }}&gt;现象与根因&lt;/Text&gt;&#10;      &lt;Text style={{ fontSize: 17, lineHeight: 1.7, color: &quot;rgba(42,33,24,0.75)&quot;, fontFamily: &quot;'PingFang SC', 'Microsoft YaHei', sans-serif&quot; }}&gt;棋盘像被划伤。根因是：网格画完之后，又叠了约 110 条固定种子的短线段，越叠越像刀痕。&lt;/Text&gt;&#10;    &lt;/Box&gt;&#10;    &lt;Box style={{ flex: 1, background: &quot;rgba(179,39,30,0.06)&quot;, border: &quot;1px solid rgba(179,39,30,0.28)&quot;, borderRadius: 8, padding: &quot;22px 24px&quot;, flexDirection: &quot;column&quot;, gap: 10 }}&gt;&#10;      &lt;Text style={{ fontSize: 18, fontWeight: &quot;bold&quot;, color: &quot;#B3271E&quot;, fontFamily: &quot;'Songti SC', 'STSong', 'SimSun', serif&quot; }}&gt;解法&lt;/Text&gt;&#10;      &lt;Text style={{ fontSize: 17, lineHeight: 1.7, color: &quot;rgba(42,33,24,0.82)&quot;, fontFamily: &quot;'PingFang SC', 'Microsoft YaHei', sans-serif&quot; }}&gt;删掉那段多余的绘制，改成 16 级纯净渐变。划痕立刻消失，棋盘恢复成一块干净木面。&lt;/Text&gt;&#10;    &lt;/Box&gt;&#10;  &lt;/Box&gt;&#10;  &lt;/Box&gt;&#10;  &lt;Box style={{ width: &quot;100%&quot;, height: 48, flexDirection: &quot;row&quot;, alignItems: &quot;center&quot;, justifyContent: &quot;space-between&quot; }}&gt;&#10;    &lt;Text style={{ fontSize: 14, color: &quot;rgba(42,33,24,0.55)&quot;, fontFamily: &quot;'PingFang SC', 'Microsoft YaHei', sans-serif&quot; }}&gt;弈趣棋苑 · 项目开发汇报&lt;/Text&gt;&#10;    &lt;Text style={{ fontSize: 14, color: &quot;rgba(42,33,24,0.55)&quot;, fontFamily: &quot;'PingFang SC', 'Microsoft YaHei', sans-serif&quot; }}&gt;38 / 64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5E3BE"/>
          </a:solidFill>
          <a:ln/>
        </p:spPr>
        <p:txBody>
          <a:bodyPr/>
          <a:p/>
        </p:txBody>
      </p:sp>
      <p:sp>
        <p:nvSpPr>
          <p:cNvPr id="348" name="" descr="{&quot;isTemplate&quot;:true,&quot;type&quot;:&quot;text&quot;}"/>
          <p:cNvSpPr txBox="1"/>
          <p:nvPr/>
        </p:nvSpPr>
        <p:spPr>
          <a:xfrm rot="0" flipH="0" flipV="0">
            <a:off x="685800" y="400050"/>
            <a:ext cx="108204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A2118"/>
                </a:solidFill>
                <a:latin typeface="Songti SC"/>
                <a:ea typeface="Songti SC"/>
              </a:rPr>
              <a:t>难点一</a:t>
            </a:r>
            <a:r>
              <a:rPr lang="en-US" sz="2550" b="1">
                <a:solidFill>
                  <a:srgbClr val="2A2118"/>
                </a:solidFill>
                <a:latin typeface="Songti SC"/>
                <a:ea typeface="Songti SC"/>
              </a:rPr>
              <a:t xml:space="preserve"> · </a:t>
            </a:r>
            <a:r>
              <a:rPr lang="zh-CN" sz="2550" b="1">
                <a:solidFill>
                  <a:srgbClr val="2A2118"/>
                </a:solidFill>
                <a:latin typeface="Songti SC"/>
                <a:ea typeface="Songti SC"/>
              </a:rPr>
              <a:t>棋盘像被划了一道道伤</a:t>
            </a:r>
            <a:endParaRPr/>
          </a:p>
        </p:txBody>
      </p:sp>
      <p:sp>
        <p:nvSpPr>
          <p:cNvPr id="349" name=""/>
          <p:cNvSpPr/>
          <p:nvPr/>
        </p:nvSpPr>
        <p:spPr>
          <a:xfrm rot="0" flipH="0" flipV="0">
            <a:off x="685800" y="885825"/>
            <a:ext cx="533400" cy="19050"/>
          </a:xfrm>
          <a:prstGeom prst="rect">
            <a:avLst/>
          </a:prstGeom>
          <a:solidFill>
            <a:srgbClr val="B3271E"/>
          </a:solidFill>
          <a:ln/>
        </p:spPr>
        <p:txBody>
          <a:bodyPr/>
          <a:p/>
        </p:txBody>
      </p:sp>
      <p:sp>
        <p:nvSpPr>
          <p:cNvPr id="350" name=""/>
          <p:cNvSpPr/>
          <p:nvPr/>
        </p:nvSpPr>
        <p:spPr>
          <a:xfrm rot="0" flipH="0" flipV="0">
            <a:off x="685800" y="2867025"/>
            <a:ext cx="5295900" cy="1390650"/>
          </a:xfrm>
          <a:prstGeom prst="roundRect">
            <a:avLst>
              <a:gd name="adj" fmla="val 5479"/>
            </a:avLst>
          </a:prstGeom>
          <a:solidFill>
            <a:srgbClr val="8C5A2B">
              <a:alpha val="6000"/>
            </a:srgbClr>
          </a:solidFill>
          <a:ln w="12700">
            <a:solidFill>
              <a:srgbClr val="8C5A2B">
                <a:alpha val="2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51" name="" descr="{&quot;isTemplate&quot;:true,&quot;type&quot;:&quot;text&quot;}"/>
          <p:cNvSpPr txBox="1"/>
          <p:nvPr/>
        </p:nvSpPr>
        <p:spPr>
          <a:xfrm rot="0" flipH="0" flipV="0">
            <a:off x="914400" y="3076575"/>
            <a:ext cx="48387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A2118">
                    <a:alpha val="50000"/>
                  </a:srgbClr>
                </a:solidFill>
                <a:latin typeface="Songti SC"/>
                <a:ea typeface="Songti SC"/>
              </a:rPr>
              <a:t>现象与根因</a:t>
            </a:r>
            <a:endParaRPr/>
          </a:p>
        </p:txBody>
      </p:sp>
      <p:sp>
        <p:nvSpPr>
          <p:cNvPr id="352" name="" descr="{&quot;isTemplate&quot;:true,&quot;type&quot;:&quot;text&quot;}"/>
          <p:cNvSpPr txBox="1"/>
          <p:nvPr/>
        </p:nvSpPr>
        <p:spPr>
          <a:xfrm rot="0" flipH="0" flipV="0">
            <a:off x="914400" y="3381375"/>
            <a:ext cx="4838700" cy="6667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275">
                <a:solidFill>
                  <a:srgbClr val="2A2118">
                    <a:alpha val="75000"/>
                  </a:srgbClr>
                </a:solidFill>
                <a:latin typeface="PingFang SC"/>
                <a:ea typeface="PingFang SC"/>
              </a:rPr>
              <a:t>棋盘像被划伤。根因是：网格画完之后，又叠了约</a:t>
            </a:r>
            <a:r>
              <a:rPr lang="en-US" sz="1275">
                <a:solidFill>
                  <a:srgbClr val="2A2118">
                    <a:alpha val="75000"/>
                  </a:srgbClr>
                </a:solidFill>
                <a:latin typeface="PingFang SC"/>
                <a:ea typeface="PingFang SC"/>
              </a:rPr>
              <a:t xml:space="preserve"> 110 </a:t>
            </a:r>
            <a:r>
              <a:rPr lang="zh-CN" sz="1275">
                <a:solidFill>
                  <a:srgbClr val="2A2118">
                    <a:alpha val="75000"/>
                  </a:srgbClr>
                </a:solidFill>
                <a:latin typeface="PingFang SC"/>
                <a:ea typeface="PingFang SC"/>
              </a:rPr>
              <a:t>条固定种子的短线段，越叠越像刀痕。</a:t>
            </a:r>
            <a:endParaRPr/>
          </a:p>
        </p:txBody>
      </p:sp>
      <p:sp>
        <p:nvSpPr>
          <p:cNvPr id="353" name=""/>
          <p:cNvSpPr/>
          <p:nvPr/>
        </p:nvSpPr>
        <p:spPr>
          <a:xfrm rot="0" flipH="0" flipV="0">
            <a:off x="6210300" y="2867025"/>
            <a:ext cx="5295900" cy="1390650"/>
          </a:xfrm>
          <a:prstGeom prst="roundRect">
            <a:avLst>
              <a:gd name="adj" fmla="val 5479"/>
            </a:avLst>
          </a:prstGeom>
          <a:solidFill>
            <a:srgbClr val="B3271E">
              <a:alpha val="6000"/>
            </a:srgbClr>
          </a:solidFill>
          <a:ln w="12700">
            <a:solidFill>
              <a:srgbClr val="B3271E">
                <a:alpha val="28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54" name="" descr="{&quot;isTemplate&quot;:true,&quot;type&quot;:&quot;text&quot;}"/>
          <p:cNvSpPr txBox="1"/>
          <p:nvPr/>
        </p:nvSpPr>
        <p:spPr>
          <a:xfrm rot="0" flipH="0" flipV="0">
            <a:off x="6438900" y="3076575"/>
            <a:ext cx="48387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B3271E"/>
                </a:solidFill>
                <a:latin typeface="Songti SC"/>
                <a:ea typeface="Songti SC"/>
              </a:rPr>
              <a:t>解法</a:t>
            </a:r>
            <a:endParaRPr/>
          </a:p>
        </p:txBody>
      </p:sp>
      <p:sp>
        <p:nvSpPr>
          <p:cNvPr id="355" name="" descr="{&quot;isTemplate&quot;:true,&quot;type&quot;:&quot;text&quot;}"/>
          <p:cNvSpPr txBox="1"/>
          <p:nvPr/>
        </p:nvSpPr>
        <p:spPr>
          <a:xfrm rot="0" flipH="0" flipV="0">
            <a:off x="6438900" y="3381375"/>
            <a:ext cx="4838700" cy="6667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275">
                <a:solidFill>
                  <a:srgbClr val="2A2118">
                    <a:alpha val="82000"/>
                  </a:srgbClr>
                </a:solidFill>
                <a:latin typeface="PingFang SC"/>
                <a:ea typeface="PingFang SC"/>
              </a:rPr>
              <a:t>删掉那段多余的绘制，改成</a:t>
            </a:r>
            <a:r>
              <a:rPr lang="en-US" sz="1275">
                <a:solidFill>
                  <a:srgbClr val="2A2118">
                    <a:alpha val="82000"/>
                  </a:srgbClr>
                </a:solidFill>
                <a:latin typeface="PingFang SC"/>
                <a:ea typeface="PingFang SC"/>
              </a:rPr>
              <a:t xml:space="preserve"> 16 </a:t>
            </a:r>
            <a:r>
              <a:rPr lang="zh-CN" sz="1275">
                <a:solidFill>
                  <a:srgbClr val="2A2118">
                    <a:alpha val="82000"/>
                  </a:srgbClr>
                </a:solidFill>
                <a:latin typeface="PingFang SC"/>
                <a:ea typeface="PingFang SC"/>
              </a:rPr>
              <a:t>级纯净渐变。划痕立刻消失，棋盘恢复成一块干净木面。</a:t>
            </a:r>
            <a:endParaRPr/>
          </a:p>
        </p:txBody>
      </p:sp>
      <p:sp>
        <p:nvSpPr>
          <p:cNvPr id="356" name="" descr="{&quot;isTemplate&quot;:true,&quot;type&quot;:&quot;text&quot;}"/>
          <p:cNvSpPr txBox="1"/>
          <p:nvPr/>
        </p:nvSpPr>
        <p:spPr>
          <a:xfrm rot="0" flipH="0" flipV="0">
            <a:off x="685800" y="6172200"/>
            <a:ext cx="14478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2A2118">
                    <a:alpha val="55000"/>
                  </a:srgbClr>
                </a:solidFill>
                <a:latin typeface="PingFang SC"/>
                <a:ea typeface="PingFang SC"/>
              </a:rPr>
              <a:t>弈趣棋苑</a:t>
            </a:r>
            <a:r>
              <a:rPr lang="en-US" sz="1050">
                <a:solidFill>
                  <a:srgbClr val="2A2118">
                    <a:alpha val="55000"/>
                  </a:srgbClr>
                </a:solidFill>
                <a:latin typeface="PingFang SC"/>
                <a:ea typeface="PingFang SC"/>
              </a:rPr>
              <a:t xml:space="preserve"> · </a:t>
            </a:r>
            <a:r>
              <a:rPr lang="zh-CN" sz="1050">
                <a:solidFill>
                  <a:srgbClr val="2A2118">
                    <a:alpha val="55000"/>
                  </a:srgbClr>
                </a:solidFill>
                <a:latin typeface="PingFang SC"/>
                <a:ea typeface="PingFang SC"/>
              </a:rPr>
              <a:t>项目开发汇报</a:t>
            </a:r>
            <a:endParaRPr/>
          </a:p>
        </p:txBody>
      </p:sp>
      <p:sp>
        <p:nvSpPr>
          <p:cNvPr id="357" name="" descr="{&quot;isTemplate&quot;:true,&quot;type&quot;:&quot;text&quot;}"/>
          <p:cNvSpPr txBox="1"/>
          <p:nvPr/>
        </p:nvSpPr>
        <p:spPr>
          <a:xfrm rot="0" flipH="0" flipV="0">
            <a:off x="11049000" y="61722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2A2118">
                    <a:alpha val="55000"/>
                  </a:srgbClr>
                </a:solidFill>
                <a:latin typeface="PingFang SC"/>
                <a:ea typeface="PingFang SC"/>
              </a:rPr>
              <a:t>38 / 64</a:t>
            </a:r>
            <a:endParaRPr/>
          </a:p>
        </p:txBody>
      </p:sp>
    </p:spTree>
  </p:cSld>
</p:sld>
</file>

<file path=ppt/slides/slide38.xml><?xml version="1.0" encoding="utf-8"?>
<p:sld xmlns:p="http://schemas.openxmlformats.org/presentationml/2006/main" xmlns:a="http://schemas.openxmlformats.org/drawingml/2006/main">
  <p:cSld>
    <p:spTree>
      <p:nvGrpSpPr>
        <p:cNvPr id="358" name="" descr="&lt;Slide style={{ width: 1280, height: 720, padding: &quot;20px 72px&quot;, background: &quot;#F5E3BE&quot;, flexDirection: &quot;column&quot; }}&gt;&#10;  &lt;Box style={{ width: &quot;100%&quot;, height: 96, flexDirection: &quot;column&quot;, justifyContent: &quot;center&quot; }}&gt;&#10;    &lt;Text style={{ fontSize: 34, fontWeight: &quot;bold&quot;, color: &quot;#2A2118&quot;, fontFamily: &quot;'Songti SC', 'STSong', 'SimSun', serif&quot; }}&gt;难点一续 · 棋子一度像塑料&lt;/Text&gt;&#10;    &lt;Box style={{ width: 56, height: 2, background: &quot;#B3271E&quot;, marginTop: 10 }} /&gt;&#10;  &lt;/Box&gt;&#10;  &lt;Box style={{ width: &quot;100%&quot;, height: 516, flexDirection: &quot;column&quot; }}&gt;&#10;  &lt;Box style={{ width: 860, height: &quot;100%&quot;, flexDirection: &quot;column&quot;, justifyContent: &quot;center&quot; }}&gt;&#10;    &lt;Text style={{ fontSize: 18, lineHeight: 1.7, color: &quot;#2A2118&quot;, fontFamily: &quot;'PingFang SC', 'Microsoft YaHei', sans-serif&quot;, marginBottom: 14 }}&gt;棋子被嫌「塑料感」：白色点状高光加过亮倒角，看着像玻璃球。&lt;/Text&gt;&#10;    &lt;Text style={{ fontSize: 18, lineHeight: 1.7, color: &quot;#2A2118&quot;, fontFamily: &quot;'PingFang SC', 'Microsoft YaHei', sans-serif&quot;, marginBottom: 14 }}&gt;删掉点状高光，定向光 α 压到 28，暗部按材质取色（不再用固定深棕），倒角不过亮。木头只有各向异性丝光，没有镜面亮点——塑料感这才去掉。&lt;/Text&gt;&#10;  &lt;/Box&gt;&#10;  &lt;/Box&gt;&#10;  &lt;Box style={{ width: &quot;100%&quot;, height: 48, flexDirection: &quot;row&quot;, alignItems: &quot;center&quot;, justifyContent: &quot;space-between&quot; }}&gt;&#10;    &lt;Text style={{ fontSize: 14, color: &quot;rgba(42,33,24,0.55)&quot;, fontFamily: &quot;'PingFang SC', 'Microsoft YaHei', sans-serif&quot; }}&gt;弈趣棋苑 · 项目开发汇报&lt;/Text&gt;&#10;    &lt;Text style={{ fontSize: 14, color: &quot;rgba(42,33,24,0.55)&quot;, fontFamily: &quot;'PingFang SC', 'Microsoft YaHei', sans-serif&quot; }}&gt;39 / 64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5E3BE"/>
          </a:solidFill>
          <a:ln/>
        </p:spPr>
        <p:txBody>
          <a:bodyPr/>
          <a:p/>
        </p:txBody>
      </p:sp>
      <p:sp>
        <p:nvSpPr>
          <p:cNvPr id="360" name="" descr="{&quot;isTemplate&quot;:true,&quot;type&quot;:&quot;text&quot;}"/>
          <p:cNvSpPr txBox="1"/>
          <p:nvPr/>
        </p:nvSpPr>
        <p:spPr>
          <a:xfrm rot="0" flipH="0" flipV="0">
            <a:off x="685800" y="400050"/>
            <a:ext cx="108204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A2118"/>
                </a:solidFill>
                <a:latin typeface="Songti SC"/>
                <a:ea typeface="Songti SC"/>
              </a:rPr>
              <a:t>难点一续</a:t>
            </a:r>
            <a:r>
              <a:rPr lang="en-US" sz="2550" b="1">
                <a:solidFill>
                  <a:srgbClr val="2A2118"/>
                </a:solidFill>
                <a:latin typeface="Songti SC"/>
                <a:ea typeface="Songti SC"/>
              </a:rPr>
              <a:t xml:space="preserve"> · </a:t>
            </a:r>
            <a:r>
              <a:rPr lang="zh-CN" sz="2550" b="1">
                <a:solidFill>
                  <a:srgbClr val="2A2118"/>
                </a:solidFill>
                <a:latin typeface="Songti SC"/>
                <a:ea typeface="Songti SC"/>
              </a:rPr>
              <a:t>棋子一度像塑料</a:t>
            </a:r>
            <a:endParaRPr/>
          </a:p>
        </p:txBody>
      </p:sp>
      <p:sp>
        <p:nvSpPr>
          <p:cNvPr id="361" name=""/>
          <p:cNvSpPr/>
          <p:nvPr/>
        </p:nvSpPr>
        <p:spPr>
          <a:xfrm rot="0" flipH="0" flipV="0">
            <a:off x="685800" y="885825"/>
            <a:ext cx="533400" cy="19050"/>
          </a:xfrm>
          <a:prstGeom prst="rect">
            <a:avLst/>
          </a:prstGeom>
          <a:solidFill>
            <a:srgbClr val="B3271E"/>
          </a:solidFill>
          <a:ln/>
        </p:spPr>
        <p:txBody>
          <a:bodyPr/>
          <a:p/>
        </p:txBody>
      </p:sp>
      <p:sp>
        <p:nvSpPr>
          <p:cNvPr id="362" name="" descr="{&quot;isTemplate&quot;:true,&quot;type&quot;:&quot;text&quot;}"/>
          <p:cNvSpPr txBox="1"/>
          <p:nvPr/>
        </p:nvSpPr>
        <p:spPr>
          <a:xfrm rot="0" flipH="0" flipV="0">
            <a:off x="685800" y="2905125"/>
            <a:ext cx="8191500" cy="35242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350">
                <a:solidFill>
                  <a:srgbClr val="2A2118"/>
                </a:solidFill>
                <a:latin typeface="PingFang SC"/>
                <a:ea typeface="PingFang SC"/>
              </a:rPr>
              <a:t>棋子被嫌「塑料感」：白色点状高光加过亮倒角，看着像玻璃球。</a:t>
            </a:r>
            <a:endParaRPr/>
          </a:p>
        </p:txBody>
      </p:sp>
      <p:sp>
        <p:nvSpPr>
          <p:cNvPr id="363" name="" descr="{&quot;isTemplate&quot;:true,&quot;type&quot;:&quot;text&quot;}"/>
          <p:cNvSpPr txBox="1"/>
          <p:nvPr/>
        </p:nvSpPr>
        <p:spPr>
          <a:xfrm rot="0" flipH="0" flipV="0">
            <a:off x="685800" y="3390900"/>
            <a:ext cx="8191500" cy="7048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350">
                <a:solidFill>
                  <a:srgbClr val="2A2118"/>
                </a:solidFill>
                <a:latin typeface="PingFang SC"/>
                <a:ea typeface="PingFang SC"/>
              </a:rPr>
              <a:t>删掉点状高光，定向光</a:t>
            </a:r>
            <a:r>
              <a:rPr lang="en-US" sz="1350">
                <a:solidFill>
                  <a:srgbClr val="2A2118"/>
                </a:solidFill>
                <a:latin typeface="PingFang SC"/>
                <a:ea typeface="PingFang SC"/>
              </a:rPr>
              <a:t xml:space="preserve"> α </a:t>
            </a:r>
            <a:r>
              <a:rPr lang="zh-CN" sz="1350">
                <a:solidFill>
                  <a:srgbClr val="2A2118"/>
                </a:solidFill>
                <a:latin typeface="PingFang SC"/>
                <a:ea typeface="PingFang SC"/>
              </a:rPr>
              <a:t>压到</a:t>
            </a:r>
            <a:r>
              <a:rPr lang="en-US" sz="1350">
                <a:solidFill>
                  <a:srgbClr val="2A2118"/>
                </a:solidFill>
                <a:latin typeface="PingFang SC"/>
                <a:ea typeface="PingFang SC"/>
              </a:rPr>
              <a:t xml:space="preserve"> 28</a:t>
            </a:r>
            <a:r>
              <a:rPr lang="zh-CN" sz="1350">
                <a:solidFill>
                  <a:srgbClr val="2A2118"/>
                </a:solidFill>
                <a:latin typeface="PingFang SC"/>
                <a:ea typeface="PingFang SC"/>
              </a:rPr>
              <a:t>，暗部按材质取色（不再用固定深棕），倒角不过亮。木头只有各向异性丝光，没有镜面亮点——塑料感这才去掉。</a:t>
            </a:r>
            <a:endParaRPr/>
          </a:p>
        </p:txBody>
      </p:sp>
      <p:sp>
        <p:nvSpPr>
          <p:cNvPr id="364" name="" descr="{&quot;isTemplate&quot;:true,&quot;type&quot;:&quot;text&quot;}"/>
          <p:cNvSpPr txBox="1"/>
          <p:nvPr/>
        </p:nvSpPr>
        <p:spPr>
          <a:xfrm rot="0" flipH="0" flipV="0">
            <a:off x="685800" y="6172200"/>
            <a:ext cx="14478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2A2118">
                    <a:alpha val="55000"/>
                  </a:srgbClr>
                </a:solidFill>
                <a:latin typeface="PingFang SC"/>
                <a:ea typeface="PingFang SC"/>
              </a:rPr>
              <a:t>弈趣棋苑</a:t>
            </a:r>
            <a:r>
              <a:rPr lang="en-US" sz="1050">
                <a:solidFill>
                  <a:srgbClr val="2A2118">
                    <a:alpha val="55000"/>
                  </a:srgbClr>
                </a:solidFill>
                <a:latin typeface="PingFang SC"/>
                <a:ea typeface="PingFang SC"/>
              </a:rPr>
              <a:t xml:space="preserve"> · </a:t>
            </a:r>
            <a:r>
              <a:rPr lang="zh-CN" sz="1050">
                <a:solidFill>
                  <a:srgbClr val="2A2118">
                    <a:alpha val="55000"/>
                  </a:srgbClr>
                </a:solidFill>
                <a:latin typeface="PingFang SC"/>
                <a:ea typeface="PingFang SC"/>
              </a:rPr>
              <a:t>项目开发汇报</a:t>
            </a:r>
            <a:endParaRPr/>
          </a:p>
        </p:txBody>
      </p:sp>
      <p:sp>
        <p:nvSpPr>
          <p:cNvPr id="365" name="" descr="{&quot;isTemplate&quot;:true,&quot;type&quot;:&quot;text&quot;}"/>
          <p:cNvSpPr txBox="1"/>
          <p:nvPr/>
        </p:nvSpPr>
        <p:spPr>
          <a:xfrm rot="0" flipH="0" flipV="0">
            <a:off x="11049000" y="61722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2A2118">
                    <a:alpha val="55000"/>
                  </a:srgbClr>
                </a:solidFill>
                <a:latin typeface="PingFang SC"/>
                <a:ea typeface="PingFang SC"/>
              </a:rPr>
              <a:t>39 / 64</a:t>
            </a:r>
            <a:endParaRPr/>
          </a:p>
        </p:txBody>
      </p:sp>
    </p:spTree>
  </p:cSld>
</p:sld>
</file>

<file path=ppt/slides/slide39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366" name="" descr="&lt;Slide style={{ width: 1280, height: 720, padding: &quot;20px 72px&quot;, background: &quot;#F5E3BE&quot;, flexDirection: &quot;column&quot; }}&gt;&#10;  &lt;Box style={{ width: &quot;100%&quot;, height: 96, flexDirection: &quot;column&quot;, justifyContent: &quot;center&quot; }}&gt;&#10;    &lt;Text style={{ fontSize: 34, fontWeight: &quot;bold&quot;, color: &quot;#2A2118&quot;, fontFamily: &quot;'Songti SC', 'STSong', 'SimSun', serif&quot; }}&gt;难点二 · 落子音链路 110ms → 16ms&lt;/Text&gt;&#10;    &lt;Box style={{ width: 56, height: 2, background: &quot;#B3271E&quot;, marginTop: 10 }} /&gt;&#10;  &lt;/Box&gt;&#10;  &lt;Box style={{ width: &quot;100%&quot;, height: 516, flexDirection: &quot;column&quot; }}&gt;&#10;  &lt;Box style={{ flexDirection: &quot;column&quot;, height: &quot;100%&quot;, justifyContent: &quot;center&quot;, alignItems: &quot;center&quot;, gap: 14 }}&gt;&#10;    &lt;svg width=&quot;760&quot; height=&quot;200&quot; viewBox=&quot;0 0 760 200&quot; style={{ background: &quot;rgba(140,90,43,0.05)&quot;, borderRadius: 10 }}&gt;&#10;      &lt;rect x=&quot;20&quot; y=&quot;40&quot; width=&quot;300&quot; height=&quot;56&quot; rx=&quot;8&quot; fill=&quot;#8C5A2B&quot;/&gt;&lt;text x=&quot;170&quot; y=&quot;74&quot; font-size=&quot;16&quot; fill=&quot;#F5E3BE&quot; text-anchor=&quot;middle&quot; font-family=&quot;sans-serif&quot;&gt;旧链路 110ms+&lt;/text&gt;&#10;      &lt;rect x=&quot;440&quot; y=&quot;120&quot; width=&quot;300&quot; height=&quot;56&quot; rx=&quot;8&quot; fill=&quot;#B3271E&quot;/&gt;&lt;text x=&quot;590&quot; y=&quot;154&quot; font-size=&quot;16&quot; fill=&quot;#F5E3BE&quot; text-anchor=&quot;middle&quot; font-family=&quot;sans-serif&quot;&gt;新链路 16ms&lt;/text&gt;&#10;      &lt;path d=&quot;M320 68 C 420 68, 380 130, 440 130&quot; stroke=&quot;#2A2118&quot; stroke-width=&quot;2&quot; fill=&quot;none&quot; stroke-dasharray=&quot;5,4&quot;/&gt;&#10;    &lt;/svg&gt;&#10;    &lt;Text style={{ fontSize: 15, color: &quot;rgba(42,33,24,0.6)&quot;, fontFamily: &quot;'PingFang SC', 'Microsoft YaHei', sans-serif&quot; }}&gt;wav 的 play 同步阻塞 + 每次重开设备 = 延迟主因&lt;/Text&gt;&#10;  &lt;/Box&gt;&#10;  &lt;/Box&gt;&#10;  &lt;Box style={{ width: &quot;100%&quot;, height: 48, flexDirection: &quot;row&quot;, alignItems: &quot;center&quot;, justifyContent: &quot;space-between&quot; }}&gt;&#10;    &lt;Text style={{ fontSize: 14, color: &quot;rgba(42,33,24,0.55)&quot;, fontFamily: &quot;'PingFang SC', 'Microsoft YaHei', sans-serif&quot; }}&gt;弈趣棋苑 · 项目开发汇报&lt;/Text&gt;&#10;    &lt;Text style={{ fontSize: 14, color: &quot;rgba(42,33,24,0.55)&quot;, fontFamily: &quot;'PingFang SC', 'Microsoft YaHei', sans-serif&quot; }}&gt;40 / 64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5E3BE"/>
          </a:solidFill>
          <a:ln/>
        </p:spPr>
        <p:txBody>
          <a:bodyPr/>
          <a:p/>
        </p:txBody>
      </p:sp>
      <p:sp>
        <p:nvSpPr>
          <p:cNvPr id="368" name="" descr="{&quot;isTemplate&quot;:true,&quot;type&quot;:&quot;text&quot;}"/>
          <p:cNvSpPr txBox="1"/>
          <p:nvPr/>
        </p:nvSpPr>
        <p:spPr>
          <a:xfrm rot="0" flipH="0" flipV="0">
            <a:off x="685800" y="400050"/>
            <a:ext cx="108204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A2118"/>
                </a:solidFill>
                <a:latin typeface="Songti SC"/>
                <a:ea typeface="Songti SC"/>
              </a:rPr>
              <a:t>难点二</a:t>
            </a:r>
            <a:r>
              <a:rPr lang="en-US" sz="2550" b="1">
                <a:solidFill>
                  <a:srgbClr val="2A2118"/>
                </a:solidFill>
                <a:latin typeface="Songti SC"/>
                <a:ea typeface="Songti SC"/>
              </a:rPr>
              <a:t xml:space="preserve"> · </a:t>
            </a:r>
            <a:r>
              <a:rPr lang="zh-CN" sz="2550" b="1">
                <a:solidFill>
                  <a:srgbClr val="2A2118"/>
                </a:solidFill>
                <a:latin typeface="Songti SC"/>
                <a:ea typeface="Songti SC"/>
              </a:rPr>
              <a:t>落子音链路</a:t>
            </a:r>
            <a:r>
              <a:rPr lang="en-US" sz="2550" b="1">
                <a:solidFill>
                  <a:srgbClr val="2A2118"/>
                </a:solidFill>
                <a:latin typeface="Songti SC"/>
                <a:ea typeface="Songti SC"/>
              </a:rPr>
              <a:t xml:space="preserve"> 110ms → 16ms</a:t>
            </a:r>
            <a:endParaRPr/>
          </a:p>
        </p:txBody>
      </p:sp>
      <p:sp>
        <p:nvSpPr>
          <p:cNvPr id="369" name=""/>
          <p:cNvSpPr/>
          <p:nvPr/>
        </p:nvSpPr>
        <p:spPr>
          <a:xfrm rot="0" flipH="0" flipV="0">
            <a:off x="685800" y="885825"/>
            <a:ext cx="533400" cy="19050"/>
          </a:xfrm>
          <a:prstGeom prst="rect">
            <a:avLst/>
          </a:prstGeom>
          <a:solidFill>
            <a:srgbClr val="B3271E"/>
          </a:solidFill>
          <a:ln/>
        </p:spPr>
        <p:txBody>
          <a:bodyPr/>
          <a:p/>
        </p:txBody>
      </p:sp>
      <p:sp>
        <p:nvSpPr>
          <p:cNvPr id="370" name=""/>
          <p:cNvSpPr/>
          <p:nvPr/>
        </p:nvSpPr>
        <p:spPr>
          <a:xfrm rot="0" flipH="0" flipV="0">
            <a:off x="2476500" y="2457450"/>
            <a:ext cx="7239000" cy="1905000"/>
          </a:xfrm>
          <a:prstGeom prst="roundRect">
            <a:avLst>
              <a:gd name="adj" fmla="val 5000"/>
            </a:avLst>
          </a:prstGeom>
          <a:ln/>
        </p:spPr>
        <p:txBody>
          <a:bodyPr/>
          <a:p/>
        </p:txBody>
      </p:sp>
      <p:pic>
        <p:nvPicPr>
          <p:cNvPr id="371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2476500" y="2457450"/>
            <a:ext cx="7239000" cy="1905000"/>
          </a:xfrm>
          <a:prstGeom prst="rect">
            <a:avLst/>
          </a:prstGeom>
          <a:ln/>
        </p:spPr>
      </p:pic>
      <p:sp>
        <p:nvSpPr>
          <p:cNvPr id="372" name="" descr="{&quot;isTemplate&quot;:true,&quot;type&quot;:&quot;text&quot;}"/>
          <p:cNvSpPr txBox="1"/>
          <p:nvPr/>
        </p:nvSpPr>
        <p:spPr>
          <a:xfrm rot="0" flipH="0" flipV="0">
            <a:off x="4495800" y="4495800"/>
            <a:ext cx="32099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2A2118">
                    <a:alpha val="60000"/>
                  </a:srgbClr>
                </a:solidFill>
                <a:latin typeface="PingFang SC"/>
                <a:ea typeface="PingFang SC"/>
              </a:rPr>
              <a:t xml:space="preserve">wav </a:t>
            </a:r>
            <a:r>
              <a:rPr lang="zh-CN" sz="1125">
                <a:solidFill>
                  <a:srgbClr val="2A2118">
                    <a:alpha val="60000"/>
                  </a:srgbClr>
                </a:solidFill>
                <a:latin typeface="PingFang SC"/>
                <a:ea typeface="PingFang SC"/>
              </a:rPr>
              <a:t>的</a:t>
            </a:r>
            <a:r>
              <a:rPr lang="en-US" sz="1125">
                <a:solidFill>
                  <a:srgbClr val="2A2118">
                    <a:alpha val="60000"/>
                  </a:srgbClr>
                </a:solidFill>
                <a:latin typeface="PingFang SC"/>
                <a:ea typeface="PingFang SC"/>
              </a:rPr>
              <a:t xml:space="preserve"> play </a:t>
            </a:r>
            <a:r>
              <a:rPr lang="zh-CN" sz="1125">
                <a:solidFill>
                  <a:srgbClr val="2A2118">
                    <a:alpha val="60000"/>
                  </a:srgbClr>
                </a:solidFill>
                <a:latin typeface="PingFang SC"/>
                <a:ea typeface="PingFang SC"/>
              </a:rPr>
              <a:t>同步阻塞</a:t>
            </a:r>
            <a:r>
              <a:rPr lang="en-US" sz="1125">
                <a:solidFill>
                  <a:srgbClr val="2A2118">
                    <a:alpha val="60000"/>
                  </a:srgbClr>
                </a:solidFill>
                <a:latin typeface="PingFang SC"/>
                <a:ea typeface="PingFang SC"/>
              </a:rPr>
              <a:t xml:space="preserve"> + </a:t>
            </a:r>
            <a:r>
              <a:rPr lang="zh-CN" sz="1125">
                <a:solidFill>
                  <a:srgbClr val="2A2118">
                    <a:alpha val="60000"/>
                  </a:srgbClr>
                </a:solidFill>
                <a:latin typeface="PingFang SC"/>
                <a:ea typeface="PingFang SC"/>
              </a:rPr>
              <a:t>每次重开设备</a:t>
            </a:r>
            <a:r>
              <a:rPr lang="en-US" sz="1125">
                <a:solidFill>
                  <a:srgbClr val="2A2118">
                    <a:alpha val="60000"/>
                  </a:srgbClr>
                </a:solidFill>
                <a:latin typeface="PingFang SC"/>
                <a:ea typeface="PingFang SC"/>
              </a:rPr>
              <a:t xml:space="preserve"> = </a:t>
            </a:r>
            <a:r>
              <a:rPr lang="zh-CN" sz="1125">
                <a:solidFill>
                  <a:srgbClr val="2A2118">
                    <a:alpha val="60000"/>
                  </a:srgbClr>
                </a:solidFill>
                <a:latin typeface="PingFang SC"/>
                <a:ea typeface="PingFang SC"/>
              </a:rPr>
              <a:t>延迟主因</a:t>
            </a:r>
            <a:endParaRPr/>
          </a:p>
        </p:txBody>
      </p:sp>
      <p:sp>
        <p:nvSpPr>
          <p:cNvPr id="373" name="" descr="{&quot;isTemplate&quot;:true,&quot;type&quot;:&quot;text&quot;}"/>
          <p:cNvSpPr txBox="1"/>
          <p:nvPr/>
        </p:nvSpPr>
        <p:spPr>
          <a:xfrm rot="0" flipH="0" flipV="0">
            <a:off x="685800" y="6172200"/>
            <a:ext cx="14478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2A2118">
                    <a:alpha val="55000"/>
                  </a:srgbClr>
                </a:solidFill>
                <a:latin typeface="PingFang SC"/>
                <a:ea typeface="PingFang SC"/>
              </a:rPr>
              <a:t>弈趣棋苑</a:t>
            </a:r>
            <a:r>
              <a:rPr lang="en-US" sz="1050">
                <a:solidFill>
                  <a:srgbClr val="2A2118">
                    <a:alpha val="55000"/>
                  </a:srgbClr>
                </a:solidFill>
                <a:latin typeface="PingFang SC"/>
                <a:ea typeface="PingFang SC"/>
              </a:rPr>
              <a:t xml:space="preserve"> · </a:t>
            </a:r>
            <a:r>
              <a:rPr lang="zh-CN" sz="1050">
                <a:solidFill>
                  <a:srgbClr val="2A2118">
                    <a:alpha val="55000"/>
                  </a:srgbClr>
                </a:solidFill>
                <a:latin typeface="PingFang SC"/>
                <a:ea typeface="PingFang SC"/>
              </a:rPr>
              <a:t>项目开发汇报</a:t>
            </a:r>
            <a:endParaRPr/>
          </a:p>
        </p:txBody>
      </p:sp>
      <p:sp>
        <p:nvSpPr>
          <p:cNvPr id="374" name="" descr="{&quot;isTemplate&quot;:true,&quot;type&quot;:&quot;text&quot;}"/>
          <p:cNvSpPr txBox="1"/>
          <p:nvPr/>
        </p:nvSpPr>
        <p:spPr>
          <a:xfrm rot="0" flipH="0" flipV="0">
            <a:off x="11049000" y="61722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2A2118">
                    <a:alpha val="55000"/>
                  </a:srgbClr>
                </a:solidFill>
                <a:latin typeface="PingFang SC"/>
                <a:ea typeface="PingFang SC"/>
              </a:rPr>
              <a:t>40 / 64</a:t>
            </a:r>
            <a:endParaRPr/>
          </a:p>
        </p:txBody>
      </p:sp>
    </p:spTree>
  </p:cSld>
</p:sld>
</file>

<file path=ppt/slides/slide40.xml><?xml version="1.0" encoding="utf-8"?>
<p:sld xmlns:p="http://schemas.openxmlformats.org/presentationml/2006/main" xmlns:a="http://schemas.openxmlformats.org/drawingml/2006/main">
  <p:cSld>
    <p:spTree>
      <p:nvGrpSpPr>
        <p:cNvPr id="386" name="" descr="&lt;Slide style={{ width: 1280, height: 720, padding: &quot;20px 72px&quot;, background: &quot;#F5E3BE&quot;, flexDirection: &quot;column&quot; }}&gt;&#10;  &lt;Box style={{ width: &quot;100%&quot;, height: 96, flexDirection: &quot;column&quot;, justifyContent: &quot;center&quot; }}&gt;&#10;    &lt;Text style={{ fontSize: 34, fontWeight: &quot;bold&quot;, color: &quot;#2A2118&quot;, fontFamily: &quot;'Songti SC', 'STSong', 'SimSun', serif&quot; }}&gt;难点三 · AI 不堵乱走（用户视角）&lt;/Text&gt;&#10;    &lt;Box style={{ width: 56, height: 2, background: &quot;#B3271E&quot;, marginTop: 10 }} /&gt;&#10;  &lt;/Box&gt;&#10;  &lt;Box style={{ width: &quot;100%&quot;, height: 516, flexDirection: &quot;column&quot; }}&gt;&#10;  &lt;Box style={{ width: 860, height: &quot;100%&quot;, flexDirection: &quot;column&quot;, justifyContent: &quot;center&quot; }}&gt;&#10;    &lt;Text style={{ fontSize: 18, lineHeight: 1.7, color: &quot;#2A2118&quot;, fontFamily: &quot;'PingFang SC', 'Microsoft YaHei', sans-serif&quot;, marginBottom: 14 }}&gt;用户反馈 AI「不堵乱走」，看着像没在防守。拆开看，是算杀层的四个 bug（机制见原理 P25）：奇偶校验跳回合、跨子误连、忽略反手冲四、活三误记。&lt;/Text&gt;&#10;    &lt;Text style={{ fontSize: 18, lineHeight: 1.7, color: &quot;#2A2118&quot;, fontFamily: &quot;'PingFang SC', 'Microsoft YaHei', sans-serif&quot;, marginBottom: 14 }}&gt;每个都不是凭感觉改的——先 git 取证定位缺陷起点，再按 Allis 的算杀规则对齐修法。修完之后，AI 该堵的地方才会真堵。&lt;/Text&gt;&#10;  &lt;/Box&gt;&#10;  &lt;/Box&gt;&#10;  &lt;Box style={{ width: &quot;100%&quot;, height: 48, flexDirection: &quot;row&quot;, alignItems: &quot;center&quot;, justifyContent: &quot;space-between&quot; }}&gt;&#10;    &lt;Text style={{ fontSize: 14, color: &quot;rgba(42,33,24,0.55)&quot;, fontFamily: &quot;'PingFang SC', 'Microsoft YaHei', sans-serif&quot; }}&gt;弈趣棋苑 · 项目开发汇报&lt;/Text&gt;&#10;    &lt;Text style={{ fontSize: 14, color: &quot;rgba(42,33,24,0.55)&quot;, fontFamily: &quot;'PingFang SC', 'Microsoft YaHei', sans-serif&quot; }}&gt;41 / 64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5E3BE"/>
          </a:solidFill>
          <a:ln/>
        </p:spPr>
        <p:txBody>
          <a:bodyPr/>
          <a:p/>
        </p:txBody>
      </p:sp>
      <p:sp>
        <p:nvSpPr>
          <p:cNvPr id="388" name="" descr="{&quot;isTemplate&quot;:true,&quot;type&quot;:&quot;text&quot;}"/>
          <p:cNvSpPr txBox="1"/>
          <p:nvPr/>
        </p:nvSpPr>
        <p:spPr>
          <a:xfrm rot="0" flipH="0" flipV="0">
            <a:off x="685800" y="400050"/>
            <a:ext cx="108204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A2118"/>
                </a:solidFill>
                <a:latin typeface="Songti SC"/>
                <a:ea typeface="Songti SC"/>
              </a:rPr>
              <a:t>难点三</a:t>
            </a:r>
            <a:r>
              <a:rPr lang="en-US" sz="2550" b="1">
                <a:solidFill>
                  <a:srgbClr val="2A2118"/>
                </a:solidFill>
                <a:latin typeface="Songti SC"/>
                <a:ea typeface="Songti SC"/>
              </a:rPr>
              <a:t xml:space="preserve"> · AI </a:t>
            </a:r>
            <a:r>
              <a:rPr lang="zh-CN" sz="2550" b="1">
                <a:solidFill>
                  <a:srgbClr val="2A2118"/>
                </a:solidFill>
                <a:latin typeface="Songti SC"/>
                <a:ea typeface="Songti SC"/>
              </a:rPr>
              <a:t>不堵乱走（用户视角）</a:t>
            </a:r>
            <a:endParaRPr/>
          </a:p>
        </p:txBody>
      </p:sp>
      <p:sp>
        <p:nvSpPr>
          <p:cNvPr id="389" name=""/>
          <p:cNvSpPr/>
          <p:nvPr/>
        </p:nvSpPr>
        <p:spPr>
          <a:xfrm rot="0" flipH="0" flipV="0">
            <a:off x="685800" y="885825"/>
            <a:ext cx="533400" cy="19050"/>
          </a:xfrm>
          <a:prstGeom prst="rect">
            <a:avLst/>
          </a:prstGeom>
          <a:solidFill>
            <a:srgbClr val="B3271E"/>
          </a:solidFill>
          <a:ln/>
        </p:spPr>
        <p:txBody>
          <a:bodyPr/>
          <a:p/>
        </p:txBody>
      </p:sp>
      <p:sp>
        <p:nvSpPr>
          <p:cNvPr id="390" name="" descr="{&quot;isTemplate&quot;:true,&quot;type&quot;:&quot;text&quot;}"/>
          <p:cNvSpPr txBox="1"/>
          <p:nvPr/>
        </p:nvSpPr>
        <p:spPr>
          <a:xfrm rot="0" flipH="0" flipV="0">
            <a:off x="685800" y="2724150"/>
            <a:ext cx="8191500" cy="7048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350">
                <a:solidFill>
                  <a:srgbClr val="2A2118"/>
                </a:solidFill>
                <a:latin typeface="PingFang SC"/>
                <a:ea typeface="PingFang SC"/>
              </a:rPr>
              <a:t>用户反馈</a:t>
            </a:r>
            <a:r>
              <a:rPr lang="en-US" sz="1350">
                <a:solidFill>
                  <a:srgbClr val="2A2118"/>
                </a:solidFill>
                <a:latin typeface="PingFang SC"/>
                <a:ea typeface="PingFang SC"/>
              </a:rPr>
              <a:t xml:space="preserve"> AI</a:t>
            </a:r>
            <a:r>
              <a:rPr lang="zh-CN" sz="1350">
                <a:solidFill>
                  <a:srgbClr val="2A2118"/>
                </a:solidFill>
                <a:latin typeface="PingFang SC"/>
                <a:ea typeface="PingFang SC"/>
              </a:rPr>
              <a:t>「不堵乱走」，看着像没在防守。拆开看，是算杀层的四个</a:t>
            </a:r>
            <a:r>
              <a:rPr lang="en-US" sz="1350">
                <a:solidFill>
                  <a:srgbClr val="2A2118"/>
                </a:solidFill>
                <a:latin typeface="PingFang SC"/>
                <a:ea typeface="PingFang SC"/>
              </a:rPr>
              <a:t xml:space="preserve"> bug</a:t>
            </a:r>
            <a:r>
              <a:rPr lang="zh-CN" sz="1350">
                <a:solidFill>
                  <a:srgbClr val="2A2118"/>
                </a:solidFill>
                <a:latin typeface="PingFang SC"/>
                <a:ea typeface="PingFang SC"/>
              </a:rPr>
              <a:t>（机制见原理</a:t>
            </a:r>
            <a:r>
              <a:rPr lang="en-US" sz="1350">
                <a:solidFill>
                  <a:srgbClr val="2A2118"/>
                </a:solidFill>
                <a:latin typeface="PingFang SC"/>
                <a:ea typeface="PingFang SC"/>
              </a:rPr>
              <a:t xml:space="preserve"> P25</a:t>
            </a:r>
            <a:r>
              <a:rPr lang="zh-CN" sz="1350">
                <a:solidFill>
                  <a:srgbClr val="2A2118"/>
                </a:solidFill>
                <a:latin typeface="PingFang SC"/>
                <a:ea typeface="PingFang SC"/>
              </a:rPr>
              <a:t>）：奇偶校验跳回合、跨子误连、忽略反手冲四、活三误记。</a:t>
            </a:r>
            <a:endParaRPr/>
          </a:p>
        </p:txBody>
      </p:sp>
      <p:sp>
        <p:nvSpPr>
          <p:cNvPr id="391" name="" descr="{&quot;isTemplate&quot;:true,&quot;type&quot;:&quot;text&quot;}"/>
          <p:cNvSpPr txBox="1"/>
          <p:nvPr/>
        </p:nvSpPr>
        <p:spPr>
          <a:xfrm rot="0" flipH="0" flipV="0">
            <a:off x="685800" y="3562350"/>
            <a:ext cx="8191500" cy="7048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350">
                <a:solidFill>
                  <a:srgbClr val="2A2118"/>
                </a:solidFill>
                <a:latin typeface="PingFang SC"/>
                <a:ea typeface="PingFang SC"/>
              </a:rPr>
              <a:t>每个都不是凭感觉改的——先</a:t>
            </a:r>
            <a:r>
              <a:rPr lang="en-US" sz="1350">
                <a:solidFill>
                  <a:srgbClr val="2A2118"/>
                </a:solidFill>
                <a:latin typeface="PingFang SC"/>
                <a:ea typeface="PingFang SC"/>
              </a:rPr>
              <a:t xml:space="preserve"> git </a:t>
            </a:r>
            <a:r>
              <a:rPr lang="zh-CN" sz="1350">
                <a:solidFill>
                  <a:srgbClr val="2A2118"/>
                </a:solidFill>
                <a:latin typeface="PingFang SC"/>
                <a:ea typeface="PingFang SC"/>
              </a:rPr>
              <a:t>取证定位缺陷起点，再按</a:t>
            </a:r>
            <a:r>
              <a:rPr lang="en-US" sz="1350">
                <a:solidFill>
                  <a:srgbClr val="2A2118"/>
                </a:solidFill>
                <a:latin typeface="PingFang SC"/>
                <a:ea typeface="PingFang SC"/>
              </a:rPr>
              <a:t xml:space="preserve"> Allis </a:t>
            </a:r>
            <a:r>
              <a:rPr lang="zh-CN" sz="1350">
                <a:solidFill>
                  <a:srgbClr val="2A2118"/>
                </a:solidFill>
                <a:latin typeface="PingFang SC"/>
                <a:ea typeface="PingFang SC"/>
              </a:rPr>
              <a:t>的算杀规则对齐修法。修完之后，</a:t>
            </a:r>
            <a:r>
              <a:rPr lang="en-US" sz="1350">
                <a:solidFill>
                  <a:srgbClr val="2A2118"/>
                </a:solidFill>
                <a:latin typeface="PingFang SC"/>
                <a:ea typeface="PingFang SC"/>
              </a:rPr>
              <a:t xml:space="preserve">AI </a:t>
            </a:r>
            <a:r>
              <a:rPr lang="zh-CN" sz="1350">
                <a:solidFill>
                  <a:srgbClr val="2A2118"/>
                </a:solidFill>
                <a:latin typeface="PingFang SC"/>
                <a:ea typeface="PingFang SC"/>
              </a:rPr>
              <a:t>该堵的地方才会真堵。</a:t>
            </a:r>
            <a:endParaRPr/>
          </a:p>
        </p:txBody>
      </p:sp>
      <p:sp>
        <p:nvSpPr>
          <p:cNvPr id="392" name="" descr="{&quot;isTemplate&quot;:true,&quot;type&quot;:&quot;text&quot;}"/>
          <p:cNvSpPr txBox="1"/>
          <p:nvPr/>
        </p:nvSpPr>
        <p:spPr>
          <a:xfrm rot="0" flipH="0" flipV="0">
            <a:off x="685800" y="6172200"/>
            <a:ext cx="14478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2A2118">
                    <a:alpha val="55000"/>
                  </a:srgbClr>
                </a:solidFill>
                <a:latin typeface="PingFang SC"/>
                <a:ea typeface="PingFang SC"/>
              </a:rPr>
              <a:t>弈趣棋苑</a:t>
            </a:r>
            <a:r>
              <a:rPr lang="en-US" sz="1050">
                <a:solidFill>
                  <a:srgbClr val="2A2118">
                    <a:alpha val="55000"/>
                  </a:srgbClr>
                </a:solidFill>
                <a:latin typeface="PingFang SC"/>
                <a:ea typeface="PingFang SC"/>
              </a:rPr>
              <a:t xml:space="preserve"> · </a:t>
            </a:r>
            <a:r>
              <a:rPr lang="zh-CN" sz="1050">
                <a:solidFill>
                  <a:srgbClr val="2A2118">
                    <a:alpha val="55000"/>
                  </a:srgbClr>
                </a:solidFill>
                <a:latin typeface="PingFang SC"/>
                <a:ea typeface="PingFang SC"/>
              </a:rPr>
              <a:t>项目开发汇报</a:t>
            </a:r>
            <a:endParaRPr/>
          </a:p>
        </p:txBody>
      </p:sp>
      <p:sp>
        <p:nvSpPr>
          <p:cNvPr id="393" name="" descr="{&quot;isTemplate&quot;:true,&quot;type&quot;:&quot;text&quot;}"/>
          <p:cNvSpPr txBox="1"/>
          <p:nvPr/>
        </p:nvSpPr>
        <p:spPr>
          <a:xfrm rot="0" flipH="0" flipV="0">
            <a:off x="11049000" y="61722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2A2118">
                    <a:alpha val="55000"/>
                  </a:srgbClr>
                </a:solidFill>
                <a:latin typeface="PingFang SC"/>
                <a:ea typeface="PingFang SC"/>
              </a:rPr>
              <a:t>41 / 64</a:t>
            </a:r>
            <a:endParaRPr/>
          </a:p>
        </p:txBody>
      </p:sp>
    </p:spTree>
  </p:cSld>
</p:sld>
</file>

<file path=ppt/slides/slide41.xml><?xml version="1.0" encoding="utf-8"?>
<p:sld xmlns:p="http://schemas.openxmlformats.org/presentationml/2006/main" xmlns:a="http://schemas.openxmlformats.org/drawingml/2006/main">
  <p:cSld>
    <p:spTree>
      <p:nvGrpSpPr>
        <p:cNvPr id="394" name="" descr="&lt;Slide style={{ width: 1280, height: 720, padding: &quot;20px 72px&quot;, background: &quot;#F5E3BE&quot;, flexDirection: &quot;column&quot; }}&gt;&#10;  &lt;Box style={{ width: &quot;100%&quot;, height: 96, flexDirection: &quot;column&quot;, justifyContent: &quot;center&quot; }}&gt;&#10;    &lt;Text style={{ fontSize: 34, fontWeight: &quot;bold&quot;, color: &quot;#2A2118&quot;, fontFamily: &quot;'Songti SC', 'STSong', 'SimSun', serif&quot; }}&gt;难点四 · 棋子外观推翻了十几轮&lt;/Text&gt;&#10;    &lt;Box style={{ width: 56, height: 2, background: &quot;#B3271E&quot;, marginTop: 10 }} /&gt;&#10;  &lt;/Box&gt;&#10;  &lt;Box style={{ width: &quot;100%&quot;, height: 516, flexDirection: &quot;column&quot; }}&gt;&#10;  &lt;Box style={{ flexDirection: &quot;row&quot;, alignItems: &quot;center&quot;, justifyContent: &quot;center&quot;, gap: 14, height: &quot;100%&quot; }}&gt;&#10;&lt;Box style={{ width: 184, background: &quot;rgba(140,90,43,0.10)&quot;, borderLeft: &quot;4px solid #8C5A2B&quot;, borderRadius: 6, padding: &quot;16px 14px&quot;, flexDirection: &quot;column&quot;, gap: 6 }}&gt;&#10;        &lt;Text style={{ fontSize: 15, fontWeight: &quot;bold&quot;, color: &quot;#2A2118&quot;, fontFamily: &quot;'Songti SC', 'STSong', 'SimSun', serif&quot; }}&gt;1. v8 九层&lt;/Text&gt;&#10;        &lt;Text style={{ fontSize: 13, lineHeight: 1.5, color: &quot;rgba(42,33,24,0.7)&quot;, fontFamily: &quot;'PingFang SC', 'Microsoft YaHei', sans-serif&quot; }}&gt;球面+木纹+双圈+镜面光，被否&lt;/Text&gt;&#10;      &lt;/Box&gt;&#10;      &lt;Text style={{ fontSize: 26, color: &quot;#B3271E&quot;, fontFamily: &quot;'Songti SC', 'STSong', 'SimSun', serif&quot;, alignSelf: &quot;center&quot; }}&gt;→&lt;/Text&gt;&#10;      &lt;Box style={{ width: 184, background: &quot;rgba(140,90,43,0.10)&quot;, borderLeft: &quot;4px solid #8C5A2B&quot;, borderRadius: 6, padding: &quot;16px 14px&quot;, flexDirection: &quot;column&quot;, gap: 6 }}&gt;&#10;        &lt;Text style={{ fontSize: 15, fontWeight: &quot;bold&quot;, color: &quot;#2A2118&quot;, fontFamily: &quot;'Songti SC', 'STSong', 'SimSun', serif&quot; }}&gt;2. v9 扁片&lt;/Text&gt;&#10;        &lt;Text style={{ fontSize: 13, lineHeight: 1.5, color: &quot;rgba(42,33,24,0.7)&quot;, fontFamily: &quot;'PingFang SC', 'Microsoft YaHei', sans-serif&quot; }}&gt;推翻 3D，素色木片+细描边&lt;/Text&gt;&#10;      &lt;/Box&gt;&#10;      &lt;Text style={{ fontSize: 26, color: &quot;#B3271E&quot;, fontFamily: &quot;'Songti SC', 'STSong', 'SimSun', serif&quot;, alignSelf: &quot;center&quot; }}&gt;→&lt;/Text&gt;&#10;      &lt;Box style={{ width: 184, background: &quot;rgba(140,90,43,0.10)&quot;, borderLeft: &quot;4px solid #8C5A2B&quot;, borderRadius: 6, padding: &quot;16px 14px&quot;, flexDirection: &quot;column&quot;, gap: 6 }}&gt;&#10;        &lt;Text style={{ fontSize: 15, fontWeight: &quot;bold&quot;, color: &quot;#2A2118&quot;, fontFamily: &quot;'Songti SC', 'STSong', 'SimSun', serif&quot; }}&gt;3. v10/v11&lt;/Text&gt;&#10;        &lt;Text style={{ fontSize: 13, lineHeight: 1.5, color: &quot;rgba(42,33,24,0.7)&quot;, fontFamily: &quot;'PingFang SC', 'Microsoft YaHei', sans-serif&quot; }}&gt;5 套主题+书法字，红繁黑简&lt;/Text&gt;&#10;      &lt;/Box&gt;&#10;      &lt;Text style={{ fontSize: 26, color: &quot;#B3271E&quot;, fontFamily: &quot;'Songti SC', 'STSong', 'SimSun', serif&quot;, alignSelf: &quot;center&quot; }}&gt;→&lt;/Text&gt;&#10;      &lt;Box style={{ width: 184, background: &quot;rgba(140,90,43,0.10)&quot;, borderLeft: &quot;4px solid #8C5A2B&quot;, borderRadius: 6, padding: &quot;16px 14px&quot;, flexDirection: &quot;column&quot;, gap: 6 }}&gt;&#10;        &lt;Text style={{ fontSize: 15, fontWeight: &quot;bold&quot;, color: &quot;#2A2118&quot;, fontFamily: &quot;'Songti SC', 'STSong', 'SimSun', serif&quot; }}&gt;4. v13 系&lt;/Text&gt;&#10;        &lt;Text style={{ fontSize: 13, lineHeight: 1.5, color: &quot;rgba(42,33,24,0.7)&quot;, fontFamily: &quot;'PingFang SC', 'Microsoft YaHei', sans-serif&quot; }}&gt;解耦材质与配色，修字形与锯齿，定稿&lt;/Text&gt;&#10;      &lt;/Box&gt;&#10;  &lt;/Box&gt;&#10;  &lt;/Box&gt;&#10;  &lt;Box style={{ width: &quot;100%&quot;, height: 48, flexDirection: &quot;row&quot;, alignItems: &quot;center&quot;, justifyContent: &quot;space-between&quot; }}&gt;&#10;    &lt;Text style={{ fontSize: 14, color: &quot;rgba(42,33,24,0.55)&quot;, fontFamily: &quot;'PingFang SC', 'Microsoft YaHei', sans-serif&quot; }}&gt;弈趣棋苑 · 项目开发汇报&lt;/Text&gt;&#10;    &lt;Text style={{ fontSize: 14, color: &quot;rgba(42,33,24,0.55)&quot;, fontFamily: &quot;'PingFang SC', 'Microsoft YaHei', sans-serif&quot; }}&gt;42 / 64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5E3BE"/>
          </a:solidFill>
          <a:ln/>
        </p:spPr>
        <p:txBody>
          <a:bodyPr/>
          <a:p/>
        </p:txBody>
      </p:sp>
      <p:sp>
        <p:nvSpPr>
          <p:cNvPr id="396" name="" descr="{&quot;isTemplate&quot;:true,&quot;type&quot;:&quot;text&quot;}"/>
          <p:cNvSpPr txBox="1"/>
          <p:nvPr/>
        </p:nvSpPr>
        <p:spPr>
          <a:xfrm rot="0" flipH="0" flipV="0">
            <a:off x="685800" y="400050"/>
            <a:ext cx="108204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A2118"/>
                </a:solidFill>
                <a:latin typeface="Songti SC"/>
                <a:ea typeface="Songti SC"/>
              </a:rPr>
              <a:t>难点四</a:t>
            </a:r>
            <a:r>
              <a:rPr lang="en-US" sz="2550" b="1">
                <a:solidFill>
                  <a:srgbClr val="2A2118"/>
                </a:solidFill>
                <a:latin typeface="Songti SC"/>
                <a:ea typeface="Songti SC"/>
              </a:rPr>
              <a:t xml:space="preserve"> · </a:t>
            </a:r>
            <a:r>
              <a:rPr lang="zh-CN" sz="2550" b="1">
                <a:solidFill>
                  <a:srgbClr val="2A2118"/>
                </a:solidFill>
                <a:latin typeface="Songti SC"/>
                <a:ea typeface="Songti SC"/>
              </a:rPr>
              <a:t>棋子外观推翻了十几轮</a:t>
            </a:r>
            <a:endParaRPr/>
          </a:p>
        </p:txBody>
      </p:sp>
      <p:sp>
        <p:nvSpPr>
          <p:cNvPr id="397" name=""/>
          <p:cNvSpPr/>
          <p:nvPr/>
        </p:nvSpPr>
        <p:spPr>
          <a:xfrm rot="0" flipH="0" flipV="0">
            <a:off x="685800" y="885825"/>
            <a:ext cx="533400" cy="19050"/>
          </a:xfrm>
          <a:prstGeom prst="rect">
            <a:avLst/>
          </a:prstGeom>
          <a:solidFill>
            <a:srgbClr val="B3271E"/>
          </a:solidFill>
          <a:ln/>
        </p:spPr>
        <p:txBody>
          <a:bodyPr/>
          <a:p/>
        </p:txBody>
      </p:sp>
      <p:sp>
        <p:nvSpPr>
          <p:cNvPr id="398" name=""/>
          <p:cNvSpPr/>
          <p:nvPr/>
        </p:nvSpPr>
        <p:spPr>
          <a:xfrm rot="0" flipH="0" flipV="0">
            <a:off x="1857375" y="3076575"/>
            <a:ext cx="1714500" cy="981075"/>
          </a:xfrm>
          <a:prstGeom prst="roundRect">
            <a:avLst>
              <a:gd name="adj" fmla="val 5825"/>
            </a:avLst>
          </a:prstGeom>
          <a:solidFill>
            <a:srgbClr val="8C5A2B">
              <a:alpha val="10000"/>
            </a:srgbClr>
          </a:solidFill>
          <a:ln/>
        </p:spPr>
        <p:txBody>
          <a:bodyPr/>
          <a:p/>
        </p:txBody>
      </p:sp>
      <p:sp>
        <p:nvSpPr>
          <p:cNvPr id="399" name=""/>
          <p:cNvSpPr/>
          <p:nvPr/>
        </p:nvSpPr>
        <p:spPr>
          <a:xfrm rot="0" flipH="0" flipV="0">
            <a:off x="1857375" y="3076575"/>
            <a:ext cx="1714500" cy="981075"/>
          </a:xfrm>
          <a:custGeom>
            <a:pathLst>
              <a:path w="180" h="103">
                <a:moveTo>
                  <a:pt x="6" y="0"/>
                </a:moveTo>
                <a:cubicBezTo>
                  <a:pt x="5" y="0"/>
                  <a:pt x="4" y="1"/>
                  <a:pt x="4" y="2"/>
                </a:cubicBezTo>
                <a:lnTo>
                  <a:pt x="4" y="101"/>
                </a:lnTo>
                <a:cubicBezTo>
                  <a:pt x="4" y="102"/>
                  <a:pt x="5" y="103"/>
                  <a:pt x="6" y="103"/>
                </a:cubicBezTo>
                <a:cubicBezTo>
                  <a:pt x="3" y="103"/>
                  <a:pt x="0" y="100"/>
                  <a:pt x="0" y="97"/>
                </a:cubicBezTo>
                <a:lnTo>
                  <a:pt x="0" y="6"/>
                </a:lnTo>
                <a:cubicBezTo>
                  <a:pt x="0" y="3"/>
                  <a:pt x="3" y="0"/>
                  <a:pt x="6" y="0"/>
                </a:cubicBezTo>
                <a:close/>
              </a:path>
            </a:pathLst>
          </a:custGeom>
          <a:solidFill>
            <a:srgbClr val="8C5A2B"/>
          </a:solidFill>
          <a:ln/>
        </p:spPr>
        <p:txBody>
          <a:bodyPr/>
          <a:p/>
        </p:txBody>
      </p:sp>
      <p:sp>
        <p:nvSpPr>
          <p:cNvPr id="400" name="" descr="{&quot;isTemplate&quot;:true,&quot;type&quot;:&quot;text&quot;}"/>
          <p:cNvSpPr txBox="1"/>
          <p:nvPr/>
        </p:nvSpPr>
        <p:spPr>
          <a:xfrm rot="0" flipH="0" flipV="0">
            <a:off x="1990725" y="3228975"/>
            <a:ext cx="14478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2A2118"/>
                </a:solidFill>
                <a:latin typeface="Songti SC"/>
                <a:ea typeface="Songti SC"/>
              </a:rPr>
              <a:t xml:space="preserve">1. v8 </a:t>
            </a:r>
            <a:r>
              <a:rPr lang="zh-CN" sz="1125" b="1">
                <a:solidFill>
                  <a:srgbClr val="2A2118"/>
                </a:solidFill>
                <a:latin typeface="Songti SC"/>
                <a:ea typeface="Songti SC"/>
              </a:rPr>
              <a:t>九层</a:t>
            </a:r>
            <a:endParaRPr/>
          </a:p>
        </p:txBody>
      </p:sp>
      <p:sp>
        <p:nvSpPr>
          <p:cNvPr id="401" name="" descr="{&quot;isTemplate&quot;:true,&quot;type&quot;:&quot;text&quot;}"/>
          <p:cNvSpPr txBox="1"/>
          <p:nvPr/>
        </p:nvSpPr>
        <p:spPr>
          <a:xfrm rot="0" flipH="0" flipV="0">
            <a:off x="1990725" y="3457575"/>
            <a:ext cx="1447800" cy="4476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975">
                <a:solidFill>
                  <a:srgbClr val="2A2118">
                    <a:alpha val="70000"/>
                  </a:srgbClr>
                </a:solidFill>
                <a:latin typeface="PingFang SC"/>
                <a:ea typeface="PingFang SC"/>
              </a:rPr>
              <a:t>球面</a:t>
            </a:r>
            <a:r>
              <a:rPr lang="en-US" sz="975">
                <a:solidFill>
                  <a:srgbClr val="2A2118">
                    <a:alpha val="70000"/>
                  </a:srgbClr>
                </a:solidFill>
                <a:latin typeface="PingFang SC"/>
                <a:ea typeface="PingFang SC"/>
              </a:rPr>
              <a:t>+</a:t>
            </a:r>
            <a:r>
              <a:rPr lang="zh-CN" sz="975">
                <a:solidFill>
                  <a:srgbClr val="2A2118">
                    <a:alpha val="70000"/>
                  </a:srgbClr>
                </a:solidFill>
                <a:latin typeface="PingFang SC"/>
                <a:ea typeface="PingFang SC"/>
              </a:rPr>
              <a:t>木纹</a:t>
            </a:r>
            <a:r>
              <a:rPr lang="en-US" sz="975">
                <a:solidFill>
                  <a:srgbClr val="2A2118">
                    <a:alpha val="70000"/>
                  </a:srgbClr>
                </a:solidFill>
                <a:latin typeface="PingFang SC"/>
                <a:ea typeface="PingFang SC"/>
              </a:rPr>
              <a:t>+</a:t>
            </a:r>
            <a:r>
              <a:rPr lang="zh-CN" sz="975">
                <a:solidFill>
                  <a:srgbClr val="2A2118">
                    <a:alpha val="70000"/>
                  </a:srgbClr>
                </a:solidFill>
                <a:latin typeface="PingFang SC"/>
                <a:ea typeface="PingFang SC"/>
              </a:rPr>
              <a:t>双圈</a:t>
            </a:r>
            <a:r>
              <a:rPr lang="en-US" sz="975">
                <a:solidFill>
                  <a:srgbClr val="2A2118">
                    <a:alpha val="70000"/>
                  </a:srgbClr>
                </a:solidFill>
                <a:latin typeface="PingFang SC"/>
                <a:ea typeface="PingFang SC"/>
              </a:rPr>
              <a:t>+</a:t>
            </a:r>
            <a:r>
              <a:rPr lang="zh-CN" sz="975">
                <a:solidFill>
                  <a:srgbClr val="2A2118">
                    <a:alpha val="70000"/>
                  </a:srgbClr>
                </a:solidFill>
                <a:latin typeface="PingFang SC"/>
                <a:ea typeface="PingFang SC"/>
              </a:rPr>
              <a:t>镜面光，被否</a:t>
            </a:r>
            <a:endParaRPr/>
          </a:p>
        </p:txBody>
      </p:sp>
      <p:sp>
        <p:nvSpPr>
          <p:cNvPr id="402" name="" descr="{&quot;isTemplate&quot;:true,&quot;type&quot;:&quot;text&quot;}"/>
          <p:cNvSpPr txBox="1"/>
          <p:nvPr/>
        </p:nvSpPr>
        <p:spPr>
          <a:xfrm rot="0" flipH="0" flipV="0">
            <a:off x="3705225" y="3409950"/>
            <a:ext cx="24765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950">
                <a:solidFill>
                  <a:srgbClr val="B3271E"/>
                </a:solidFill>
                <a:latin typeface="Songti SC"/>
                <a:ea typeface="Songti SC"/>
              </a:rPr>
              <a:t>→</a:t>
            </a:r>
            <a:endParaRPr/>
          </a:p>
        </p:txBody>
      </p:sp>
      <p:sp>
        <p:nvSpPr>
          <p:cNvPr id="403" name=""/>
          <p:cNvSpPr/>
          <p:nvPr/>
        </p:nvSpPr>
        <p:spPr>
          <a:xfrm rot="0" flipH="0" flipV="0">
            <a:off x="4124325" y="3076575"/>
            <a:ext cx="1714500" cy="981075"/>
          </a:xfrm>
          <a:prstGeom prst="roundRect">
            <a:avLst>
              <a:gd name="adj" fmla="val 5825"/>
            </a:avLst>
          </a:prstGeom>
          <a:solidFill>
            <a:srgbClr val="8C5A2B">
              <a:alpha val="10000"/>
            </a:srgbClr>
          </a:solidFill>
          <a:ln/>
        </p:spPr>
        <p:txBody>
          <a:bodyPr/>
          <a:p/>
        </p:txBody>
      </p:sp>
      <p:sp>
        <p:nvSpPr>
          <p:cNvPr id="404" name=""/>
          <p:cNvSpPr/>
          <p:nvPr/>
        </p:nvSpPr>
        <p:spPr>
          <a:xfrm rot="0" flipH="0" flipV="0">
            <a:off x="4124325" y="3076575"/>
            <a:ext cx="1714500" cy="981075"/>
          </a:xfrm>
          <a:custGeom>
            <a:pathLst>
              <a:path w="180" h="103">
                <a:moveTo>
                  <a:pt x="6" y="0"/>
                </a:moveTo>
                <a:cubicBezTo>
                  <a:pt x="5" y="0"/>
                  <a:pt x="4" y="1"/>
                  <a:pt x="4" y="2"/>
                </a:cubicBezTo>
                <a:lnTo>
                  <a:pt x="4" y="101"/>
                </a:lnTo>
                <a:cubicBezTo>
                  <a:pt x="4" y="102"/>
                  <a:pt x="5" y="103"/>
                  <a:pt x="6" y="103"/>
                </a:cubicBezTo>
                <a:cubicBezTo>
                  <a:pt x="3" y="103"/>
                  <a:pt x="0" y="100"/>
                  <a:pt x="0" y="97"/>
                </a:cubicBezTo>
                <a:lnTo>
                  <a:pt x="0" y="6"/>
                </a:lnTo>
                <a:cubicBezTo>
                  <a:pt x="0" y="3"/>
                  <a:pt x="3" y="0"/>
                  <a:pt x="6" y="0"/>
                </a:cubicBezTo>
                <a:close/>
              </a:path>
            </a:pathLst>
          </a:custGeom>
          <a:solidFill>
            <a:srgbClr val="8C5A2B"/>
          </a:solidFill>
          <a:ln/>
        </p:spPr>
        <p:txBody>
          <a:bodyPr/>
          <a:p/>
        </p:txBody>
      </p:sp>
      <p:sp>
        <p:nvSpPr>
          <p:cNvPr id="405" name="" descr="{&quot;isTemplate&quot;:true,&quot;type&quot;:&quot;text&quot;}"/>
          <p:cNvSpPr txBox="1"/>
          <p:nvPr/>
        </p:nvSpPr>
        <p:spPr>
          <a:xfrm rot="0" flipH="0" flipV="0">
            <a:off x="4257675" y="3228975"/>
            <a:ext cx="14478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2A2118"/>
                </a:solidFill>
                <a:latin typeface="Songti SC"/>
                <a:ea typeface="Songti SC"/>
              </a:rPr>
              <a:t xml:space="preserve">2. v9 </a:t>
            </a:r>
            <a:r>
              <a:rPr lang="zh-CN" sz="1125" b="1">
                <a:solidFill>
                  <a:srgbClr val="2A2118"/>
                </a:solidFill>
                <a:latin typeface="Songti SC"/>
                <a:ea typeface="Songti SC"/>
              </a:rPr>
              <a:t>扁片</a:t>
            </a:r>
            <a:endParaRPr/>
          </a:p>
        </p:txBody>
      </p:sp>
      <p:sp>
        <p:nvSpPr>
          <p:cNvPr id="406" name="" descr="{&quot;isTemplate&quot;:true,&quot;type&quot;:&quot;text&quot;}"/>
          <p:cNvSpPr txBox="1"/>
          <p:nvPr/>
        </p:nvSpPr>
        <p:spPr>
          <a:xfrm rot="0" flipH="0" flipV="0">
            <a:off x="4257675" y="3457575"/>
            <a:ext cx="1447800" cy="4476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975">
                <a:solidFill>
                  <a:srgbClr val="2A2118">
                    <a:alpha val="70000"/>
                  </a:srgbClr>
                </a:solidFill>
                <a:latin typeface="PingFang SC"/>
                <a:ea typeface="PingFang SC"/>
              </a:rPr>
              <a:t>推翻</a:t>
            </a:r>
            <a:r>
              <a:rPr lang="en-US" sz="975">
                <a:solidFill>
                  <a:srgbClr val="2A2118">
                    <a:alpha val="70000"/>
                  </a:srgbClr>
                </a:solidFill>
                <a:latin typeface="PingFang SC"/>
                <a:ea typeface="PingFang SC"/>
              </a:rPr>
              <a:t xml:space="preserve"> 3D</a:t>
            </a:r>
            <a:r>
              <a:rPr lang="zh-CN" sz="975">
                <a:solidFill>
                  <a:srgbClr val="2A2118">
                    <a:alpha val="70000"/>
                  </a:srgbClr>
                </a:solidFill>
                <a:latin typeface="PingFang SC"/>
                <a:ea typeface="PingFang SC"/>
              </a:rPr>
              <a:t>，素色木片</a:t>
            </a:r>
            <a:r>
              <a:rPr lang="en-US" sz="975">
                <a:solidFill>
                  <a:srgbClr val="2A2118">
                    <a:alpha val="70000"/>
                  </a:srgbClr>
                </a:solidFill>
                <a:latin typeface="PingFang SC"/>
                <a:ea typeface="PingFang SC"/>
              </a:rPr>
              <a:t>+</a:t>
            </a:r>
            <a:r>
              <a:rPr lang="zh-CN" sz="975">
                <a:solidFill>
                  <a:srgbClr val="2A2118">
                    <a:alpha val="70000"/>
                  </a:srgbClr>
                </a:solidFill>
                <a:latin typeface="PingFang SC"/>
                <a:ea typeface="PingFang SC"/>
              </a:rPr>
              <a:t>细描边</a:t>
            </a:r>
            <a:endParaRPr/>
          </a:p>
        </p:txBody>
      </p:sp>
      <p:sp>
        <p:nvSpPr>
          <p:cNvPr id="407" name="" descr="{&quot;isTemplate&quot;:true,&quot;type&quot;:&quot;text&quot;}"/>
          <p:cNvSpPr txBox="1"/>
          <p:nvPr/>
        </p:nvSpPr>
        <p:spPr>
          <a:xfrm rot="0" flipH="0" flipV="0">
            <a:off x="5972175" y="3409950"/>
            <a:ext cx="24765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950">
                <a:solidFill>
                  <a:srgbClr val="B3271E"/>
                </a:solidFill>
                <a:latin typeface="Songti SC"/>
                <a:ea typeface="Songti SC"/>
              </a:rPr>
              <a:t>→</a:t>
            </a:r>
            <a:endParaRPr/>
          </a:p>
        </p:txBody>
      </p:sp>
      <p:sp>
        <p:nvSpPr>
          <p:cNvPr id="408" name=""/>
          <p:cNvSpPr/>
          <p:nvPr/>
        </p:nvSpPr>
        <p:spPr>
          <a:xfrm rot="0" flipH="0" flipV="0">
            <a:off x="6391275" y="3076575"/>
            <a:ext cx="1714500" cy="981075"/>
          </a:xfrm>
          <a:prstGeom prst="roundRect">
            <a:avLst>
              <a:gd name="adj" fmla="val 5825"/>
            </a:avLst>
          </a:prstGeom>
          <a:solidFill>
            <a:srgbClr val="8C5A2B">
              <a:alpha val="10000"/>
            </a:srgbClr>
          </a:solidFill>
          <a:ln/>
        </p:spPr>
        <p:txBody>
          <a:bodyPr/>
          <a:p/>
        </p:txBody>
      </p:sp>
      <p:sp>
        <p:nvSpPr>
          <p:cNvPr id="409" name=""/>
          <p:cNvSpPr/>
          <p:nvPr/>
        </p:nvSpPr>
        <p:spPr>
          <a:xfrm rot="0" flipH="0" flipV="0">
            <a:off x="6391275" y="3076575"/>
            <a:ext cx="1714500" cy="981075"/>
          </a:xfrm>
          <a:custGeom>
            <a:pathLst>
              <a:path w="180" h="103">
                <a:moveTo>
                  <a:pt x="6" y="0"/>
                </a:moveTo>
                <a:cubicBezTo>
                  <a:pt x="5" y="0"/>
                  <a:pt x="4" y="1"/>
                  <a:pt x="4" y="2"/>
                </a:cubicBezTo>
                <a:lnTo>
                  <a:pt x="4" y="101"/>
                </a:lnTo>
                <a:cubicBezTo>
                  <a:pt x="4" y="102"/>
                  <a:pt x="5" y="103"/>
                  <a:pt x="6" y="103"/>
                </a:cubicBezTo>
                <a:cubicBezTo>
                  <a:pt x="3" y="103"/>
                  <a:pt x="0" y="100"/>
                  <a:pt x="0" y="97"/>
                </a:cubicBezTo>
                <a:lnTo>
                  <a:pt x="0" y="6"/>
                </a:lnTo>
                <a:cubicBezTo>
                  <a:pt x="0" y="3"/>
                  <a:pt x="3" y="0"/>
                  <a:pt x="6" y="0"/>
                </a:cubicBezTo>
                <a:close/>
              </a:path>
            </a:pathLst>
          </a:custGeom>
          <a:solidFill>
            <a:srgbClr val="8C5A2B"/>
          </a:solidFill>
          <a:ln/>
        </p:spPr>
        <p:txBody>
          <a:bodyPr/>
          <a:p/>
        </p:txBody>
      </p:sp>
      <p:sp>
        <p:nvSpPr>
          <p:cNvPr id="410" name="" descr="{&quot;isTemplate&quot;:true,&quot;type&quot;:&quot;text&quot;}"/>
          <p:cNvSpPr txBox="1"/>
          <p:nvPr/>
        </p:nvSpPr>
        <p:spPr>
          <a:xfrm rot="0" flipH="0" flipV="0">
            <a:off x="6524625" y="3228975"/>
            <a:ext cx="14478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2A2118"/>
                </a:solidFill>
                <a:latin typeface="Songti SC"/>
                <a:ea typeface="Songti SC"/>
              </a:rPr>
              <a:t>3. v10/v11</a:t>
            </a:r>
            <a:endParaRPr/>
          </a:p>
        </p:txBody>
      </p:sp>
      <p:sp>
        <p:nvSpPr>
          <p:cNvPr id="411" name="" descr="{&quot;isTemplate&quot;:true,&quot;type&quot;:&quot;text&quot;}"/>
          <p:cNvSpPr txBox="1"/>
          <p:nvPr/>
        </p:nvSpPr>
        <p:spPr>
          <a:xfrm rot="0" flipH="0" flipV="0">
            <a:off x="6524625" y="3457575"/>
            <a:ext cx="1447800" cy="4476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en-US" sz="975">
                <a:solidFill>
                  <a:srgbClr val="2A2118">
                    <a:alpha val="70000"/>
                  </a:srgbClr>
                </a:solidFill>
                <a:latin typeface="PingFang SC"/>
                <a:ea typeface="PingFang SC"/>
              </a:rPr>
              <a:t xml:space="preserve">5 </a:t>
            </a:r>
            <a:r>
              <a:rPr lang="zh-CN" sz="975">
                <a:solidFill>
                  <a:srgbClr val="2A2118">
                    <a:alpha val="70000"/>
                  </a:srgbClr>
                </a:solidFill>
                <a:latin typeface="PingFang SC"/>
                <a:ea typeface="PingFang SC"/>
              </a:rPr>
              <a:t>套主题</a:t>
            </a:r>
            <a:r>
              <a:rPr lang="en-US" sz="975">
                <a:solidFill>
                  <a:srgbClr val="2A2118">
                    <a:alpha val="70000"/>
                  </a:srgbClr>
                </a:solidFill>
                <a:latin typeface="PingFang SC"/>
                <a:ea typeface="PingFang SC"/>
              </a:rPr>
              <a:t>+</a:t>
            </a:r>
            <a:r>
              <a:rPr lang="zh-CN" sz="975">
                <a:solidFill>
                  <a:srgbClr val="2A2118">
                    <a:alpha val="70000"/>
                  </a:srgbClr>
                </a:solidFill>
                <a:latin typeface="PingFang SC"/>
                <a:ea typeface="PingFang SC"/>
              </a:rPr>
              <a:t>书法字，红繁黑简</a:t>
            </a:r>
            <a:endParaRPr/>
          </a:p>
        </p:txBody>
      </p:sp>
      <p:sp>
        <p:nvSpPr>
          <p:cNvPr id="412" name="" descr="{&quot;isTemplate&quot;:true,&quot;type&quot;:&quot;text&quot;}"/>
          <p:cNvSpPr txBox="1"/>
          <p:nvPr/>
        </p:nvSpPr>
        <p:spPr>
          <a:xfrm rot="0" flipH="0" flipV="0">
            <a:off x="8239125" y="3409950"/>
            <a:ext cx="24765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950">
                <a:solidFill>
                  <a:srgbClr val="B3271E"/>
                </a:solidFill>
                <a:latin typeface="Songti SC"/>
                <a:ea typeface="Songti SC"/>
              </a:rPr>
              <a:t>→</a:t>
            </a:r>
            <a:endParaRPr/>
          </a:p>
        </p:txBody>
      </p:sp>
      <p:sp>
        <p:nvSpPr>
          <p:cNvPr id="413" name=""/>
          <p:cNvSpPr/>
          <p:nvPr/>
        </p:nvSpPr>
        <p:spPr>
          <a:xfrm rot="0" flipH="0" flipV="0">
            <a:off x="8658225" y="3076575"/>
            <a:ext cx="1714500" cy="981075"/>
          </a:xfrm>
          <a:prstGeom prst="roundRect">
            <a:avLst>
              <a:gd name="adj" fmla="val 5825"/>
            </a:avLst>
          </a:prstGeom>
          <a:solidFill>
            <a:srgbClr val="8C5A2B">
              <a:alpha val="10000"/>
            </a:srgbClr>
          </a:solidFill>
          <a:ln/>
        </p:spPr>
        <p:txBody>
          <a:bodyPr/>
          <a:p/>
        </p:txBody>
      </p:sp>
      <p:sp>
        <p:nvSpPr>
          <p:cNvPr id="414" name=""/>
          <p:cNvSpPr/>
          <p:nvPr/>
        </p:nvSpPr>
        <p:spPr>
          <a:xfrm rot="0" flipH="0" flipV="0">
            <a:off x="8658225" y="3076575"/>
            <a:ext cx="1714500" cy="981075"/>
          </a:xfrm>
          <a:custGeom>
            <a:pathLst>
              <a:path w="180" h="103">
                <a:moveTo>
                  <a:pt x="6" y="0"/>
                </a:moveTo>
                <a:cubicBezTo>
                  <a:pt x="5" y="0"/>
                  <a:pt x="4" y="1"/>
                  <a:pt x="4" y="2"/>
                </a:cubicBezTo>
                <a:lnTo>
                  <a:pt x="4" y="101"/>
                </a:lnTo>
                <a:cubicBezTo>
                  <a:pt x="4" y="102"/>
                  <a:pt x="5" y="103"/>
                  <a:pt x="6" y="103"/>
                </a:cubicBezTo>
                <a:cubicBezTo>
                  <a:pt x="3" y="103"/>
                  <a:pt x="0" y="100"/>
                  <a:pt x="0" y="97"/>
                </a:cubicBezTo>
                <a:lnTo>
                  <a:pt x="0" y="6"/>
                </a:lnTo>
                <a:cubicBezTo>
                  <a:pt x="0" y="3"/>
                  <a:pt x="3" y="0"/>
                  <a:pt x="6" y="0"/>
                </a:cubicBezTo>
                <a:close/>
              </a:path>
            </a:pathLst>
          </a:custGeom>
          <a:solidFill>
            <a:srgbClr val="8C5A2B"/>
          </a:solidFill>
          <a:ln/>
        </p:spPr>
        <p:txBody>
          <a:bodyPr/>
          <a:p/>
        </p:txBody>
      </p:sp>
      <p:sp>
        <p:nvSpPr>
          <p:cNvPr id="415" name="" descr="{&quot;isTemplate&quot;:true,&quot;type&quot;:&quot;text&quot;}"/>
          <p:cNvSpPr txBox="1"/>
          <p:nvPr/>
        </p:nvSpPr>
        <p:spPr>
          <a:xfrm rot="0" flipH="0" flipV="0">
            <a:off x="8791575" y="3228975"/>
            <a:ext cx="14478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2A2118"/>
                </a:solidFill>
                <a:latin typeface="Songti SC"/>
                <a:ea typeface="Songti SC"/>
              </a:rPr>
              <a:t xml:space="preserve">4. v13 </a:t>
            </a:r>
            <a:r>
              <a:rPr lang="zh-CN" sz="1125" b="1">
                <a:solidFill>
                  <a:srgbClr val="2A2118"/>
                </a:solidFill>
                <a:latin typeface="Songti SC"/>
                <a:ea typeface="Songti SC"/>
              </a:rPr>
              <a:t>系</a:t>
            </a:r>
            <a:endParaRPr/>
          </a:p>
        </p:txBody>
      </p:sp>
      <p:sp>
        <p:nvSpPr>
          <p:cNvPr id="416" name="" descr="{&quot;isTemplate&quot;:true,&quot;type&quot;:&quot;text&quot;}"/>
          <p:cNvSpPr txBox="1"/>
          <p:nvPr/>
        </p:nvSpPr>
        <p:spPr>
          <a:xfrm rot="0" flipH="0" flipV="0">
            <a:off x="8791575" y="3457575"/>
            <a:ext cx="1447800" cy="4476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975">
                <a:solidFill>
                  <a:srgbClr val="2A2118">
                    <a:alpha val="70000"/>
                  </a:srgbClr>
                </a:solidFill>
                <a:latin typeface="PingFang SC"/>
                <a:ea typeface="PingFang SC"/>
              </a:rPr>
              <a:t>解耦材质与配色，修字形与锯齿，定稿</a:t>
            </a:r>
            <a:endParaRPr/>
          </a:p>
        </p:txBody>
      </p:sp>
      <p:sp>
        <p:nvSpPr>
          <p:cNvPr id="417" name="" descr="{&quot;isTemplate&quot;:true,&quot;type&quot;:&quot;text&quot;}"/>
          <p:cNvSpPr txBox="1"/>
          <p:nvPr/>
        </p:nvSpPr>
        <p:spPr>
          <a:xfrm rot="0" flipH="0" flipV="0">
            <a:off x="685800" y="6172200"/>
            <a:ext cx="14478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2A2118">
                    <a:alpha val="55000"/>
                  </a:srgbClr>
                </a:solidFill>
                <a:latin typeface="PingFang SC"/>
                <a:ea typeface="PingFang SC"/>
              </a:rPr>
              <a:t>弈趣棋苑</a:t>
            </a:r>
            <a:r>
              <a:rPr lang="en-US" sz="1050">
                <a:solidFill>
                  <a:srgbClr val="2A2118">
                    <a:alpha val="55000"/>
                  </a:srgbClr>
                </a:solidFill>
                <a:latin typeface="PingFang SC"/>
                <a:ea typeface="PingFang SC"/>
              </a:rPr>
              <a:t xml:space="preserve"> · </a:t>
            </a:r>
            <a:r>
              <a:rPr lang="zh-CN" sz="1050">
                <a:solidFill>
                  <a:srgbClr val="2A2118">
                    <a:alpha val="55000"/>
                  </a:srgbClr>
                </a:solidFill>
                <a:latin typeface="PingFang SC"/>
                <a:ea typeface="PingFang SC"/>
              </a:rPr>
              <a:t>项目开发汇报</a:t>
            </a:r>
            <a:endParaRPr/>
          </a:p>
        </p:txBody>
      </p:sp>
      <p:sp>
        <p:nvSpPr>
          <p:cNvPr id="418" name="" descr="{&quot;isTemplate&quot;:true,&quot;type&quot;:&quot;text&quot;}"/>
          <p:cNvSpPr txBox="1"/>
          <p:nvPr/>
        </p:nvSpPr>
        <p:spPr>
          <a:xfrm rot="0" flipH="0" flipV="0">
            <a:off x="11049000" y="61722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2A2118">
                    <a:alpha val="55000"/>
                  </a:srgbClr>
                </a:solidFill>
                <a:latin typeface="PingFang SC"/>
                <a:ea typeface="PingFang SC"/>
              </a:rPr>
              <a:t>42 / 64</a:t>
            </a:r>
            <a:endParaRPr/>
          </a:p>
        </p:txBody>
      </p:sp>
    </p:spTree>
  </p:cSld>
</p:sld>
</file>

<file path=ppt/slides/slide4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419" name="" descr="&lt;Slide style={{ width: 1280, height: 720, position: &quot;relative&quot;, padding: &quot;0px&quot;, background: &quot;#2A2118&quot;, overflow: &quot;hidden&quot; }}&gt;&#10;  &lt;Image src=&quot;assets/wood_panel.jpg&quot; style={{ position: &quot;absolute&quot;, top: 0, left: 0, width: 1280, height: 720, objectFit: &quot;cover&quot;, opacity: 0.22 }} /&gt;&#10;  &lt;Box style={{ position: &quot;absolute&quot;, top: 0, left: 0, width: 1280, height: 720, background: &quot;linear-gradient(160deg, #2A2118 0%, #3E2E1E 55%, #8C5A2B 100%)&quot;, opacity: 0.55 }} /&gt;&#10;  &lt;Box style={{ position: &quot;absolute&quot;, right: 84, top: 48, flexDirection: &quot;column&quot;, alignItems: &quot;flex-end&quot; }}&gt;&#10;    &lt;Text style={{ fontSize: 210, fontWeight: &quot;bold&quot;, lineHeight: 1.0, color: &quot;rgba(179,39,30,0.85)&quot;, fontFamily: &quot;'Songti SC', 'STSong', 'SimSun', serif&quot; }}&gt;06&lt;/Text&gt;&#10;  &lt;/Box&gt;&#10;  &lt;Box style={{ position: &quot;relative&quot;, zIndex: 2, width: 1280, height: 720, padding: &quot;0px 96px&quot;, flexDirection: &quot;column&quot;, justifyContent: &quot;center&quot; }}&gt;&#10;    &lt;Text style={{ fontSize: 22, color: &quot;rgba(245,227,190,0.7)&quot;, fontFamily: &quot;'PingFang SC', 'Microsoft YaHei', sans-serif&quot;, letterSpacing: 6 }}&gt;第 06 章&lt;/Text&gt;&#10;    &lt;Text style={{ fontSize: 62, fontWeight: &quot;bold&quot;, color: &quot;#F5E3BE&quot;, fontFamily: &quot;'Songti SC', 'STSong', 'SimSun', serif&quot;, marginTop: 12 }}&gt;功能演示&lt;/Text&gt;&#10;    &lt;Box style={{ width: 70, height: 3, background: &quot;#B3271E&quot;, marginTop: 20 }} /&gt;&#10;    &lt;Text style={{ fontSize: 22, fontStyle: &quot;italic&quot;, color: &quot;rgba(245,227,190,0.82)&quot;, fontFamily: &quot;'PingFang SC', 'Microsoft YaHei', sans-serif&quot;, marginTop: 20 }}&gt;七步走通一局真实对弈&lt;/Text&gt;&#10;  &lt;/Box&gt;&#10;  &lt;Box style={{ position: &quot;absolute&quot;, right: 60, bottom: 50, width: 52, height: 52, borderRadius: 6, background: &quot;#B3271E&quot;, justifyContent: &quot;center&quot;, alignItems: &quot;center&quot; }}&gt;&#10;    &lt;Text style={{ fontSize: 28, fontWeight: &quot;bold&quot;, color: &quot;#F5E3BE&quot;, fontFamily: &quot;'Songti SC', 'STSong', 'SimSun', serif&quot; }}&gt;弈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2A2118"/>
          </a:solidFill>
          <a:ln/>
        </p:spPr>
        <p:txBody>
          <a:bodyPr/>
          <a:p/>
        </p:txBody>
      </p:sp>
      <p:pic>
        <p:nvPicPr>
          <p:cNvPr id="421" name=""/>
          <p:cNvPicPr>
            <a:picLocks noChangeAspect="1"/>
          </p:cNvPicPr>
          <p:nvPr/>
        </p:nvPicPr>
        <p:blipFill>
          <a:blip r:embed="rId1">
            <a:alphaModFix amt="22000"/>
          </a:blip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  <p:sp>
        <p:nvSpPr>
          <p:cNvPr id="42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2A2118">
                  <a:alpha val="55000"/>
                </a:srgbClr>
              </a:gs>
              <a:gs pos="55000">
                <a:srgbClr val="3E2E1E">
                  <a:alpha val="55000"/>
                </a:srgbClr>
              </a:gs>
              <a:gs pos="100000">
                <a:srgbClr val="8C5A2B">
                  <a:alpha val="55000"/>
                </a:srgbClr>
              </a:gs>
            </a:gsLst>
            <a:lin ang="4200000" scaled="1"/>
          </a:gradFill>
          <a:ln/>
        </p:spPr>
        <p:txBody>
          <a:bodyPr/>
          <a:p/>
        </p:txBody>
      </p:sp>
      <p:sp>
        <p:nvSpPr>
          <p:cNvPr id="423" name="" descr="{&quot;isTemplate&quot;:true,&quot;type&quot;:&quot;text&quot;}"/>
          <p:cNvSpPr txBox="1"/>
          <p:nvPr/>
        </p:nvSpPr>
        <p:spPr>
          <a:xfrm rot="0" flipH="0" flipV="0">
            <a:off x="9515475" y="457200"/>
            <a:ext cx="1876425" cy="2400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750" b="1">
                <a:solidFill>
                  <a:srgbClr val="B3271E">
                    <a:alpha val="85000"/>
                  </a:srgbClr>
                </a:solidFill>
                <a:latin typeface="Songti SC"/>
                <a:ea typeface="Songti SC"/>
              </a:rPr>
              <a:t>06</a:t>
            </a:r>
            <a:endParaRPr/>
          </a:p>
        </p:txBody>
      </p:sp>
      <p:sp>
        <p:nvSpPr>
          <p:cNvPr id="424" name=""/>
          <p:cNvSpPr/>
          <p:nvPr/>
        </p:nvSpPr>
        <p:spPr>
          <a:xfrm rot="0" flipH="0" flipV="0">
            <a:off x="11125200" y="5886450"/>
            <a:ext cx="495300" cy="495300"/>
          </a:xfrm>
          <a:prstGeom prst="roundRect">
            <a:avLst>
              <a:gd name="adj" fmla="val 11538"/>
            </a:avLst>
          </a:prstGeom>
          <a:solidFill>
            <a:srgbClr val="B3271E"/>
          </a:solidFill>
          <a:ln/>
        </p:spPr>
        <p:txBody>
          <a:bodyPr/>
          <a:p/>
        </p:txBody>
      </p:sp>
      <p:sp>
        <p:nvSpPr>
          <p:cNvPr id="425" name="" descr="{&quot;isTemplate&quot;:true,&quot;type&quot;:&quot;text&quot;}"/>
          <p:cNvSpPr txBox="1"/>
          <p:nvPr/>
        </p:nvSpPr>
        <p:spPr>
          <a:xfrm rot="0" flipH="0" flipV="0">
            <a:off x="11239500" y="5972175"/>
            <a:ext cx="266700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100" b="1">
                <a:solidFill>
                  <a:srgbClr val="F5E3BE"/>
                </a:solidFill>
                <a:latin typeface="Songti SC"/>
                <a:ea typeface="Songti SC"/>
              </a:rPr>
              <a:t>弈</a:t>
            </a:r>
            <a:endParaRPr/>
          </a:p>
        </p:txBody>
      </p:sp>
      <p:sp>
        <p:nvSpPr>
          <p:cNvPr id="426" name="" descr="{&quot;isTemplate&quot;:true,&quot;type&quot;:&quot;text&quot;}"/>
          <p:cNvSpPr txBox="1"/>
          <p:nvPr/>
        </p:nvSpPr>
        <p:spPr>
          <a:xfrm rot="0" flipH="0" flipV="0">
            <a:off x="914400" y="2552700"/>
            <a:ext cx="103632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spc="450">
                <a:solidFill>
                  <a:srgbClr val="F5E3BE">
                    <a:alpha val="70000"/>
                  </a:srgbClr>
                </a:solidFill>
                <a:latin typeface="PingFang SC"/>
                <a:ea typeface="PingFang SC"/>
              </a:rPr>
              <a:t>第</a:t>
            </a:r>
            <a:r>
              <a:rPr lang="en-US" sz="1650" spc="450">
                <a:solidFill>
                  <a:srgbClr val="F5E3BE">
                    <a:alpha val="70000"/>
                  </a:srgbClr>
                </a:solidFill>
                <a:latin typeface="PingFang SC"/>
                <a:ea typeface="PingFang SC"/>
              </a:rPr>
              <a:t xml:space="preserve"> 06 </a:t>
            </a:r>
            <a:r>
              <a:rPr lang="zh-CN" sz="1650" spc="450">
                <a:solidFill>
                  <a:srgbClr val="F5E3BE">
                    <a:alpha val="70000"/>
                  </a:srgbClr>
                </a:solidFill>
                <a:latin typeface="PingFang SC"/>
                <a:ea typeface="PingFang SC"/>
              </a:rPr>
              <a:t>章</a:t>
            </a:r>
            <a:endParaRPr/>
          </a:p>
        </p:txBody>
      </p:sp>
      <p:sp>
        <p:nvSpPr>
          <p:cNvPr id="427" name="" descr="{&quot;isTemplate&quot;:true,&quot;type&quot;:&quot;text&quot;}"/>
          <p:cNvSpPr txBox="1"/>
          <p:nvPr/>
        </p:nvSpPr>
        <p:spPr>
          <a:xfrm rot="0" flipH="0" flipV="0">
            <a:off x="914400" y="2924175"/>
            <a:ext cx="10363200" cy="7143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4650" b="1">
                <a:solidFill>
                  <a:srgbClr val="F5E3BE"/>
                </a:solidFill>
                <a:latin typeface="Songti SC"/>
                <a:ea typeface="Songti SC"/>
              </a:rPr>
              <a:t>功能演示</a:t>
            </a:r>
            <a:endParaRPr/>
          </a:p>
        </p:txBody>
      </p:sp>
      <p:sp>
        <p:nvSpPr>
          <p:cNvPr id="428" name=""/>
          <p:cNvSpPr/>
          <p:nvPr/>
        </p:nvSpPr>
        <p:spPr>
          <a:xfrm rot="0" flipH="0" flipV="0">
            <a:off x="914400" y="3829050"/>
            <a:ext cx="666750" cy="28575"/>
          </a:xfrm>
          <a:prstGeom prst="rect">
            <a:avLst/>
          </a:prstGeom>
          <a:solidFill>
            <a:srgbClr val="B3271E"/>
          </a:solidFill>
          <a:ln/>
        </p:spPr>
        <p:txBody>
          <a:bodyPr/>
          <a:p/>
        </p:txBody>
      </p:sp>
      <p:sp>
        <p:nvSpPr>
          <p:cNvPr id="429" name="" descr="{&quot;isTemplate&quot;:true,&quot;type&quot;:&quot;text&quot;}"/>
          <p:cNvSpPr txBox="1"/>
          <p:nvPr/>
        </p:nvSpPr>
        <p:spPr>
          <a:xfrm rot="0" flipH="0" flipV="0">
            <a:off x="914400" y="4048125"/>
            <a:ext cx="103632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i="1">
                <a:solidFill>
                  <a:srgbClr val="F5E3BE">
                    <a:alpha val="82000"/>
                  </a:srgbClr>
                </a:solidFill>
                <a:latin typeface="PingFang SC"/>
                <a:ea typeface="PingFang SC"/>
              </a:rPr>
              <a:t>七步走通一局真实对弈</a:t>
            </a:r>
            <a:endParaRPr/>
          </a:p>
        </p:txBody>
      </p:sp>
    </p:spTree>
  </p:cSld>
</p:sld>
</file>

<file path=ppt/slides/slide4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430" name="" descr="&lt;Slide style={{ width: 1280, height: 720, padding: &quot;20px 72px&quot;, background: &quot;#F5E3BE&quot;, flexDirection: &quot;column&quot; }}&gt;&#10;  &lt;Box style={{ width: &quot;100%&quot;, height: 96, flexDirection: &quot;column&quot;, justifyContent: &quot;center&quot; }}&gt;&#10;    &lt;Text style={{ fontSize: 34, fontWeight: &quot;bold&quot;, color: &quot;#2A2118&quot;, fontFamily: &quot;'Songti SC', 'STSong', 'SimSun', serif&quot; }}&gt;演示一 · 启动器与新建对局&lt;/Text&gt;&#10;    &lt;Box style={{ width: 56, height: 2, background: &quot;#B3271E&quot;, marginTop: 10 }} /&gt;&#10;  &lt;/Box&gt;&#10;  &lt;Box style={{ width: &quot;100%&quot;, height: 516, flexDirection: &quot;column&quot; }}&gt;&#10;  &lt;Box style={{ flexDirection: &quot;row&quot;, height: &quot;100%&quot;, gap: 40 }}&gt;          &lt;Box style={{ flexDirection: &quot;column&quot;, gap: 10 }}&gt;&#10;      &lt;Image src=&quot;assets/shot_launcher.png&quot; style={{ width: 500, height: 320, objectFit: &quot;cover&quot;, borderRadius: 8, border: &quot;1px solid rgba(140,90,43,0.30)&quot; }} /&gt;&#10;      &lt;Text style={{ fontSize: 15, color: &quot;#8C5A2B&quot;, fontWeight: &quot;bold&quot;, fontFamily: &quot;'PingFang SC', 'Microsoft YaHei', sans-serif&quot; }}&gt;① 启动器：三棋种入口 + 音乐栏&lt;/Text&gt;&#10;    &lt;/Box&gt;&#10;        &lt;Box style={{ flex: 1, flexDirection: &quot;column&quot;, justifyContent: &quot;center&quot; }}&gt;&#10;    &lt;Text style={{ fontSize: 18, lineHeight: 1.7, color: &quot;#2A2118&quot;, fontFamily: &quot;'PingFang SC', 'Microsoft YaHei', sans-serif&quot;, marginBottom: 14 }}&gt;启动页点「六子棋 / 五子棋 / 中国象棋」任一入口，进入对应新建对局窗。&lt;/Text&gt;&#10;    &lt;Text style={{ fontSize: 18, lineHeight: 1.7, color: &quot;#2A2118&quot;, fontFamily: &quot;'PingFang SC', 'Microsoft YaHei', sans-serif&quot;, marginBottom: 14 }}&gt;象棋可选 pvp / pve（皮卡鱼执黑）/ aia 互弈，三档 AI 难度；窗口全屏自适应，双击即玩。&lt;/Text&gt;&#10;  &lt;/Box&gt;&#10;  &lt;/Box&gt;&#10;  &lt;/Box&gt;&#10;  &lt;Box style={{ width: &quot;100%&quot;, height: 48, flexDirection: &quot;row&quot;, alignItems: &quot;center&quot;, justifyContent: &quot;space-between&quot; }}&gt;&#10;    &lt;Text style={{ fontSize: 14, color: &quot;rgba(42,33,24,0.55)&quot;, fontFamily: &quot;'PingFang SC', 'Microsoft YaHei', sans-serif&quot; }}&gt;弈趣棋苑 · 项目开发汇报&lt;/Text&gt;&#10;    &lt;Text style={{ fontSize: 14, color: &quot;rgba(42,33,24,0.55)&quot;, fontFamily: &quot;'PingFang SC', 'Microsoft YaHei', sans-serif&quot; }}&gt;44 / 64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5E3BE"/>
          </a:solidFill>
          <a:ln/>
        </p:spPr>
        <p:txBody>
          <a:bodyPr/>
          <a:p/>
        </p:txBody>
      </p:sp>
      <p:sp>
        <p:nvSpPr>
          <p:cNvPr id="432" name="" descr="{&quot;isTemplate&quot;:true,&quot;type&quot;:&quot;text&quot;}"/>
          <p:cNvSpPr txBox="1"/>
          <p:nvPr/>
        </p:nvSpPr>
        <p:spPr>
          <a:xfrm rot="0" flipH="0" flipV="0">
            <a:off x="685800" y="400050"/>
            <a:ext cx="108204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A2118"/>
                </a:solidFill>
                <a:latin typeface="Songti SC"/>
                <a:ea typeface="Songti SC"/>
              </a:rPr>
              <a:t>演示一</a:t>
            </a:r>
            <a:r>
              <a:rPr lang="en-US" sz="2550" b="1">
                <a:solidFill>
                  <a:srgbClr val="2A2118"/>
                </a:solidFill>
                <a:latin typeface="Songti SC"/>
                <a:ea typeface="Songti SC"/>
              </a:rPr>
              <a:t xml:space="preserve"> · </a:t>
            </a:r>
            <a:r>
              <a:rPr lang="zh-CN" sz="2550" b="1">
                <a:solidFill>
                  <a:srgbClr val="2A2118"/>
                </a:solidFill>
                <a:latin typeface="Songti SC"/>
                <a:ea typeface="Songti SC"/>
              </a:rPr>
              <a:t>启动器与新建对局</a:t>
            </a:r>
            <a:endParaRPr/>
          </a:p>
        </p:txBody>
      </p:sp>
      <p:sp>
        <p:nvSpPr>
          <p:cNvPr id="433" name=""/>
          <p:cNvSpPr/>
          <p:nvPr/>
        </p:nvSpPr>
        <p:spPr>
          <a:xfrm rot="0" flipH="0" flipV="0">
            <a:off x="685800" y="885825"/>
            <a:ext cx="533400" cy="19050"/>
          </a:xfrm>
          <a:prstGeom prst="rect">
            <a:avLst/>
          </a:prstGeom>
          <a:solidFill>
            <a:srgbClr val="B3271E"/>
          </a:solidFill>
          <a:ln/>
        </p:spPr>
        <p:txBody>
          <a:bodyPr/>
          <a:p/>
        </p:txBody>
      </p:sp>
      <p:sp>
        <p:nvSpPr>
          <p:cNvPr id="434" name=""/>
          <p:cNvSpPr/>
          <p:nvPr/>
        </p:nvSpPr>
        <p:spPr>
          <a:xfrm rot="0" flipH="0" flipV="0">
            <a:off x="685800" y="1104900"/>
            <a:ext cx="4762500" cy="3048000"/>
          </a:xfrm>
          <a:prstGeom prst="rect">
            <a:avLst/>
          </a:prstGeom>
          <a:ln w="12700">
            <a:solidFill>
              <a:srgbClr val="8C5A2B">
                <a:alpha val="3000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435" name=""/>
          <p:cNvPicPr>
            <a:picLocks noChangeAspect="1"/>
          </p:cNvPicPr>
          <p:nvPr/>
        </p:nvPicPr>
        <p:blipFill>
          <a:blip r:embed="rId1"/>
          <a:srcRect l="0" t="1609" r="0" b="1609"/>
          <a:stretch>
            <a:fillRect/>
          </a:stretch>
        </p:blipFill>
        <p:spPr>
          <a:xfrm rot="0" flipH="0" flipV="0">
            <a:off x="685800" y="1104900"/>
            <a:ext cx="4762500" cy="3048000"/>
          </a:xfrm>
          <a:prstGeom prst="roundRect">
            <a:avLst>
              <a:gd name="adj" fmla="val 2500"/>
            </a:avLst>
          </a:prstGeom>
          <a:ln/>
        </p:spPr>
      </p:pic>
      <p:sp>
        <p:nvSpPr>
          <p:cNvPr id="436" name="" descr="{&quot;isTemplate&quot;:true,&quot;type&quot;:&quot;text&quot;}"/>
          <p:cNvSpPr txBox="1"/>
          <p:nvPr/>
        </p:nvSpPr>
        <p:spPr>
          <a:xfrm rot="0" flipH="0" flipV="0">
            <a:off x="685800" y="4248150"/>
            <a:ext cx="4762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8C5A2B"/>
                </a:solidFill>
                <a:latin typeface="PingFang SC"/>
                <a:ea typeface="PingFang SC"/>
              </a:rPr>
              <a:t xml:space="preserve">① </a:t>
            </a:r>
            <a:r>
              <a:rPr lang="zh-CN" sz="1125" b="1">
                <a:solidFill>
                  <a:srgbClr val="8C5A2B"/>
                </a:solidFill>
                <a:latin typeface="PingFang SC"/>
                <a:ea typeface="PingFang SC"/>
              </a:rPr>
              <a:t>启动器：三棋种入口</a:t>
            </a:r>
            <a:r>
              <a:rPr lang="en-US" sz="1125" b="1">
                <a:solidFill>
                  <a:srgbClr val="8C5A2B"/>
                </a:solidFill>
                <a:latin typeface="PingFang SC"/>
                <a:ea typeface="PingFang SC"/>
              </a:rPr>
              <a:t xml:space="preserve"> + </a:t>
            </a:r>
            <a:r>
              <a:rPr lang="zh-CN" sz="1125" b="1">
                <a:solidFill>
                  <a:srgbClr val="8C5A2B"/>
                </a:solidFill>
                <a:latin typeface="PingFang SC"/>
                <a:ea typeface="PingFang SC"/>
              </a:rPr>
              <a:t>音乐栏</a:t>
            </a:r>
            <a:endParaRPr/>
          </a:p>
        </p:txBody>
      </p:sp>
      <p:sp>
        <p:nvSpPr>
          <p:cNvPr id="437" name="" descr="{&quot;isTemplate&quot;:true,&quot;type&quot;:&quot;text&quot;}"/>
          <p:cNvSpPr txBox="1"/>
          <p:nvPr/>
        </p:nvSpPr>
        <p:spPr>
          <a:xfrm rot="0" flipH="0" flipV="0">
            <a:off x="5829300" y="2905125"/>
            <a:ext cx="5676900" cy="35242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350">
                <a:solidFill>
                  <a:srgbClr val="2A2118"/>
                </a:solidFill>
                <a:latin typeface="PingFang SC"/>
                <a:ea typeface="PingFang SC"/>
              </a:rPr>
              <a:t>启动页点「六子棋</a:t>
            </a:r>
            <a:r>
              <a:rPr lang="en-US" sz="1350">
                <a:solidFill>
                  <a:srgbClr val="2A2118"/>
                </a:solidFill>
                <a:latin typeface="PingFang SC"/>
                <a:ea typeface="PingFang SC"/>
              </a:rPr>
              <a:t xml:space="preserve"> / </a:t>
            </a:r>
            <a:r>
              <a:rPr lang="zh-CN" sz="1350">
                <a:solidFill>
                  <a:srgbClr val="2A2118"/>
                </a:solidFill>
                <a:latin typeface="PingFang SC"/>
                <a:ea typeface="PingFang SC"/>
              </a:rPr>
              <a:t>五子棋</a:t>
            </a:r>
            <a:r>
              <a:rPr lang="en-US" sz="1350">
                <a:solidFill>
                  <a:srgbClr val="2A2118"/>
                </a:solidFill>
                <a:latin typeface="PingFang SC"/>
                <a:ea typeface="PingFang SC"/>
              </a:rPr>
              <a:t xml:space="preserve"> / </a:t>
            </a:r>
            <a:r>
              <a:rPr lang="zh-CN" sz="1350">
                <a:solidFill>
                  <a:srgbClr val="2A2118"/>
                </a:solidFill>
                <a:latin typeface="PingFang SC"/>
                <a:ea typeface="PingFang SC"/>
              </a:rPr>
              <a:t>中国象棋」任一入口，进入对应新建对局窗。</a:t>
            </a:r>
            <a:endParaRPr/>
          </a:p>
        </p:txBody>
      </p:sp>
      <p:sp>
        <p:nvSpPr>
          <p:cNvPr id="438" name="" descr="{&quot;isTemplate&quot;:true,&quot;type&quot;:&quot;text&quot;}"/>
          <p:cNvSpPr txBox="1"/>
          <p:nvPr/>
        </p:nvSpPr>
        <p:spPr>
          <a:xfrm rot="0" flipH="0" flipV="0">
            <a:off x="5829300" y="3390900"/>
            <a:ext cx="5676900" cy="7048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350">
                <a:solidFill>
                  <a:srgbClr val="2A2118"/>
                </a:solidFill>
                <a:latin typeface="PingFang SC"/>
                <a:ea typeface="PingFang SC"/>
              </a:rPr>
              <a:t>象棋可选</a:t>
            </a:r>
            <a:r>
              <a:rPr lang="en-US" sz="1350">
                <a:solidFill>
                  <a:srgbClr val="2A2118"/>
                </a:solidFill>
                <a:latin typeface="PingFang SC"/>
                <a:ea typeface="PingFang SC"/>
              </a:rPr>
              <a:t xml:space="preserve"> pvp / pve</a:t>
            </a:r>
            <a:r>
              <a:rPr lang="zh-CN" sz="1350">
                <a:solidFill>
                  <a:srgbClr val="2A2118"/>
                </a:solidFill>
                <a:latin typeface="PingFang SC"/>
                <a:ea typeface="PingFang SC"/>
              </a:rPr>
              <a:t>（皮卡鱼执黑）</a:t>
            </a:r>
            <a:r>
              <a:rPr lang="en-US" sz="1350">
                <a:solidFill>
                  <a:srgbClr val="2A2118"/>
                </a:solidFill>
                <a:latin typeface="PingFang SC"/>
                <a:ea typeface="PingFang SC"/>
              </a:rPr>
              <a:t xml:space="preserve">/ aia </a:t>
            </a:r>
            <a:r>
              <a:rPr lang="zh-CN" sz="1350">
                <a:solidFill>
                  <a:srgbClr val="2A2118"/>
                </a:solidFill>
                <a:latin typeface="PingFang SC"/>
                <a:ea typeface="PingFang SC"/>
              </a:rPr>
              <a:t>互弈，三档</a:t>
            </a:r>
            <a:r>
              <a:rPr lang="en-US" sz="1350">
                <a:solidFill>
                  <a:srgbClr val="2A2118"/>
                </a:solidFill>
                <a:latin typeface="PingFang SC"/>
                <a:ea typeface="PingFang SC"/>
              </a:rPr>
              <a:t xml:space="preserve"> AI </a:t>
            </a:r>
            <a:r>
              <a:rPr lang="zh-CN" sz="1350">
                <a:solidFill>
                  <a:srgbClr val="2A2118"/>
                </a:solidFill>
                <a:latin typeface="PingFang SC"/>
                <a:ea typeface="PingFang SC"/>
              </a:rPr>
              <a:t>难度；窗口全屏自适应，双击即玩。</a:t>
            </a:r>
            <a:endParaRPr/>
          </a:p>
        </p:txBody>
      </p:sp>
      <p:sp>
        <p:nvSpPr>
          <p:cNvPr id="439" name="" descr="{&quot;isTemplate&quot;:true,&quot;type&quot;:&quot;text&quot;}"/>
          <p:cNvSpPr txBox="1"/>
          <p:nvPr/>
        </p:nvSpPr>
        <p:spPr>
          <a:xfrm rot="0" flipH="0" flipV="0">
            <a:off x="685800" y="6172200"/>
            <a:ext cx="14478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2A2118">
                    <a:alpha val="55000"/>
                  </a:srgbClr>
                </a:solidFill>
                <a:latin typeface="PingFang SC"/>
                <a:ea typeface="PingFang SC"/>
              </a:rPr>
              <a:t>弈趣棋苑</a:t>
            </a:r>
            <a:r>
              <a:rPr lang="en-US" sz="1050">
                <a:solidFill>
                  <a:srgbClr val="2A2118">
                    <a:alpha val="55000"/>
                  </a:srgbClr>
                </a:solidFill>
                <a:latin typeface="PingFang SC"/>
                <a:ea typeface="PingFang SC"/>
              </a:rPr>
              <a:t xml:space="preserve"> · </a:t>
            </a:r>
            <a:r>
              <a:rPr lang="zh-CN" sz="1050">
                <a:solidFill>
                  <a:srgbClr val="2A2118">
                    <a:alpha val="55000"/>
                  </a:srgbClr>
                </a:solidFill>
                <a:latin typeface="PingFang SC"/>
                <a:ea typeface="PingFang SC"/>
              </a:rPr>
              <a:t>项目开发汇报</a:t>
            </a:r>
            <a:endParaRPr/>
          </a:p>
        </p:txBody>
      </p:sp>
      <p:sp>
        <p:nvSpPr>
          <p:cNvPr id="440" name="" descr="{&quot;isTemplate&quot;:true,&quot;type&quot;:&quot;text&quot;}"/>
          <p:cNvSpPr txBox="1"/>
          <p:nvPr/>
        </p:nvSpPr>
        <p:spPr>
          <a:xfrm rot="0" flipH="0" flipV="0">
            <a:off x="11049000" y="61722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2A2118">
                    <a:alpha val="55000"/>
                  </a:srgbClr>
                </a:solidFill>
                <a:latin typeface="PingFang SC"/>
                <a:ea typeface="PingFang SC"/>
              </a:rPr>
              <a:t>44 / 64</a:t>
            </a:r>
            <a:endParaRPr/>
          </a:p>
        </p:txBody>
      </p:sp>
    </p:spTree>
  </p:cSld>
</p:sld>
</file>

<file path=ppt/slides/slide4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441" name="" descr="&lt;Slide style={{ width: 1280, height: 720, padding: &quot;20px 72px&quot;, background: &quot;#F5E3BE&quot;, flexDirection: &quot;column&quot; }}&gt;&#10;  &lt;Box style={{ width: &quot;100%&quot;, height: 96, flexDirection: &quot;column&quot;, justifyContent: &quot;center&quot; }}&gt;&#10;    &lt;Text style={{ fontSize: 34, fontWeight: &quot;bold&quot;, color: &quot;#2A2118&quot;, fontFamily: &quot;'Songti SC', 'STSong', 'SimSun', serif&quot; }}&gt;演示二 · 六子棋完整对局&lt;/Text&gt;&#10;    &lt;Box style={{ width: 56, height: 2, background: &quot;#B3271E&quot;, marginTop: 10 }} /&gt;&#10;  &lt;/Box&gt;&#10;  &lt;Box style={{ width: &quot;100%&quot;, height: 516, flexDirection: &quot;column&quot; }}&gt;&#10;  &lt;Box style={{ flexDirection: &quot;row&quot;, height: &quot;100%&quot;, gap: 40 }}&gt;          &lt;Box style={{ flexDirection: &quot;column&quot;, gap: 10 }}&gt;&#10;      &lt;Image src=&quot;assets/shot_connect6.png&quot; style={{ width: 500, height: 290, objectFit: &quot;cover&quot;, borderRadius: 8, border: &quot;1px solid rgba(140,90,43,0.30)&quot; }} /&gt;&#10;      &lt;Text style={{ fontSize: 15, color: &quot;#8C5A2B&quot;, fontWeight: &quot;bold&quot;, fontFamily: &quot;'PingFang SC', 'Microsoft YaHei', sans-serif&quot; }}&gt;② 六子棋：两步式落子 + 侧栏&lt;/Text&gt;&#10;    &lt;/Box&gt;&#10;        &lt;Box style={{ flex: 1, flexDirection: &quot;column&quot;, justifyContent: &quot;center&quot; }}&gt;&#10;    &lt;Text style={{ fontSize: 18, lineHeight: 1.7, color: &quot;#2A2118&quot;, fontFamily: &quot;'PingFang SC', 'Microsoft YaHei', sans-serif&quot;, marginBottom: 14 }}&gt;先点目标格高亮，再点「确认」落子；状态条提示本回合剩余子数。&lt;/Text&gt;&#10;    &lt;Text style={{ fontSize: 18, lineHeight: 1.7, color: &quot;#2A2118&quot;, fontFamily: &quot;'PingFang SC', 'Microsoft YaHei', sans-serif&quot;, marginBottom: 14 }}&gt;自研 AlphaBeta 在时限内返回最佳着法，走完整动画链；「悔棋」一键回到我方决策点，「重开」复位棋盘。&lt;/Text&gt;&#10;  &lt;/Box&gt;&#10;  &lt;/Box&gt;&#10;  &lt;/Box&gt;&#10;  &lt;Box style={{ width: &quot;100%&quot;, height: 48, flexDirection: &quot;row&quot;, alignItems: &quot;center&quot;, justifyContent: &quot;space-between&quot; }}&gt;&#10;    &lt;Text style={{ fontSize: 14, color: &quot;rgba(42,33,24,0.55)&quot;, fontFamily: &quot;'PingFang SC', 'Microsoft YaHei', sans-serif&quot; }}&gt;弈趣棋苑 · 项目开发汇报&lt;/Text&gt;&#10;    &lt;Text style={{ fontSize: 14, color: &quot;rgba(42,33,24,0.55)&quot;, fontFamily: &quot;'PingFang SC', 'Microsoft YaHei', sans-serif&quot; }}&gt;45 / 64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5E3BE"/>
          </a:solidFill>
          <a:ln/>
        </p:spPr>
        <p:txBody>
          <a:bodyPr/>
          <a:p/>
        </p:txBody>
      </p:sp>
      <p:sp>
        <p:nvSpPr>
          <p:cNvPr id="443" name="" descr="{&quot;isTemplate&quot;:true,&quot;type&quot;:&quot;text&quot;}"/>
          <p:cNvSpPr txBox="1"/>
          <p:nvPr/>
        </p:nvSpPr>
        <p:spPr>
          <a:xfrm rot="0" flipH="0" flipV="0">
            <a:off x="685800" y="400050"/>
            <a:ext cx="108204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A2118"/>
                </a:solidFill>
                <a:latin typeface="Songti SC"/>
                <a:ea typeface="Songti SC"/>
              </a:rPr>
              <a:t>演示二</a:t>
            </a:r>
            <a:r>
              <a:rPr lang="en-US" sz="2550" b="1">
                <a:solidFill>
                  <a:srgbClr val="2A2118"/>
                </a:solidFill>
                <a:latin typeface="Songti SC"/>
                <a:ea typeface="Songti SC"/>
              </a:rPr>
              <a:t xml:space="preserve"> · </a:t>
            </a:r>
            <a:r>
              <a:rPr lang="zh-CN" sz="2550" b="1">
                <a:solidFill>
                  <a:srgbClr val="2A2118"/>
                </a:solidFill>
                <a:latin typeface="Songti SC"/>
                <a:ea typeface="Songti SC"/>
              </a:rPr>
              <a:t>六子棋完整对局</a:t>
            </a:r>
            <a:endParaRPr/>
          </a:p>
        </p:txBody>
      </p:sp>
      <p:sp>
        <p:nvSpPr>
          <p:cNvPr id="444" name=""/>
          <p:cNvSpPr/>
          <p:nvPr/>
        </p:nvSpPr>
        <p:spPr>
          <a:xfrm rot="0" flipH="0" flipV="0">
            <a:off x="685800" y="885825"/>
            <a:ext cx="533400" cy="19050"/>
          </a:xfrm>
          <a:prstGeom prst="rect">
            <a:avLst/>
          </a:prstGeom>
          <a:solidFill>
            <a:srgbClr val="B3271E"/>
          </a:solidFill>
          <a:ln/>
        </p:spPr>
        <p:txBody>
          <a:bodyPr/>
          <a:p/>
        </p:txBody>
      </p:sp>
      <p:sp>
        <p:nvSpPr>
          <p:cNvPr id="445" name=""/>
          <p:cNvSpPr/>
          <p:nvPr/>
        </p:nvSpPr>
        <p:spPr>
          <a:xfrm rot="0" flipH="0" flipV="0">
            <a:off x="685800" y="1104900"/>
            <a:ext cx="4762500" cy="2762250"/>
          </a:xfrm>
          <a:prstGeom prst="rect">
            <a:avLst/>
          </a:prstGeom>
          <a:ln w="12700">
            <a:solidFill>
              <a:srgbClr val="8C5A2B">
                <a:alpha val="3000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446" name=""/>
          <p:cNvPicPr>
            <a:picLocks noChangeAspect="1"/>
          </p:cNvPicPr>
          <p:nvPr/>
        </p:nvPicPr>
        <p:blipFill>
          <a:blip r:embed="rId1"/>
          <a:srcRect l="0" t="6146" r="0" b="6146"/>
          <a:stretch>
            <a:fillRect/>
          </a:stretch>
        </p:blipFill>
        <p:spPr>
          <a:xfrm rot="0" flipH="0" flipV="0">
            <a:off x="685800" y="1104900"/>
            <a:ext cx="4762500" cy="2762250"/>
          </a:xfrm>
          <a:prstGeom prst="roundRect">
            <a:avLst>
              <a:gd name="adj" fmla="val 2759"/>
            </a:avLst>
          </a:prstGeom>
          <a:ln/>
        </p:spPr>
      </p:pic>
      <p:sp>
        <p:nvSpPr>
          <p:cNvPr id="447" name="" descr="{&quot;isTemplate&quot;:true,&quot;type&quot;:&quot;text&quot;}"/>
          <p:cNvSpPr txBox="1"/>
          <p:nvPr/>
        </p:nvSpPr>
        <p:spPr>
          <a:xfrm rot="0" flipH="0" flipV="0">
            <a:off x="685800" y="3962400"/>
            <a:ext cx="4762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8C5A2B"/>
                </a:solidFill>
                <a:latin typeface="PingFang SC"/>
                <a:ea typeface="PingFang SC"/>
              </a:rPr>
              <a:t xml:space="preserve">② </a:t>
            </a:r>
            <a:r>
              <a:rPr lang="zh-CN" sz="1125" b="1">
                <a:solidFill>
                  <a:srgbClr val="8C5A2B"/>
                </a:solidFill>
                <a:latin typeface="PingFang SC"/>
                <a:ea typeface="PingFang SC"/>
              </a:rPr>
              <a:t>六子棋：两步式落子</a:t>
            </a:r>
            <a:r>
              <a:rPr lang="en-US" sz="1125" b="1">
                <a:solidFill>
                  <a:srgbClr val="8C5A2B"/>
                </a:solidFill>
                <a:latin typeface="PingFang SC"/>
                <a:ea typeface="PingFang SC"/>
              </a:rPr>
              <a:t xml:space="preserve"> + </a:t>
            </a:r>
            <a:r>
              <a:rPr lang="zh-CN" sz="1125" b="1">
                <a:solidFill>
                  <a:srgbClr val="8C5A2B"/>
                </a:solidFill>
                <a:latin typeface="PingFang SC"/>
                <a:ea typeface="PingFang SC"/>
              </a:rPr>
              <a:t>侧栏</a:t>
            </a:r>
            <a:endParaRPr/>
          </a:p>
        </p:txBody>
      </p:sp>
      <p:sp>
        <p:nvSpPr>
          <p:cNvPr id="448" name="" descr="{&quot;isTemplate&quot;:true,&quot;type&quot;:&quot;text&quot;}"/>
          <p:cNvSpPr txBox="1"/>
          <p:nvPr/>
        </p:nvSpPr>
        <p:spPr>
          <a:xfrm rot="0" flipH="0" flipV="0">
            <a:off x="5829300" y="2905125"/>
            <a:ext cx="5676900" cy="35242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350">
                <a:solidFill>
                  <a:srgbClr val="2A2118"/>
                </a:solidFill>
                <a:latin typeface="PingFang SC"/>
                <a:ea typeface="PingFang SC"/>
              </a:rPr>
              <a:t>先点目标格高亮，再点「确认」落子；状态条提示本回合剩余子数。</a:t>
            </a:r>
            <a:endParaRPr/>
          </a:p>
        </p:txBody>
      </p:sp>
      <p:sp>
        <p:nvSpPr>
          <p:cNvPr id="449" name="" descr="{&quot;isTemplate&quot;:true,&quot;type&quot;:&quot;text&quot;}"/>
          <p:cNvSpPr txBox="1"/>
          <p:nvPr/>
        </p:nvSpPr>
        <p:spPr>
          <a:xfrm rot="0" flipH="0" flipV="0">
            <a:off x="5829300" y="3390900"/>
            <a:ext cx="5676900" cy="7048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350">
                <a:solidFill>
                  <a:srgbClr val="2A2118"/>
                </a:solidFill>
                <a:latin typeface="PingFang SC"/>
                <a:ea typeface="PingFang SC"/>
              </a:rPr>
              <a:t>自研</a:t>
            </a:r>
            <a:r>
              <a:rPr lang="en-US" sz="1350">
                <a:solidFill>
                  <a:srgbClr val="2A2118"/>
                </a:solidFill>
                <a:latin typeface="PingFang SC"/>
                <a:ea typeface="PingFang SC"/>
              </a:rPr>
              <a:t xml:space="preserve"> AlphaBeta </a:t>
            </a:r>
            <a:r>
              <a:rPr lang="zh-CN" sz="1350">
                <a:solidFill>
                  <a:srgbClr val="2A2118"/>
                </a:solidFill>
                <a:latin typeface="PingFang SC"/>
                <a:ea typeface="PingFang SC"/>
              </a:rPr>
              <a:t>在时限内返回最佳着法，走完整动画链；「悔棋」一键回到我方决策点，「重开」复位棋盘。</a:t>
            </a:r>
            <a:endParaRPr/>
          </a:p>
        </p:txBody>
      </p:sp>
      <p:sp>
        <p:nvSpPr>
          <p:cNvPr id="450" name="" descr="{&quot;isTemplate&quot;:true,&quot;type&quot;:&quot;text&quot;}"/>
          <p:cNvSpPr txBox="1"/>
          <p:nvPr/>
        </p:nvSpPr>
        <p:spPr>
          <a:xfrm rot="0" flipH="0" flipV="0">
            <a:off x="685800" y="6172200"/>
            <a:ext cx="14478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2A2118">
                    <a:alpha val="55000"/>
                  </a:srgbClr>
                </a:solidFill>
                <a:latin typeface="PingFang SC"/>
                <a:ea typeface="PingFang SC"/>
              </a:rPr>
              <a:t>弈趣棋苑</a:t>
            </a:r>
            <a:r>
              <a:rPr lang="en-US" sz="1050">
                <a:solidFill>
                  <a:srgbClr val="2A2118">
                    <a:alpha val="55000"/>
                  </a:srgbClr>
                </a:solidFill>
                <a:latin typeface="PingFang SC"/>
                <a:ea typeface="PingFang SC"/>
              </a:rPr>
              <a:t xml:space="preserve"> · </a:t>
            </a:r>
            <a:r>
              <a:rPr lang="zh-CN" sz="1050">
                <a:solidFill>
                  <a:srgbClr val="2A2118">
                    <a:alpha val="55000"/>
                  </a:srgbClr>
                </a:solidFill>
                <a:latin typeface="PingFang SC"/>
                <a:ea typeface="PingFang SC"/>
              </a:rPr>
              <a:t>项目开发汇报</a:t>
            </a:r>
            <a:endParaRPr/>
          </a:p>
        </p:txBody>
      </p:sp>
      <p:sp>
        <p:nvSpPr>
          <p:cNvPr id="451" name="" descr="{&quot;isTemplate&quot;:true,&quot;type&quot;:&quot;text&quot;}"/>
          <p:cNvSpPr txBox="1"/>
          <p:nvPr/>
        </p:nvSpPr>
        <p:spPr>
          <a:xfrm rot="0" flipH="0" flipV="0">
            <a:off x="11049000" y="61722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2A2118">
                    <a:alpha val="55000"/>
                  </a:srgbClr>
                </a:solidFill>
                <a:latin typeface="PingFang SC"/>
                <a:ea typeface="PingFang SC"/>
              </a:rPr>
              <a:t>45 / 64</a:t>
            </a:r>
            <a:endParaRPr/>
          </a:p>
        </p:txBody>
      </p:sp>
    </p:spTree>
  </p:cSld>
</p:sld>
</file>

<file path=ppt/slides/slide4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452" name="" descr="&lt;Slide style={{ width: 1280, height: 720, padding: &quot;20px 72px&quot;, background: &quot;#F5E3BE&quot;, flexDirection: &quot;column&quot; }}&gt;&#10;  &lt;Box style={{ width: &quot;100%&quot;, height: 96, flexDirection: &quot;column&quot;, justifyContent: &quot;center&quot; }}&gt;&#10;    &lt;Text style={{ fontSize: 34, fontWeight: &quot;bold&quot;, color: &quot;#2A2118&quot;, fontFamily: &quot;'Songti SC', 'STSong', 'SimSun', serif&quot; }}&gt;演示三 · 五子棋算杀取胜&lt;/Text&gt;&#10;    &lt;Box style={{ width: 56, height: 2, background: &quot;#B3271E&quot;, marginTop: 10 }} /&gt;&#10;  &lt;/Box&gt;&#10;  &lt;Box style={{ width: &quot;100%&quot;, height: 516, flexDirection: &quot;column&quot; }}&gt;&#10;  &lt;Box style={{ flexDirection: &quot;row&quot;, height: &quot;100%&quot;, gap: 40 }}&gt;          &lt;Box style={{ flexDirection: &quot;column&quot;, gap: 10 }}&gt;&#10;      &lt;Image src=&quot;assets/shot_gomoku.png&quot; style={{ width: 500, height: 290, objectFit: &quot;cover&quot;, borderRadius: 8, border: &quot;1px solid rgba(140,90,43,0.30)&quot; }} /&gt;&#10;      &lt;Text style={{ fontSize: 15, color: &quot;#8C5A2B&quot;, fontWeight: &quot;bold&quot;, fontFamily: &quot;'PingFang SC', 'Microsoft YaHei', sans-serif&quot; }}&gt;③ 五子棋终局：连五高亮 + 胜率跳 100%&lt;/Text&gt;&#10;    &lt;/Box&gt;&#10;        &lt;Box style={{ flex: 1, flexDirection: &quot;column&quot;, justifyContent: &quot;center&quot; }}&gt;&#10;    &lt;Text style={{ fontSize: 18, lineHeight: 1.7, color: &quot;#2A2118&quot;, fontFamily: &quot;'PingFang SC', 'Microsoft YaHei', sans-serif&quot;, marginBottom: 14 }}&gt;困难档启用 VCF/VCT，构造连续冲四的强制序列一手取胜。&lt;/Text&gt;&#10;    &lt;Text style={{ fontSize: 18, lineHeight: 1.7, color: &quot;#2A2118&quot;, fontFamily: &quot;'PingFang SC', 'Microsoft YaHei', sans-serif&quot;, marginBottom: 14 }}&gt;达成五连即时高亮胜利连线，胜率曲线在终局点跳到 100%。&lt;/Text&gt;&#10;  &lt;/Box&gt;&#10;  &lt;/Box&gt;&#10;  &lt;/Box&gt;&#10;  &lt;Box style={{ width: &quot;100%&quot;, height: 48, flexDirection: &quot;row&quot;, alignItems: &quot;center&quot;, justifyContent: &quot;space-between&quot; }}&gt;&#10;    &lt;Text style={{ fontSize: 14, color: &quot;rgba(42,33,24,0.55)&quot;, fontFamily: &quot;'PingFang SC', 'Microsoft YaHei', sans-serif&quot; }}&gt;弈趣棋苑 · 项目开发汇报&lt;/Text&gt;&#10;    &lt;Text style={{ fontSize: 14, color: &quot;rgba(42,33,24,0.55)&quot;, fontFamily: &quot;'PingFang SC', 'Microsoft YaHei', sans-serif&quot; }}&gt;46 / 64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5E3BE"/>
          </a:solidFill>
          <a:ln/>
        </p:spPr>
        <p:txBody>
          <a:bodyPr/>
          <a:p/>
        </p:txBody>
      </p:sp>
      <p:sp>
        <p:nvSpPr>
          <p:cNvPr id="454" name="" descr="{&quot;isTemplate&quot;:true,&quot;type&quot;:&quot;text&quot;}"/>
          <p:cNvSpPr txBox="1"/>
          <p:nvPr/>
        </p:nvSpPr>
        <p:spPr>
          <a:xfrm rot="0" flipH="0" flipV="0">
            <a:off x="685800" y="400050"/>
            <a:ext cx="108204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A2118"/>
                </a:solidFill>
                <a:latin typeface="Songti SC"/>
                <a:ea typeface="Songti SC"/>
              </a:rPr>
              <a:t>演示三</a:t>
            </a:r>
            <a:r>
              <a:rPr lang="en-US" sz="2550" b="1">
                <a:solidFill>
                  <a:srgbClr val="2A2118"/>
                </a:solidFill>
                <a:latin typeface="Songti SC"/>
                <a:ea typeface="Songti SC"/>
              </a:rPr>
              <a:t xml:space="preserve"> · </a:t>
            </a:r>
            <a:r>
              <a:rPr lang="zh-CN" sz="2550" b="1">
                <a:solidFill>
                  <a:srgbClr val="2A2118"/>
                </a:solidFill>
                <a:latin typeface="Songti SC"/>
                <a:ea typeface="Songti SC"/>
              </a:rPr>
              <a:t>五子棋算杀取胜</a:t>
            </a:r>
            <a:endParaRPr/>
          </a:p>
        </p:txBody>
      </p:sp>
      <p:sp>
        <p:nvSpPr>
          <p:cNvPr id="455" name=""/>
          <p:cNvSpPr/>
          <p:nvPr/>
        </p:nvSpPr>
        <p:spPr>
          <a:xfrm rot="0" flipH="0" flipV="0">
            <a:off x="685800" y="885825"/>
            <a:ext cx="533400" cy="19050"/>
          </a:xfrm>
          <a:prstGeom prst="rect">
            <a:avLst/>
          </a:prstGeom>
          <a:solidFill>
            <a:srgbClr val="B3271E"/>
          </a:solidFill>
          <a:ln/>
        </p:spPr>
        <p:txBody>
          <a:bodyPr/>
          <a:p/>
        </p:txBody>
      </p:sp>
      <p:sp>
        <p:nvSpPr>
          <p:cNvPr id="456" name=""/>
          <p:cNvSpPr/>
          <p:nvPr/>
        </p:nvSpPr>
        <p:spPr>
          <a:xfrm rot="0" flipH="0" flipV="0">
            <a:off x="685800" y="1104900"/>
            <a:ext cx="4762500" cy="2762250"/>
          </a:xfrm>
          <a:prstGeom prst="rect">
            <a:avLst/>
          </a:prstGeom>
          <a:ln w="12700">
            <a:solidFill>
              <a:srgbClr val="8C5A2B">
                <a:alpha val="3000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457" name=""/>
          <p:cNvPicPr>
            <a:picLocks noChangeAspect="1"/>
          </p:cNvPicPr>
          <p:nvPr/>
        </p:nvPicPr>
        <p:blipFill>
          <a:blip r:embed="rId1"/>
          <a:srcRect l="0" t="6146" r="0" b="6146"/>
          <a:stretch>
            <a:fillRect/>
          </a:stretch>
        </p:blipFill>
        <p:spPr>
          <a:xfrm rot="0" flipH="0" flipV="0">
            <a:off x="685800" y="1104900"/>
            <a:ext cx="4762500" cy="2762250"/>
          </a:xfrm>
          <a:prstGeom prst="roundRect">
            <a:avLst>
              <a:gd name="adj" fmla="val 2759"/>
            </a:avLst>
          </a:prstGeom>
          <a:ln/>
        </p:spPr>
      </p:pic>
      <p:sp>
        <p:nvSpPr>
          <p:cNvPr id="458" name="" descr="{&quot;isTemplate&quot;:true,&quot;type&quot;:&quot;text&quot;}"/>
          <p:cNvSpPr txBox="1"/>
          <p:nvPr/>
        </p:nvSpPr>
        <p:spPr>
          <a:xfrm rot="0" flipH="0" flipV="0">
            <a:off x="685800" y="3962400"/>
            <a:ext cx="4762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8C5A2B"/>
                </a:solidFill>
                <a:latin typeface="PingFang SC"/>
                <a:ea typeface="PingFang SC"/>
              </a:rPr>
              <a:t xml:space="preserve">③ </a:t>
            </a:r>
            <a:r>
              <a:rPr lang="zh-CN" sz="1125" b="1">
                <a:solidFill>
                  <a:srgbClr val="8C5A2B"/>
                </a:solidFill>
                <a:latin typeface="PingFang SC"/>
                <a:ea typeface="PingFang SC"/>
              </a:rPr>
              <a:t>五子棋终局：连五高亮</a:t>
            </a:r>
            <a:r>
              <a:rPr lang="en-US" sz="1125" b="1">
                <a:solidFill>
                  <a:srgbClr val="8C5A2B"/>
                </a:solidFill>
                <a:latin typeface="PingFang SC"/>
                <a:ea typeface="PingFang SC"/>
              </a:rPr>
              <a:t xml:space="preserve"> + </a:t>
            </a:r>
            <a:r>
              <a:rPr lang="zh-CN" sz="1125" b="1">
                <a:solidFill>
                  <a:srgbClr val="8C5A2B"/>
                </a:solidFill>
                <a:latin typeface="PingFang SC"/>
                <a:ea typeface="PingFang SC"/>
              </a:rPr>
              <a:t>胜率跳</a:t>
            </a:r>
            <a:r>
              <a:rPr lang="en-US" sz="1125" b="1">
                <a:solidFill>
                  <a:srgbClr val="8C5A2B"/>
                </a:solidFill>
                <a:latin typeface="PingFang SC"/>
                <a:ea typeface="PingFang SC"/>
              </a:rPr>
              <a:t xml:space="preserve"> 100%</a:t>
            </a:r>
            <a:endParaRPr/>
          </a:p>
        </p:txBody>
      </p:sp>
      <p:sp>
        <p:nvSpPr>
          <p:cNvPr id="459" name="" descr="{&quot;isTemplate&quot;:true,&quot;type&quot;:&quot;text&quot;}"/>
          <p:cNvSpPr txBox="1"/>
          <p:nvPr/>
        </p:nvSpPr>
        <p:spPr>
          <a:xfrm rot="0" flipH="0" flipV="0">
            <a:off x="5829300" y="3076575"/>
            <a:ext cx="5676900" cy="35242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350">
                <a:solidFill>
                  <a:srgbClr val="2A2118"/>
                </a:solidFill>
                <a:latin typeface="PingFang SC"/>
                <a:ea typeface="PingFang SC"/>
              </a:rPr>
              <a:t>困难档启用</a:t>
            </a:r>
            <a:r>
              <a:rPr lang="en-US" sz="1350">
                <a:solidFill>
                  <a:srgbClr val="2A2118"/>
                </a:solidFill>
                <a:latin typeface="PingFang SC"/>
                <a:ea typeface="PingFang SC"/>
              </a:rPr>
              <a:t xml:space="preserve"> VCF/VCT</a:t>
            </a:r>
            <a:r>
              <a:rPr lang="zh-CN" sz="1350">
                <a:solidFill>
                  <a:srgbClr val="2A2118"/>
                </a:solidFill>
                <a:latin typeface="PingFang SC"/>
                <a:ea typeface="PingFang SC"/>
              </a:rPr>
              <a:t>，构造连续冲四的强制序列一手取胜。</a:t>
            </a:r>
            <a:endParaRPr/>
          </a:p>
        </p:txBody>
      </p:sp>
      <p:sp>
        <p:nvSpPr>
          <p:cNvPr id="460" name="" descr="{&quot;isTemplate&quot;:true,&quot;type&quot;:&quot;text&quot;}"/>
          <p:cNvSpPr txBox="1"/>
          <p:nvPr/>
        </p:nvSpPr>
        <p:spPr>
          <a:xfrm rot="0" flipH="0" flipV="0">
            <a:off x="5829300" y="3562350"/>
            <a:ext cx="5676900" cy="35242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350">
                <a:solidFill>
                  <a:srgbClr val="2A2118"/>
                </a:solidFill>
                <a:latin typeface="PingFang SC"/>
                <a:ea typeface="PingFang SC"/>
              </a:rPr>
              <a:t>达成五连即时高亮胜利连线，胜率曲线在终局点跳到</a:t>
            </a:r>
            <a:r>
              <a:rPr lang="en-US" sz="1350">
                <a:solidFill>
                  <a:srgbClr val="2A2118"/>
                </a:solidFill>
                <a:latin typeface="PingFang SC"/>
                <a:ea typeface="PingFang SC"/>
              </a:rPr>
              <a:t xml:space="preserve"> 100%</a:t>
            </a:r>
            <a:r>
              <a:rPr lang="zh-CN" sz="1350">
                <a:solidFill>
                  <a:srgbClr val="2A2118"/>
                </a:solidFill>
                <a:latin typeface="PingFang SC"/>
                <a:ea typeface="PingFang SC"/>
              </a:rPr>
              <a:t>。</a:t>
            </a:r>
            <a:endParaRPr/>
          </a:p>
        </p:txBody>
      </p:sp>
      <p:sp>
        <p:nvSpPr>
          <p:cNvPr id="461" name="" descr="{&quot;isTemplate&quot;:true,&quot;type&quot;:&quot;text&quot;}"/>
          <p:cNvSpPr txBox="1"/>
          <p:nvPr/>
        </p:nvSpPr>
        <p:spPr>
          <a:xfrm rot="0" flipH="0" flipV="0">
            <a:off x="685800" y="6172200"/>
            <a:ext cx="14478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2A2118">
                    <a:alpha val="55000"/>
                  </a:srgbClr>
                </a:solidFill>
                <a:latin typeface="PingFang SC"/>
                <a:ea typeface="PingFang SC"/>
              </a:rPr>
              <a:t>弈趣棋苑</a:t>
            </a:r>
            <a:r>
              <a:rPr lang="en-US" sz="1050">
                <a:solidFill>
                  <a:srgbClr val="2A2118">
                    <a:alpha val="55000"/>
                  </a:srgbClr>
                </a:solidFill>
                <a:latin typeface="PingFang SC"/>
                <a:ea typeface="PingFang SC"/>
              </a:rPr>
              <a:t xml:space="preserve"> · </a:t>
            </a:r>
            <a:r>
              <a:rPr lang="zh-CN" sz="1050">
                <a:solidFill>
                  <a:srgbClr val="2A2118">
                    <a:alpha val="55000"/>
                  </a:srgbClr>
                </a:solidFill>
                <a:latin typeface="PingFang SC"/>
                <a:ea typeface="PingFang SC"/>
              </a:rPr>
              <a:t>项目开发汇报</a:t>
            </a:r>
            <a:endParaRPr/>
          </a:p>
        </p:txBody>
      </p:sp>
      <p:sp>
        <p:nvSpPr>
          <p:cNvPr id="462" name="" descr="{&quot;isTemplate&quot;:true,&quot;type&quot;:&quot;text&quot;}"/>
          <p:cNvSpPr txBox="1"/>
          <p:nvPr/>
        </p:nvSpPr>
        <p:spPr>
          <a:xfrm rot="0" flipH="0" flipV="0">
            <a:off x="11049000" y="61722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2A2118">
                    <a:alpha val="55000"/>
                  </a:srgbClr>
                </a:solidFill>
                <a:latin typeface="PingFang SC"/>
                <a:ea typeface="PingFang SC"/>
              </a:rPr>
              <a:t>46 / 64</a:t>
            </a:r>
            <a:endParaRPr/>
          </a:p>
        </p:txBody>
      </p:sp>
    </p:spTree>
  </p:cSld>
</p:sld>
</file>

<file path=ppt/slides/slide4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463" name="" descr="&lt;Slide style={{ width: 1280, height: 720, padding: &quot;20px 72px&quot;, background: &quot;#F5E3BE&quot;, flexDirection: &quot;column&quot; }}&gt;&#10;  &lt;Box style={{ width: &quot;100%&quot;, height: 96, flexDirection: &quot;column&quot;, justifyContent: &quot;center&quot; }}&gt;&#10;    &lt;Text style={{ fontSize: 34, fontWeight: &quot;bold&quot;, color: &quot;#2A2118&quot;, fontFamily: &quot;'Songti SC', 'STSong', 'SimSun', serif&quot; }}&gt;演示四 · 象棋人机对战&lt;/Text&gt;&#10;    &lt;Box style={{ width: 56, height: 2, background: &quot;#B3271E&quot;, marginTop: 10 }} /&gt;&#10;  &lt;/Box&gt;&#10;  &lt;Box style={{ width: &quot;100%&quot;, height: 516, flexDirection: &quot;column&quot; }}&gt;&#10;  &lt;Box style={{ flexDirection: &quot;row&quot;, height: &quot;100%&quot;, gap: 40 }}&gt;          &lt;Box style={{ flexDirection: &quot;column&quot;, gap: 10 }}&gt;&#10;      &lt;Image src=&quot;assets/shot_xiangqi.png&quot; style={{ width: 500, height: 320, objectFit: &quot;cover&quot;, borderRadius: 8, border: &quot;1px solid rgba(140,90,43,0.30)&quot; }} /&gt;&#10;      &lt;Text style={{ fontSize: 15, color: &quot;#8C5A2B&quot;, fontWeight: &quot;bold&quot;, fontFamily: &quot;'PingFang SC', 'Microsoft YaHei', sans-serif&quot; }}&gt;④ 象棋人机：皮卡鱼 NNUE 应手 + 书法字&lt;/Text&gt;&#10;    &lt;/Box&gt;&#10;        &lt;Box style={{ flex: 1, flexDirection: &quot;column&quot;, justifyContent: &quot;center&quot; }}&gt;&#10;    &lt;Text style={{ fontSize: 18, lineHeight: 1.7, color: &quot;#2A2118&quot;, fontFamily: &quot;'PingFang SC', 'Microsoft YaHei', sans-serif&quot;, marginBottom: 14 }}&gt;人落子后，worker 线程调皮卡鱼 best_move，走完整抬棋 / 移动 / 落地动画。&lt;/Text&gt;&#10;    &lt;Text style={{ fontSize: 18, lineHeight: 1.7, color: &quot;#2A2118&quot;, fontFamily: &quot;'PingFang SC', 'Microsoft YaHei', sans-serif&quot;, marginBottom: 14 }}&gt;score 经 Elo 公式转红黑胜率实时精化；被将时全盘暗角加红环脉冲。&lt;/Text&gt;&#10;  &lt;/Box&gt;&#10;  &lt;/Box&gt;&#10;  &lt;/Box&gt;&#10;  &lt;Box style={{ width: &quot;100%&quot;, height: 48, flexDirection: &quot;row&quot;, alignItems: &quot;center&quot;, justifyContent: &quot;space-between&quot; }}&gt;&#10;    &lt;Text style={{ fontSize: 14, color: &quot;rgba(42,33,24,0.55)&quot;, fontFamily: &quot;'PingFang SC', 'Microsoft YaHei', sans-serif&quot; }}&gt;弈趣棋苑 · 项目开发汇报&lt;/Text&gt;&#10;    &lt;Text style={{ fontSize: 14, color: &quot;rgba(42,33,24,0.55)&quot;, fontFamily: &quot;'PingFang SC', 'Microsoft YaHei', sans-serif&quot; }}&gt;47 / 64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5E3BE"/>
          </a:solidFill>
          <a:ln/>
        </p:spPr>
        <p:txBody>
          <a:bodyPr/>
          <a:p/>
        </p:txBody>
      </p:sp>
      <p:sp>
        <p:nvSpPr>
          <p:cNvPr id="465" name="" descr="{&quot;isTemplate&quot;:true,&quot;type&quot;:&quot;text&quot;}"/>
          <p:cNvSpPr txBox="1"/>
          <p:nvPr/>
        </p:nvSpPr>
        <p:spPr>
          <a:xfrm rot="0" flipH="0" flipV="0">
            <a:off x="685800" y="400050"/>
            <a:ext cx="108204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A2118"/>
                </a:solidFill>
                <a:latin typeface="Songti SC"/>
                <a:ea typeface="Songti SC"/>
              </a:rPr>
              <a:t>演示四</a:t>
            </a:r>
            <a:r>
              <a:rPr lang="en-US" sz="2550" b="1">
                <a:solidFill>
                  <a:srgbClr val="2A2118"/>
                </a:solidFill>
                <a:latin typeface="Songti SC"/>
                <a:ea typeface="Songti SC"/>
              </a:rPr>
              <a:t xml:space="preserve"> · </a:t>
            </a:r>
            <a:r>
              <a:rPr lang="zh-CN" sz="2550" b="1">
                <a:solidFill>
                  <a:srgbClr val="2A2118"/>
                </a:solidFill>
                <a:latin typeface="Songti SC"/>
                <a:ea typeface="Songti SC"/>
              </a:rPr>
              <a:t>象棋人机对战</a:t>
            </a:r>
            <a:endParaRPr/>
          </a:p>
        </p:txBody>
      </p:sp>
      <p:sp>
        <p:nvSpPr>
          <p:cNvPr id="466" name=""/>
          <p:cNvSpPr/>
          <p:nvPr/>
        </p:nvSpPr>
        <p:spPr>
          <a:xfrm rot="0" flipH="0" flipV="0">
            <a:off x="685800" y="885825"/>
            <a:ext cx="533400" cy="19050"/>
          </a:xfrm>
          <a:prstGeom prst="rect">
            <a:avLst/>
          </a:prstGeom>
          <a:solidFill>
            <a:srgbClr val="B3271E"/>
          </a:solidFill>
          <a:ln/>
        </p:spPr>
        <p:txBody>
          <a:bodyPr/>
          <a:p/>
        </p:txBody>
      </p:sp>
      <p:sp>
        <p:nvSpPr>
          <p:cNvPr id="467" name=""/>
          <p:cNvSpPr/>
          <p:nvPr/>
        </p:nvSpPr>
        <p:spPr>
          <a:xfrm rot="0" flipH="0" flipV="0">
            <a:off x="685800" y="1104900"/>
            <a:ext cx="4762500" cy="3048000"/>
          </a:xfrm>
          <a:prstGeom prst="rect">
            <a:avLst/>
          </a:prstGeom>
          <a:ln w="12700">
            <a:solidFill>
              <a:srgbClr val="8C5A2B">
                <a:alpha val="3000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468" name=""/>
          <p:cNvPicPr>
            <a:picLocks noChangeAspect="1"/>
          </p:cNvPicPr>
          <p:nvPr/>
        </p:nvPicPr>
        <p:blipFill>
          <a:blip r:embed="rId1"/>
          <a:srcRect l="0" t="1609" r="0" b="1609"/>
          <a:stretch>
            <a:fillRect/>
          </a:stretch>
        </p:blipFill>
        <p:spPr>
          <a:xfrm rot="0" flipH="0" flipV="0">
            <a:off x="685800" y="1104900"/>
            <a:ext cx="4762500" cy="3048000"/>
          </a:xfrm>
          <a:prstGeom prst="roundRect">
            <a:avLst>
              <a:gd name="adj" fmla="val 2500"/>
            </a:avLst>
          </a:prstGeom>
          <a:ln/>
        </p:spPr>
      </p:pic>
      <p:sp>
        <p:nvSpPr>
          <p:cNvPr id="469" name="" descr="{&quot;isTemplate&quot;:true,&quot;type&quot;:&quot;text&quot;}"/>
          <p:cNvSpPr txBox="1"/>
          <p:nvPr/>
        </p:nvSpPr>
        <p:spPr>
          <a:xfrm rot="0" flipH="0" flipV="0">
            <a:off x="685800" y="4248150"/>
            <a:ext cx="4762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8C5A2B"/>
                </a:solidFill>
                <a:latin typeface="PingFang SC"/>
                <a:ea typeface="PingFang SC"/>
              </a:rPr>
              <a:t xml:space="preserve">④ </a:t>
            </a:r>
            <a:r>
              <a:rPr lang="zh-CN" sz="1125" b="1">
                <a:solidFill>
                  <a:srgbClr val="8C5A2B"/>
                </a:solidFill>
                <a:latin typeface="PingFang SC"/>
                <a:ea typeface="PingFang SC"/>
              </a:rPr>
              <a:t>象棋人机：皮卡鱼</a:t>
            </a:r>
            <a:r>
              <a:rPr lang="en-US" sz="1125" b="1">
                <a:solidFill>
                  <a:srgbClr val="8C5A2B"/>
                </a:solidFill>
                <a:latin typeface="PingFang SC"/>
                <a:ea typeface="PingFang SC"/>
              </a:rPr>
              <a:t xml:space="preserve"> NNUE </a:t>
            </a:r>
            <a:r>
              <a:rPr lang="zh-CN" sz="1125" b="1">
                <a:solidFill>
                  <a:srgbClr val="8C5A2B"/>
                </a:solidFill>
                <a:latin typeface="PingFang SC"/>
                <a:ea typeface="PingFang SC"/>
              </a:rPr>
              <a:t>应手</a:t>
            </a:r>
            <a:r>
              <a:rPr lang="en-US" sz="1125" b="1">
                <a:solidFill>
                  <a:srgbClr val="8C5A2B"/>
                </a:solidFill>
                <a:latin typeface="PingFang SC"/>
                <a:ea typeface="PingFang SC"/>
              </a:rPr>
              <a:t xml:space="preserve"> + </a:t>
            </a:r>
            <a:r>
              <a:rPr lang="zh-CN" sz="1125" b="1">
                <a:solidFill>
                  <a:srgbClr val="8C5A2B"/>
                </a:solidFill>
                <a:latin typeface="PingFang SC"/>
                <a:ea typeface="PingFang SC"/>
              </a:rPr>
              <a:t>书法字</a:t>
            </a:r>
            <a:endParaRPr/>
          </a:p>
        </p:txBody>
      </p:sp>
      <p:sp>
        <p:nvSpPr>
          <p:cNvPr id="470" name="" descr="{&quot;isTemplate&quot;:true,&quot;type&quot;:&quot;text&quot;}"/>
          <p:cNvSpPr txBox="1"/>
          <p:nvPr/>
        </p:nvSpPr>
        <p:spPr>
          <a:xfrm rot="0" flipH="0" flipV="0">
            <a:off x="5829300" y="2905125"/>
            <a:ext cx="5676900" cy="7048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350">
                <a:solidFill>
                  <a:srgbClr val="2A2118"/>
                </a:solidFill>
                <a:latin typeface="PingFang SC"/>
                <a:ea typeface="PingFang SC"/>
              </a:rPr>
              <a:t>人落子后，</a:t>
            </a:r>
            <a:r>
              <a:rPr lang="en-US" sz="1350">
                <a:solidFill>
                  <a:srgbClr val="2A2118"/>
                </a:solidFill>
                <a:latin typeface="PingFang SC"/>
                <a:ea typeface="PingFang SC"/>
              </a:rPr>
              <a:t xml:space="preserve">worker </a:t>
            </a:r>
            <a:r>
              <a:rPr lang="zh-CN" sz="1350">
                <a:solidFill>
                  <a:srgbClr val="2A2118"/>
                </a:solidFill>
                <a:latin typeface="PingFang SC"/>
                <a:ea typeface="PingFang SC"/>
              </a:rPr>
              <a:t>线程调皮卡鱼</a:t>
            </a:r>
            <a:r>
              <a:rPr lang="en-US" sz="1350">
                <a:solidFill>
                  <a:srgbClr val="2A2118"/>
                </a:solidFill>
                <a:latin typeface="PingFang SC"/>
                <a:ea typeface="PingFang SC"/>
              </a:rPr>
              <a:t xml:space="preserve"> best_move</a:t>
            </a:r>
            <a:r>
              <a:rPr lang="zh-CN" sz="1350">
                <a:solidFill>
                  <a:srgbClr val="2A2118"/>
                </a:solidFill>
                <a:latin typeface="PingFang SC"/>
                <a:ea typeface="PingFang SC"/>
              </a:rPr>
              <a:t>，走完整抬棋</a:t>
            </a:r>
            <a:r>
              <a:rPr lang="en-US" sz="1350">
                <a:solidFill>
                  <a:srgbClr val="2A2118"/>
                </a:solidFill>
                <a:latin typeface="PingFang SC"/>
                <a:ea typeface="PingFang SC"/>
              </a:rPr>
              <a:t xml:space="preserve"> / </a:t>
            </a:r>
            <a:r>
              <a:rPr lang="zh-CN" sz="1350">
                <a:solidFill>
                  <a:srgbClr val="2A2118"/>
                </a:solidFill>
                <a:latin typeface="PingFang SC"/>
                <a:ea typeface="PingFang SC"/>
              </a:rPr>
              <a:t>移动</a:t>
            </a:r>
            <a:r>
              <a:rPr lang="en-US" sz="1350">
                <a:solidFill>
                  <a:srgbClr val="2A2118"/>
                </a:solidFill>
                <a:latin typeface="PingFang SC"/>
                <a:ea typeface="PingFang SC"/>
              </a:rPr>
              <a:t xml:space="preserve"> / </a:t>
            </a:r>
            <a:r>
              <a:rPr lang="zh-CN" sz="1350">
                <a:solidFill>
                  <a:srgbClr val="2A2118"/>
                </a:solidFill>
                <a:latin typeface="PingFang SC"/>
                <a:ea typeface="PingFang SC"/>
              </a:rPr>
              <a:t>落地动画。</a:t>
            </a:r>
            <a:endParaRPr/>
          </a:p>
        </p:txBody>
      </p:sp>
      <p:sp>
        <p:nvSpPr>
          <p:cNvPr id="471" name="" descr="{&quot;isTemplate&quot;:true,&quot;type&quot;:&quot;text&quot;}"/>
          <p:cNvSpPr txBox="1"/>
          <p:nvPr/>
        </p:nvSpPr>
        <p:spPr>
          <a:xfrm rot="0" flipH="0" flipV="0">
            <a:off x="5829300" y="3743325"/>
            <a:ext cx="5676900" cy="35242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1350">
                <a:solidFill>
                  <a:srgbClr val="2A2118"/>
                </a:solidFill>
                <a:latin typeface="PingFang SC"/>
                <a:ea typeface="PingFang SC"/>
              </a:rPr>
              <a:t xml:space="preserve">score </a:t>
            </a:r>
            <a:r>
              <a:rPr lang="zh-CN" sz="1350">
                <a:solidFill>
                  <a:srgbClr val="2A2118"/>
                </a:solidFill>
                <a:latin typeface="PingFang SC"/>
                <a:ea typeface="PingFang SC"/>
              </a:rPr>
              <a:t>经</a:t>
            </a:r>
            <a:r>
              <a:rPr lang="en-US" sz="1350">
                <a:solidFill>
                  <a:srgbClr val="2A2118"/>
                </a:solidFill>
                <a:latin typeface="PingFang SC"/>
                <a:ea typeface="PingFang SC"/>
              </a:rPr>
              <a:t xml:space="preserve"> Elo </a:t>
            </a:r>
            <a:r>
              <a:rPr lang="zh-CN" sz="1350">
                <a:solidFill>
                  <a:srgbClr val="2A2118"/>
                </a:solidFill>
                <a:latin typeface="PingFang SC"/>
                <a:ea typeface="PingFang SC"/>
              </a:rPr>
              <a:t>公式转红黑胜率实时精化；被将时全盘暗角加红环脉冲。</a:t>
            </a:r>
            <a:endParaRPr/>
          </a:p>
        </p:txBody>
      </p:sp>
      <p:sp>
        <p:nvSpPr>
          <p:cNvPr id="472" name="" descr="{&quot;isTemplate&quot;:true,&quot;type&quot;:&quot;text&quot;}"/>
          <p:cNvSpPr txBox="1"/>
          <p:nvPr/>
        </p:nvSpPr>
        <p:spPr>
          <a:xfrm rot="0" flipH="0" flipV="0">
            <a:off x="685800" y="6172200"/>
            <a:ext cx="14478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2A2118">
                    <a:alpha val="55000"/>
                  </a:srgbClr>
                </a:solidFill>
                <a:latin typeface="PingFang SC"/>
                <a:ea typeface="PingFang SC"/>
              </a:rPr>
              <a:t>弈趣棋苑</a:t>
            </a:r>
            <a:r>
              <a:rPr lang="en-US" sz="1050">
                <a:solidFill>
                  <a:srgbClr val="2A2118">
                    <a:alpha val="55000"/>
                  </a:srgbClr>
                </a:solidFill>
                <a:latin typeface="PingFang SC"/>
                <a:ea typeface="PingFang SC"/>
              </a:rPr>
              <a:t xml:space="preserve"> · </a:t>
            </a:r>
            <a:r>
              <a:rPr lang="zh-CN" sz="1050">
                <a:solidFill>
                  <a:srgbClr val="2A2118">
                    <a:alpha val="55000"/>
                  </a:srgbClr>
                </a:solidFill>
                <a:latin typeface="PingFang SC"/>
                <a:ea typeface="PingFang SC"/>
              </a:rPr>
              <a:t>项目开发汇报</a:t>
            </a:r>
            <a:endParaRPr/>
          </a:p>
        </p:txBody>
      </p:sp>
      <p:sp>
        <p:nvSpPr>
          <p:cNvPr id="473" name="" descr="{&quot;isTemplate&quot;:true,&quot;type&quot;:&quot;text&quot;}"/>
          <p:cNvSpPr txBox="1"/>
          <p:nvPr/>
        </p:nvSpPr>
        <p:spPr>
          <a:xfrm rot="0" flipH="0" flipV="0">
            <a:off x="11049000" y="61722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2A2118">
                    <a:alpha val="55000"/>
                  </a:srgbClr>
                </a:solidFill>
                <a:latin typeface="PingFang SC"/>
                <a:ea typeface="PingFang SC"/>
              </a:rPr>
              <a:t>47 / 64</a:t>
            </a:r>
            <a:endParaRPr/>
          </a:p>
        </p:txBody>
      </p:sp>
    </p:spTree>
  </p:cSld>
</p:sld>
</file>

<file path=ppt/slides/slide4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474" name="" descr="&lt;Slide style={{ width: 1280, height: 720, padding: &quot;20px 72px&quot;, background: &quot;#F5E3BE&quot;, flexDirection: &quot;column&quot; }}&gt;&#10;  &lt;Box style={{ width: &quot;100%&quot;, height: 96, flexDirection: &quot;column&quot;, justifyContent: &quot;center&quot; }}&gt;&#10;    &lt;Text style={{ fontSize: 34, fontWeight: &quot;bold&quot;, color: &quot;#2A2118&quot;, fontFamily: &quot;'Songti SC', 'STSong', 'SimSun', serif&quot; }}&gt;演示五 · 主题与材质&lt;/Text&gt;&#10;    &lt;Box style={{ width: 56, height: 2, background: &quot;#B3271E&quot;, marginTop: 10 }} /&gt;&#10;  &lt;/Box&gt;&#10;  &lt;Box style={{ width: &quot;100%&quot;, height: 516, flexDirection: &quot;column&quot; }}&gt;&#10;  &lt;Box style={{ flexDirection: &quot;row&quot;, height: &quot;100%&quot;, gap: 40 }}&gt;          &lt;Box style={{ flexDirection: &quot;column&quot;, gap: 10 }}&gt;&#10;      &lt;Image src=&quot;assets/xq_materials.png&quot; style={{ width: 500, height: 220, objectFit: &quot;cover&quot;, borderRadius: 8, border: &quot;1px solid rgba(140,90,43,0.30)&quot; }} /&gt;&#10;      &lt;Text style={{ fontSize: 15, color: &quot;#8C5A2B&quot;, fontWeight: &quot;bold&quot;, fontFamily: &quot;'PingFang SC', 'Microsoft YaHei', sans-serif&quot; }}&gt;⑤ 五材质样张；棋盘另有 5 套配色&lt;/Text&gt;&#10;    &lt;/Box&gt;&#10;        &lt;Box style={{ flex: 1, flexDirection: &quot;column&quot;, justifyContent: &quot;center&quot; }}&gt;&#10;    &lt;Text style={{ fontSize: 18, lineHeight: 1.7, color: &quot;#2A2118&quot;, fontFamily: &quot;'PingFang SC', 'Microsoft YaHei', sans-serif&quot;, marginBottom: 14 }}&gt;5 套棋盘配色：素雅木纹 / 青花瓷 / 墨玉宣纸 / 红木金线 / 夜弈玄石——深底必换浅字。&lt;/Text&gt;&#10;    &lt;Text style={{ fontSize: 18, lineHeight: 1.7, color: &quot;#2A2118&quot;, fontFamily: &quot;'PingFang SC', 'Microsoft YaHei', sans-serif&quot;, marginBottom: 14 }}&gt;5 种棋子材质：原木哑光 / 红木亮漆 / 紫檀深韵 / 胡桃木 / 金丝楠，圆形不透明、木纹真实。两个下拉任意组合。&lt;/Text&gt;&#10;  &lt;/Box&gt;&#10;  &lt;/Box&gt;&#10;  &lt;/Box&gt;&#10;  &lt;Box style={{ width: &quot;100%&quot;, height: 48, flexDirection: &quot;row&quot;, alignItems: &quot;center&quot;, justifyContent: &quot;space-between&quot; }}&gt;&#10;    &lt;Text style={{ fontSize: 14, color: &quot;rgba(42,33,24,0.55)&quot;, fontFamily: &quot;'PingFang SC', 'Microsoft YaHei', sans-serif&quot; }}&gt;弈趣棋苑 · 项目开发汇报&lt;/Text&gt;&#10;    &lt;Text style={{ fontSize: 14, color: &quot;rgba(42,33,24,0.55)&quot;, fontFamily: &quot;'PingFang SC', 'Microsoft YaHei', sans-serif&quot; }}&gt;48 / 64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5E3BE"/>
          </a:solidFill>
          <a:ln/>
        </p:spPr>
        <p:txBody>
          <a:bodyPr/>
          <a:p/>
        </p:txBody>
      </p:sp>
      <p:sp>
        <p:nvSpPr>
          <p:cNvPr id="476" name="" descr="{&quot;isTemplate&quot;:true,&quot;type&quot;:&quot;text&quot;}"/>
          <p:cNvSpPr txBox="1"/>
          <p:nvPr/>
        </p:nvSpPr>
        <p:spPr>
          <a:xfrm rot="0" flipH="0" flipV="0">
            <a:off x="685800" y="400050"/>
            <a:ext cx="108204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A2118"/>
                </a:solidFill>
                <a:latin typeface="Songti SC"/>
                <a:ea typeface="Songti SC"/>
              </a:rPr>
              <a:t>演示五</a:t>
            </a:r>
            <a:r>
              <a:rPr lang="en-US" sz="2550" b="1">
                <a:solidFill>
                  <a:srgbClr val="2A2118"/>
                </a:solidFill>
                <a:latin typeface="Songti SC"/>
                <a:ea typeface="Songti SC"/>
              </a:rPr>
              <a:t xml:space="preserve"> · </a:t>
            </a:r>
            <a:r>
              <a:rPr lang="zh-CN" sz="2550" b="1">
                <a:solidFill>
                  <a:srgbClr val="2A2118"/>
                </a:solidFill>
                <a:latin typeface="Songti SC"/>
                <a:ea typeface="Songti SC"/>
              </a:rPr>
              <a:t>主题与材质</a:t>
            </a:r>
            <a:endParaRPr/>
          </a:p>
        </p:txBody>
      </p:sp>
      <p:sp>
        <p:nvSpPr>
          <p:cNvPr id="477" name=""/>
          <p:cNvSpPr/>
          <p:nvPr/>
        </p:nvSpPr>
        <p:spPr>
          <a:xfrm rot="0" flipH="0" flipV="0">
            <a:off x="685800" y="885825"/>
            <a:ext cx="533400" cy="19050"/>
          </a:xfrm>
          <a:prstGeom prst="rect">
            <a:avLst/>
          </a:prstGeom>
          <a:solidFill>
            <a:srgbClr val="B3271E"/>
          </a:solidFill>
          <a:ln/>
        </p:spPr>
        <p:txBody>
          <a:bodyPr/>
          <a:p/>
        </p:txBody>
      </p:sp>
      <p:sp>
        <p:nvSpPr>
          <p:cNvPr id="478" name=""/>
          <p:cNvSpPr/>
          <p:nvPr/>
        </p:nvSpPr>
        <p:spPr>
          <a:xfrm rot="0" flipH="0" flipV="0">
            <a:off x="685800" y="1104900"/>
            <a:ext cx="4762500" cy="2095500"/>
          </a:xfrm>
          <a:prstGeom prst="rect">
            <a:avLst/>
          </a:prstGeom>
          <a:ln w="12700">
            <a:solidFill>
              <a:srgbClr val="8C5A2B">
                <a:alpha val="3000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479" name=""/>
          <p:cNvPicPr>
            <a:picLocks noChangeAspect="1"/>
          </p:cNvPicPr>
          <p:nvPr/>
        </p:nvPicPr>
        <p:blipFill>
          <a:blip r:embed="rId1"/>
          <a:srcRect l="0" t="190" r="0" b="190"/>
          <a:stretch>
            <a:fillRect/>
          </a:stretch>
        </p:blipFill>
        <p:spPr>
          <a:xfrm rot="0" flipH="0" flipV="0">
            <a:off x="685800" y="1104900"/>
            <a:ext cx="4762500" cy="2095500"/>
          </a:xfrm>
          <a:prstGeom prst="roundRect">
            <a:avLst>
              <a:gd name="adj" fmla="val 3636"/>
            </a:avLst>
          </a:prstGeom>
          <a:ln/>
        </p:spPr>
      </p:pic>
      <p:sp>
        <p:nvSpPr>
          <p:cNvPr id="480" name="" descr="{&quot;isTemplate&quot;:true,&quot;type&quot;:&quot;text&quot;}"/>
          <p:cNvSpPr txBox="1"/>
          <p:nvPr/>
        </p:nvSpPr>
        <p:spPr>
          <a:xfrm rot="0" flipH="0" flipV="0">
            <a:off x="685800" y="3295650"/>
            <a:ext cx="4762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8C5A2B"/>
                </a:solidFill>
                <a:latin typeface="PingFang SC"/>
                <a:ea typeface="PingFang SC"/>
              </a:rPr>
              <a:t xml:space="preserve">⑤ </a:t>
            </a:r>
            <a:r>
              <a:rPr lang="zh-CN" sz="1125" b="1">
                <a:solidFill>
                  <a:srgbClr val="8C5A2B"/>
                </a:solidFill>
                <a:latin typeface="PingFang SC"/>
                <a:ea typeface="PingFang SC"/>
              </a:rPr>
              <a:t>五材质样张；棋盘另有</a:t>
            </a:r>
            <a:r>
              <a:rPr lang="en-US" sz="1125" b="1">
                <a:solidFill>
                  <a:srgbClr val="8C5A2B"/>
                </a:solidFill>
                <a:latin typeface="PingFang SC"/>
                <a:ea typeface="PingFang SC"/>
              </a:rPr>
              <a:t xml:space="preserve"> 5 </a:t>
            </a:r>
            <a:r>
              <a:rPr lang="zh-CN" sz="1125" b="1">
                <a:solidFill>
                  <a:srgbClr val="8C5A2B"/>
                </a:solidFill>
                <a:latin typeface="PingFang SC"/>
                <a:ea typeface="PingFang SC"/>
              </a:rPr>
              <a:t>套配色</a:t>
            </a:r>
            <a:endParaRPr/>
          </a:p>
        </p:txBody>
      </p:sp>
      <p:sp>
        <p:nvSpPr>
          <p:cNvPr id="481" name="" descr="{&quot;isTemplate&quot;:true,&quot;type&quot;:&quot;text&quot;}"/>
          <p:cNvSpPr txBox="1"/>
          <p:nvPr/>
        </p:nvSpPr>
        <p:spPr>
          <a:xfrm rot="0" flipH="0" flipV="0">
            <a:off x="5829300" y="2724150"/>
            <a:ext cx="5676900" cy="7048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en-US" sz="1350">
                <a:solidFill>
                  <a:srgbClr val="2A2118"/>
                </a:solidFill>
                <a:latin typeface="PingFang SC"/>
                <a:ea typeface="PingFang SC"/>
              </a:rPr>
              <a:t xml:space="preserve">5 </a:t>
            </a:r>
            <a:r>
              <a:rPr lang="zh-CN" sz="1350">
                <a:solidFill>
                  <a:srgbClr val="2A2118"/>
                </a:solidFill>
                <a:latin typeface="PingFang SC"/>
                <a:ea typeface="PingFang SC"/>
              </a:rPr>
              <a:t>套棋盘配色：素雅木纹</a:t>
            </a:r>
            <a:r>
              <a:rPr lang="en-US" sz="1350">
                <a:solidFill>
                  <a:srgbClr val="2A2118"/>
                </a:solidFill>
                <a:latin typeface="PingFang SC"/>
                <a:ea typeface="PingFang SC"/>
              </a:rPr>
              <a:t xml:space="preserve"> / </a:t>
            </a:r>
            <a:r>
              <a:rPr lang="zh-CN" sz="1350">
                <a:solidFill>
                  <a:srgbClr val="2A2118"/>
                </a:solidFill>
                <a:latin typeface="PingFang SC"/>
                <a:ea typeface="PingFang SC"/>
              </a:rPr>
              <a:t>青花瓷</a:t>
            </a:r>
            <a:r>
              <a:rPr lang="en-US" sz="1350">
                <a:solidFill>
                  <a:srgbClr val="2A2118"/>
                </a:solidFill>
                <a:latin typeface="PingFang SC"/>
                <a:ea typeface="PingFang SC"/>
              </a:rPr>
              <a:t xml:space="preserve"> / </a:t>
            </a:r>
            <a:r>
              <a:rPr lang="zh-CN" sz="1350">
                <a:solidFill>
                  <a:srgbClr val="2A2118"/>
                </a:solidFill>
                <a:latin typeface="PingFang SC"/>
                <a:ea typeface="PingFang SC"/>
              </a:rPr>
              <a:t>墨玉宣纸</a:t>
            </a:r>
            <a:r>
              <a:rPr lang="en-US" sz="1350">
                <a:solidFill>
                  <a:srgbClr val="2A2118"/>
                </a:solidFill>
                <a:latin typeface="PingFang SC"/>
                <a:ea typeface="PingFang SC"/>
              </a:rPr>
              <a:t xml:space="preserve"> / </a:t>
            </a:r>
            <a:r>
              <a:rPr lang="zh-CN" sz="1350">
                <a:solidFill>
                  <a:srgbClr val="2A2118"/>
                </a:solidFill>
                <a:latin typeface="PingFang SC"/>
                <a:ea typeface="PingFang SC"/>
              </a:rPr>
              <a:t>红木金线</a:t>
            </a:r>
            <a:r>
              <a:rPr lang="en-US" sz="1350">
                <a:solidFill>
                  <a:srgbClr val="2A2118"/>
                </a:solidFill>
                <a:latin typeface="PingFang SC"/>
                <a:ea typeface="PingFang SC"/>
              </a:rPr>
              <a:t xml:space="preserve"> / </a:t>
            </a:r>
            <a:r>
              <a:rPr lang="zh-CN" sz="1350">
                <a:solidFill>
                  <a:srgbClr val="2A2118"/>
                </a:solidFill>
                <a:latin typeface="PingFang SC"/>
                <a:ea typeface="PingFang SC"/>
              </a:rPr>
              <a:t>夜弈玄石——深底必换浅字。</a:t>
            </a:r>
            <a:endParaRPr/>
          </a:p>
        </p:txBody>
      </p:sp>
      <p:sp>
        <p:nvSpPr>
          <p:cNvPr id="482" name="" descr="{&quot;isTemplate&quot;:true,&quot;type&quot;:&quot;text&quot;}"/>
          <p:cNvSpPr txBox="1"/>
          <p:nvPr/>
        </p:nvSpPr>
        <p:spPr>
          <a:xfrm rot="0" flipH="0" flipV="0">
            <a:off x="5829300" y="3562350"/>
            <a:ext cx="5676900" cy="7048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en-US" sz="1350">
                <a:solidFill>
                  <a:srgbClr val="2A2118"/>
                </a:solidFill>
                <a:latin typeface="PingFang SC"/>
                <a:ea typeface="PingFang SC"/>
              </a:rPr>
              <a:t xml:space="preserve">5 </a:t>
            </a:r>
            <a:r>
              <a:rPr lang="zh-CN" sz="1350">
                <a:solidFill>
                  <a:srgbClr val="2A2118"/>
                </a:solidFill>
                <a:latin typeface="PingFang SC"/>
                <a:ea typeface="PingFang SC"/>
              </a:rPr>
              <a:t>种棋子材质：原木哑光</a:t>
            </a:r>
            <a:r>
              <a:rPr lang="en-US" sz="1350">
                <a:solidFill>
                  <a:srgbClr val="2A2118"/>
                </a:solidFill>
                <a:latin typeface="PingFang SC"/>
                <a:ea typeface="PingFang SC"/>
              </a:rPr>
              <a:t xml:space="preserve"> / </a:t>
            </a:r>
            <a:r>
              <a:rPr lang="zh-CN" sz="1350">
                <a:solidFill>
                  <a:srgbClr val="2A2118"/>
                </a:solidFill>
                <a:latin typeface="PingFang SC"/>
                <a:ea typeface="PingFang SC"/>
              </a:rPr>
              <a:t>红木亮漆</a:t>
            </a:r>
            <a:r>
              <a:rPr lang="en-US" sz="1350">
                <a:solidFill>
                  <a:srgbClr val="2A2118"/>
                </a:solidFill>
                <a:latin typeface="PingFang SC"/>
                <a:ea typeface="PingFang SC"/>
              </a:rPr>
              <a:t xml:space="preserve"> / </a:t>
            </a:r>
            <a:r>
              <a:rPr lang="zh-CN" sz="1350">
                <a:solidFill>
                  <a:srgbClr val="2A2118"/>
                </a:solidFill>
                <a:latin typeface="PingFang SC"/>
                <a:ea typeface="PingFang SC"/>
              </a:rPr>
              <a:t>紫檀深韵</a:t>
            </a:r>
            <a:r>
              <a:rPr lang="en-US" sz="1350">
                <a:solidFill>
                  <a:srgbClr val="2A2118"/>
                </a:solidFill>
                <a:latin typeface="PingFang SC"/>
                <a:ea typeface="PingFang SC"/>
              </a:rPr>
              <a:t xml:space="preserve"> / </a:t>
            </a:r>
            <a:r>
              <a:rPr lang="zh-CN" sz="1350">
                <a:solidFill>
                  <a:srgbClr val="2A2118"/>
                </a:solidFill>
                <a:latin typeface="PingFang SC"/>
                <a:ea typeface="PingFang SC"/>
              </a:rPr>
              <a:t>胡桃木</a:t>
            </a:r>
            <a:r>
              <a:rPr lang="en-US" sz="1350">
                <a:solidFill>
                  <a:srgbClr val="2A2118"/>
                </a:solidFill>
                <a:latin typeface="PingFang SC"/>
                <a:ea typeface="PingFang SC"/>
              </a:rPr>
              <a:t xml:space="preserve"> / </a:t>
            </a:r>
            <a:r>
              <a:rPr lang="zh-CN" sz="1350">
                <a:solidFill>
                  <a:srgbClr val="2A2118"/>
                </a:solidFill>
                <a:latin typeface="PingFang SC"/>
                <a:ea typeface="PingFang SC"/>
              </a:rPr>
              <a:t>金丝楠，圆形不透明、木纹真实。两个下拉任意组合。</a:t>
            </a:r>
            <a:endParaRPr/>
          </a:p>
        </p:txBody>
      </p:sp>
      <p:sp>
        <p:nvSpPr>
          <p:cNvPr id="483" name="" descr="{&quot;isTemplate&quot;:true,&quot;type&quot;:&quot;text&quot;}"/>
          <p:cNvSpPr txBox="1"/>
          <p:nvPr/>
        </p:nvSpPr>
        <p:spPr>
          <a:xfrm rot="0" flipH="0" flipV="0">
            <a:off x="685800" y="6172200"/>
            <a:ext cx="14478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2A2118">
                    <a:alpha val="55000"/>
                  </a:srgbClr>
                </a:solidFill>
                <a:latin typeface="PingFang SC"/>
                <a:ea typeface="PingFang SC"/>
              </a:rPr>
              <a:t>弈趣棋苑</a:t>
            </a:r>
            <a:r>
              <a:rPr lang="en-US" sz="1050">
                <a:solidFill>
                  <a:srgbClr val="2A2118">
                    <a:alpha val="55000"/>
                  </a:srgbClr>
                </a:solidFill>
                <a:latin typeface="PingFang SC"/>
                <a:ea typeface="PingFang SC"/>
              </a:rPr>
              <a:t xml:space="preserve"> · </a:t>
            </a:r>
            <a:r>
              <a:rPr lang="zh-CN" sz="1050">
                <a:solidFill>
                  <a:srgbClr val="2A2118">
                    <a:alpha val="55000"/>
                  </a:srgbClr>
                </a:solidFill>
                <a:latin typeface="PingFang SC"/>
                <a:ea typeface="PingFang SC"/>
              </a:rPr>
              <a:t>项目开发汇报</a:t>
            </a:r>
            <a:endParaRPr/>
          </a:p>
        </p:txBody>
      </p:sp>
      <p:sp>
        <p:nvSpPr>
          <p:cNvPr id="484" name="" descr="{&quot;isTemplate&quot;:true,&quot;type&quot;:&quot;text&quot;}"/>
          <p:cNvSpPr txBox="1"/>
          <p:nvPr/>
        </p:nvSpPr>
        <p:spPr>
          <a:xfrm rot="0" flipH="0" flipV="0">
            <a:off x="11049000" y="61722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2A2118">
                    <a:alpha val="55000"/>
                  </a:srgbClr>
                </a:solidFill>
                <a:latin typeface="PingFang SC"/>
                <a:ea typeface="PingFang SC"/>
              </a:rPr>
              <a:t>48 / 64</a:t>
            </a:r>
            <a:endParaRPr/>
          </a:p>
        </p:txBody>
      </p:sp>
    </p:spTree>
  </p:cSld>
</p:sld>
</file>

<file path=ppt/slides/slide4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485" name="" descr="&lt;Slide style={{ width: 1280, height: 720, padding: &quot;20px 72px&quot;, background: &quot;#F5E3BE&quot;, flexDirection: &quot;column&quot; }}&gt;&#10;  &lt;Box style={{ width: &quot;100%&quot;, height: 96, flexDirection: &quot;column&quot;, justifyContent: &quot;center&quot; }}&gt;&#10;    &lt;Text style={{ fontSize: 34, fontWeight: &quot;bold&quot;, color: &quot;#2A2118&quot;, fontFamily: &quot;'Songti SC', 'STSong', 'SimSun', serif&quot; }}&gt;演示六 · 胜率曲线的实时演化&lt;/Text&gt;&#10;    &lt;Box style={{ width: 56, height: 2, background: &quot;#B3271E&quot;, marginTop: 10 }} /&gt;&#10;  &lt;/Box&gt;&#10;  &lt;Box style={{ width: &quot;100%&quot;, height: 516, flexDirection: &quot;column&quot; }}&gt;&#10;  &lt;Box style={{ flexDirection: &quot;row&quot;, height: &quot;100%&quot;, gap: 40 }}&gt;          &lt;Box style={{ flexDirection: &quot;column&quot;, gap: 10 }}&gt;&#10;      &lt;Image src=&quot;assets/shot_connect6.png&quot; style={{ width: 500, height: 290, objectFit: &quot;cover&quot;, borderRadius: 8, border: &quot;1px solid rgba(140,90,43,0.30)&quot; }} /&gt;&#10;      &lt;Text style={{ fontSize: 15, color: &quot;#8C5A2B&quot;, fontWeight: &quot;bold&quot;, fontFamily: &quot;'PingFang SC', 'Microsoft YaHei', sans-serif&quot; }}&gt;⑥ 侧栏胜率曲线（蒙特卡洛全局预测）&lt;/Text&gt;&#10;    &lt;/Box&gt;&#10;        &lt;Box style={{ flex: 1, flexDirection: &quot;column&quot;, justifyContent: &quot;center&quot; }}&gt;&#10;    &lt;Text style={{ fontSize: 18, lineHeight: 1.7, color: &quot;#2A2118&quot;, fontFamily: &quot;'PingFang SC', 'Microsoft YaHei', sans-serif&quot;, marginBottom: 14 }}&gt;胜率 = 从当前局面双方下到终局的最终胜率，权威信号是蒙特卡洛 rollout，不是静态棋形分。&lt;/Text&gt;&#10;    &lt;Text style={{ fontSize: 18, lineHeight: 1.7, color: &quot;#2A2118&quot;, fontFamily: &quot;'PingFang SC', 'Microsoft YaHei', sans-serif&quot;, marginBottom: 14 }}&gt;每步按「成五&amp;gt;堵五&amp;gt;造四&amp;gt;堵四&amp;gt;活三&amp;gt;随机」优先级模拟，5000 局 / 3s；整条曲线 EMA 平滑，最新点保原值。&lt;/Text&gt;&#10;  &lt;/Box&gt;&#10;  &lt;/Box&gt;&#10;  &lt;/Box&gt;&#10;  &lt;Box style={{ width: &quot;100%&quot;, height: 48, flexDirection: &quot;row&quot;, alignItems: &quot;center&quot;, justifyContent: &quot;space-between&quot; }}&gt;&#10;    &lt;Text style={{ fontSize: 14, color: &quot;rgba(42,33,24,0.55)&quot;, fontFamily: &quot;'PingFang SC', 'Microsoft YaHei', sans-serif&quot; }}&gt;弈趣棋苑 · 项目开发汇报&lt;/Text&gt;&#10;    &lt;Text style={{ fontSize: 14, color: &quot;rgba(42,33,24,0.55)&quot;, fontFamily: &quot;'PingFang SC', 'Microsoft YaHei', sans-serif&quot; }}&gt;49 / 64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5E3BE"/>
          </a:solidFill>
          <a:ln/>
        </p:spPr>
        <p:txBody>
          <a:bodyPr/>
          <a:p/>
        </p:txBody>
      </p:sp>
      <p:sp>
        <p:nvSpPr>
          <p:cNvPr id="487" name="" descr="{&quot;isTemplate&quot;:true,&quot;type&quot;:&quot;text&quot;}"/>
          <p:cNvSpPr txBox="1"/>
          <p:nvPr/>
        </p:nvSpPr>
        <p:spPr>
          <a:xfrm rot="0" flipH="0" flipV="0">
            <a:off x="685800" y="400050"/>
            <a:ext cx="108204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A2118"/>
                </a:solidFill>
                <a:latin typeface="Songti SC"/>
                <a:ea typeface="Songti SC"/>
              </a:rPr>
              <a:t>演示六</a:t>
            </a:r>
            <a:r>
              <a:rPr lang="en-US" sz="2550" b="1">
                <a:solidFill>
                  <a:srgbClr val="2A2118"/>
                </a:solidFill>
                <a:latin typeface="Songti SC"/>
                <a:ea typeface="Songti SC"/>
              </a:rPr>
              <a:t xml:space="preserve"> · </a:t>
            </a:r>
            <a:r>
              <a:rPr lang="zh-CN" sz="2550" b="1">
                <a:solidFill>
                  <a:srgbClr val="2A2118"/>
                </a:solidFill>
                <a:latin typeface="Songti SC"/>
                <a:ea typeface="Songti SC"/>
              </a:rPr>
              <a:t>胜率曲线的实时演化</a:t>
            </a:r>
            <a:endParaRPr/>
          </a:p>
        </p:txBody>
      </p:sp>
      <p:sp>
        <p:nvSpPr>
          <p:cNvPr id="488" name=""/>
          <p:cNvSpPr/>
          <p:nvPr/>
        </p:nvSpPr>
        <p:spPr>
          <a:xfrm rot="0" flipH="0" flipV="0">
            <a:off x="685800" y="885825"/>
            <a:ext cx="533400" cy="19050"/>
          </a:xfrm>
          <a:prstGeom prst="rect">
            <a:avLst/>
          </a:prstGeom>
          <a:solidFill>
            <a:srgbClr val="B3271E"/>
          </a:solidFill>
          <a:ln/>
        </p:spPr>
        <p:txBody>
          <a:bodyPr/>
          <a:p/>
        </p:txBody>
      </p:sp>
      <p:sp>
        <p:nvSpPr>
          <p:cNvPr id="489" name=""/>
          <p:cNvSpPr/>
          <p:nvPr/>
        </p:nvSpPr>
        <p:spPr>
          <a:xfrm rot="0" flipH="0" flipV="0">
            <a:off x="685800" y="1104900"/>
            <a:ext cx="4762500" cy="2762250"/>
          </a:xfrm>
          <a:prstGeom prst="rect">
            <a:avLst/>
          </a:prstGeom>
          <a:ln w="12700">
            <a:solidFill>
              <a:srgbClr val="8C5A2B">
                <a:alpha val="3000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490" name=""/>
          <p:cNvPicPr>
            <a:picLocks noChangeAspect="1"/>
          </p:cNvPicPr>
          <p:nvPr/>
        </p:nvPicPr>
        <p:blipFill>
          <a:blip r:embed="rId1"/>
          <a:srcRect l="0" t="6146" r="0" b="6146"/>
          <a:stretch>
            <a:fillRect/>
          </a:stretch>
        </p:blipFill>
        <p:spPr>
          <a:xfrm rot="0" flipH="0" flipV="0">
            <a:off x="685800" y="1104900"/>
            <a:ext cx="4762500" cy="2762250"/>
          </a:xfrm>
          <a:prstGeom prst="roundRect">
            <a:avLst>
              <a:gd name="adj" fmla="val 2759"/>
            </a:avLst>
          </a:prstGeom>
          <a:ln/>
        </p:spPr>
      </p:pic>
      <p:sp>
        <p:nvSpPr>
          <p:cNvPr id="491" name="" descr="{&quot;isTemplate&quot;:true,&quot;type&quot;:&quot;text&quot;}"/>
          <p:cNvSpPr txBox="1"/>
          <p:nvPr/>
        </p:nvSpPr>
        <p:spPr>
          <a:xfrm rot="0" flipH="0" flipV="0">
            <a:off x="685800" y="3962400"/>
            <a:ext cx="4762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8C5A2B"/>
                </a:solidFill>
                <a:latin typeface="PingFang SC"/>
                <a:ea typeface="PingFang SC"/>
              </a:rPr>
              <a:t xml:space="preserve">⑥ </a:t>
            </a:r>
            <a:r>
              <a:rPr lang="zh-CN" sz="1125" b="1">
                <a:solidFill>
                  <a:srgbClr val="8C5A2B"/>
                </a:solidFill>
                <a:latin typeface="PingFang SC"/>
                <a:ea typeface="PingFang SC"/>
              </a:rPr>
              <a:t>侧栏胜率曲线（蒙特卡洛全局预测）</a:t>
            </a:r>
            <a:endParaRPr/>
          </a:p>
        </p:txBody>
      </p:sp>
      <p:sp>
        <p:nvSpPr>
          <p:cNvPr id="492" name="" descr="{&quot;isTemplate&quot;:true,&quot;type&quot;:&quot;text&quot;}"/>
          <p:cNvSpPr txBox="1"/>
          <p:nvPr/>
        </p:nvSpPr>
        <p:spPr>
          <a:xfrm rot="0" flipH="0" flipV="0">
            <a:off x="5829300" y="2724150"/>
            <a:ext cx="5676900" cy="7048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350">
                <a:solidFill>
                  <a:srgbClr val="2A2118"/>
                </a:solidFill>
                <a:latin typeface="PingFang SC"/>
                <a:ea typeface="PingFang SC"/>
              </a:rPr>
              <a:t>胜率</a:t>
            </a:r>
            <a:r>
              <a:rPr lang="en-US" sz="1350">
                <a:solidFill>
                  <a:srgbClr val="2A2118"/>
                </a:solidFill>
                <a:latin typeface="PingFang SC"/>
                <a:ea typeface="PingFang SC"/>
              </a:rPr>
              <a:t xml:space="preserve"> = </a:t>
            </a:r>
            <a:r>
              <a:rPr lang="zh-CN" sz="1350">
                <a:solidFill>
                  <a:srgbClr val="2A2118"/>
                </a:solidFill>
                <a:latin typeface="PingFang SC"/>
                <a:ea typeface="PingFang SC"/>
              </a:rPr>
              <a:t>从当前局面双方下到终局的最终胜率，权威信号是蒙特卡洛</a:t>
            </a:r>
            <a:r>
              <a:rPr lang="en-US" sz="1350">
                <a:solidFill>
                  <a:srgbClr val="2A2118"/>
                </a:solidFill>
                <a:latin typeface="PingFang SC"/>
                <a:ea typeface="PingFang SC"/>
              </a:rPr>
              <a:t xml:space="preserve"> rollout</a:t>
            </a:r>
            <a:r>
              <a:rPr lang="zh-CN" sz="1350">
                <a:solidFill>
                  <a:srgbClr val="2A2118"/>
                </a:solidFill>
                <a:latin typeface="PingFang SC"/>
                <a:ea typeface="PingFang SC"/>
              </a:rPr>
              <a:t>，不是静态棋形分。</a:t>
            </a:r>
            <a:endParaRPr/>
          </a:p>
        </p:txBody>
      </p:sp>
      <p:sp>
        <p:nvSpPr>
          <p:cNvPr id="493" name="" descr="{&quot;isTemplate&quot;:true,&quot;type&quot;:&quot;text&quot;}"/>
          <p:cNvSpPr txBox="1"/>
          <p:nvPr/>
        </p:nvSpPr>
        <p:spPr>
          <a:xfrm rot="0" flipH="0" flipV="0">
            <a:off x="5829300" y="3562350"/>
            <a:ext cx="5676900" cy="7048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350">
                <a:solidFill>
                  <a:srgbClr val="2A2118"/>
                </a:solidFill>
                <a:latin typeface="PingFang SC"/>
                <a:ea typeface="PingFang SC"/>
              </a:rPr>
              <a:t>每步按「成五</a:t>
            </a:r>
            <a:r>
              <a:rPr lang="en-US" sz="1350">
                <a:solidFill>
                  <a:srgbClr val="2A2118"/>
                </a:solidFill>
                <a:latin typeface="PingFang SC"/>
                <a:ea typeface="PingFang SC"/>
              </a:rPr>
              <a:t>&gt;</a:t>
            </a:r>
            <a:r>
              <a:rPr lang="zh-CN" sz="1350">
                <a:solidFill>
                  <a:srgbClr val="2A2118"/>
                </a:solidFill>
                <a:latin typeface="PingFang SC"/>
                <a:ea typeface="PingFang SC"/>
              </a:rPr>
              <a:t>堵五</a:t>
            </a:r>
            <a:r>
              <a:rPr lang="en-US" sz="1350">
                <a:solidFill>
                  <a:srgbClr val="2A2118"/>
                </a:solidFill>
                <a:latin typeface="PingFang SC"/>
                <a:ea typeface="PingFang SC"/>
              </a:rPr>
              <a:t>&gt;</a:t>
            </a:r>
            <a:r>
              <a:rPr lang="zh-CN" sz="1350">
                <a:solidFill>
                  <a:srgbClr val="2A2118"/>
                </a:solidFill>
                <a:latin typeface="PingFang SC"/>
                <a:ea typeface="PingFang SC"/>
              </a:rPr>
              <a:t>造四</a:t>
            </a:r>
            <a:r>
              <a:rPr lang="en-US" sz="1350">
                <a:solidFill>
                  <a:srgbClr val="2A2118"/>
                </a:solidFill>
                <a:latin typeface="PingFang SC"/>
                <a:ea typeface="PingFang SC"/>
              </a:rPr>
              <a:t>&gt;</a:t>
            </a:r>
            <a:r>
              <a:rPr lang="zh-CN" sz="1350">
                <a:solidFill>
                  <a:srgbClr val="2A2118"/>
                </a:solidFill>
                <a:latin typeface="PingFang SC"/>
                <a:ea typeface="PingFang SC"/>
              </a:rPr>
              <a:t>堵四</a:t>
            </a:r>
            <a:r>
              <a:rPr lang="en-US" sz="1350">
                <a:solidFill>
                  <a:srgbClr val="2A2118"/>
                </a:solidFill>
                <a:latin typeface="PingFang SC"/>
                <a:ea typeface="PingFang SC"/>
              </a:rPr>
              <a:t>&gt;</a:t>
            </a:r>
            <a:r>
              <a:rPr lang="zh-CN" sz="1350">
                <a:solidFill>
                  <a:srgbClr val="2A2118"/>
                </a:solidFill>
                <a:latin typeface="PingFang SC"/>
                <a:ea typeface="PingFang SC"/>
              </a:rPr>
              <a:t>活三</a:t>
            </a:r>
            <a:r>
              <a:rPr lang="en-US" sz="1350">
                <a:solidFill>
                  <a:srgbClr val="2A2118"/>
                </a:solidFill>
                <a:latin typeface="PingFang SC"/>
                <a:ea typeface="PingFang SC"/>
              </a:rPr>
              <a:t>&gt;</a:t>
            </a:r>
            <a:r>
              <a:rPr lang="zh-CN" sz="1350">
                <a:solidFill>
                  <a:srgbClr val="2A2118"/>
                </a:solidFill>
                <a:latin typeface="PingFang SC"/>
                <a:ea typeface="PingFang SC"/>
              </a:rPr>
              <a:t>随机」优先级模拟，</a:t>
            </a:r>
            <a:r>
              <a:rPr lang="en-US" sz="1350">
                <a:solidFill>
                  <a:srgbClr val="2A2118"/>
                </a:solidFill>
                <a:latin typeface="PingFang SC"/>
                <a:ea typeface="PingFang SC"/>
              </a:rPr>
              <a:t xml:space="preserve">5000 </a:t>
            </a:r>
            <a:r>
              <a:rPr lang="zh-CN" sz="1350">
                <a:solidFill>
                  <a:srgbClr val="2A2118"/>
                </a:solidFill>
                <a:latin typeface="PingFang SC"/>
                <a:ea typeface="PingFang SC"/>
              </a:rPr>
              <a:t>局</a:t>
            </a:r>
            <a:r>
              <a:rPr lang="en-US" sz="1350">
                <a:solidFill>
                  <a:srgbClr val="2A2118"/>
                </a:solidFill>
                <a:latin typeface="PingFang SC"/>
                <a:ea typeface="PingFang SC"/>
              </a:rPr>
              <a:t xml:space="preserve"> / 3s</a:t>
            </a:r>
            <a:r>
              <a:rPr lang="zh-CN" sz="1350">
                <a:solidFill>
                  <a:srgbClr val="2A2118"/>
                </a:solidFill>
                <a:latin typeface="PingFang SC"/>
                <a:ea typeface="PingFang SC"/>
              </a:rPr>
              <a:t>；整条曲线</a:t>
            </a:r>
            <a:r>
              <a:rPr lang="en-US" sz="1350">
                <a:solidFill>
                  <a:srgbClr val="2A2118"/>
                </a:solidFill>
                <a:latin typeface="PingFang SC"/>
                <a:ea typeface="PingFang SC"/>
              </a:rPr>
              <a:t xml:space="preserve"> EMA </a:t>
            </a:r>
            <a:r>
              <a:rPr lang="zh-CN" sz="1350">
                <a:solidFill>
                  <a:srgbClr val="2A2118"/>
                </a:solidFill>
                <a:latin typeface="PingFang SC"/>
                <a:ea typeface="PingFang SC"/>
              </a:rPr>
              <a:t>平滑，最新点保原值。</a:t>
            </a:r>
            <a:endParaRPr/>
          </a:p>
        </p:txBody>
      </p:sp>
      <p:sp>
        <p:nvSpPr>
          <p:cNvPr id="494" name="" descr="{&quot;isTemplate&quot;:true,&quot;type&quot;:&quot;text&quot;}"/>
          <p:cNvSpPr txBox="1"/>
          <p:nvPr/>
        </p:nvSpPr>
        <p:spPr>
          <a:xfrm rot="0" flipH="0" flipV="0">
            <a:off x="685800" y="6172200"/>
            <a:ext cx="14478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2A2118">
                    <a:alpha val="55000"/>
                  </a:srgbClr>
                </a:solidFill>
                <a:latin typeface="PingFang SC"/>
                <a:ea typeface="PingFang SC"/>
              </a:rPr>
              <a:t>弈趣棋苑</a:t>
            </a:r>
            <a:r>
              <a:rPr lang="en-US" sz="1050">
                <a:solidFill>
                  <a:srgbClr val="2A2118">
                    <a:alpha val="55000"/>
                  </a:srgbClr>
                </a:solidFill>
                <a:latin typeface="PingFang SC"/>
                <a:ea typeface="PingFang SC"/>
              </a:rPr>
              <a:t xml:space="preserve"> · </a:t>
            </a:r>
            <a:r>
              <a:rPr lang="zh-CN" sz="1050">
                <a:solidFill>
                  <a:srgbClr val="2A2118">
                    <a:alpha val="55000"/>
                  </a:srgbClr>
                </a:solidFill>
                <a:latin typeface="PingFang SC"/>
                <a:ea typeface="PingFang SC"/>
              </a:rPr>
              <a:t>项目开发汇报</a:t>
            </a:r>
            <a:endParaRPr/>
          </a:p>
        </p:txBody>
      </p:sp>
      <p:sp>
        <p:nvSpPr>
          <p:cNvPr id="495" name="" descr="{&quot;isTemplate&quot;:true,&quot;type&quot;:&quot;text&quot;}"/>
          <p:cNvSpPr txBox="1"/>
          <p:nvPr/>
        </p:nvSpPr>
        <p:spPr>
          <a:xfrm rot="0" flipH="0" flipV="0">
            <a:off x="11049000" y="61722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2A2118">
                    <a:alpha val="55000"/>
                  </a:srgbClr>
                </a:solidFill>
                <a:latin typeface="PingFang SC"/>
                <a:ea typeface="PingFang SC"/>
              </a:rPr>
              <a:t>49 / 64</a:t>
            </a:r>
            <a:endParaRPr/>
          </a:p>
        </p:txBody>
      </p:sp>
    </p:spTree>
  </p:cSld>
</p:sld>
</file>

<file path=ppt/slides/slide4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496" name="" descr="&lt;Slide style={{ width: 1280, height: 720, padding: &quot;20px 72px&quot;, background: &quot;#F5E3BE&quot;, flexDirection: &quot;column&quot; }}&gt;&#10;  &lt;Box style={{ width: &quot;100%&quot;, height: 96, flexDirection: &quot;column&quot;, justifyContent: &quot;center&quot; }}&gt;&#10;    &lt;Text style={{ fontSize: 34, fontWeight: &quot;bold&quot;, color: &quot;#2A2118&quot;, fontFamily: &quot;'Songti SC', 'STSong', 'SimSun', serif&quot; }}&gt;演示七 · 悔棋与重开&lt;/Text&gt;&#10;    &lt;Box style={{ width: 56, height: 2, background: &quot;#B3271E&quot;, marginTop: 10 }} /&gt;&#10;  &lt;/Box&gt;&#10;  &lt;Box style={{ width: &quot;100%&quot;, height: 516, flexDirection: &quot;column&quot; }}&gt;&#10;  &lt;Box style={{ flexDirection: &quot;row&quot;, height: &quot;100%&quot;, gap: 40 }}&gt;          &lt;Box style={{ flexDirection: &quot;column&quot;, gap: 10 }}&gt;&#10;      &lt;Image src=&quot;assets/shot_gomoku.png&quot; style={{ width: 500, height: 290, objectFit: &quot;cover&quot;, borderRadius: 8, border: &quot;1px solid rgba(140,90,43,0.30)&quot; }} /&gt;&#10;      &lt;Text style={{ fontSize: 15, color: &quot;#8C5A2B&quot;, fontWeight: &quot;bold&quot;, fontFamily: &quot;'PingFang SC', 'Microsoft YaHei', sans-serif&quot; }}&gt;⑦ 随时可退：悔棋撤到我方落子前&lt;/Text&gt;&#10;    &lt;/Box&gt;&#10;        &lt;Box style={{ flex: 1, flexDirection: &quot;column&quot;, justifyContent: &quot;center&quot; }}&gt;&#10;    &lt;Text style={{ fontSize: 18, lineHeight: 1.7, color: &quot;#2A2118&quot;, fontFamily: &quot;'PingFang SC', 'Microsoft YaHei', sans-serif&quot;, marginBottom: 14 }}&gt;「悔棋（撤销整轮）」循环撤到我方落子之前，人机模式不再等于没撤。&lt;/Text&gt;&#10;    &lt;Text style={{ fontSize: 18, lineHeight: 1.7, color: &quot;#2A2118&quot;, fontFamily: &quot;'PingFang SC', 'Microsoft YaHei', sans-serif&quot;, marginBottom: 14 }}&gt;「重开」复位棋盘与胜负状态，演示和练习都能一键重来。&lt;/Text&gt;&#10;  &lt;/Box&gt;&#10;  &lt;/Box&gt;&#10;  &lt;/Box&gt;&#10;  &lt;Box style={{ width: &quot;100%&quot;, height: 48, flexDirection: &quot;row&quot;, alignItems: &quot;center&quot;, justifyContent: &quot;space-between&quot; }}&gt;&#10;    &lt;Text style={{ fontSize: 14, color: &quot;rgba(42,33,24,0.55)&quot;, fontFamily: &quot;'PingFang SC', 'Microsoft YaHei', sans-serif&quot; }}&gt;弈趣棋苑 · 项目开发汇报&lt;/Text&gt;&#10;    &lt;Text style={{ fontSize: 14, color: &quot;rgba(42,33,24,0.55)&quot;, fontFamily: &quot;'PingFang SC', 'Microsoft YaHei', sans-serif&quot; }}&gt;50 / 64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5E3BE"/>
          </a:solidFill>
          <a:ln/>
        </p:spPr>
        <p:txBody>
          <a:bodyPr/>
          <a:p/>
        </p:txBody>
      </p:sp>
      <p:sp>
        <p:nvSpPr>
          <p:cNvPr id="498" name="" descr="{&quot;isTemplate&quot;:true,&quot;type&quot;:&quot;text&quot;}"/>
          <p:cNvSpPr txBox="1"/>
          <p:nvPr/>
        </p:nvSpPr>
        <p:spPr>
          <a:xfrm rot="0" flipH="0" flipV="0">
            <a:off x="685800" y="400050"/>
            <a:ext cx="108204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A2118"/>
                </a:solidFill>
                <a:latin typeface="Songti SC"/>
                <a:ea typeface="Songti SC"/>
              </a:rPr>
              <a:t>演示七</a:t>
            </a:r>
            <a:r>
              <a:rPr lang="en-US" sz="2550" b="1">
                <a:solidFill>
                  <a:srgbClr val="2A2118"/>
                </a:solidFill>
                <a:latin typeface="Songti SC"/>
                <a:ea typeface="Songti SC"/>
              </a:rPr>
              <a:t xml:space="preserve"> · </a:t>
            </a:r>
            <a:r>
              <a:rPr lang="zh-CN" sz="2550" b="1">
                <a:solidFill>
                  <a:srgbClr val="2A2118"/>
                </a:solidFill>
                <a:latin typeface="Songti SC"/>
                <a:ea typeface="Songti SC"/>
              </a:rPr>
              <a:t>悔棋与重开</a:t>
            </a:r>
            <a:endParaRPr/>
          </a:p>
        </p:txBody>
      </p:sp>
      <p:sp>
        <p:nvSpPr>
          <p:cNvPr id="499" name=""/>
          <p:cNvSpPr/>
          <p:nvPr/>
        </p:nvSpPr>
        <p:spPr>
          <a:xfrm rot="0" flipH="0" flipV="0">
            <a:off x="685800" y="885825"/>
            <a:ext cx="533400" cy="19050"/>
          </a:xfrm>
          <a:prstGeom prst="rect">
            <a:avLst/>
          </a:prstGeom>
          <a:solidFill>
            <a:srgbClr val="B3271E"/>
          </a:solidFill>
          <a:ln/>
        </p:spPr>
        <p:txBody>
          <a:bodyPr/>
          <a:p/>
        </p:txBody>
      </p:sp>
      <p:sp>
        <p:nvSpPr>
          <p:cNvPr id="500" name=""/>
          <p:cNvSpPr/>
          <p:nvPr/>
        </p:nvSpPr>
        <p:spPr>
          <a:xfrm rot="0" flipH="0" flipV="0">
            <a:off x="685800" y="1104900"/>
            <a:ext cx="4762500" cy="2762250"/>
          </a:xfrm>
          <a:prstGeom prst="rect">
            <a:avLst/>
          </a:prstGeom>
          <a:ln w="12700">
            <a:solidFill>
              <a:srgbClr val="8C5A2B">
                <a:alpha val="3000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501" name=""/>
          <p:cNvPicPr>
            <a:picLocks noChangeAspect="1"/>
          </p:cNvPicPr>
          <p:nvPr/>
        </p:nvPicPr>
        <p:blipFill>
          <a:blip r:embed="rId1"/>
          <a:srcRect l="0" t="6146" r="0" b="6146"/>
          <a:stretch>
            <a:fillRect/>
          </a:stretch>
        </p:blipFill>
        <p:spPr>
          <a:xfrm rot="0" flipH="0" flipV="0">
            <a:off x="685800" y="1104900"/>
            <a:ext cx="4762500" cy="2762250"/>
          </a:xfrm>
          <a:prstGeom prst="roundRect">
            <a:avLst>
              <a:gd name="adj" fmla="val 2759"/>
            </a:avLst>
          </a:prstGeom>
          <a:ln/>
        </p:spPr>
      </p:pic>
      <p:sp>
        <p:nvSpPr>
          <p:cNvPr id="502" name="" descr="{&quot;isTemplate&quot;:true,&quot;type&quot;:&quot;text&quot;}"/>
          <p:cNvSpPr txBox="1"/>
          <p:nvPr/>
        </p:nvSpPr>
        <p:spPr>
          <a:xfrm rot="0" flipH="0" flipV="0">
            <a:off x="685800" y="3962400"/>
            <a:ext cx="4762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8C5A2B"/>
                </a:solidFill>
                <a:latin typeface="PingFang SC"/>
                <a:ea typeface="PingFang SC"/>
              </a:rPr>
              <a:t xml:space="preserve">⑦ </a:t>
            </a:r>
            <a:r>
              <a:rPr lang="zh-CN" sz="1125" b="1">
                <a:solidFill>
                  <a:srgbClr val="8C5A2B"/>
                </a:solidFill>
                <a:latin typeface="PingFang SC"/>
                <a:ea typeface="PingFang SC"/>
              </a:rPr>
              <a:t>随时可退：悔棋撤到我方落子前</a:t>
            </a:r>
            <a:endParaRPr/>
          </a:p>
        </p:txBody>
      </p:sp>
      <p:sp>
        <p:nvSpPr>
          <p:cNvPr id="503" name="" descr="{&quot;isTemplate&quot;:true,&quot;type&quot;:&quot;text&quot;}"/>
          <p:cNvSpPr txBox="1"/>
          <p:nvPr/>
        </p:nvSpPr>
        <p:spPr>
          <a:xfrm rot="0" flipH="0" flipV="0">
            <a:off x="5829300" y="3076575"/>
            <a:ext cx="5676900" cy="35242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350">
                <a:solidFill>
                  <a:srgbClr val="2A2118"/>
                </a:solidFill>
                <a:latin typeface="PingFang SC"/>
                <a:ea typeface="PingFang SC"/>
              </a:rPr>
              <a:t>「悔棋（撤销整轮）」循环撤到我方落子之前，人机模式不再等于没撤。</a:t>
            </a:r>
            <a:endParaRPr/>
          </a:p>
        </p:txBody>
      </p:sp>
      <p:sp>
        <p:nvSpPr>
          <p:cNvPr id="504" name="" descr="{&quot;isTemplate&quot;:true,&quot;type&quot;:&quot;text&quot;}"/>
          <p:cNvSpPr txBox="1"/>
          <p:nvPr/>
        </p:nvSpPr>
        <p:spPr>
          <a:xfrm rot="0" flipH="0" flipV="0">
            <a:off x="5829300" y="3562350"/>
            <a:ext cx="5676900" cy="35242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350">
                <a:solidFill>
                  <a:srgbClr val="2A2118"/>
                </a:solidFill>
                <a:latin typeface="PingFang SC"/>
                <a:ea typeface="PingFang SC"/>
              </a:rPr>
              <a:t>「重开」复位棋盘与胜负状态，演示和练习都能一键重来。</a:t>
            </a:r>
            <a:endParaRPr/>
          </a:p>
        </p:txBody>
      </p:sp>
      <p:sp>
        <p:nvSpPr>
          <p:cNvPr id="505" name="" descr="{&quot;isTemplate&quot;:true,&quot;type&quot;:&quot;text&quot;}"/>
          <p:cNvSpPr txBox="1"/>
          <p:nvPr/>
        </p:nvSpPr>
        <p:spPr>
          <a:xfrm rot="0" flipH="0" flipV="0">
            <a:off x="685800" y="6172200"/>
            <a:ext cx="14478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2A2118">
                    <a:alpha val="55000"/>
                  </a:srgbClr>
                </a:solidFill>
                <a:latin typeface="PingFang SC"/>
                <a:ea typeface="PingFang SC"/>
              </a:rPr>
              <a:t>弈趣棋苑</a:t>
            </a:r>
            <a:r>
              <a:rPr lang="en-US" sz="1050">
                <a:solidFill>
                  <a:srgbClr val="2A2118">
                    <a:alpha val="55000"/>
                  </a:srgbClr>
                </a:solidFill>
                <a:latin typeface="PingFang SC"/>
                <a:ea typeface="PingFang SC"/>
              </a:rPr>
              <a:t xml:space="preserve"> · </a:t>
            </a:r>
            <a:r>
              <a:rPr lang="zh-CN" sz="1050">
                <a:solidFill>
                  <a:srgbClr val="2A2118">
                    <a:alpha val="55000"/>
                  </a:srgbClr>
                </a:solidFill>
                <a:latin typeface="PingFang SC"/>
                <a:ea typeface="PingFang SC"/>
              </a:rPr>
              <a:t>项目开发汇报</a:t>
            </a:r>
            <a:endParaRPr/>
          </a:p>
        </p:txBody>
      </p:sp>
      <p:sp>
        <p:nvSpPr>
          <p:cNvPr id="506" name="" descr="{&quot;isTemplate&quot;:true,&quot;type&quot;:&quot;text&quot;}"/>
          <p:cNvSpPr txBox="1"/>
          <p:nvPr/>
        </p:nvSpPr>
        <p:spPr>
          <a:xfrm rot="0" flipH="0" flipV="0">
            <a:off x="11049000" y="61722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2A2118">
                    <a:alpha val="55000"/>
                  </a:srgbClr>
                </a:solidFill>
                <a:latin typeface="PingFang SC"/>
                <a:ea typeface="PingFang SC"/>
              </a:rPr>
              <a:t>50 / 64</a:t>
            </a:r>
            <a:endParaRPr/>
          </a:p>
        </p:txBody>
      </p:sp>
    </p:spTree>
  </p:cSld>
</p:sld>
</file>

<file path=ppt/slides/slide5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516" name="" descr="&lt;Slide style={{ width: 1280, height: 720, position: &quot;relative&quot;, padding: &quot;0px&quot;, background: &quot;#2A2118&quot;, overflow: &quot;hidden&quot; }}&gt;&#10;  &lt;Image src=&quot;assets/wood_panel.jpg&quot; style={{ position: &quot;absolute&quot;, top: 0, left: 0, width: 1280, height: 720, objectFit: &quot;cover&quot;, opacity: 0.22 }} /&gt;&#10;  &lt;Box style={{ position: &quot;absolute&quot;, top: 0, left: 0, width: 1280, height: 720, background: &quot;linear-gradient(160deg, #2A2118 0%, #3E2E1E 55%, #8C5A2B 100%)&quot;, opacity: 0.55 }} /&gt;&#10;  &lt;Box style={{ position: &quot;absolute&quot;, right: 84, top: 48, flexDirection: &quot;column&quot;, alignItems: &quot;flex-end&quot; }}&gt;&#10;    &lt;Text style={{ fontSize: 210, fontWeight: &quot;bold&quot;, lineHeight: 1.0, color: &quot;rgba(179,39,30,0.85)&quot;, fontFamily: &quot;'Songti SC', 'STSong', 'SimSun', serif&quot; }}&gt;07&lt;/Text&gt;&#10;  &lt;/Box&gt;&#10;  &lt;Box style={{ position: &quot;relative&quot;, zIndex: 2, width: 1280, height: 720, padding: &quot;0px 96px&quot;, flexDirection: &quot;column&quot;, justifyContent: &quot;center&quot; }}&gt;&#10;    &lt;Text style={{ fontSize: 22, color: &quot;rgba(245,227,190,0.7)&quot;, fontFamily: &quot;'PingFang SC', 'Microsoft YaHei', sans-serif&quot;, letterSpacing: 6 }}&gt;第 07 章&lt;/Text&gt;&#10;    &lt;Text style={{ fontSize: 62, fontWeight: &quot;bold&quot;, color: &quot;#F5E3BE&quot;, fontFamily: &quot;'Songti SC', 'STSong', 'SimSun', serif&quot;, marginTop: 12 }}&gt;成果展示&lt;/Text&gt;&#10;    &lt;Box style={{ width: 70, height: 3, background: &quot;#B3271E&quot;, marginTop: 20 }} /&gt;&#10;    &lt;Text style={{ fontSize: 22, fontStyle: &quot;italic&quot;, color: &quot;rgba(245,227,190,0.82)&quot;, fontFamily: &quot;'PingFang SC', 'Microsoft YaHei', sans-serif&quot;, marginTop: 20 }}&gt;13 项修改，13 项验证&lt;/Text&gt;&#10;  &lt;/Box&gt;&#10;  &lt;Box style={{ position: &quot;absolute&quot;, right: 60, bottom: 50, width: 52, height: 52, borderRadius: 6, background: &quot;#B3271E&quot;, justifyContent: &quot;center&quot;, alignItems: &quot;center&quot; }}&gt;&#10;    &lt;Text style={{ fontSize: 28, fontWeight: &quot;bold&quot;, color: &quot;#F5E3BE&quot;, fontFamily: &quot;'Songti SC', 'STSong', 'SimSun', serif&quot; }}&gt;弈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2A2118"/>
          </a:solidFill>
          <a:ln/>
        </p:spPr>
        <p:txBody>
          <a:bodyPr/>
          <a:p/>
        </p:txBody>
      </p:sp>
      <p:pic>
        <p:nvPicPr>
          <p:cNvPr id="518" name=""/>
          <p:cNvPicPr>
            <a:picLocks noChangeAspect="1"/>
          </p:cNvPicPr>
          <p:nvPr/>
        </p:nvPicPr>
        <p:blipFill>
          <a:blip r:embed="rId1">
            <a:alphaModFix amt="22000"/>
          </a:blip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  <p:sp>
        <p:nvSpPr>
          <p:cNvPr id="51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2A2118">
                  <a:alpha val="55000"/>
                </a:srgbClr>
              </a:gs>
              <a:gs pos="55000">
                <a:srgbClr val="3E2E1E">
                  <a:alpha val="55000"/>
                </a:srgbClr>
              </a:gs>
              <a:gs pos="100000">
                <a:srgbClr val="8C5A2B">
                  <a:alpha val="55000"/>
                </a:srgbClr>
              </a:gs>
            </a:gsLst>
            <a:lin ang="4200000" scaled="1"/>
          </a:gradFill>
          <a:ln/>
        </p:spPr>
        <p:txBody>
          <a:bodyPr/>
          <a:p/>
        </p:txBody>
      </p:sp>
      <p:sp>
        <p:nvSpPr>
          <p:cNvPr id="520" name="" descr="{&quot;isTemplate&quot;:true,&quot;type&quot;:&quot;text&quot;}"/>
          <p:cNvSpPr txBox="1"/>
          <p:nvPr/>
        </p:nvSpPr>
        <p:spPr>
          <a:xfrm rot="0" flipH="0" flipV="0">
            <a:off x="9515475" y="457200"/>
            <a:ext cx="1876425" cy="2400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750" b="1">
                <a:solidFill>
                  <a:srgbClr val="B3271E">
                    <a:alpha val="85000"/>
                  </a:srgbClr>
                </a:solidFill>
                <a:latin typeface="Songti SC"/>
                <a:ea typeface="Songti SC"/>
              </a:rPr>
              <a:t>07</a:t>
            </a:r>
            <a:endParaRPr/>
          </a:p>
        </p:txBody>
      </p:sp>
      <p:sp>
        <p:nvSpPr>
          <p:cNvPr id="521" name=""/>
          <p:cNvSpPr/>
          <p:nvPr/>
        </p:nvSpPr>
        <p:spPr>
          <a:xfrm rot="0" flipH="0" flipV="0">
            <a:off x="11125200" y="5886450"/>
            <a:ext cx="495300" cy="495300"/>
          </a:xfrm>
          <a:prstGeom prst="roundRect">
            <a:avLst>
              <a:gd name="adj" fmla="val 11538"/>
            </a:avLst>
          </a:prstGeom>
          <a:solidFill>
            <a:srgbClr val="B3271E"/>
          </a:solidFill>
          <a:ln/>
        </p:spPr>
        <p:txBody>
          <a:bodyPr/>
          <a:p/>
        </p:txBody>
      </p:sp>
      <p:sp>
        <p:nvSpPr>
          <p:cNvPr id="522" name="" descr="{&quot;isTemplate&quot;:true,&quot;type&quot;:&quot;text&quot;}"/>
          <p:cNvSpPr txBox="1"/>
          <p:nvPr/>
        </p:nvSpPr>
        <p:spPr>
          <a:xfrm rot="0" flipH="0" flipV="0">
            <a:off x="11239500" y="5972175"/>
            <a:ext cx="266700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100" b="1">
                <a:solidFill>
                  <a:srgbClr val="F5E3BE"/>
                </a:solidFill>
                <a:latin typeface="Songti SC"/>
                <a:ea typeface="Songti SC"/>
              </a:rPr>
              <a:t>弈</a:t>
            </a:r>
            <a:endParaRPr/>
          </a:p>
        </p:txBody>
      </p:sp>
      <p:sp>
        <p:nvSpPr>
          <p:cNvPr id="523" name="" descr="{&quot;isTemplate&quot;:true,&quot;type&quot;:&quot;text&quot;}"/>
          <p:cNvSpPr txBox="1"/>
          <p:nvPr/>
        </p:nvSpPr>
        <p:spPr>
          <a:xfrm rot="0" flipH="0" flipV="0">
            <a:off x="914400" y="2552700"/>
            <a:ext cx="103632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spc="450">
                <a:solidFill>
                  <a:srgbClr val="F5E3BE">
                    <a:alpha val="70000"/>
                  </a:srgbClr>
                </a:solidFill>
                <a:latin typeface="PingFang SC"/>
                <a:ea typeface="PingFang SC"/>
              </a:rPr>
              <a:t>第</a:t>
            </a:r>
            <a:r>
              <a:rPr lang="en-US" sz="1650" spc="450">
                <a:solidFill>
                  <a:srgbClr val="F5E3BE">
                    <a:alpha val="70000"/>
                  </a:srgbClr>
                </a:solidFill>
                <a:latin typeface="PingFang SC"/>
                <a:ea typeface="PingFang SC"/>
              </a:rPr>
              <a:t xml:space="preserve"> 07 </a:t>
            </a:r>
            <a:r>
              <a:rPr lang="zh-CN" sz="1650" spc="450">
                <a:solidFill>
                  <a:srgbClr val="F5E3BE">
                    <a:alpha val="70000"/>
                  </a:srgbClr>
                </a:solidFill>
                <a:latin typeface="PingFang SC"/>
                <a:ea typeface="PingFang SC"/>
              </a:rPr>
              <a:t>章</a:t>
            </a:r>
            <a:endParaRPr/>
          </a:p>
        </p:txBody>
      </p:sp>
      <p:sp>
        <p:nvSpPr>
          <p:cNvPr id="524" name="" descr="{&quot;isTemplate&quot;:true,&quot;type&quot;:&quot;text&quot;}"/>
          <p:cNvSpPr txBox="1"/>
          <p:nvPr/>
        </p:nvSpPr>
        <p:spPr>
          <a:xfrm rot="0" flipH="0" flipV="0">
            <a:off x="914400" y="2924175"/>
            <a:ext cx="10363200" cy="7143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4650" b="1">
                <a:solidFill>
                  <a:srgbClr val="F5E3BE"/>
                </a:solidFill>
                <a:latin typeface="Songti SC"/>
                <a:ea typeface="Songti SC"/>
              </a:rPr>
              <a:t>成果展示</a:t>
            </a:r>
            <a:endParaRPr/>
          </a:p>
        </p:txBody>
      </p:sp>
      <p:sp>
        <p:nvSpPr>
          <p:cNvPr id="525" name=""/>
          <p:cNvSpPr/>
          <p:nvPr/>
        </p:nvSpPr>
        <p:spPr>
          <a:xfrm rot="0" flipH="0" flipV="0">
            <a:off x="914400" y="3829050"/>
            <a:ext cx="666750" cy="28575"/>
          </a:xfrm>
          <a:prstGeom prst="rect">
            <a:avLst/>
          </a:prstGeom>
          <a:solidFill>
            <a:srgbClr val="B3271E"/>
          </a:solidFill>
          <a:ln/>
        </p:spPr>
        <p:txBody>
          <a:bodyPr/>
          <a:p/>
        </p:txBody>
      </p:sp>
      <p:sp>
        <p:nvSpPr>
          <p:cNvPr id="526" name="" descr="{&quot;isTemplate&quot;:true,&quot;type&quot;:&quot;text&quot;}"/>
          <p:cNvSpPr txBox="1"/>
          <p:nvPr/>
        </p:nvSpPr>
        <p:spPr>
          <a:xfrm rot="0" flipH="0" flipV="0">
            <a:off x="914400" y="4048125"/>
            <a:ext cx="103632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i="1">
                <a:solidFill>
                  <a:srgbClr val="F5E3BE">
                    <a:alpha val="82000"/>
                  </a:srgbClr>
                </a:solidFill>
                <a:latin typeface="PingFang SC"/>
                <a:ea typeface="PingFang SC"/>
              </a:rPr>
              <a:t xml:space="preserve">13 </a:t>
            </a:r>
            <a:r>
              <a:rPr lang="zh-CN" sz="1650" i="1">
                <a:solidFill>
                  <a:srgbClr val="F5E3BE">
                    <a:alpha val="82000"/>
                  </a:srgbClr>
                </a:solidFill>
                <a:latin typeface="PingFang SC"/>
                <a:ea typeface="PingFang SC"/>
              </a:rPr>
              <a:t>项修改，</a:t>
            </a:r>
            <a:r>
              <a:rPr lang="en-US" sz="1650" i="1">
                <a:solidFill>
                  <a:srgbClr val="F5E3BE">
                    <a:alpha val="82000"/>
                  </a:srgbClr>
                </a:solidFill>
                <a:latin typeface="PingFang SC"/>
                <a:ea typeface="PingFang SC"/>
              </a:rPr>
              <a:t xml:space="preserve">13 </a:t>
            </a:r>
            <a:r>
              <a:rPr lang="zh-CN" sz="1650" i="1">
                <a:solidFill>
                  <a:srgbClr val="F5E3BE">
                    <a:alpha val="82000"/>
                  </a:srgbClr>
                </a:solidFill>
                <a:latin typeface="PingFang SC"/>
                <a:ea typeface="PingFang SC"/>
              </a:rPr>
              <a:t>项验证</a:t>
            </a:r>
            <a:endParaRPr/>
          </a:p>
        </p:txBody>
      </p:sp>
    </p:spTree>
  </p:cSld>
</p:sld>
</file>

<file path=ppt/slides/slide51.xml><?xml version="1.0" encoding="utf-8"?>
<p:sld xmlns:p="http://schemas.openxmlformats.org/presentationml/2006/main" xmlns:a="http://schemas.openxmlformats.org/drawingml/2006/main">
  <p:cSld>
    <p:spTree>
      <p:nvGrpSpPr>
        <p:cNvPr id="527" name="" descr="&lt;Slide style={{ width: 1280, height: 720, padding: &quot;20px 72px&quot;, background: &quot;#F5E3BE&quot;, flexDirection: &quot;column&quot; }}&gt;&#10;  &lt;Box style={{ width: &quot;100%&quot;, height: 96, flexDirection: &quot;column&quot;, justifyContent: &quot;center&quot; }}&gt;&#10;    &lt;Text style={{ fontSize: 34, fontWeight: &quot;bold&quot;, color: &quot;#2A2118&quot;, fontFamily: &quot;'Songti SC', 'STSong', 'SimSun', serif&quot; }}&gt;成果：数字背后是验证&lt;/Text&gt;&#10;    &lt;Box style={{ width: 56, height: 2, background: &quot;#B3271E&quot;, marginTop: 10 }} /&gt;&#10;  &lt;/Box&gt;&#10;  &lt;Box style={{ width: &quot;100%&quot;, height: 516, flexDirection: &quot;column&quot; }}&gt;&#10;  &lt;Box style={{ flexDirection: &quot;column&quot;, height: &quot;100%&quot;, justifyContent: &quot;center&quot;, gap: 20 }}&gt;&#10;    &lt;Box style={{ flexDirection: &quot;row&quot;, alignItems: &quot;flex-end&quot;, gap: 28 }}&gt;&#10;      &lt;Text style={{ fontSize: 100, fontWeight: &quot;bold&quot;, lineHeight: 1.0, color: &quot;#B3271E&quot;, fontFamily: &quot;'Songti SC', 'STSong', 'SimSun', serif&quot; }}&gt;13&lt;/Text&gt;&#10;      &lt;Box style={{ width: 470, flexDirection: &quot;column&quot;, gap: 6, paddingBottom: 10 }}&gt;&#10;        &lt;Text style={{ fontSize: 22, fontWeight: &quot;bold&quot;, color: &quot;#2A2118&quot;, fontFamily: &quot;'Songti SC', 'STSong', 'SimSun', serif&quot; }}&gt;项修改，13 项验证&lt;/Text&gt;&#10;        &lt;Text style={{ fontSize: 16, lineHeight: 1.55, color: &quot;rgba(42,33,24,0.7)&quot;, fontFamily: &quot;'PingFang SC', 'Microsoft YaHei', sans-serif&quot; }}&gt;代码检查 / 数学推导 / 端到端脚本，每一项都说清验证方法与结论。&lt;/Text&gt;&#10;      &lt;/Box&gt;&#10;    &lt;/Box&gt;&#10;    &lt;Box style={{ flexDirection: &quot;row&quot;, alignItems: &quot;flex-end&quot;, gap: 28 }}&gt;&#10;      &lt;Text style={{ fontSize: 100, fontWeight: &quot;bold&quot;, lineHeight: 1.0, color: &quot;#8C5A2B&quot;, fontFamily: &quot;'Songti SC', 'STSong', 'SimSun', serif&quot; }}&gt;10/10&lt;/Text&gt;&#10;      &lt;Box style={{ width: 470, flexDirection: &quot;column&quot;, gap: 6, paddingBottom: 10 }}&gt;&#10;        &lt;Text style={{ fontSize: 22, fontWeight: &quot;bold&quot;, color: &quot;#2A2118&quot;, fontFamily: &quot;'Songti SC', 'STSong', 'SimSun', serif&quot; }}&gt;几何自检通过&lt;/Text&gt;&#10;        &lt;Text style={{ fontSize: 16, lineHeight: 1.55, color: &quot;rgba(42,33,24,0.7)&quot;, fontFamily: &quot;'PingFang SC', 'Microsoft YaHei', sans-serif&quot; }}&gt;10 种窗口尺寸棋盘居中、点击映射可逆、棋子不重叠。&lt;/Text&gt;&#10;      &lt;/Box&gt;&#10;    &lt;/Box&gt;&#10;    &lt;Box style={{ flexDirection: &quot;row&quot;, alignItems: &quot;flex-end&quot;, gap: 28 }}&gt;&#10;      &lt;Text style={{ fontSize: 100, fontWeight: &quot;bold&quot;, lineHeight: 1.0, color: &quot;#8C5A2B&quot;, fontFamily: &quot;'Songti SC', 'STSong', 'SimSun', serif&quot; }}&gt;627MB&lt;/Text&gt;&#10;      &lt;Box style={{ width: 470, flexDirection: &quot;column&quot;, gap: 6, paddingBottom: 10 }}&gt;&#10;        &lt;Text style={{ fontSize: 22, fontWeight: &quot;bold&quot;, color: &quot;#2A2118&quot;, fontFamily: &quot;'Songti SC', 'STSong', 'SimSun', serif&quot; }}&gt;可清理体积&lt;/Text&gt;&#10;        &lt;Text style={{ fontSize: 16, lineHeight: 1.55, color: &quot;rgba(42,33,24,0.7)&quot;, fontFamily: &quot;'PingFang SC', 'Microsoft YaHei', sans-serif&quot; }}&gt;935MB 工程中定位并清理 627MB 重复副本。&lt;/Text&gt;&#10;      &lt;/Box&gt;&#10;    &lt;/Box&gt;&#10;  &lt;/Box&gt;&#10;  &lt;/Box&gt;&#10;  &lt;Box style={{ width: &quot;100%&quot;, height: 48, flexDirection: &quot;row&quot;, alignItems: &quot;center&quot;, justifyContent: &quot;space-between&quot; }}&gt;&#10;    &lt;Text style={{ fontSize: 14, color: &quot;rgba(42,33,24,0.55)&quot;, fontFamily: &quot;'PingFang SC', 'Microsoft YaHei', sans-serif&quot; }}&gt;弈趣棋苑 · 项目开发汇报&lt;/Text&gt;&#10;    &lt;Text style={{ fontSize: 14, color: &quot;rgba(42,33,24,0.55)&quot;, fontFamily: &quot;'PingFang SC', 'Microsoft YaHei', sans-serif&quot; }}&gt;52 / 64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5E3BE"/>
          </a:solidFill>
          <a:ln/>
        </p:spPr>
        <p:txBody>
          <a:bodyPr/>
          <a:p/>
        </p:txBody>
      </p:sp>
      <p:sp>
        <p:nvSpPr>
          <p:cNvPr id="529" name="" descr="{&quot;isTemplate&quot;:true,&quot;type&quot;:&quot;text&quot;}"/>
          <p:cNvSpPr txBox="1"/>
          <p:nvPr/>
        </p:nvSpPr>
        <p:spPr>
          <a:xfrm rot="0" flipH="0" flipV="0">
            <a:off x="685800" y="400050"/>
            <a:ext cx="108204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A2118"/>
                </a:solidFill>
                <a:latin typeface="Songti SC"/>
                <a:ea typeface="Songti SC"/>
              </a:rPr>
              <a:t>成果：数字背后是验证</a:t>
            </a:r>
            <a:endParaRPr/>
          </a:p>
        </p:txBody>
      </p:sp>
      <p:sp>
        <p:nvSpPr>
          <p:cNvPr id="530" name=""/>
          <p:cNvSpPr/>
          <p:nvPr/>
        </p:nvSpPr>
        <p:spPr>
          <a:xfrm rot="0" flipH="0" flipV="0">
            <a:off x="685800" y="885825"/>
            <a:ext cx="533400" cy="19050"/>
          </a:xfrm>
          <a:prstGeom prst="rect">
            <a:avLst/>
          </a:prstGeom>
          <a:solidFill>
            <a:srgbClr val="B3271E"/>
          </a:solidFill>
          <a:ln/>
        </p:spPr>
        <p:txBody>
          <a:bodyPr/>
          <a:p/>
        </p:txBody>
      </p:sp>
      <p:sp>
        <p:nvSpPr>
          <p:cNvPr id="531" name="" descr="{&quot;isTemplate&quot;:true,&quot;type&quot;:&quot;text&quot;}"/>
          <p:cNvSpPr txBox="1"/>
          <p:nvPr/>
        </p:nvSpPr>
        <p:spPr>
          <a:xfrm rot="0" flipH="0" flipV="0">
            <a:off x="685800" y="1657350"/>
            <a:ext cx="895350" cy="11430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500" b="1">
                <a:solidFill>
                  <a:srgbClr val="B3271E"/>
                </a:solidFill>
                <a:latin typeface="Songti SC"/>
                <a:ea typeface="Songti SC"/>
              </a:rPr>
              <a:t>13</a:t>
            </a:r>
            <a:endParaRPr/>
          </a:p>
        </p:txBody>
      </p:sp>
      <p:sp>
        <p:nvSpPr>
          <p:cNvPr id="532" name="" descr="{&quot;isTemplate&quot;:true,&quot;type&quot;:&quot;text&quot;}"/>
          <p:cNvSpPr txBox="1"/>
          <p:nvPr/>
        </p:nvSpPr>
        <p:spPr>
          <a:xfrm rot="0" flipH="0" flipV="0">
            <a:off x="1847850" y="1819275"/>
            <a:ext cx="44767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2A2118"/>
                </a:solidFill>
                <a:latin typeface="Songti SC"/>
                <a:ea typeface="Songti SC"/>
              </a:rPr>
              <a:t>项修改，</a:t>
            </a:r>
            <a:r>
              <a:rPr lang="en-US" sz="1650" b="1">
                <a:solidFill>
                  <a:srgbClr val="2A2118"/>
                </a:solidFill>
                <a:latin typeface="Songti SC"/>
                <a:ea typeface="Songti SC"/>
              </a:rPr>
              <a:t xml:space="preserve">13 </a:t>
            </a:r>
            <a:r>
              <a:rPr lang="zh-CN" sz="1650" b="1">
                <a:solidFill>
                  <a:srgbClr val="2A2118"/>
                </a:solidFill>
                <a:latin typeface="Songti SC"/>
                <a:ea typeface="Songti SC"/>
              </a:rPr>
              <a:t>项验证</a:t>
            </a:r>
            <a:endParaRPr/>
          </a:p>
        </p:txBody>
      </p:sp>
      <p:sp>
        <p:nvSpPr>
          <p:cNvPr id="533" name="" descr="{&quot;isTemplate&quot;:true,&quot;type&quot;:&quot;text&quot;}"/>
          <p:cNvSpPr txBox="1"/>
          <p:nvPr/>
        </p:nvSpPr>
        <p:spPr>
          <a:xfrm rot="0" flipH="0" flipV="0">
            <a:off x="1847850" y="2133600"/>
            <a:ext cx="4476750" cy="5715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200">
                <a:solidFill>
                  <a:srgbClr val="2A2118">
                    <a:alpha val="70000"/>
                  </a:srgbClr>
                </a:solidFill>
                <a:latin typeface="PingFang SC"/>
                <a:ea typeface="PingFang SC"/>
              </a:rPr>
              <a:t>代码检查</a:t>
            </a:r>
            <a:r>
              <a:rPr lang="en-US" sz="1200">
                <a:solidFill>
                  <a:srgbClr val="2A2118">
                    <a:alpha val="70000"/>
                  </a:srgbClr>
                </a:solidFill>
                <a:latin typeface="PingFang SC"/>
                <a:ea typeface="PingFang SC"/>
              </a:rPr>
              <a:t xml:space="preserve"> / </a:t>
            </a:r>
            <a:r>
              <a:rPr lang="zh-CN" sz="1200">
                <a:solidFill>
                  <a:srgbClr val="2A2118">
                    <a:alpha val="70000"/>
                  </a:srgbClr>
                </a:solidFill>
                <a:latin typeface="PingFang SC"/>
                <a:ea typeface="PingFang SC"/>
              </a:rPr>
              <a:t>数学推导</a:t>
            </a:r>
            <a:r>
              <a:rPr lang="en-US" sz="1200">
                <a:solidFill>
                  <a:srgbClr val="2A2118">
                    <a:alpha val="70000"/>
                  </a:srgbClr>
                </a:solidFill>
                <a:latin typeface="PingFang SC"/>
                <a:ea typeface="PingFang SC"/>
              </a:rPr>
              <a:t xml:space="preserve"> / </a:t>
            </a:r>
            <a:r>
              <a:rPr lang="zh-CN" sz="1200">
                <a:solidFill>
                  <a:srgbClr val="2A2118">
                    <a:alpha val="70000"/>
                  </a:srgbClr>
                </a:solidFill>
                <a:latin typeface="PingFang SC"/>
                <a:ea typeface="PingFang SC"/>
              </a:rPr>
              <a:t>端到端脚本，每一项都说清验证方法与结论。</a:t>
            </a:r>
            <a:endParaRPr/>
          </a:p>
        </p:txBody>
      </p:sp>
      <p:sp>
        <p:nvSpPr>
          <p:cNvPr id="534" name="" descr="{&quot;isTemplate&quot;:true,&quot;type&quot;:&quot;text&quot;}"/>
          <p:cNvSpPr txBox="1"/>
          <p:nvPr/>
        </p:nvSpPr>
        <p:spPr>
          <a:xfrm rot="0" flipH="0" flipV="0">
            <a:off x="685800" y="2990850"/>
            <a:ext cx="2266950" cy="11430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500" b="1">
                <a:solidFill>
                  <a:srgbClr val="8C5A2B"/>
                </a:solidFill>
                <a:latin typeface="Songti SC"/>
                <a:ea typeface="Songti SC"/>
              </a:rPr>
              <a:t>10/10</a:t>
            </a:r>
            <a:endParaRPr/>
          </a:p>
        </p:txBody>
      </p:sp>
      <p:sp>
        <p:nvSpPr>
          <p:cNvPr id="535" name="" descr="{&quot;isTemplate&quot;:true,&quot;type&quot;:&quot;text&quot;}"/>
          <p:cNvSpPr txBox="1"/>
          <p:nvPr/>
        </p:nvSpPr>
        <p:spPr>
          <a:xfrm rot="0" flipH="0" flipV="0">
            <a:off x="3219450" y="3438525"/>
            <a:ext cx="44767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2A2118"/>
                </a:solidFill>
                <a:latin typeface="Songti SC"/>
                <a:ea typeface="Songti SC"/>
              </a:rPr>
              <a:t>几何自检通过</a:t>
            </a:r>
            <a:endParaRPr/>
          </a:p>
        </p:txBody>
      </p:sp>
      <p:sp>
        <p:nvSpPr>
          <p:cNvPr id="536" name="" descr="{&quot;isTemplate&quot;:true,&quot;type&quot;:&quot;text&quot;}"/>
          <p:cNvSpPr txBox="1"/>
          <p:nvPr/>
        </p:nvSpPr>
        <p:spPr>
          <a:xfrm rot="0" flipH="0" flipV="0">
            <a:off x="3219450" y="3752850"/>
            <a:ext cx="4476750" cy="28575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en-US" sz="1200">
                <a:solidFill>
                  <a:srgbClr val="2A2118">
                    <a:alpha val="70000"/>
                  </a:srgbClr>
                </a:solidFill>
                <a:latin typeface="PingFang SC"/>
                <a:ea typeface="PingFang SC"/>
              </a:rPr>
              <a:t xml:space="preserve">10 </a:t>
            </a:r>
            <a:r>
              <a:rPr lang="zh-CN" sz="1200">
                <a:solidFill>
                  <a:srgbClr val="2A2118">
                    <a:alpha val="70000"/>
                  </a:srgbClr>
                </a:solidFill>
                <a:latin typeface="PingFang SC"/>
                <a:ea typeface="PingFang SC"/>
              </a:rPr>
              <a:t>种窗口尺寸棋盘居中、点击映射可逆、棋子不重叠。</a:t>
            </a:r>
            <a:endParaRPr/>
          </a:p>
        </p:txBody>
      </p:sp>
      <p:sp>
        <p:nvSpPr>
          <p:cNvPr id="537" name="" descr="{&quot;isTemplate&quot;:true,&quot;type&quot;:&quot;text&quot;}"/>
          <p:cNvSpPr txBox="1"/>
          <p:nvPr/>
        </p:nvSpPr>
        <p:spPr>
          <a:xfrm rot="0" flipH="0" flipV="0">
            <a:off x="685800" y="4324350"/>
            <a:ext cx="2724150" cy="11430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500" b="1">
                <a:solidFill>
                  <a:srgbClr val="8C5A2B"/>
                </a:solidFill>
                <a:latin typeface="Songti SC"/>
                <a:ea typeface="Songti SC"/>
              </a:rPr>
              <a:t>627MB</a:t>
            </a:r>
            <a:endParaRPr/>
          </a:p>
        </p:txBody>
      </p:sp>
      <p:sp>
        <p:nvSpPr>
          <p:cNvPr id="538" name="" descr="{&quot;isTemplate&quot;:true,&quot;type&quot;:&quot;text&quot;}"/>
          <p:cNvSpPr txBox="1"/>
          <p:nvPr/>
        </p:nvSpPr>
        <p:spPr>
          <a:xfrm rot="0" flipH="0" flipV="0">
            <a:off x="3676650" y="4772025"/>
            <a:ext cx="44767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2A2118"/>
                </a:solidFill>
                <a:latin typeface="Songti SC"/>
                <a:ea typeface="Songti SC"/>
              </a:rPr>
              <a:t>可清理体积</a:t>
            </a:r>
            <a:endParaRPr/>
          </a:p>
        </p:txBody>
      </p:sp>
      <p:sp>
        <p:nvSpPr>
          <p:cNvPr id="539" name="" descr="{&quot;isTemplate&quot;:true,&quot;type&quot;:&quot;text&quot;}"/>
          <p:cNvSpPr txBox="1"/>
          <p:nvPr/>
        </p:nvSpPr>
        <p:spPr>
          <a:xfrm rot="0" flipH="0" flipV="0">
            <a:off x="3676650" y="5086350"/>
            <a:ext cx="4476750" cy="28575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en-US" sz="1200">
                <a:solidFill>
                  <a:srgbClr val="2A2118">
                    <a:alpha val="70000"/>
                  </a:srgbClr>
                </a:solidFill>
                <a:latin typeface="PingFang SC"/>
                <a:ea typeface="PingFang SC"/>
              </a:rPr>
              <a:t xml:space="preserve">935MB </a:t>
            </a:r>
            <a:r>
              <a:rPr lang="zh-CN" sz="1200">
                <a:solidFill>
                  <a:srgbClr val="2A2118">
                    <a:alpha val="70000"/>
                  </a:srgbClr>
                </a:solidFill>
                <a:latin typeface="PingFang SC"/>
                <a:ea typeface="PingFang SC"/>
              </a:rPr>
              <a:t>工程中定位并清理</a:t>
            </a:r>
            <a:r>
              <a:rPr lang="en-US" sz="1200">
                <a:solidFill>
                  <a:srgbClr val="2A2118">
                    <a:alpha val="70000"/>
                  </a:srgbClr>
                </a:solidFill>
                <a:latin typeface="PingFang SC"/>
                <a:ea typeface="PingFang SC"/>
              </a:rPr>
              <a:t xml:space="preserve"> 627MB </a:t>
            </a:r>
            <a:r>
              <a:rPr lang="zh-CN" sz="1200">
                <a:solidFill>
                  <a:srgbClr val="2A2118">
                    <a:alpha val="70000"/>
                  </a:srgbClr>
                </a:solidFill>
                <a:latin typeface="PingFang SC"/>
                <a:ea typeface="PingFang SC"/>
              </a:rPr>
              <a:t>重复副本。</a:t>
            </a:r>
            <a:endParaRPr/>
          </a:p>
        </p:txBody>
      </p:sp>
      <p:sp>
        <p:nvSpPr>
          <p:cNvPr id="540" name="" descr="{&quot;isTemplate&quot;:true,&quot;type&quot;:&quot;text&quot;}"/>
          <p:cNvSpPr txBox="1"/>
          <p:nvPr/>
        </p:nvSpPr>
        <p:spPr>
          <a:xfrm rot="0" flipH="0" flipV="0">
            <a:off x="685800" y="6172200"/>
            <a:ext cx="14478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2A2118">
                    <a:alpha val="55000"/>
                  </a:srgbClr>
                </a:solidFill>
                <a:latin typeface="PingFang SC"/>
                <a:ea typeface="PingFang SC"/>
              </a:rPr>
              <a:t>弈趣棋苑</a:t>
            </a:r>
            <a:r>
              <a:rPr lang="en-US" sz="1050">
                <a:solidFill>
                  <a:srgbClr val="2A2118">
                    <a:alpha val="55000"/>
                  </a:srgbClr>
                </a:solidFill>
                <a:latin typeface="PingFang SC"/>
                <a:ea typeface="PingFang SC"/>
              </a:rPr>
              <a:t xml:space="preserve"> · </a:t>
            </a:r>
            <a:r>
              <a:rPr lang="zh-CN" sz="1050">
                <a:solidFill>
                  <a:srgbClr val="2A2118">
                    <a:alpha val="55000"/>
                  </a:srgbClr>
                </a:solidFill>
                <a:latin typeface="PingFang SC"/>
                <a:ea typeface="PingFang SC"/>
              </a:rPr>
              <a:t>项目开发汇报</a:t>
            </a:r>
            <a:endParaRPr/>
          </a:p>
        </p:txBody>
      </p:sp>
      <p:sp>
        <p:nvSpPr>
          <p:cNvPr id="541" name="" descr="{&quot;isTemplate&quot;:true,&quot;type&quot;:&quot;text&quot;}"/>
          <p:cNvSpPr txBox="1"/>
          <p:nvPr/>
        </p:nvSpPr>
        <p:spPr>
          <a:xfrm rot="0" flipH="0" flipV="0">
            <a:off x="11049000" y="61722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2A2118">
                    <a:alpha val="55000"/>
                  </a:srgbClr>
                </a:solidFill>
                <a:latin typeface="PingFang SC"/>
                <a:ea typeface="PingFang SC"/>
              </a:rPr>
              <a:t>52 / 64</a:t>
            </a:r>
            <a:endParaRPr/>
          </a:p>
        </p:txBody>
      </p:sp>
    </p:spTree>
  </p:cSld>
</p:sld>
</file>

<file path=ppt/slides/slide5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542" name="" descr="&lt;Slide style={{ width: 1280, height: 720, padding: &quot;20px 72px&quot;, background: &quot;#F5E3BE&quot;, flexDirection: &quot;column&quot; }}&gt;&#10;  &lt;Box style={{ width: &quot;100%&quot;, height: 96, flexDirection: &quot;column&quot;, justifyContent: &quot;center&quot; }}&gt;&#10;    &lt;Text style={{ fontSize: 34, fontWeight: &quot;bold&quot;, color: &quot;#2A2118&quot;, fontFamily: &quot;'Songti SC', 'STSong', 'SimSun', serif&quot; }}&gt;三种棋，同一个界面语言&lt;/Text&gt;&#10;    &lt;Box style={{ width: 56, height: 2, background: &quot;#B3271E&quot;, marginTop: 10 }} /&gt;&#10;  &lt;/Box&gt;&#10;  &lt;Box style={{ width: &quot;100%&quot;, height: 516, flexDirection: &quot;column&quot; }}&gt;&#10;  &lt;Box style={{ flexDirection: &quot;column&quot;, height: &quot;100%&quot;, justifyContent: &quot;center&quot;, gap: 16 }}&gt;&#10;    &lt;Box style={{ flexDirection: &quot;row&quot;, gap: 18, height: 320 }}&gt;&#10;    &lt;Box style={{ flexDirection: &quot;column&quot;, gap: 10 }}&gt;&#10;      &lt;Image src=&quot;assets/shot_xiangqi.png&quot; style={{ width: 360, height: 234, objectFit: &quot;cover&quot;, borderRadius: 8, border: &quot;1px solid rgba(140,90,43,0.30)&quot; }} /&gt;&#10;      &lt;Text style={{ fontSize: 15, color: &quot;#8C5A2B&quot;, fontWeight: &quot;bold&quot;, fontFamily: &quot;'PingFang SC', 'Microsoft YaHei', sans-serif&quot; }}&gt;象棋&lt;/Text&gt;&#10;    &lt;/Box&gt;    &lt;Box style={{ flexDirection: &quot;column&quot;, gap: 10 }}&gt;&#10;      &lt;Image src=&quot;assets/shot_gomoku.png&quot; style={{ width: 360, height: 234, objectFit: &quot;cover&quot;, borderRadius: 8, border: &quot;1px solid rgba(140,90,43,0.30)&quot; }} /&gt;&#10;      &lt;Text style={{ fontSize: 15, color: &quot;#8C5A2B&quot;, fontWeight: &quot;bold&quot;, fontFamily: &quot;'PingFang SC', 'Microsoft YaHei', sans-serif&quot; }}&gt;五子棋&lt;/Text&gt;&#10;    &lt;/Box&gt;    &lt;Box style={{ flexDirection: &quot;column&quot;, gap: 10 }}&gt;&#10;      &lt;Image src=&quot;assets/shot_connect6.png&quot; style={{ width: 360, height: 234, objectFit: &quot;cover&quot;, borderRadius: 8, border: &quot;1px solid rgba(140,90,43,0.30)&quot; }} /&gt;&#10;      &lt;Text style={{ fontSize: 15, color: &quot;#8C5A2B&quot;, fontWeight: &quot;bold&quot;, fontFamily: &quot;'PingFang SC', 'Microsoft YaHei', sans-serif&quot; }}&gt;六子棋&lt;/Text&gt;&#10;    &lt;/Box&gt;&#10;    &lt;/Box&gt;&#10;    &lt;Text style={{ fontSize: 18, lineHeight: 1.7, color: &quot;rgba(42,33,24,0.78)&quot;, fontFamily: &quot;'PingFang SC', 'Microsoft YaHei', sans-serif&quot;, marginBottom: 14 }}&gt;跨棋种统一的不是配色，而是「左侧棋盘 + 右侧控制台」的界面语言和信息层级。&lt;/Text&gt;&#10;  &lt;/Box&gt;&#10;  &lt;/Box&gt;&#10;  &lt;Box style={{ width: &quot;100%&quot;, height: 48, flexDirection: &quot;row&quot;, alignItems: &quot;center&quot;, justifyContent: &quot;space-between&quot; }}&gt;&#10;    &lt;Text style={{ fontSize: 14, color: &quot;rgba(42,33,24,0.55)&quot;, fontFamily: &quot;'PingFang SC', 'Microsoft YaHei', sans-serif&quot; }}&gt;弈趣棋苑 · 项目开发汇报&lt;/Text&gt;&#10;    &lt;Text style={{ fontSize: 14, color: &quot;rgba(42,33,24,0.55)&quot;, fontFamily: &quot;'PingFang SC', 'Microsoft YaHei', sans-serif&quot; }}&gt;53 / 64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5E3BE"/>
          </a:solidFill>
          <a:ln/>
        </p:spPr>
        <p:txBody>
          <a:bodyPr/>
          <a:p/>
        </p:txBody>
      </p:sp>
      <p:sp>
        <p:nvSpPr>
          <p:cNvPr id="544" name="" descr="{&quot;isTemplate&quot;:true,&quot;type&quot;:&quot;text&quot;}"/>
          <p:cNvSpPr txBox="1"/>
          <p:nvPr/>
        </p:nvSpPr>
        <p:spPr>
          <a:xfrm rot="0" flipH="0" flipV="0">
            <a:off x="685800" y="400050"/>
            <a:ext cx="108204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A2118"/>
                </a:solidFill>
                <a:latin typeface="Songti SC"/>
                <a:ea typeface="Songti SC"/>
              </a:rPr>
              <a:t>三种棋，同一个界面语言</a:t>
            </a:r>
            <a:endParaRPr/>
          </a:p>
        </p:txBody>
      </p:sp>
      <p:sp>
        <p:nvSpPr>
          <p:cNvPr id="545" name=""/>
          <p:cNvSpPr/>
          <p:nvPr/>
        </p:nvSpPr>
        <p:spPr>
          <a:xfrm rot="0" flipH="0" flipV="0">
            <a:off x="685800" y="885825"/>
            <a:ext cx="533400" cy="19050"/>
          </a:xfrm>
          <a:prstGeom prst="rect">
            <a:avLst/>
          </a:prstGeom>
          <a:solidFill>
            <a:srgbClr val="B3271E"/>
          </a:solidFill>
          <a:ln/>
        </p:spPr>
        <p:txBody>
          <a:bodyPr/>
          <a:p/>
        </p:txBody>
      </p:sp>
      <p:sp>
        <p:nvSpPr>
          <p:cNvPr id="546" name=""/>
          <p:cNvSpPr/>
          <p:nvPr/>
        </p:nvSpPr>
        <p:spPr>
          <a:xfrm rot="0" flipH="0" flipV="0">
            <a:off x="685800" y="1724025"/>
            <a:ext cx="3429000" cy="2228850"/>
          </a:xfrm>
          <a:prstGeom prst="rect">
            <a:avLst/>
          </a:prstGeom>
          <a:ln w="12700">
            <a:solidFill>
              <a:srgbClr val="8C5A2B">
                <a:alpha val="3000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547" name=""/>
          <p:cNvPicPr>
            <a:picLocks noChangeAspect="1"/>
          </p:cNvPicPr>
          <p:nvPr/>
        </p:nvPicPr>
        <p:blipFill>
          <a:blip r:embed="rId1"/>
          <a:srcRect l="0" t="853" r="0" b="853"/>
          <a:stretch>
            <a:fillRect/>
          </a:stretch>
        </p:blipFill>
        <p:spPr>
          <a:xfrm rot="0" flipH="0" flipV="0">
            <a:off x="685800" y="1724025"/>
            <a:ext cx="3429000" cy="2228850"/>
          </a:xfrm>
          <a:prstGeom prst="roundRect">
            <a:avLst>
              <a:gd name="adj" fmla="val 3419"/>
            </a:avLst>
          </a:prstGeom>
          <a:ln/>
        </p:spPr>
      </p:pic>
      <p:sp>
        <p:nvSpPr>
          <p:cNvPr id="548" name="" descr="{&quot;isTemplate&quot;:true,&quot;type&quot;:&quot;text&quot;}"/>
          <p:cNvSpPr txBox="1"/>
          <p:nvPr/>
        </p:nvSpPr>
        <p:spPr>
          <a:xfrm rot="0" flipH="0" flipV="0">
            <a:off x="685800" y="4048125"/>
            <a:ext cx="34290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8C5A2B"/>
                </a:solidFill>
                <a:latin typeface="PingFang SC"/>
                <a:ea typeface="PingFang SC"/>
              </a:rPr>
              <a:t>象棋</a:t>
            </a:r>
            <a:endParaRPr/>
          </a:p>
        </p:txBody>
      </p:sp>
      <p:sp>
        <p:nvSpPr>
          <p:cNvPr id="549" name=""/>
          <p:cNvSpPr/>
          <p:nvPr/>
        </p:nvSpPr>
        <p:spPr>
          <a:xfrm rot="0" flipH="0" flipV="0">
            <a:off x="4286250" y="1724025"/>
            <a:ext cx="3429000" cy="2228850"/>
          </a:xfrm>
          <a:prstGeom prst="rect">
            <a:avLst/>
          </a:prstGeom>
          <a:ln w="12700">
            <a:solidFill>
              <a:srgbClr val="8C5A2B">
                <a:alpha val="3000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550" name=""/>
          <p:cNvPicPr>
            <a:picLocks noChangeAspect="1"/>
          </p:cNvPicPr>
          <p:nvPr/>
        </p:nvPicPr>
        <p:blipFill>
          <a:blip r:embed="rId2"/>
          <a:srcRect l="0" t="853" r="0" b="853"/>
          <a:stretch>
            <a:fillRect/>
          </a:stretch>
        </p:blipFill>
        <p:spPr>
          <a:xfrm rot="0" flipH="0" flipV="0">
            <a:off x="4286250" y="1724025"/>
            <a:ext cx="3429000" cy="2228850"/>
          </a:xfrm>
          <a:prstGeom prst="roundRect">
            <a:avLst>
              <a:gd name="adj" fmla="val 3419"/>
            </a:avLst>
          </a:prstGeom>
          <a:ln/>
        </p:spPr>
      </p:pic>
      <p:sp>
        <p:nvSpPr>
          <p:cNvPr id="551" name="" descr="{&quot;isTemplate&quot;:true,&quot;type&quot;:&quot;text&quot;}"/>
          <p:cNvSpPr txBox="1"/>
          <p:nvPr/>
        </p:nvSpPr>
        <p:spPr>
          <a:xfrm rot="0" flipH="0" flipV="0">
            <a:off x="4286250" y="4048125"/>
            <a:ext cx="34290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8C5A2B"/>
                </a:solidFill>
                <a:latin typeface="PingFang SC"/>
                <a:ea typeface="PingFang SC"/>
              </a:rPr>
              <a:t>五子棋</a:t>
            </a:r>
            <a:endParaRPr/>
          </a:p>
        </p:txBody>
      </p:sp>
      <p:sp>
        <p:nvSpPr>
          <p:cNvPr id="552" name=""/>
          <p:cNvSpPr/>
          <p:nvPr/>
        </p:nvSpPr>
        <p:spPr>
          <a:xfrm rot="0" flipH="0" flipV="0">
            <a:off x="7886700" y="1724025"/>
            <a:ext cx="3429000" cy="2228850"/>
          </a:xfrm>
          <a:prstGeom prst="rect">
            <a:avLst/>
          </a:prstGeom>
          <a:ln w="12700">
            <a:solidFill>
              <a:srgbClr val="8C5A2B">
                <a:alpha val="3000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553" name=""/>
          <p:cNvPicPr>
            <a:picLocks noChangeAspect="1"/>
          </p:cNvPicPr>
          <p:nvPr/>
        </p:nvPicPr>
        <p:blipFill>
          <a:blip r:embed="rId3"/>
          <a:srcRect l="0" t="853" r="0" b="853"/>
          <a:stretch>
            <a:fillRect/>
          </a:stretch>
        </p:blipFill>
        <p:spPr>
          <a:xfrm rot="0" flipH="0" flipV="0">
            <a:off x="7886700" y="1724025"/>
            <a:ext cx="3429000" cy="2228850"/>
          </a:xfrm>
          <a:prstGeom prst="roundRect">
            <a:avLst>
              <a:gd name="adj" fmla="val 3419"/>
            </a:avLst>
          </a:prstGeom>
          <a:ln/>
        </p:spPr>
      </p:pic>
      <p:sp>
        <p:nvSpPr>
          <p:cNvPr id="554" name="" descr="{&quot;isTemplate&quot;:true,&quot;type&quot;:&quot;text&quot;}"/>
          <p:cNvSpPr txBox="1"/>
          <p:nvPr/>
        </p:nvSpPr>
        <p:spPr>
          <a:xfrm rot="0" flipH="0" flipV="0">
            <a:off x="7886700" y="4048125"/>
            <a:ext cx="34290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8C5A2B"/>
                </a:solidFill>
                <a:latin typeface="PingFang SC"/>
                <a:ea typeface="PingFang SC"/>
              </a:rPr>
              <a:t>六子棋</a:t>
            </a:r>
            <a:endParaRPr/>
          </a:p>
        </p:txBody>
      </p:sp>
      <p:sp>
        <p:nvSpPr>
          <p:cNvPr id="555" name="" descr="{&quot;isTemplate&quot;:true,&quot;type&quot;:&quot;text&quot;}"/>
          <p:cNvSpPr txBox="1"/>
          <p:nvPr/>
        </p:nvSpPr>
        <p:spPr>
          <a:xfrm rot="0" flipH="0" flipV="0">
            <a:off x="685800" y="4924425"/>
            <a:ext cx="10820400" cy="35242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350">
                <a:solidFill>
                  <a:srgbClr val="2A2118">
                    <a:alpha val="78000"/>
                  </a:srgbClr>
                </a:solidFill>
                <a:latin typeface="PingFang SC"/>
                <a:ea typeface="PingFang SC"/>
              </a:rPr>
              <a:t>跨棋种统一的不是配色，而是「左侧棋盘</a:t>
            </a:r>
            <a:r>
              <a:rPr lang="en-US" sz="1350">
                <a:solidFill>
                  <a:srgbClr val="2A2118">
                    <a:alpha val="78000"/>
                  </a:srgbClr>
                </a:solidFill>
                <a:latin typeface="PingFang SC"/>
                <a:ea typeface="PingFang SC"/>
              </a:rPr>
              <a:t xml:space="preserve"> + </a:t>
            </a:r>
            <a:r>
              <a:rPr lang="zh-CN" sz="1350">
                <a:solidFill>
                  <a:srgbClr val="2A2118">
                    <a:alpha val="78000"/>
                  </a:srgbClr>
                </a:solidFill>
                <a:latin typeface="PingFang SC"/>
                <a:ea typeface="PingFang SC"/>
              </a:rPr>
              <a:t>右侧控制台」的界面语言和信息层级。</a:t>
            </a:r>
            <a:endParaRPr/>
          </a:p>
        </p:txBody>
      </p:sp>
      <p:sp>
        <p:nvSpPr>
          <p:cNvPr id="556" name="" descr="{&quot;isTemplate&quot;:true,&quot;type&quot;:&quot;text&quot;}"/>
          <p:cNvSpPr txBox="1"/>
          <p:nvPr/>
        </p:nvSpPr>
        <p:spPr>
          <a:xfrm rot="0" flipH="0" flipV="0">
            <a:off x="685800" y="6172200"/>
            <a:ext cx="14478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2A2118">
                    <a:alpha val="55000"/>
                  </a:srgbClr>
                </a:solidFill>
                <a:latin typeface="PingFang SC"/>
                <a:ea typeface="PingFang SC"/>
              </a:rPr>
              <a:t>弈趣棋苑</a:t>
            </a:r>
            <a:r>
              <a:rPr lang="en-US" sz="1050">
                <a:solidFill>
                  <a:srgbClr val="2A2118">
                    <a:alpha val="55000"/>
                  </a:srgbClr>
                </a:solidFill>
                <a:latin typeface="PingFang SC"/>
                <a:ea typeface="PingFang SC"/>
              </a:rPr>
              <a:t xml:space="preserve"> · </a:t>
            </a:r>
            <a:r>
              <a:rPr lang="zh-CN" sz="1050">
                <a:solidFill>
                  <a:srgbClr val="2A2118">
                    <a:alpha val="55000"/>
                  </a:srgbClr>
                </a:solidFill>
                <a:latin typeface="PingFang SC"/>
                <a:ea typeface="PingFang SC"/>
              </a:rPr>
              <a:t>项目开发汇报</a:t>
            </a:r>
            <a:endParaRPr/>
          </a:p>
        </p:txBody>
      </p:sp>
      <p:sp>
        <p:nvSpPr>
          <p:cNvPr id="557" name="" descr="{&quot;isTemplate&quot;:true,&quot;type&quot;:&quot;text&quot;}"/>
          <p:cNvSpPr txBox="1"/>
          <p:nvPr/>
        </p:nvSpPr>
        <p:spPr>
          <a:xfrm rot="0" flipH="0" flipV="0">
            <a:off x="11049000" y="61722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2A2118">
                    <a:alpha val="55000"/>
                  </a:srgbClr>
                </a:solidFill>
                <a:latin typeface="PingFang SC"/>
                <a:ea typeface="PingFang SC"/>
              </a:rPr>
              <a:t>53 / 64</a:t>
            </a:r>
            <a:endParaRPr/>
          </a:p>
        </p:txBody>
      </p:sp>
    </p:spTree>
  </p:cSld>
</p:sld>
</file>

<file path=ppt/slides/slide53.xml><?xml version="1.0" encoding="utf-8"?>
<p:sld xmlns:p="http://schemas.openxmlformats.org/presentationml/2006/main" xmlns:a="http://schemas.openxmlformats.org/drawingml/2006/main">
  <p:cSld>
    <p:spTree>
      <p:nvGrpSpPr>
        <p:cNvPr id="558" name="" descr="&lt;Slide style={{ width: 1280, height: 720, padding: &quot;20px 72px&quot;, background: &quot;#F5E3BE&quot;, flexDirection: &quot;column&quot; }}&gt;&#10;  &lt;Box style={{ width: &quot;100%&quot;, height: 96, flexDirection: &quot;column&quot;, justifyContent: &quot;center&quot; }}&gt;&#10;    &lt;Text style={{ fontSize: 34, fontWeight: &quot;bold&quot;, color: &quot;#2A2118&quot;, fontFamily: &quot;'Songti SC', 'STSong', 'SimSun', serif&quot; }}&gt;量化指标汇总&lt;/Text&gt;&#10;    &lt;Box style={{ width: 56, height: 2, background: &quot;#B3271E&quot;, marginTop: 10 }} /&gt;&#10;  &lt;/Box&gt;&#10;  &lt;Box style={{ width: &quot;100%&quot;, height: 516, flexDirection: &quot;column&quot; }}&gt;&#10;  &lt;Box style={{ flexDirection: &quot;column&quot;, height: &quot;100%&quot;, justifyContent: &quot;center&quot; }}&gt;&#10;&lt;Box style={{ width: &quot;100%&quot;, flexDirection: &quot;column&quot;, gap: 0 }}&gt;&#10;&lt;Box style={{ width: &quot;100%&quot;, height: 48, flexDirection: &quot;row&quot; }}&gt;&#10;&lt;Box style={{ width: 200, height: &quot;100%&quot;, background: &quot;#8C5A2B&quot;, border: &quot;1px solid rgba(140,90,43,0.25)&quot;, padding: &quot;10px 14px&quot;, justifyContent: &quot;center&quot; }}&gt;&#10;  &lt;Text style={{ fontSize: 15, fontWeight: &quot;bold&quot;, color: &quot;#F5E3BE&quot;, fontFamily: &quot;'PingFang SC', 'Microsoft YaHei', sans-serif&quot;, lineHeight: 1.45 }}&gt;指标&lt;/Text&gt;&#10;&lt;/Box&gt;&#10;&lt;Box style={{ width: 200, height: &quot;100%&quot;, background: &quot;#8C5A2B&quot;, border: &quot;1px solid rgba(140,90,43,0.25)&quot;, padding: &quot;10px 14px&quot;, justifyContent: &quot;center&quot; }}&gt;&#10;  &lt;Text style={{ fontSize: 15, fontWeight: &quot;bold&quot;, color: &quot;#F5E3BE&quot;, fontFamily: &quot;'PingFang SC', 'Microsoft YaHei', sans-serif&quot;, lineHeight: 1.45 }}&gt;改造前&lt;/Text&gt;&#10;&lt;/Box&gt;&#10;&lt;Box style={{ width: 240, height: &quot;100%&quot;, background: &quot;#8C5A2B&quot;, border: &quot;1px solid rgba(140,90,43,0.25)&quot;, padding: &quot;10px 14px&quot;, justifyContent: &quot;center&quot; }}&gt;&#10;  &lt;Text style={{ fontSize: 15, fontWeight: &quot;bold&quot;, color: &quot;#F5E3BE&quot;, fontFamily: &quot;'PingFang SC', 'Microsoft YaHei', sans-serif&quot;, lineHeight: 1.45 }}&gt;改造后&lt;/Text&gt;&#10;&lt;/Box&gt;&#10;&lt;Box style={{ width: 496, height: &quot;100%&quot;, background: &quot;#8C5A2B&quot;, border: &quot;1px solid rgba(140,90,43,0.25)&quot;, padding: &quot;10px 14px&quot;, justifyContent: &quot;center&quot; }}&gt;&#10;  &lt;Text style={{ fontSize: 15, fontWeight: &quot;bold&quot;, color: &quot;#F5E3BE&quot;, fontFamily: &quot;'PingFang SC', 'Microsoft YaHei', sans-serif&quot;, lineHeight: 1.45 }}&gt;验证方式&lt;/Text&gt;&#10;&lt;/Box&gt;&#10;&lt;/Box&gt;&#10;&lt;Box style={{ width: &quot;100%&quot;, height: 72, flexDirection: &quot;row&quot; }}&gt;&#10;&lt;Box style={{ width: 200, height: &quot;100%&quot;, background: &quot;rgba(140,90,43,0.05)&quot;, border: &quot;1px solid rgba(140,90,43,0.25)&quot;, padding: &quot;10px 14px&quot;, justifyContent: &quot;center&quot; }}&gt;&#10;  &lt;Text style={{ fontSize: 15, fontWeight: &quot;regular&quot;, color: &quot;#2A2118&quot;, fontFamily: &quot;'PingFang SC', 'Microsoft YaHei', sans-serif&quot;, lineHeight: 1.45 }}&gt;落子音链路&lt;/Text&gt;&#10;&lt;/Box&gt;&#10;&lt;Box style={{ width: 200, height: &quot;100%&quot;, background: &quot;rgba(140,90,43,0.05)&quot;, border: &quot;1px solid rgba(140,90,43,0.25)&quot;, padding: &quot;10px 14px&quot;, justifyContent: &quot;center&quot; }}&gt;&#10;  &lt;Text style={{ fontSize: 15, fontWeight: &quot;regular&quot;, color: &quot;#2A2118&quot;, fontFamily: &quot;'PingFang SC', 'Microsoft YaHei', sans-serif&quot;, lineHeight: 1.45 }}&gt;110ms+&lt;/Text&gt;&#10;&lt;/Box&gt;&#10;&lt;Box style={{ width: 240, height: &quot;100%&quot;, background: &quot;rgba(140,90,43,0.05)&quot;, border: &quot;1px solid rgba(140,90,43,0.25)&quot;, padding: &quot;10px 14px&quot;, justifyContent: &quot;center&quot; }}&gt;&#10;  &lt;Text style={{ fontSize: 15, fontWeight: &quot;regular&quot;, color: &quot;#2A2118&quot;, fontFamily: &quot;'PingFang SC', 'Microsoft YaHei', sans-serif&quot;, lineHeight: 1.45 }}&gt;16ms&lt;/Text&gt;&#10;&lt;/Box&gt;&#10;&lt;Box style={{ width: 496, height: &quot;100%&quot;, background: &quot;rgba(140,90,43,0.05)&quot;, border: &quot;1px solid rgba(140,90,43,0.25)&quot;, padding: &quot;10px 14px&quot;, justifyContent: &quot;center&quot; }}&gt;&#10;  &lt;Text style={{ fontSize: 15, fontWeight: &quot;regular&quot;, color: &quot;#2A2118&quot;, fontFamily: &quot;'PingFang SC', 'Microsoft YaHei', sans-serif&quot;, lineHeight: 1.45 }}&gt;MCI 直测计时&lt;/Text&gt;&#10;&lt;/Box&gt;&#10;&lt;/Box&gt;&#10;&lt;Box style={{ width: &quot;100%&quot;, height: 72, flexDirection: &quot;row&quot; }}&gt;&#10;&lt;Box style={{ width: 200, height: &quot;100%&quot;, background: &quot;rgba(140,90,43,0.05)&quot;, border: &quot;1px solid rgba(140,90,43,0.25)&quot;, padding: &quot;10px 14px&quot;, justifyContent: &quot;center&quot; }}&gt;&#10;  &lt;Text style={{ fontSize: 15, fontWeight: &quot;regular&quot;, color: &quot;#2A2118&quot;, fontFamily: &quot;'PingFang SC', 'Microsoft YaHei', sans-serif&quot;, lineHeight: 1.45 }}&gt;超采样倍率&lt;/Text&gt;&#10;&lt;/Box&gt;&#10;&lt;Box style={{ width: 200, height: &quot;100%&quot;, background: &quot;rgba(140,90,43,0.05)&quot;, border: &quot;1px solid rgba(140,90,43,0.25)&quot;, padding: &quot;10px 14px&quot;, justifyContent: &quot;center&quot; }}&gt;&#10;  &lt;Text style={{ fontSize: 15, fontWeight: &quot;regular&quot;, color: &quot;#2A2118&quot;, fontFamily: &quot;'PingFang SC', 'Microsoft YaHei', sans-serif&quot;, lineHeight: 1.45 }}&gt;无&lt;/Text&gt;&#10;&lt;/Box&gt;&#10;&lt;Box style={{ width: 240, height: &quot;100%&quot;, background: &quot;rgba(140,90,43,0.05)&quot;, border: &quot;1px solid rgba(140,90,43,0.25)&quot;, padding: &quot;10px 14px&quot;, justifyContent: &quot;center&quot; }}&gt;&#10;  &lt;Text style={{ fontSize: 15, fontWeight: &quot;regular&quot;, color: &quot;#2A2118&quot;, fontFamily: &quot;'PingFang SC', 'Microsoft YaHei', sans-serif&quot;, lineHeight: 1.45 }}&gt;4×&lt;/Text&gt;&#10;&lt;/Box&gt;&#10;&lt;Box style={{ width: 496, height: &quot;100%&quot;, background: &quot;rgba(140,90,43,0.05)&quot;, border: &quot;1px solid rgba(140,90,43,0.25)&quot;, padding: &quot;10px 14px&quot;, justifyContent: &quot;center&quot; }}&gt;&#10;  &lt;Text style={{ fontSize: 15, fontWeight: &quot;regular&quot;, color: &quot;#2A2118&quot;, fontFamily: &quot;'PingFang SC', 'Microsoft YaHei', sans-serif&quot;, lineHeight: 1.45 }}&gt;源码 + 像素采样&lt;/Text&gt;&#10;&lt;/Box&gt;&#10;&lt;/Box&gt;&#10;&lt;Box style={{ width: &quot;100%&quot;, height: 72, flexDirection: &quot;row&quot; }}&gt;&#10;&lt;Box style={{ width: 200, height: &quot;100%&quot;, background: &quot;rgba(140,90,43,0.05)&quot;, border: &quot;1px solid rgba(140,90,43,0.25)&quot;, padding: &quot;10px 14px&quot;, justifyContent: &quot;center&quot; }}&gt;&#10;  &lt;Text style={{ fontSize: 15, fontWeight: &quot;regular&quot;, color: &quot;#2A2118&quot;, fontFamily: &quot;'PingFang SC', 'Microsoft YaHei', sans-serif&quot;, lineHeight: 1.45 }}&gt;音效队列&lt;/Text&gt;&#10;&lt;/Box&gt;&#10;&lt;Box style={{ width: 200, height: &quot;100%&quot;, background: &quot;rgba(140,90,43,0.05)&quot;, border: &quot;1px solid rgba(140,90,43,0.25)&quot;, padding: &quot;10px 14px&quot;, justifyContent: &quot;center&quot; }}&gt;&#10;  &lt;Text style={{ fontSize: 15, fontWeight: &quot;regular&quot;, color: &quot;#2A2118&quot;, fontFamily: &quot;'PingFang SC', 'Microsoft YaHei', sans-serif&quot;, lineHeight: 1.45 }}&gt;单队列串行&lt;/Text&gt;&#10;&lt;/Box&gt;&#10;&lt;Box style={{ width: 240, height: &quot;100%&quot;, background: &quot;rgba(140,90,43,0.05)&quot;, border: &quot;1px solid rgba(140,90,43,0.25)&quot;, padding: &quot;10px 14px&quot;, justifyContent: &quot;center&quot; }}&gt;&#10;  &lt;Text style={{ fontSize: 15, fontWeight: &quot;regular&quot;, color: &quot;#2A2118&quot;, fontFamily: &quot;'PingFang SC', 'Microsoft YaHei', sans-serif&quot;, lineHeight: 1.45 }}&gt;双轨隔离&lt;/Text&gt;&#10;&lt;/Box&gt;&#10;&lt;Box style={{ width: 496, height: &quot;100%&quot;, background: &quot;rgba(140,90,43,0.05)&quot;, border: &quot;1px solid rgba(140,90,43,0.25)&quot;, padding: &quot;10px 14px&quot;, justifyContent: &quot;center&quot; }}&gt;&#10;  &lt;Text style={{ fontSize: 15, fontWeight: &quot;regular&quot;, color: &quot;#2A2118&quot;, fontFamily: &quot;'PingFang SC', 'Microsoft YaHei', sans-serif&quot;, lineHeight: 1.45 }}&gt;单元断言&lt;/Text&gt;&#10;&lt;/Box&gt;&#10;&lt;/Box&gt;&#10;&lt;Box style={{ width: &quot;100%&quot;, height: 72, flexDirection: &quot;row&quot; }}&gt;&#10;&lt;Box style={{ width: 200, height: &quot;100%&quot;, background: &quot;rgba(140,90,43,0.05)&quot;, border: &quot;1px solid rgba(140,90,43,0.25)&quot;, padding: &quot;10px 14px&quot;, justifyContent: &quot;center&quot; }}&gt;&#10;  &lt;Text style={{ fontSize: 15, fontWeight: &quot;regular&quot;, color: &quot;#2A2118&quot;, fontFamily: &quot;'PingFang SC', 'Microsoft YaHei', sans-serif&quot;, lineHeight: 1.45 }}&gt;窗口几何自检&lt;/Text&gt;&#10;&lt;/Box&gt;&#10;&lt;Box style={{ width: 200, height: &quot;100%&quot;, background: &quot;rgba(140,90,43,0.05)&quot;, border: &quot;1px solid rgba(140,90,43,0.25)&quot;, padding: &quot;10px 14px&quot;, justifyContent: &quot;center&quot; }}&gt;&#10;  &lt;Text style={{ fontSize: 15, fontWeight: &quot;regular&quot;, color: &quot;#2A2118&quot;, fontFamily: &quot;'PingFang SC', 'Microsoft YaHei', sans-serif&quot;, lineHeight: 1.45 }}&gt;—&lt;/Text&gt;&#10;&lt;/Box&gt;&#10;&lt;Box style={{ width: 240, height: &quot;100%&quot;, background: &quot;rgba(140,90,43,0.05)&quot;, border: &quot;1px solid rgba(140,90,43,0.25)&quot;, padding: &quot;10px 14px&quot;, justifyContent: &quot;center&quot; }}&gt;&#10;  &lt;Text style={{ fontSize: 15, fontWeight: &quot;regular&quot;, color: &quot;#2A2118&quot;, fontFamily: &quot;'PingFang SC', 'Microsoft YaHei', sans-serif&quot;, lineHeight: 1.45 }}&gt;10/10 通过&lt;/Text&gt;&#10;&lt;/Box&gt;&#10;&lt;Box style={{ width: 496, height: &quot;100%&quot;, background: &quot;rgba(140,90,43,0.05)&quot;, border: &quot;1px solid rgba(140,90,43,0.25)&quot;, padding: &quot;10px 14px&quot;, justifyContent: &quot;center&quot; }}&gt;&#10;  &lt;Text style={{ fontSize: 15, fontWeight: &quot;regular&quot;, color: &quot;#2A2118&quot;, fontFamily: &quot;'PingFang SC', 'Microsoft YaHei', sans-serif&quot;, lineHeight: 1.45 }}&gt;10 种尺寸脚本&lt;/Text&gt;&#10;&lt;/Box&gt;&#10;&lt;/Box&gt;&#10;&lt;Box style={{ width: &quot;100%&quot;, height: 72, flexDirection: &quot;row&quot; }}&gt;&#10;&lt;Box style={{ width: 200, height: &quot;100%&quot;, background: &quot;rgba(140,90,43,0.05)&quot;, border: &quot;1px solid rgba(140,90,43,0.25)&quot;, padding: &quot;10px 14px&quot;, justifyContent: &quot;center&quot; }}&gt;&#10;  &lt;Text style={{ fontSize: 15, fontWeight: &quot;regular&quot;, color: &quot;#2A2118&quot;, fontFamily: &quot;'PingFang SC', 'Microsoft YaHei', sans-serif&quot;, lineHeight: 1.45 }}&gt;工程体积&lt;/Text&gt;&#10;&lt;/Box&gt;&#10;&lt;Box style={{ width: 200, height: &quot;100%&quot;, background: &quot;rgba(140,90,43,0.05)&quot;, border: &quot;1px solid rgba(140,90,43,0.25)&quot;, padding: &quot;10px 14px&quot;, justifyContent: &quot;center&quot; }}&gt;&#10;  &lt;Text style={{ fontSize: 15, fontWeight: &quot;regular&quot;, color: &quot;#2A2118&quot;, fontFamily: &quot;'PingFang SC', 'Microsoft YaHei', sans-serif&quot;, lineHeight: 1.45 }}&gt;935MB&lt;/Text&gt;&#10;&lt;/Box&gt;&#10;&lt;Box style={{ width: 240, height: &quot;100%&quot;, background: &quot;rgba(140,90,43,0.05)&quot;, border: &quot;1px solid rgba(140,90,43,0.25)&quot;, padding: &quot;10px 14px&quot;, justifyContent: &quot;center&quot; }}&gt;&#10;  &lt;Text style={{ fontSize: 15, fontWeight: &quot;regular&quot;, color: &quot;#2A2118&quot;, fontFamily: &quot;'PingFang SC', 'Microsoft YaHei', sans-serif&quot;, lineHeight: 1.45 }}&gt;308MB&lt;/Text&gt;&#10;&lt;/Box&gt;&#10;&lt;Box style={{ width: 496, height: &quot;100%&quot;, background: &quot;rgba(140,90,43,0.05)&quot;, border: &quot;1px solid rgba(140,90,43,0.25)&quot;, padding: &quot;10px 14px&quot;, justifyContent: &quot;center&quot; }}&gt;&#10;  &lt;Text style={{ fontSize: 15, fontWeight: &quot;regular&quot;, color: &quot;#2A2118&quot;, fontFamily: &quot;'PingFang SC', 'Microsoft YaHei', sans-serif&quot;, lineHeight: 1.45 }}&gt;磁盘扫描&lt;/Text&gt;&#10;&lt;/Box&gt;&#10;&lt;/Box&gt;&#10;&lt;Box style={{ width: &quot;100%&quot;, height: 72, flexDirection: &quot;row&quot; }}&gt;&#10;&lt;Box style={{ width: 200, height: &quot;100%&quot;, background: &quot;rgba(140,90,43,0.05)&quot;, border: &quot;1px solid rgba(140,90,43,0.25)&quot;, padding: &quot;10px 14px&quot;, justifyContent: &quot;center&quot; }}&gt;&#10;  &lt;Text style={{ fontSize: 15, fontWeight: &quot;regular&quot;, color: &quot;#2A2118&quot;, fontFamily: &quot;'PingFang SC', 'Microsoft YaHei', sans-serif&quot;, lineHeight: 1.45 }}&gt;模块数&lt;/Text&gt;&#10;&lt;/Box&gt;&#10;&lt;Box style={{ width: 200, height: &quot;100%&quot;, background: &quot;rgba(140,90,43,0.05)&quot;, border: &quot;1px solid rgba(140,90,43,0.25)&quot;, padding: &quot;10px 14px&quot;, justifyContent: &quot;center&quot; }}&gt;&#10;  &lt;Text style={{ fontSize: 15, fontWeight: &quot;regular&quot;, color: &quot;#2A2118&quot;, fontFamily: &quot;'PingFang SC', 'Microsoft YaHei', sans-serif&quot;, lineHeight: 1.45 }}&gt;—&lt;/Text&gt;&#10;&lt;/Box&gt;&#10;&lt;Box style={{ width: 240, height: &quot;100%&quot;, background: &quot;rgba(140,90,43,0.05)&quot;, border: &quot;1px solid rgba(140,90,43,0.25)&quot;, padding: &quot;10px 14px&quot;, justifyContent: &quot;center&quot; }}&gt;&#10;  &lt;Text style={{ fontSize: 15, fontWeight: &quot;regular&quot;, color: &quot;#2A2118&quot;, fontFamily: &quot;'PingFang SC', 'Microsoft YaHei', sans-serif&quot;, lineHeight: 1.45 }}&gt;20+&lt;/Text&gt;&#10;&lt;/Box&gt;&#10;&lt;Box style={{ width: 496, height: &quot;100%&quot;, background: &quot;rgba(140,90,43,0.05)&quot;, border: &quot;1px solid rgba(140,90,43,0.25)&quot;, padding: &quot;10px 14px&quot;, justifyContent: &quot;center&quot; }}&gt;&#10;  &lt;Text style={{ fontSize: 15, fontWeight: &quot;regular&quot;, color: &quot;#2A2118&quot;, fontFamily: &quot;'PingFang SC', 'Microsoft YaHei', sans-serif&quot;, lineHeight: 1.45 }}&gt;源码统计&lt;/Text&gt;&#10;&lt;/Box&gt;&#10;&lt;/Box&gt;&#10;&lt;/Box&gt;&#10;  &lt;/Box&gt;&#10;  &lt;/Box&gt;&#10;  &lt;Box style={{ width: &quot;100%&quot;, height: 48, flexDirection: &quot;row&quot;, alignItems: &quot;center&quot;, justifyContent: &quot;space-between&quot; }}&gt;&#10;    &lt;Text style={{ fontSize: 14, color: &quot;rgba(42,33,24,0.55)&quot;, fontFamily: &quot;'PingFang SC', 'Microsoft YaHei', sans-serif&quot; }}&gt;弈趣棋苑 · 项目开发汇报&lt;/Text&gt;&#10;    &lt;Text style={{ fontSize: 14, color: &quot;rgba(42,33,24,0.55)&quot;, fontFamily: &quot;'PingFang SC', 'Microsoft YaHei', sans-serif&quot; }}&gt;54 / 64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5E3BE"/>
          </a:solidFill>
          <a:ln/>
        </p:spPr>
        <p:txBody>
          <a:bodyPr/>
          <a:p/>
        </p:txBody>
      </p:sp>
      <p:sp>
        <p:nvSpPr>
          <p:cNvPr id="560" name="" descr="{&quot;isTemplate&quot;:true,&quot;type&quot;:&quot;text&quot;}"/>
          <p:cNvSpPr txBox="1"/>
          <p:nvPr/>
        </p:nvSpPr>
        <p:spPr>
          <a:xfrm rot="0" flipH="0" flipV="0">
            <a:off x="685800" y="400050"/>
            <a:ext cx="108204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A2118"/>
                </a:solidFill>
                <a:latin typeface="Songti SC"/>
                <a:ea typeface="Songti SC"/>
              </a:rPr>
              <a:t>量化指标汇总</a:t>
            </a:r>
            <a:endParaRPr/>
          </a:p>
        </p:txBody>
      </p:sp>
      <p:sp>
        <p:nvSpPr>
          <p:cNvPr id="561" name=""/>
          <p:cNvSpPr/>
          <p:nvPr/>
        </p:nvSpPr>
        <p:spPr>
          <a:xfrm rot="0" flipH="0" flipV="0">
            <a:off x="685800" y="885825"/>
            <a:ext cx="533400" cy="19050"/>
          </a:xfrm>
          <a:prstGeom prst="rect">
            <a:avLst/>
          </a:prstGeom>
          <a:solidFill>
            <a:srgbClr val="B3271E"/>
          </a:solidFill>
          <a:ln/>
        </p:spPr>
        <p:txBody>
          <a:bodyPr/>
          <a:p/>
        </p:txBody>
      </p:sp>
      <p:sp>
        <p:nvSpPr>
          <p:cNvPr id="562" name=""/>
          <p:cNvSpPr/>
          <p:nvPr/>
        </p:nvSpPr>
        <p:spPr>
          <a:xfrm rot="0" flipH="0" flipV="0">
            <a:off x="685800" y="1276350"/>
            <a:ext cx="1905000" cy="457200"/>
          </a:xfrm>
          <a:prstGeom prst="rect">
            <a:avLst/>
          </a:prstGeom>
          <a:solidFill>
            <a:srgbClr val="8C5A2B"/>
          </a:solidFill>
          <a:ln w="12700">
            <a:solidFill>
              <a:srgbClr val="8C5A2B">
                <a:alpha val="2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63" name="" descr="{&quot;isTemplate&quot;:true,&quot;type&quot;:&quot;text&quot;}"/>
          <p:cNvSpPr txBox="1"/>
          <p:nvPr/>
        </p:nvSpPr>
        <p:spPr>
          <a:xfrm rot="0" flipH="0" flipV="0">
            <a:off x="819150" y="1381125"/>
            <a:ext cx="1638300" cy="2571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125" b="1">
                <a:solidFill>
                  <a:srgbClr val="F5E3BE"/>
                </a:solidFill>
                <a:latin typeface="PingFang SC"/>
                <a:ea typeface="PingFang SC"/>
              </a:rPr>
              <a:t>指标</a:t>
            </a:r>
            <a:endParaRPr/>
          </a:p>
        </p:txBody>
      </p:sp>
      <p:sp>
        <p:nvSpPr>
          <p:cNvPr id="564" name=""/>
          <p:cNvSpPr/>
          <p:nvPr/>
        </p:nvSpPr>
        <p:spPr>
          <a:xfrm rot="0" flipH="0" flipV="0">
            <a:off x="2590800" y="1276350"/>
            <a:ext cx="1905000" cy="457200"/>
          </a:xfrm>
          <a:prstGeom prst="rect">
            <a:avLst/>
          </a:prstGeom>
          <a:solidFill>
            <a:srgbClr val="8C5A2B"/>
          </a:solidFill>
          <a:ln w="12700">
            <a:solidFill>
              <a:srgbClr val="8C5A2B">
                <a:alpha val="2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65" name="" descr="{&quot;isTemplate&quot;:true,&quot;type&quot;:&quot;text&quot;}"/>
          <p:cNvSpPr txBox="1"/>
          <p:nvPr/>
        </p:nvSpPr>
        <p:spPr>
          <a:xfrm rot="0" flipH="0" flipV="0">
            <a:off x="2724150" y="1381125"/>
            <a:ext cx="1638300" cy="2571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125" b="1">
                <a:solidFill>
                  <a:srgbClr val="F5E3BE"/>
                </a:solidFill>
                <a:latin typeface="PingFang SC"/>
                <a:ea typeface="PingFang SC"/>
              </a:rPr>
              <a:t>改造前</a:t>
            </a:r>
            <a:endParaRPr/>
          </a:p>
        </p:txBody>
      </p:sp>
      <p:sp>
        <p:nvSpPr>
          <p:cNvPr id="566" name=""/>
          <p:cNvSpPr/>
          <p:nvPr/>
        </p:nvSpPr>
        <p:spPr>
          <a:xfrm rot="0" flipH="0" flipV="0">
            <a:off x="4495800" y="1276350"/>
            <a:ext cx="2286000" cy="457200"/>
          </a:xfrm>
          <a:prstGeom prst="rect">
            <a:avLst/>
          </a:prstGeom>
          <a:solidFill>
            <a:srgbClr val="8C5A2B"/>
          </a:solidFill>
          <a:ln w="12700">
            <a:solidFill>
              <a:srgbClr val="8C5A2B">
                <a:alpha val="2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67" name="" descr="{&quot;isTemplate&quot;:true,&quot;type&quot;:&quot;text&quot;}"/>
          <p:cNvSpPr txBox="1"/>
          <p:nvPr/>
        </p:nvSpPr>
        <p:spPr>
          <a:xfrm rot="0" flipH="0" flipV="0">
            <a:off x="4629150" y="1381125"/>
            <a:ext cx="2019300" cy="2571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125" b="1">
                <a:solidFill>
                  <a:srgbClr val="F5E3BE"/>
                </a:solidFill>
                <a:latin typeface="PingFang SC"/>
                <a:ea typeface="PingFang SC"/>
              </a:rPr>
              <a:t>改造后</a:t>
            </a:r>
            <a:endParaRPr/>
          </a:p>
        </p:txBody>
      </p:sp>
      <p:sp>
        <p:nvSpPr>
          <p:cNvPr id="568" name=""/>
          <p:cNvSpPr/>
          <p:nvPr/>
        </p:nvSpPr>
        <p:spPr>
          <a:xfrm rot="0" flipH="0" flipV="0">
            <a:off x="6781800" y="1276350"/>
            <a:ext cx="4724400" cy="457200"/>
          </a:xfrm>
          <a:prstGeom prst="rect">
            <a:avLst/>
          </a:prstGeom>
          <a:solidFill>
            <a:srgbClr val="8C5A2B"/>
          </a:solidFill>
          <a:ln w="12700">
            <a:solidFill>
              <a:srgbClr val="8C5A2B">
                <a:alpha val="2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69" name="" descr="{&quot;isTemplate&quot;:true,&quot;type&quot;:&quot;text&quot;}"/>
          <p:cNvSpPr txBox="1"/>
          <p:nvPr/>
        </p:nvSpPr>
        <p:spPr>
          <a:xfrm rot="0" flipH="0" flipV="0">
            <a:off x="6915150" y="1381125"/>
            <a:ext cx="4457700" cy="2571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125" b="1">
                <a:solidFill>
                  <a:srgbClr val="F5E3BE"/>
                </a:solidFill>
                <a:latin typeface="PingFang SC"/>
                <a:ea typeface="PingFang SC"/>
              </a:rPr>
              <a:t>验证方式</a:t>
            </a:r>
            <a:endParaRPr/>
          </a:p>
        </p:txBody>
      </p:sp>
      <p:sp>
        <p:nvSpPr>
          <p:cNvPr id="570" name=""/>
          <p:cNvSpPr/>
          <p:nvPr/>
        </p:nvSpPr>
        <p:spPr>
          <a:xfrm rot="0" flipH="0" flipV="0">
            <a:off x="685800" y="1733550"/>
            <a:ext cx="1905000" cy="685800"/>
          </a:xfrm>
          <a:prstGeom prst="rect">
            <a:avLst/>
          </a:prstGeom>
          <a:solidFill>
            <a:srgbClr val="8C5A2B">
              <a:alpha val="5000"/>
            </a:srgbClr>
          </a:solidFill>
          <a:ln w="12700">
            <a:solidFill>
              <a:srgbClr val="8C5A2B">
                <a:alpha val="2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71" name="" descr="{&quot;isTemplate&quot;:true,&quot;type&quot;:&quot;text&quot;}"/>
          <p:cNvSpPr txBox="1"/>
          <p:nvPr/>
        </p:nvSpPr>
        <p:spPr>
          <a:xfrm rot="0" flipH="0" flipV="0">
            <a:off x="819150" y="1952625"/>
            <a:ext cx="1638300" cy="2571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125">
                <a:solidFill>
                  <a:srgbClr val="2A2118"/>
                </a:solidFill>
                <a:latin typeface="PingFang SC"/>
                <a:ea typeface="PingFang SC"/>
              </a:rPr>
              <a:t>落子音链路</a:t>
            </a:r>
            <a:endParaRPr/>
          </a:p>
        </p:txBody>
      </p:sp>
      <p:sp>
        <p:nvSpPr>
          <p:cNvPr id="572" name=""/>
          <p:cNvSpPr/>
          <p:nvPr/>
        </p:nvSpPr>
        <p:spPr>
          <a:xfrm rot="0" flipH="0" flipV="0">
            <a:off x="2590800" y="1733550"/>
            <a:ext cx="1905000" cy="685800"/>
          </a:xfrm>
          <a:prstGeom prst="rect">
            <a:avLst/>
          </a:prstGeom>
          <a:solidFill>
            <a:srgbClr val="8C5A2B">
              <a:alpha val="5000"/>
            </a:srgbClr>
          </a:solidFill>
          <a:ln w="12700">
            <a:solidFill>
              <a:srgbClr val="8C5A2B">
                <a:alpha val="2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73" name="" descr="{&quot;isTemplate&quot;:true,&quot;type&quot;:&quot;text&quot;}"/>
          <p:cNvSpPr txBox="1"/>
          <p:nvPr/>
        </p:nvSpPr>
        <p:spPr>
          <a:xfrm rot="0" flipH="0" flipV="0">
            <a:off x="2724150" y="1952625"/>
            <a:ext cx="1638300" cy="2571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1125">
                <a:solidFill>
                  <a:srgbClr val="2A2118"/>
                </a:solidFill>
                <a:latin typeface="PingFang SC"/>
                <a:ea typeface="PingFang SC"/>
              </a:rPr>
              <a:t>110ms+</a:t>
            </a:r>
            <a:endParaRPr/>
          </a:p>
        </p:txBody>
      </p:sp>
      <p:sp>
        <p:nvSpPr>
          <p:cNvPr id="574" name=""/>
          <p:cNvSpPr/>
          <p:nvPr/>
        </p:nvSpPr>
        <p:spPr>
          <a:xfrm rot="0" flipH="0" flipV="0">
            <a:off x="4495800" y="1733550"/>
            <a:ext cx="2286000" cy="685800"/>
          </a:xfrm>
          <a:prstGeom prst="rect">
            <a:avLst/>
          </a:prstGeom>
          <a:solidFill>
            <a:srgbClr val="8C5A2B">
              <a:alpha val="5000"/>
            </a:srgbClr>
          </a:solidFill>
          <a:ln w="12700">
            <a:solidFill>
              <a:srgbClr val="8C5A2B">
                <a:alpha val="2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75" name="" descr="{&quot;isTemplate&quot;:true,&quot;type&quot;:&quot;text&quot;}"/>
          <p:cNvSpPr txBox="1"/>
          <p:nvPr/>
        </p:nvSpPr>
        <p:spPr>
          <a:xfrm rot="0" flipH="0" flipV="0">
            <a:off x="4629150" y="1952625"/>
            <a:ext cx="2019300" cy="2571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1125">
                <a:solidFill>
                  <a:srgbClr val="2A2118"/>
                </a:solidFill>
                <a:latin typeface="PingFang SC"/>
                <a:ea typeface="PingFang SC"/>
              </a:rPr>
              <a:t>16ms</a:t>
            </a:r>
            <a:endParaRPr/>
          </a:p>
        </p:txBody>
      </p:sp>
      <p:sp>
        <p:nvSpPr>
          <p:cNvPr id="576" name=""/>
          <p:cNvSpPr/>
          <p:nvPr/>
        </p:nvSpPr>
        <p:spPr>
          <a:xfrm rot="0" flipH="0" flipV="0">
            <a:off x="6781800" y="1733550"/>
            <a:ext cx="4724400" cy="685800"/>
          </a:xfrm>
          <a:prstGeom prst="rect">
            <a:avLst/>
          </a:prstGeom>
          <a:solidFill>
            <a:srgbClr val="8C5A2B">
              <a:alpha val="5000"/>
            </a:srgbClr>
          </a:solidFill>
          <a:ln w="12700">
            <a:solidFill>
              <a:srgbClr val="8C5A2B">
                <a:alpha val="2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77" name="" descr="{&quot;isTemplate&quot;:true,&quot;type&quot;:&quot;text&quot;}"/>
          <p:cNvSpPr txBox="1"/>
          <p:nvPr/>
        </p:nvSpPr>
        <p:spPr>
          <a:xfrm rot="0" flipH="0" flipV="0">
            <a:off x="6915150" y="1952625"/>
            <a:ext cx="4457700" cy="2571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1125">
                <a:solidFill>
                  <a:srgbClr val="2A2118"/>
                </a:solidFill>
                <a:latin typeface="PingFang SC"/>
                <a:ea typeface="PingFang SC"/>
              </a:rPr>
              <a:t xml:space="preserve">MCI </a:t>
            </a:r>
            <a:r>
              <a:rPr lang="zh-CN" sz="1125">
                <a:solidFill>
                  <a:srgbClr val="2A2118"/>
                </a:solidFill>
                <a:latin typeface="PingFang SC"/>
                <a:ea typeface="PingFang SC"/>
              </a:rPr>
              <a:t>直测计时</a:t>
            </a:r>
            <a:endParaRPr/>
          </a:p>
        </p:txBody>
      </p:sp>
      <p:sp>
        <p:nvSpPr>
          <p:cNvPr id="578" name=""/>
          <p:cNvSpPr/>
          <p:nvPr/>
        </p:nvSpPr>
        <p:spPr>
          <a:xfrm rot="0" flipH="0" flipV="0">
            <a:off x="685800" y="2419350"/>
            <a:ext cx="1905000" cy="685800"/>
          </a:xfrm>
          <a:prstGeom prst="rect">
            <a:avLst/>
          </a:prstGeom>
          <a:solidFill>
            <a:srgbClr val="8C5A2B">
              <a:alpha val="5000"/>
            </a:srgbClr>
          </a:solidFill>
          <a:ln w="12700">
            <a:solidFill>
              <a:srgbClr val="8C5A2B">
                <a:alpha val="2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79" name="" descr="{&quot;isTemplate&quot;:true,&quot;type&quot;:&quot;text&quot;}"/>
          <p:cNvSpPr txBox="1"/>
          <p:nvPr/>
        </p:nvSpPr>
        <p:spPr>
          <a:xfrm rot="0" flipH="0" flipV="0">
            <a:off x="819150" y="2638425"/>
            <a:ext cx="1638300" cy="2571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125">
                <a:solidFill>
                  <a:srgbClr val="2A2118"/>
                </a:solidFill>
                <a:latin typeface="PingFang SC"/>
                <a:ea typeface="PingFang SC"/>
              </a:rPr>
              <a:t>超采样倍率</a:t>
            </a:r>
            <a:endParaRPr/>
          </a:p>
        </p:txBody>
      </p:sp>
      <p:sp>
        <p:nvSpPr>
          <p:cNvPr id="580" name=""/>
          <p:cNvSpPr/>
          <p:nvPr/>
        </p:nvSpPr>
        <p:spPr>
          <a:xfrm rot="0" flipH="0" flipV="0">
            <a:off x="2590800" y="2419350"/>
            <a:ext cx="1905000" cy="685800"/>
          </a:xfrm>
          <a:prstGeom prst="rect">
            <a:avLst/>
          </a:prstGeom>
          <a:solidFill>
            <a:srgbClr val="8C5A2B">
              <a:alpha val="5000"/>
            </a:srgbClr>
          </a:solidFill>
          <a:ln w="12700">
            <a:solidFill>
              <a:srgbClr val="8C5A2B">
                <a:alpha val="2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81" name="" descr="{&quot;isTemplate&quot;:true,&quot;type&quot;:&quot;text&quot;}"/>
          <p:cNvSpPr txBox="1"/>
          <p:nvPr/>
        </p:nvSpPr>
        <p:spPr>
          <a:xfrm rot="0" flipH="0" flipV="0">
            <a:off x="2724150" y="2638425"/>
            <a:ext cx="1638300" cy="2571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125">
                <a:solidFill>
                  <a:srgbClr val="2A2118"/>
                </a:solidFill>
                <a:latin typeface="PingFang SC"/>
                <a:ea typeface="PingFang SC"/>
              </a:rPr>
              <a:t>无</a:t>
            </a:r>
            <a:endParaRPr/>
          </a:p>
        </p:txBody>
      </p:sp>
      <p:sp>
        <p:nvSpPr>
          <p:cNvPr id="582" name=""/>
          <p:cNvSpPr/>
          <p:nvPr/>
        </p:nvSpPr>
        <p:spPr>
          <a:xfrm rot="0" flipH="0" flipV="0">
            <a:off x="4495800" y="2419350"/>
            <a:ext cx="2286000" cy="685800"/>
          </a:xfrm>
          <a:prstGeom prst="rect">
            <a:avLst/>
          </a:prstGeom>
          <a:solidFill>
            <a:srgbClr val="8C5A2B">
              <a:alpha val="5000"/>
            </a:srgbClr>
          </a:solidFill>
          <a:ln w="12700">
            <a:solidFill>
              <a:srgbClr val="8C5A2B">
                <a:alpha val="2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83" name="" descr="{&quot;isTemplate&quot;:true,&quot;type&quot;:&quot;text&quot;}"/>
          <p:cNvSpPr txBox="1"/>
          <p:nvPr/>
        </p:nvSpPr>
        <p:spPr>
          <a:xfrm rot="0" flipH="0" flipV="0">
            <a:off x="4629150" y="2638425"/>
            <a:ext cx="2019300" cy="2571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1125">
                <a:solidFill>
                  <a:srgbClr val="2A2118"/>
                </a:solidFill>
                <a:latin typeface="PingFang SC"/>
                <a:ea typeface="PingFang SC"/>
              </a:rPr>
              <a:t>4×</a:t>
            </a:r>
            <a:endParaRPr/>
          </a:p>
        </p:txBody>
      </p:sp>
      <p:sp>
        <p:nvSpPr>
          <p:cNvPr id="584" name=""/>
          <p:cNvSpPr/>
          <p:nvPr/>
        </p:nvSpPr>
        <p:spPr>
          <a:xfrm rot="0" flipH="0" flipV="0">
            <a:off x="6781800" y="2419350"/>
            <a:ext cx="4724400" cy="685800"/>
          </a:xfrm>
          <a:prstGeom prst="rect">
            <a:avLst/>
          </a:prstGeom>
          <a:solidFill>
            <a:srgbClr val="8C5A2B">
              <a:alpha val="5000"/>
            </a:srgbClr>
          </a:solidFill>
          <a:ln w="12700">
            <a:solidFill>
              <a:srgbClr val="8C5A2B">
                <a:alpha val="2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85" name="" descr="{&quot;isTemplate&quot;:true,&quot;type&quot;:&quot;text&quot;}"/>
          <p:cNvSpPr txBox="1"/>
          <p:nvPr/>
        </p:nvSpPr>
        <p:spPr>
          <a:xfrm rot="0" flipH="0" flipV="0">
            <a:off x="6915150" y="2638425"/>
            <a:ext cx="4457700" cy="2571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125">
                <a:solidFill>
                  <a:srgbClr val="2A2118"/>
                </a:solidFill>
                <a:latin typeface="PingFang SC"/>
                <a:ea typeface="PingFang SC"/>
              </a:rPr>
              <a:t>源码</a:t>
            </a:r>
            <a:r>
              <a:rPr lang="en-US" sz="1125">
                <a:solidFill>
                  <a:srgbClr val="2A2118"/>
                </a:solidFill>
                <a:latin typeface="PingFang SC"/>
                <a:ea typeface="PingFang SC"/>
              </a:rPr>
              <a:t xml:space="preserve"> + </a:t>
            </a:r>
            <a:r>
              <a:rPr lang="zh-CN" sz="1125">
                <a:solidFill>
                  <a:srgbClr val="2A2118"/>
                </a:solidFill>
                <a:latin typeface="PingFang SC"/>
                <a:ea typeface="PingFang SC"/>
              </a:rPr>
              <a:t>像素采样</a:t>
            </a:r>
            <a:endParaRPr/>
          </a:p>
        </p:txBody>
      </p:sp>
      <p:sp>
        <p:nvSpPr>
          <p:cNvPr id="586" name=""/>
          <p:cNvSpPr/>
          <p:nvPr/>
        </p:nvSpPr>
        <p:spPr>
          <a:xfrm rot="0" flipH="0" flipV="0">
            <a:off x="685800" y="3105150"/>
            <a:ext cx="1905000" cy="685800"/>
          </a:xfrm>
          <a:prstGeom prst="rect">
            <a:avLst/>
          </a:prstGeom>
          <a:solidFill>
            <a:srgbClr val="8C5A2B">
              <a:alpha val="5000"/>
            </a:srgbClr>
          </a:solidFill>
          <a:ln w="12700">
            <a:solidFill>
              <a:srgbClr val="8C5A2B">
                <a:alpha val="2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87" name="" descr="{&quot;isTemplate&quot;:true,&quot;type&quot;:&quot;text&quot;}"/>
          <p:cNvSpPr txBox="1"/>
          <p:nvPr/>
        </p:nvSpPr>
        <p:spPr>
          <a:xfrm rot="0" flipH="0" flipV="0">
            <a:off x="819150" y="3324225"/>
            <a:ext cx="1638300" cy="2571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125">
                <a:solidFill>
                  <a:srgbClr val="2A2118"/>
                </a:solidFill>
                <a:latin typeface="PingFang SC"/>
                <a:ea typeface="PingFang SC"/>
              </a:rPr>
              <a:t>音效队列</a:t>
            </a:r>
            <a:endParaRPr/>
          </a:p>
        </p:txBody>
      </p:sp>
      <p:sp>
        <p:nvSpPr>
          <p:cNvPr id="588" name=""/>
          <p:cNvSpPr/>
          <p:nvPr/>
        </p:nvSpPr>
        <p:spPr>
          <a:xfrm rot="0" flipH="0" flipV="0">
            <a:off x="2590800" y="3105150"/>
            <a:ext cx="1905000" cy="685800"/>
          </a:xfrm>
          <a:prstGeom prst="rect">
            <a:avLst/>
          </a:prstGeom>
          <a:solidFill>
            <a:srgbClr val="8C5A2B">
              <a:alpha val="5000"/>
            </a:srgbClr>
          </a:solidFill>
          <a:ln w="12700">
            <a:solidFill>
              <a:srgbClr val="8C5A2B">
                <a:alpha val="2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89" name="" descr="{&quot;isTemplate&quot;:true,&quot;type&quot;:&quot;text&quot;}"/>
          <p:cNvSpPr txBox="1"/>
          <p:nvPr/>
        </p:nvSpPr>
        <p:spPr>
          <a:xfrm rot="0" flipH="0" flipV="0">
            <a:off x="2724150" y="3324225"/>
            <a:ext cx="1638300" cy="2571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125">
                <a:solidFill>
                  <a:srgbClr val="2A2118"/>
                </a:solidFill>
                <a:latin typeface="PingFang SC"/>
                <a:ea typeface="PingFang SC"/>
              </a:rPr>
              <a:t>单队列串行</a:t>
            </a:r>
            <a:endParaRPr/>
          </a:p>
        </p:txBody>
      </p:sp>
      <p:sp>
        <p:nvSpPr>
          <p:cNvPr id="590" name=""/>
          <p:cNvSpPr/>
          <p:nvPr/>
        </p:nvSpPr>
        <p:spPr>
          <a:xfrm rot="0" flipH="0" flipV="0">
            <a:off x="4495800" y="3105150"/>
            <a:ext cx="2286000" cy="685800"/>
          </a:xfrm>
          <a:prstGeom prst="rect">
            <a:avLst/>
          </a:prstGeom>
          <a:solidFill>
            <a:srgbClr val="8C5A2B">
              <a:alpha val="5000"/>
            </a:srgbClr>
          </a:solidFill>
          <a:ln w="12700">
            <a:solidFill>
              <a:srgbClr val="8C5A2B">
                <a:alpha val="2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91" name="" descr="{&quot;isTemplate&quot;:true,&quot;type&quot;:&quot;text&quot;}"/>
          <p:cNvSpPr txBox="1"/>
          <p:nvPr/>
        </p:nvSpPr>
        <p:spPr>
          <a:xfrm rot="0" flipH="0" flipV="0">
            <a:off x="4629150" y="3324225"/>
            <a:ext cx="2019300" cy="2571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125">
                <a:solidFill>
                  <a:srgbClr val="2A2118"/>
                </a:solidFill>
                <a:latin typeface="PingFang SC"/>
                <a:ea typeface="PingFang SC"/>
              </a:rPr>
              <a:t>双轨隔离</a:t>
            </a:r>
            <a:endParaRPr/>
          </a:p>
        </p:txBody>
      </p:sp>
      <p:sp>
        <p:nvSpPr>
          <p:cNvPr id="592" name=""/>
          <p:cNvSpPr/>
          <p:nvPr/>
        </p:nvSpPr>
        <p:spPr>
          <a:xfrm rot="0" flipH="0" flipV="0">
            <a:off x="6781800" y="3105150"/>
            <a:ext cx="4724400" cy="685800"/>
          </a:xfrm>
          <a:prstGeom prst="rect">
            <a:avLst/>
          </a:prstGeom>
          <a:solidFill>
            <a:srgbClr val="8C5A2B">
              <a:alpha val="5000"/>
            </a:srgbClr>
          </a:solidFill>
          <a:ln w="12700">
            <a:solidFill>
              <a:srgbClr val="8C5A2B">
                <a:alpha val="2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93" name="" descr="{&quot;isTemplate&quot;:true,&quot;type&quot;:&quot;text&quot;}"/>
          <p:cNvSpPr txBox="1"/>
          <p:nvPr/>
        </p:nvSpPr>
        <p:spPr>
          <a:xfrm rot="0" flipH="0" flipV="0">
            <a:off x="6915150" y="3324225"/>
            <a:ext cx="4457700" cy="2571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125">
                <a:solidFill>
                  <a:srgbClr val="2A2118"/>
                </a:solidFill>
                <a:latin typeface="PingFang SC"/>
                <a:ea typeface="PingFang SC"/>
              </a:rPr>
              <a:t>单元断言</a:t>
            </a:r>
            <a:endParaRPr/>
          </a:p>
        </p:txBody>
      </p:sp>
      <p:sp>
        <p:nvSpPr>
          <p:cNvPr id="594" name=""/>
          <p:cNvSpPr/>
          <p:nvPr/>
        </p:nvSpPr>
        <p:spPr>
          <a:xfrm rot="0" flipH="0" flipV="0">
            <a:off x="685800" y="3790950"/>
            <a:ext cx="1905000" cy="685800"/>
          </a:xfrm>
          <a:prstGeom prst="rect">
            <a:avLst/>
          </a:prstGeom>
          <a:solidFill>
            <a:srgbClr val="8C5A2B">
              <a:alpha val="5000"/>
            </a:srgbClr>
          </a:solidFill>
          <a:ln w="12700">
            <a:solidFill>
              <a:srgbClr val="8C5A2B">
                <a:alpha val="2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95" name="" descr="{&quot;isTemplate&quot;:true,&quot;type&quot;:&quot;text&quot;}"/>
          <p:cNvSpPr txBox="1"/>
          <p:nvPr/>
        </p:nvSpPr>
        <p:spPr>
          <a:xfrm rot="0" flipH="0" flipV="0">
            <a:off x="819150" y="4010025"/>
            <a:ext cx="1638300" cy="2571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125">
                <a:solidFill>
                  <a:srgbClr val="2A2118"/>
                </a:solidFill>
                <a:latin typeface="PingFang SC"/>
                <a:ea typeface="PingFang SC"/>
              </a:rPr>
              <a:t>窗口几何自检</a:t>
            </a:r>
            <a:endParaRPr/>
          </a:p>
        </p:txBody>
      </p:sp>
      <p:sp>
        <p:nvSpPr>
          <p:cNvPr id="596" name=""/>
          <p:cNvSpPr/>
          <p:nvPr/>
        </p:nvSpPr>
        <p:spPr>
          <a:xfrm rot="0" flipH="0" flipV="0">
            <a:off x="2590800" y="3790950"/>
            <a:ext cx="1905000" cy="685800"/>
          </a:xfrm>
          <a:prstGeom prst="rect">
            <a:avLst/>
          </a:prstGeom>
          <a:solidFill>
            <a:srgbClr val="8C5A2B">
              <a:alpha val="5000"/>
            </a:srgbClr>
          </a:solidFill>
          <a:ln w="12700">
            <a:solidFill>
              <a:srgbClr val="8C5A2B">
                <a:alpha val="2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97" name="" descr="{&quot;isTemplate&quot;:true,&quot;type&quot;:&quot;text&quot;}"/>
          <p:cNvSpPr txBox="1"/>
          <p:nvPr/>
        </p:nvSpPr>
        <p:spPr>
          <a:xfrm rot="0" flipH="0" flipV="0">
            <a:off x="2724150" y="4010025"/>
            <a:ext cx="1638300" cy="2571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sz="1125">
                <a:solidFill>
                  <a:srgbClr val="2A2118"/>
                </a:solidFill>
                <a:latin typeface="PingFang SC"/>
                <a:ea typeface="PingFang SC"/>
              </a:rPr>
              <a:t>—</a:t>
            </a:r>
            <a:endParaRPr/>
          </a:p>
        </p:txBody>
      </p:sp>
      <p:sp>
        <p:nvSpPr>
          <p:cNvPr id="598" name=""/>
          <p:cNvSpPr/>
          <p:nvPr/>
        </p:nvSpPr>
        <p:spPr>
          <a:xfrm rot="0" flipH="0" flipV="0">
            <a:off x="4495800" y="3790950"/>
            <a:ext cx="2286000" cy="685800"/>
          </a:xfrm>
          <a:prstGeom prst="rect">
            <a:avLst/>
          </a:prstGeom>
          <a:solidFill>
            <a:srgbClr val="8C5A2B">
              <a:alpha val="5000"/>
            </a:srgbClr>
          </a:solidFill>
          <a:ln w="12700">
            <a:solidFill>
              <a:srgbClr val="8C5A2B">
                <a:alpha val="2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99" name="" descr="{&quot;isTemplate&quot;:true,&quot;type&quot;:&quot;text&quot;}"/>
          <p:cNvSpPr txBox="1"/>
          <p:nvPr/>
        </p:nvSpPr>
        <p:spPr>
          <a:xfrm rot="0" flipH="0" flipV="0">
            <a:off x="4629150" y="4010025"/>
            <a:ext cx="2019300" cy="2571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1125">
                <a:solidFill>
                  <a:srgbClr val="2A2118"/>
                </a:solidFill>
                <a:latin typeface="PingFang SC"/>
                <a:ea typeface="PingFang SC"/>
              </a:rPr>
              <a:t xml:space="preserve">10/10 </a:t>
            </a:r>
            <a:r>
              <a:rPr lang="zh-CN" sz="1125">
                <a:solidFill>
                  <a:srgbClr val="2A2118"/>
                </a:solidFill>
                <a:latin typeface="PingFang SC"/>
                <a:ea typeface="PingFang SC"/>
              </a:rPr>
              <a:t>通过</a:t>
            </a:r>
            <a:endParaRPr/>
          </a:p>
        </p:txBody>
      </p:sp>
      <p:sp>
        <p:nvSpPr>
          <p:cNvPr id="600" name=""/>
          <p:cNvSpPr/>
          <p:nvPr/>
        </p:nvSpPr>
        <p:spPr>
          <a:xfrm rot="0" flipH="0" flipV="0">
            <a:off x="6781800" y="3790950"/>
            <a:ext cx="4724400" cy="685800"/>
          </a:xfrm>
          <a:prstGeom prst="rect">
            <a:avLst/>
          </a:prstGeom>
          <a:solidFill>
            <a:srgbClr val="8C5A2B">
              <a:alpha val="5000"/>
            </a:srgbClr>
          </a:solidFill>
          <a:ln w="12700">
            <a:solidFill>
              <a:srgbClr val="8C5A2B">
                <a:alpha val="2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01" name="" descr="{&quot;isTemplate&quot;:true,&quot;type&quot;:&quot;text&quot;}"/>
          <p:cNvSpPr txBox="1"/>
          <p:nvPr/>
        </p:nvSpPr>
        <p:spPr>
          <a:xfrm rot="0" flipH="0" flipV="0">
            <a:off x="6915150" y="4010025"/>
            <a:ext cx="4457700" cy="2571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1125">
                <a:solidFill>
                  <a:srgbClr val="2A2118"/>
                </a:solidFill>
                <a:latin typeface="PingFang SC"/>
                <a:ea typeface="PingFang SC"/>
              </a:rPr>
              <a:t xml:space="preserve">10 </a:t>
            </a:r>
            <a:r>
              <a:rPr lang="zh-CN" sz="1125">
                <a:solidFill>
                  <a:srgbClr val="2A2118"/>
                </a:solidFill>
                <a:latin typeface="PingFang SC"/>
                <a:ea typeface="PingFang SC"/>
              </a:rPr>
              <a:t>种尺寸脚本</a:t>
            </a:r>
            <a:endParaRPr/>
          </a:p>
        </p:txBody>
      </p:sp>
      <p:sp>
        <p:nvSpPr>
          <p:cNvPr id="602" name=""/>
          <p:cNvSpPr/>
          <p:nvPr/>
        </p:nvSpPr>
        <p:spPr>
          <a:xfrm rot="0" flipH="0" flipV="0">
            <a:off x="685800" y="4476750"/>
            <a:ext cx="1905000" cy="685800"/>
          </a:xfrm>
          <a:prstGeom prst="rect">
            <a:avLst/>
          </a:prstGeom>
          <a:solidFill>
            <a:srgbClr val="8C5A2B">
              <a:alpha val="5000"/>
            </a:srgbClr>
          </a:solidFill>
          <a:ln w="12700">
            <a:solidFill>
              <a:srgbClr val="8C5A2B">
                <a:alpha val="2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03" name="" descr="{&quot;isTemplate&quot;:true,&quot;type&quot;:&quot;text&quot;}"/>
          <p:cNvSpPr txBox="1"/>
          <p:nvPr/>
        </p:nvSpPr>
        <p:spPr>
          <a:xfrm rot="0" flipH="0" flipV="0">
            <a:off x="819150" y="4695825"/>
            <a:ext cx="1638300" cy="2571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125">
                <a:solidFill>
                  <a:srgbClr val="2A2118"/>
                </a:solidFill>
                <a:latin typeface="PingFang SC"/>
                <a:ea typeface="PingFang SC"/>
              </a:rPr>
              <a:t>工程体积</a:t>
            </a:r>
            <a:endParaRPr/>
          </a:p>
        </p:txBody>
      </p:sp>
      <p:sp>
        <p:nvSpPr>
          <p:cNvPr id="604" name=""/>
          <p:cNvSpPr/>
          <p:nvPr/>
        </p:nvSpPr>
        <p:spPr>
          <a:xfrm rot="0" flipH="0" flipV="0">
            <a:off x="2590800" y="4476750"/>
            <a:ext cx="1905000" cy="685800"/>
          </a:xfrm>
          <a:prstGeom prst="rect">
            <a:avLst/>
          </a:prstGeom>
          <a:solidFill>
            <a:srgbClr val="8C5A2B">
              <a:alpha val="5000"/>
            </a:srgbClr>
          </a:solidFill>
          <a:ln w="12700">
            <a:solidFill>
              <a:srgbClr val="8C5A2B">
                <a:alpha val="2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05" name="" descr="{&quot;isTemplate&quot;:true,&quot;type&quot;:&quot;text&quot;}"/>
          <p:cNvSpPr txBox="1"/>
          <p:nvPr/>
        </p:nvSpPr>
        <p:spPr>
          <a:xfrm rot="0" flipH="0" flipV="0">
            <a:off x="2724150" y="4695825"/>
            <a:ext cx="1638300" cy="2571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1125">
                <a:solidFill>
                  <a:srgbClr val="2A2118"/>
                </a:solidFill>
                <a:latin typeface="PingFang SC"/>
                <a:ea typeface="PingFang SC"/>
              </a:rPr>
              <a:t>935MB</a:t>
            </a:r>
            <a:endParaRPr/>
          </a:p>
        </p:txBody>
      </p:sp>
      <p:sp>
        <p:nvSpPr>
          <p:cNvPr id="606" name=""/>
          <p:cNvSpPr/>
          <p:nvPr/>
        </p:nvSpPr>
        <p:spPr>
          <a:xfrm rot="0" flipH="0" flipV="0">
            <a:off x="4495800" y="4476750"/>
            <a:ext cx="2286000" cy="685800"/>
          </a:xfrm>
          <a:prstGeom prst="rect">
            <a:avLst/>
          </a:prstGeom>
          <a:solidFill>
            <a:srgbClr val="8C5A2B">
              <a:alpha val="5000"/>
            </a:srgbClr>
          </a:solidFill>
          <a:ln w="12700">
            <a:solidFill>
              <a:srgbClr val="8C5A2B">
                <a:alpha val="2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07" name="" descr="{&quot;isTemplate&quot;:true,&quot;type&quot;:&quot;text&quot;}"/>
          <p:cNvSpPr txBox="1"/>
          <p:nvPr/>
        </p:nvSpPr>
        <p:spPr>
          <a:xfrm rot="0" flipH="0" flipV="0">
            <a:off x="4629150" y="4695825"/>
            <a:ext cx="2019300" cy="2571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1125">
                <a:solidFill>
                  <a:srgbClr val="2A2118"/>
                </a:solidFill>
                <a:latin typeface="PingFang SC"/>
                <a:ea typeface="PingFang SC"/>
              </a:rPr>
              <a:t>308MB</a:t>
            </a:r>
            <a:endParaRPr/>
          </a:p>
        </p:txBody>
      </p:sp>
      <p:sp>
        <p:nvSpPr>
          <p:cNvPr id="608" name=""/>
          <p:cNvSpPr/>
          <p:nvPr/>
        </p:nvSpPr>
        <p:spPr>
          <a:xfrm rot="0" flipH="0" flipV="0">
            <a:off x="6781800" y="4476750"/>
            <a:ext cx="4724400" cy="685800"/>
          </a:xfrm>
          <a:prstGeom prst="rect">
            <a:avLst/>
          </a:prstGeom>
          <a:solidFill>
            <a:srgbClr val="8C5A2B">
              <a:alpha val="5000"/>
            </a:srgbClr>
          </a:solidFill>
          <a:ln w="12700">
            <a:solidFill>
              <a:srgbClr val="8C5A2B">
                <a:alpha val="2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09" name="" descr="{&quot;isTemplate&quot;:true,&quot;type&quot;:&quot;text&quot;}"/>
          <p:cNvSpPr txBox="1"/>
          <p:nvPr/>
        </p:nvSpPr>
        <p:spPr>
          <a:xfrm rot="0" flipH="0" flipV="0">
            <a:off x="6915150" y="4695825"/>
            <a:ext cx="4457700" cy="2571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125">
                <a:solidFill>
                  <a:srgbClr val="2A2118"/>
                </a:solidFill>
                <a:latin typeface="PingFang SC"/>
                <a:ea typeface="PingFang SC"/>
              </a:rPr>
              <a:t>磁盘扫描</a:t>
            </a:r>
            <a:endParaRPr/>
          </a:p>
        </p:txBody>
      </p:sp>
      <p:sp>
        <p:nvSpPr>
          <p:cNvPr id="610" name=""/>
          <p:cNvSpPr/>
          <p:nvPr/>
        </p:nvSpPr>
        <p:spPr>
          <a:xfrm rot="0" flipH="0" flipV="0">
            <a:off x="685800" y="5162550"/>
            <a:ext cx="1905000" cy="685800"/>
          </a:xfrm>
          <a:prstGeom prst="rect">
            <a:avLst/>
          </a:prstGeom>
          <a:solidFill>
            <a:srgbClr val="8C5A2B">
              <a:alpha val="5000"/>
            </a:srgbClr>
          </a:solidFill>
          <a:ln w="12700">
            <a:solidFill>
              <a:srgbClr val="8C5A2B">
                <a:alpha val="2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11" name="" descr="{&quot;isTemplate&quot;:true,&quot;type&quot;:&quot;text&quot;}"/>
          <p:cNvSpPr txBox="1"/>
          <p:nvPr/>
        </p:nvSpPr>
        <p:spPr>
          <a:xfrm rot="0" flipH="0" flipV="0">
            <a:off x="819150" y="5381625"/>
            <a:ext cx="1638300" cy="2571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125">
                <a:solidFill>
                  <a:srgbClr val="2A2118"/>
                </a:solidFill>
                <a:latin typeface="PingFang SC"/>
                <a:ea typeface="PingFang SC"/>
              </a:rPr>
              <a:t>模块数</a:t>
            </a:r>
            <a:endParaRPr/>
          </a:p>
        </p:txBody>
      </p:sp>
      <p:sp>
        <p:nvSpPr>
          <p:cNvPr id="612" name=""/>
          <p:cNvSpPr/>
          <p:nvPr/>
        </p:nvSpPr>
        <p:spPr>
          <a:xfrm rot="0" flipH="0" flipV="0">
            <a:off x="2590800" y="5162550"/>
            <a:ext cx="1905000" cy="685800"/>
          </a:xfrm>
          <a:prstGeom prst="rect">
            <a:avLst/>
          </a:prstGeom>
          <a:solidFill>
            <a:srgbClr val="8C5A2B">
              <a:alpha val="5000"/>
            </a:srgbClr>
          </a:solidFill>
          <a:ln w="12700">
            <a:solidFill>
              <a:srgbClr val="8C5A2B">
                <a:alpha val="2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13" name="" descr="{&quot;isTemplate&quot;:true,&quot;type&quot;:&quot;text&quot;}"/>
          <p:cNvSpPr txBox="1"/>
          <p:nvPr/>
        </p:nvSpPr>
        <p:spPr>
          <a:xfrm rot="0" flipH="0" flipV="0">
            <a:off x="2724150" y="5381625"/>
            <a:ext cx="1638300" cy="2571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sz="1125">
                <a:solidFill>
                  <a:srgbClr val="2A2118"/>
                </a:solidFill>
                <a:latin typeface="PingFang SC"/>
                <a:ea typeface="PingFang SC"/>
              </a:rPr>
              <a:t>—</a:t>
            </a:r>
            <a:endParaRPr/>
          </a:p>
        </p:txBody>
      </p:sp>
      <p:sp>
        <p:nvSpPr>
          <p:cNvPr id="614" name=""/>
          <p:cNvSpPr/>
          <p:nvPr/>
        </p:nvSpPr>
        <p:spPr>
          <a:xfrm rot="0" flipH="0" flipV="0">
            <a:off x="4495800" y="5162550"/>
            <a:ext cx="2286000" cy="685800"/>
          </a:xfrm>
          <a:prstGeom prst="rect">
            <a:avLst/>
          </a:prstGeom>
          <a:solidFill>
            <a:srgbClr val="8C5A2B">
              <a:alpha val="5000"/>
            </a:srgbClr>
          </a:solidFill>
          <a:ln w="12700">
            <a:solidFill>
              <a:srgbClr val="8C5A2B">
                <a:alpha val="2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15" name="" descr="{&quot;isTemplate&quot;:true,&quot;type&quot;:&quot;text&quot;}"/>
          <p:cNvSpPr txBox="1"/>
          <p:nvPr/>
        </p:nvSpPr>
        <p:spPr>
          <a:xfrm rot="0" flipH="0" flipV="0">
            <a:off x="4629150" y="5381625"/>
            <a:ext cx="2019300" cy="2571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1125">
                <a:solidFill>
                  <a:srgbClr val="2A2118"/>
                </a:solidFill>
                <a:latin typeface="PingFang SC"/>
                <a:ea typeface="PingFang SC"/>
              </a:rPr>
              <a:t>20+</a:t>
            </a:r>
            <a:endParaRPr/>
          </a:p>
        </p:txBody>
      </p:sp>
      <p:sp>
        <p:nvSpPr>
          <p:cNvPr id="616" name=""/>
          <p:cNvSpPr/>
          <p:nvPr/>
        </p:nvSpPr>
        <p:spPr>
          <a:xfrm rot="0" flipH="0" flipV="0">
            <a:off x="6781800" y="5162550"/>
            <a:ext cx="4724400" cy="685800"/>
          </a:xfrm>
          <a:prstGeom prst="rect">
            <a:avLst/>
          </a:prstGeom>
          <a:solidFill>
            <a:srgbClr val="8C5A2B">
              <a:alpha val="5000"/>
            </a:srgbClr>
          </a:solidFill>
          <a:ln w="12700">
            <a:solidFill>
              <a:srgbClr val="8C5A2B">
                <a:alpha val="2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17" name="" descr="{&quot;isTemplate&quot;:true,&quot;type&quot;:&quot;text&quot;}"/>
          <p:cNvSpPr txBox="1"/>
          <p:nvPr/>
        </p:nvSpPr>
        <p:spPr>
          <a:xfrm rot="0" flipH="0" flipV="0">
            <a:off x="6915150" y="5381625"/>
            <a:ext cx="4457700" cy="2571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125">
                <a:solidFill>
                  <a:srgbClr val="2A2118"/>
                </a:solidFill>
                <a:latin typeface="PingFang SC"/>
                <a:ea typeface="PingFang SC"/>
              </a:rPr>
              <a:t>源码统计</a:t>
            </a:r>
            <a:endParaRPr/>
          </a:p>
        </p:txBody>
      </p:sp>
      <p:sp>
        <p:nvSpPr>
          <p:cNvPr id="618" name="" descr="{&quot;isTemplate&quot;:true,&quot;type&quot;:&quot;text&quot;}"/>
          <p:cNvSpPr txBox="1"/>
          <p:nvPr/>
        </p:nvSpPr>
        <p:spPr>
          <a:xfrm rot="0" flipH="0" flipV="0">
            <a:off x="685800" y="6172200"/>
            <a:ext cx="14478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2A2118">
                    <a:alpha val="55000"/>
                  </a:srgbClr>
                </a:solidFill>
                <a:latin typeface="PingFang SC"/>
                <a:ea typeface="PingFang SC"/>
              </a:rPr>
              <a:t>弈趣棋苑</a:t>
            </a:r>
            <a:r>
              <a:rPr lang="en-US" sz="1050">
                <a:solidFill>
                  <a:srgbClr val="2A2118">
                    <a:alpha val="55000"/>
                  </a:srgbClr>
                </a:solidFill>
                <a:latin typeface="PingFang SC"/>
                <a:ea typeface="PingFang SC"/>
              </a:rPr>
              <a:t xml:space="preserve"> · </a:t>
            </a:r>
            <a:r>
              <a:rPr lang="zh-CN" sz="1050">
                <a:solidFill>
                  <a:srgbClr val="2A2118">
                    <a:alpha val="55000"/>
                  </a:srgbClr>
                </a:solidFill>
                <a:latin typeface="PingFang SC"/>
                <a:ea typeface="PingFang SC"/>
              </a:rPr>
              <a:t>项目开发汇报</a:t>
            </a:r>
            <a:endParaRPr/>
          </a:p>
        </p:txBody>
      </p:sp>
      <p:sp>
        <p:nvSpPr>
          <p:cNvPr id="619" name="" descr="{&quot;isTemplate&quot;:true,&quot;type&quot;:&quot;text&quot;}"/>
          <p:cNvSpPr txBox="1"/>
          <p:nvPr/>
        </p:nvSpPr>
        <p:spPr>
          <a:xfrm rot="0" flipH="0" flipV="0">
            <a:off x="11049000" y="61722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2A2118">
                    <a:alpha val="55000"/>
                  </a:srgbClr>
                </a:solidFill>
                <a:latin typeface="PingFang SC"/>
                <a:ea typeface="PingFang SC"/>
              </a:rPr>
              <a:t>54 / 64</a:t>
            </a:r>
            <a:endParaRPr/>
          </a:p>
        </p:txBody>
      </p:sp>
    </p:spTree>
  </p:cSld>
</p:sld>
</file>

<file path=ppt/slides/slide54.xml><?xml version="1.0" encoding="utf-8"?>
<p:sld xmlns:p="http://schemas.openxmlformats.org/presentationml/2006/main" xmlns:a="http://schemas.openxmlformats.org/drawingml/2006/main">
  <p:cSld>
    <p:spTree>
      <p:nvGrpSpPr>
        <p:cNvPr id="620" name="" descr="&lt;Slide style={{ width: 1280, height: 720, padding: &quot;20px 72px&quot;, background: &quot;#F5E3BE&quot;, flexDirection: &quot;column&quot; }}&gt;&#10;  &lt;Box style={{ width: &quot;100%&quot;, height: 96, flexDirection: &quot;column&quot;, justifyContent: &quot;center&quot; }}&gt;&#10;    &lt;Text style={{ fontSize: 34, fontWeight: &quot;bold&quot;, color: &quot;#2A2118&quot;, fontFamily: &quot;'Songti SC', 'STSong', 'SimSun', serif&quot; }}&gt;验证口径：每项改动怎么算「改对了」&lt;/Text&gt;&#10;    &lt;Box style={{ width: 56, height: 2, background: &quot;#B3271E&quot;, marginTop: 10 }} /&gt;&#10;  &lt;/Box&gt;&#10;  &lt;Box style={{ width: &quot;100%&quot;, height: 516, flexDirection: &quot;column&quot; }}&gt;&#10;  &lt;Box style={{ width: 860, height: &quot;100%&quot;, flexDirection: &quot;column&quot;, justifyContent: &quot;center&quot; }}&gt;&#10;    &lt;Text style={{ fontSize: 18, lineHeight: 1.7, color: &quot;#2A2118&quot;, fontFamily: &quot;'PingFang SC', 'Microsoft YaHei', sans-serif&quot;, marginBottom: 14 }}&gt;「落子音 16ms」不是自称的，是 MCI 直测计时；「4× 超采样」是源码加像素采样；「10/10 几何」是 10 种尺寸脚本跑出来的。&lt;/Text&gt;&#10;    &lt;Text style={{ fontSize: 18, lineHeight: 1.7, color: &quot;#2A2118&quot;, fontFamily: &quot;'PingFang SC', 'Microsoft YaHei', sans-serif&quot;, marginBottom: 14 }}&gt;交付物还要过良构校验：zip-XML 良构检查、MD5 扫描、像素采样，让成果可以被独立复现，而不是只在我这台机器上成立。&lt;/Text&gt;&#10;  &lt;/Box&gt;&#10;  &lt;/Box&gt;&#10;  &lt;Box style={{ width: &quot;100%&quot;, height: 48, flexDirection: &quot;row&quot;, alignItems: &quot;center&quot;, justifyContent: &quot;space-between&quot; }}&gt;&#10;    &lt;Text style={{ fontSize: 14, color: &quot;rgba(42,33,24,0.55)&quot;, fontFamily: &quot;'PingFang SC', 'Microsoft YaHei', sans-serif&quot; }}&gt;弈趣棋苑 · 项目开发汇报&lt;/Text&gt;&#10;    &lt;Text style={{ fontSize: 14, color: &quot;rgba(42,33,24,0.55)&quot;, fontFamily: &quot;'PingFang SC', 'Microsoft YaHei', sans-serif&quot; }}&gt;55 / 64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5E3BE"/>
          </a:solidFill>
          <a:ln/>
        </p:spPr>
        <p:txBody>
          <a:bodyPr/>
          <a:p/>
        </p:txBody>
      </p:sp>
      <p:sp>
        <p:nvSpPr>
          <p:cNvPr id="622" name="" descr="{&quot;isTemplate&quot;:true,&quot;type&quot;:&quot;text&quot;}"/>
          <p:cNvSpPr txBox="1"/>
          <p:nvPr/>
        </p:nvSpPr>
        <p:spPr>
          <a:xfrm rot="0" flipH="0" flipV="0">
            <a:off x="685800" y="400050"/>
            <a:ext cx="108204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A2118"/>
                </a:solidFill>
                <a:latin typeface="Songti SC"/>
                <a:ea typeface="Songti SC"/>
              </a:rPr>
              <a:t>验证口径：每项改动怎么算「改对了」</a:t>
            </a:r>
            <a:endParaRPr/>
          </a:p>
        </p:txBody>
      </p:sp>
      <p:sp>
        <p:nvSpPr>
          <p:cNvPr id="623" name=""/>
          <p:cNvSpPr/>
          <p:nvPr/>
        </p:nvSpPr>
        <p:spPr>
          <a:xfrm rot="0" flipH="0" flipV="0">
            <a:off x="685800" y="885825"/>
            <a:ext cx="533400" cy="19050"/>
          </a:xfrm>
          <a:prstGeom prst="rect">
            <a:avLst/>
          </a:prstGeom>
          <a:solidFill>
            <a:srgbClr val="B3271E"/>
          </a:solidFill>
          <a:ln/>
        </p:spPr>
        <p:txBody>
          <a:bodyPr/>
          <a:p/>
        </p:txBody>
      </p:sp>
      <p:sp>
        <p:nvSpPr>
          <p:cNvPr id="624" name="" descr="{&quot;isTemplate&quot;:true,&quot;type&quot;:&quot;text&quot;}"/>
          <p:cNvSpPr txBox="1"/>
          <p:nvPr/>
        </p:nvSpPr>
        <p:spPr>
          <a:xfrm rot="0" flipH="0" flipV="0">
            <a:off x="685800" y="2724150"/>
            <a:ext cx="8191500" cy="7048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350">
                <a:solidFill>
                  <a:srgbClr val="2A2118"/>
                </a:solidFill>
                <a:latin typeface="PingFang SC"/>
                <a:ea typeface="PingFang SC"/>
              </a:rPr>
              <a:t>「落子音</a:t>
            </a:r>
            <a:r>
              <a:rPr lang="en-US" sz="1350">
                <a:solidFill>
                  <a:srgbClr val="2A2118"/>
                </a:solidFill>
                <a:latin typeface="PingFang SC"/>
                <a:ea typeface="PingFang SC"/>
              </a:rPr>
              <a:t xml:space="preserve"> 16ms</a:t>
            </a:r>
            <a:r>
              <a:rPr lang="zh-CN" sz="1350">
                <a:solidFill>
                  <a:srgbClr val="2A2118"/>
                </a:solidFill>
                <a:latin typeface="PingFang SC"/>
                <a:ea typeface="PingFang SC"/>
              </a:rPr>
              <a:t>」不是自称的，是</a:t>
            </a:r>
            <a:r>
              <a:rPr lang="en-US" sz="1350">
                <a:solidFill>
                  <a:srgbClr val="2A2118"/>
                </a:solidFill>
                <a:latin typeface="PingFang SC"/>
                <a:ea typeface="PingFang SC"/>
              </a:rPr>
              <a:t xml:space="preserve"> MCI </a:t>
            </a:r>
            <a:r>
              <a:rPr lang="zh-CN" sz="1350">
                <a:solidFill>
                  <a:srgbClr val="2A2118"/>
                </a:solidFill>
                <a:latin typeface="PingFang SC"/>
                <a:ea typeface="PingFang SC"/>
              </a:rPr>
              <a:t>直测计时；「</a:t>
            </a:r>
            <a:r>
              <a:rPr lang="en-US" sz="1350">
                <a:solidFill>
                  <a:srgbClr val="2A2118"/>
                </a:solidFill>
                <a:latin typeface="PingFang SC"/>
                <a:ea typeface="PingFang SC"/>
              </a:rPr>
              <a:t xml:space="preserve">4× </a:t>
            </a:r>
            <a:r>
              <a:rPr lang="zh-CN" sz="1350">
                <a:solidFill>
                  <a:srgbClr val="2A2118"/>
                </a:solidFill>
                <a:latin typeface="PingFang SC"/>
                <a:ea typeface="PingFang SC"/>
              </a:rPr>
              <a:t>超采样」是源码加像素采样；「</a:t>
            </a:r>
            <a:r>
              <a:rPr lang="en-US" sz="1350">
                <a:solidFill>
                  <a:srgbClr val="2A2118"/>
                </a:solidFill>
                <a:latin typeface="PingFang SC"/>
                <a:ea typeface="PingFang SC"/>
              </a:rPr>
              <a:t xml:space="preserve">10/10 </a:t>
            </a:r>
            <a:r>
              <a:rPr lang="zh-CN" sz="1350">
                <a:solidFill>
                  <a:srgbClr val="2A2118"/>
                </a:solidFill>
                <a:latin typeface="PingFang SC"/>
                <a:ea typeface="PingFang SC"/>
              </a:rPr>
              <a:t>几何」是</a:t>
            </a:r>
            <a:r>
              <a:rPr lang="en-US" sz="1350">
                <a:solidFill>
                  <a:srgbClr val="2A2118"/>
                </a:solidFill>
                <a:latin typeface="PingFang SC"/>
                <a:ea typeface="PingFang SC"/>
              </a:rPr>
              <a:t xml:space="preserve"> 10 </a:t>
            </a:r>
            <a:r>
              <a:rPr lang="zh-CN" sz="1350">
                <a:solidFill>
                  <a:srgbClr val="2A2118"/>
                </a:solidFill>
                <a:latin typeface="PingFang SC"/>
                <a:ea typeface="PingFang SC"/>
              </a:rPr>
              <a:t>种尺寸脚本跑出来的。</a:t>
            </a:r>
            <a:endParaRPr/>
          </a:p>
        </p:txBody>
      </p:sp>
      <p:sp>
        <p:nvSpPr>
          <p:cNvPr id="625" name="" descr="{&quot;isTemplate&quot;:true,&quot;type&quot;:&quot;text&quot;}"/>
          <p:cNvSpPr txBox="1"/>
          <p:nvPr/>
        </p:nvSpPr>
        <p:spPr>
          <a:xfrm rot="0" flipH="0" flipV="0">
            <a:off x="685800" y="3562350"/>
            <a:ext cx="8191500" cy="7048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350">
                <a:solidFill>
                  <a:srgbClr val="2A2118"/>
                </a:solidFill>
                <a:latin typeface="PingFang SC"/>
                <a:ea typeface="PingFang SC"/>
              </a:rPr>
              <a:t>交付物还要过良构校验：</a:t>
            </a:r>
            <a:r>
              <a:rPr lang="en-US" sz="1350">
                <a:solidFill>
                  <a:srgbClr val="2A2118"/>
                </a:solidFill>
                <a:latin typeface="PingFang SC"/>
                <a:ea typeface="PingFang SC"/>
              </a:rPr>
              <a:t xml:space="preserve">zip-XML </a:t>
            </a:r>
            <a:r>
              <a:rPr lang="zh-CN" sz="1350">
                <a:solidFill>
                  <a:srgbClr val="2A2118"/>
                </a:solidFill>
                <a:latin typeface="PingFang SC"/>
                <a:ea typeface="PingFang SC"/>
              </a:rPr>
              <a:t>良构检查、</a:t>
            </a:r>
            <a:r>
              <a:rPr lang="en-US" sz="1350">
                <a:solidFill>
                  <a:srgbClr val="2A2118"/>
                </a:solidFill>
                <a:latin typeface="PingFang SC"/>
                <a:ea typeface="PingFang SC"/>
              </a:rPr>
              <a:t xml:space="preserve">MD5 </a:t>
            </a:r>
            <a:r>
              <a:rPr lang="zh-CN" sz="1350">
                <a:solidFill>
                  <a:srgbClr val="2A2118"/>
                </a:solidFill>
                <a:latin typeface="PingFang SC"/>
                <a:ea typeface="PingFang SC"/>
              </a:rPr>
              <a:t>扫描、像素采样，让成果可以被独立复现，而不是只在我这台机器上成立。</a:t>
            </a:r>
            <a:endParaRPr/>
          </a:p>
        </p:txBody>
      </p:sp>
      <p:sp>
        <p:nvSpPr>
          <p:cNvPr id="626" name="" descr="{&quot;isTemplate&quot;:true,&quot;type&quot;:&quot;text&quot;}"/>
          <p:cNvSpPr txBox="1"/>
          <p:nvPr/>
        </p:nvSpPr>
        <p:spPr>
          <a:xfrm rot="0" flipH="0" flipV="0">
            <a:off x="685800" y="6172200"/>
            <a:ext cx="14478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2A2118">
                    <a:alpha val="55000"/>
                  </a:srgbClr>
                </a:solidFill>
                <a:latin typeface="PingFang SC"/>
                <a:ea typeface="PingFang SC"/>
              </a:rPr>
              <a:t>弈趣棋苑</a:t>
            </a:r>
            <a:r>
              <a:rPr lang="en-US" sz="1050">
                <a:solidFill>
                  <a:srgbClr val="2A2118">
                    <a:alpha val="55000"/>
                  </a:srgbClr>
                </a:solidFill>
                <a:latin typeface="PingFang SC"/>
                <a:ea typeface="PingFang SC"/>
              </a:rPr>
              <a:t xml:space="preserve"> · </a:t>
            </a:r>
            <a:r>
              <a:rPr lang="zh-CN" sz="1050">
                <a:solidFill>
                  <a:srgbClr val="2A2118">
                    <a:alpha val="55000"/>
                  </a:srgbClr>
                </a:solidFill>
                <a:latin typeface="PingFang SC"/>
                <a:ea typeface="PingFang SC"/>
              </a:rPr>
              <a:t>项目开发汇报</a:t>
            </a:r>
            <a:endParaRPr/>
          </a:p>
        </p:txBody>
      </p:sp>
      <p:sp>
        <p:nvSpPr>
          <p:cNvPr id="627" name="" descr="{&quot;isTemplate&quot;:true,&quot;type&quot;:&quot;text&quot;}"/>
          <p:cNvSpPr txBox="1"/>
          <p:nvPr/>
        </p:nvSpPr>
        <p:spPr>
          <a:xfrm rot="0" flipH="0" flipV="0">
            <a:off x="11049000" y="61722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2A2118">
                    <a:alpha val="55000"/>
                  </a:srgbClr>
                </a:solidFill>
                <a:latin typeface="PingFang SC"/>
                <a:ea typeface="PingFang SC"/>
              </a:rPr>
              <a:t>55 / 64</a:t>
            </a:r>
            <a:endParaRPr/>
          </a:p>
        </p:txBody>
      </p:sp>
    </p:spTree>
  </p:cSld>
</p:sld>
</file>

<file path=ppt/slides/slide5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628" name="" descr="&lt;Slide style={{ width: 1280, height: 720, position: &quot;relative&quot;, padding: &quot;0px&quot;, background: &quot;#2A2118&quot;, overflow: &quot;hidden&quot; }}&gt;&#10;  &lt;Image src=&quot;assets/wood_panel.jpg&quot; style={{ position: &quot;absolute&quot;, top: 0, left: 0, width: 1280, height: 720, objectFit: &quot;cover&quot;, opacity: 0.22 }} /&gt;&#10;  &lt;Box style={{ position: &quot;absolute&quot;, top: 0, left: 0, width: 1280, height: 720, background: &quot;linear-gradient(160deg, #2A2118 0%, #3E2E1E 55%, #8C5A2B 100%)&quot;, opacity: 0.55 }} /&gt;&#10;  &lt;Box style={{ position: &quot;absolute&quot;, right: 84, top: 48, flexDirection: &quot;column&quot;, alignItems: &quot;flex-end&quot; }}&gt;&#10;    &lt;Text style={{ fontSize: 210, fontWeight: &quot;bold&quot;, lineHeight: 1.0, color: &quot;rgba(179,39,30,0.85)&quot;, fontFamily: &quot;'Songti SC', 'STSong', 'SimSun', serif&quot; }}&gt;08&lt;/Text&gt;&#10;  &lt;/Box&gt;&#10;  &lt;Box style={{ position: &quot;relative&quot;, zIndex: 2, width: 1280, height: 720, padding: &quot;0px 96px&quot;, flexDirection: &quot;column&quot;, justifyContent: &quot;center&quot; }}&gt;&#10;    &lt;Text style={{ fontSize: 22, color: &quot;rgba(245,227,190,0.7)&quot;, fontFamily: &quot;'PingFang SC', 'Microsoft YaHei', sans-serif&quot;, letterSpacing: 6 }}&gt;第 08 章&lt;/Text&gt;&#10;    &lt;Text style={{ fontSize: 62, fontWeight: &quot;bold&quot;, color: &quot;#F5E3BE&quot;, fontFamily: &quot;'Songti SC', 'STSong', 'SimSun', serif&quot;, marginTop: 12 }}&gt;未来规划&lt;/Text&gt;&#10;    &lt;Box style={{ width: 70, height: 3, background: &quot;#B3271E&quot;, marginTop: 20 }} /&gt;&#10;    &lt;Text style={{ fontSize: 22, fontStyle: &quot;italic&quot;, color: &quot;rgba(245,227,190,0.82)&quot;, fontFamily: &quot;'PingFang SC', 'Microsoft YaHei', sans-serif&quot;, marginTop: 20 }}&gt;从可交付，走向可发布&lt;/Text&gt;&#10;  &lt;/Box&gt;&#10;  &lt;Box style={{ position: &quot;absolute&quot;, right: 60, bottom: 50, width: 52, height: 52, borderRadius: 6, background: &quot;#B3271E&quot;, justifyContent: &quot;center&quot;, alignItems: &quot;center&quot; }}&gt;&#10;    &lt;Text style={{ fontSize: 28, fontWeight: &quot;bold&quot;, color: &quot;#F5E3BE&quot;, fontFamily: &quot;'Songti SC', 'STSong', 'SimSun', serif&quot; }}&gt;弈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2A2118"/>
          </a:solidFill>
          <a:ln/>
        </p:spPr>
        <p:txBody>
          <a:bodyPr/>
          <a:p/>
        </p:txBody>
      </p:sp>
      <p:pic>
        <p:nvPicPr>
          <p:cNvPr id="630" name=""/>
          <p:cNvPicPr>
            <a:picLocks noChangeAspect="1"/>
          </p:cNvPicPr>
          <p:nvPr/>
        </p:nvPicPr>
        <p:blipFill>
          <a:blip r:embed="rId1">
            <a:alphaModFix amt="22000"/>
          </a:blip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  <p:sp>
        <p:nvSpPr>
          <p:cNvPr id="63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2A2118">
                  <a:alpha val="55000"/>
                </a:srgbClr>
              </a:gs>
              <a:gs pos="55000">
                <a:srgbClr val="3E2E1E">
                  <a:alpha val="55000"/>
                </a:srgbClr>
              </a:gs>
              <a:gs pos="100000">
                <a:srgbClr val="8C5A2B">
                  <a:alpha val="55000"/>
                </a:srgbClr>
              </a:gs>
            </a:gsLst>
            <a:lin ang="4200000" scaled="1"/>
          </a:gradFill>
          <a:ln/>
        </p:spPr>
        <p:txBody>
          <a:bodyPr/>
          <a:p/>
        </p:txBody>
      </p:sp>
      <p:sp>
        <p:nvSpPr>
          <p:cNvPr id="632" name="" descr="{&quot;isTemplate&quot;:true,&quot;type&quot;:&quot;text&quot;}"/>
          <p:cNvSpPr txBox="1"/>
          <p:nvPr/>
        </p:nvSpPr>
        <p:spPr>
          <a:xfrm rot="0" flipH="0" flipV="0">
            <a:off x="9515475" y="457200"/>
            <a:ext cx="1876425" cy="2400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750" b="1">
                <a:solidFill>
                  <a:srgbClr val="B3271E">
                    <a:alpha val="85000"/>
                  </a:srgbClr>
                </a:solidFill>
                <a:latin typeface="Songti SC"/>
                <a:ea typeface="Songti SC"/>
              </a:rPr>
              <a:t>08</a:t>
            </a:r>
            <a:endParaRPr/>
          </a:p>
        </p:txBody>
      </p:sp>
      <p:sp>
        <p:nvSpPr>
          <p:cNvPr id="633" name=""/>
          <p:cNvSpPr/>
          <p:nvPr/>
        </p:nvSpPr>
        <p:spPr>
          <a:xfrm rot="0" flipH="0" flipV="0">
            <a:off x="11125200" y="5886450"/>
            <a:ext cx="495300" cy="495300"/>
          </a:xfrm>
          <a:prstGeom prst="roundRect">
            <a:avLst>
              <a:gd name="adj" fmla="val 11538"/>
            </a:avLst>
          </a:prstGeom>
          <a:solidFill>
            <a:srgbClr val="B3271E"/>
          </a:solidFill>
          <a:ln/>
        </p:spPr>
        <p:txBody>
          <a:bodyPr/>
          <a:p/>
        </p:txBody>
      </p:sp>
      <p:sp>
        <p:nvSpPr>
          <p:cNvPr id="634" name="" descr="{&quot;isTemplate&quot;:true,&quot;type&quot;:&quot;text&quot;}"/>
          <p:cNvSpPr txBox="1"/>
          <p:nvPr/>
        </p:nvSpPr>
        <p:spPr>
          <a:xfrm rot="0" flipH="0" flipV="0">
            <a:off x="11239500" y="5972175"/>
            <a:ext cx="266700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100" b="1">
                <a:solidFill>
                  <a:srgbClr val="F5E3BE"/>
                </a:solidFill>
                <a:latin typeface="Songti SC"/>
                <a:ea typeface="Songti SC"/>
              </a:rPr>
              <a:t>弈</a:t>
            </a:r>
            <a:endParaRPr/>
          </a:p>
        </p:txBody>
      </p:sp>
      <p:sp>
        <p:nvSpPr>
          <p:cNvPr id="635" name="" descr="{&quot;isTemplate&quot;:true,&quot;type&quot;:&quot;text&quot;}"/>
          <p:cNvSpPr txBox="1"/>
          <p:nvPr/>
        </p:nvSpPr>
        <p:spPr>
          <a:xfrm rot="0" flipH="0" flipV="0">
            <a:off x="914400" y="2552700"/>
            <a:ext cx="103632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spc="450">
                <a:solidFill>
                  <a:srgbClr val="F5E3BE">
                    <a:alpha val="70000"/>
                  </a:srgbClr>
                </a:solidFill>
                <a:latin typeface="PingFang SC"/>
                <a:ea typeface="PingFang SC"/>
              </a:rPr>
              <a:t>第</a:t>
            </a:r>
            <a:r>
              <a:rPr lang="en-US" sz="1650" spc="450">
                <a:solidFill>
                  <a:srgbClr val="F5E3BE">
                    <a:alpha val="70000"/>
                  </a:srgbClr>
                </a:solidFill>
                <a:latin typeface="PingFang SC"/>
                <a:ea typeface="PingFang SC"/>
              </a:rPr>
              <a:t xml:space="preserve"> 08 </a:t>
            </a:r>
            <a:r>
              <a:rPr lang="zh-CN" sz="1650" spc="450">
                <a:solidFill>
                  <a:srgbClr val="F5E3BE">
                    <a:alpha val="70000"/>
                  </a:srgbClr>
                </a:solidFill>
                <a:latin typeface="PingFang SC"/>
                <a:ea typeface="PingFang SC"/>
              </a:rPr>
              <a:t>章</a:t>
            </a:r>
            <a:endParaRPr/>
          </a:p>
        </p:txBody>
      </p:sp>
      <p:sp>
        <p:nvSpPr>
          <p:cNvPr id="636" name="" descr="{&quot;isTemplate&quot;:true,&quot;type&quot;:&quot;text&quot;}"/>
          <p:cNvSpPr txBox="1"/>
          <p:nvPr/>
        </p:nvSpPr>
        <p:spPr>
          <a:xfrm rot="0" flipH="0" flipV="0">
            <a:off x="914400" y="2924175"/>
            <a:ext cx="10363200" cy="7143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4650" b="1">
                <a:solidFill>
                  <a:srgbClr val="F5E3BE"/>
                </a:solidFill>
                <a:latin typeface="Songti SC"/>
                <a:ea typeface="Songti SC"/>
              </a:rPr>
              <a:t>未来规划</a:t>
            </a:r>
            <a:endParaRPr/>
          </a:p>
        </p:txBody>
      </p:sp>
      <p:sp>
        <p:nvSpPr>
          <p:cNvPr id="637" name=""/>
          <p:cNvSpPr/>
          <p:nvPr/>
        </p:nvSpPr>
        <p:spPr>
          <a:xfrm rot="0" flipH="0" flipV="0">
            <a:off x="914400" y="3829050"/>
            <a:ext cx="666750" cy="28575"/>
          </a:xfrm>
          <a:prstGeom prst="rect">
            <a:avLst/>
          </a:prstGeom>
          <a:solidFill>
            <a:srgbClr val="B3271E"/>
          </a:solidFill>
          <a:ln/>
        </p:spPr>
        <p:txBody>
          <a:bodyPr/>
          <a:p/>
        </p:txBody>
      </p:sp>
      <p:sp>
        <p:nvSpPr>
          <p:cNvPr id="638" name="" descr="{&quot;isTemplate&quot;:true,&quot;type&quot;:&quot;text&quot;}"/>
          <p:cNvSpPr txBox="1"/>
          <p:nvPr/>
        </p:nvSpPr>
        <p:spPr>
          <a:xfrm rot="0" flipH="0" flipV="0">
            <a:off x="914400" y="4048125"/>
            <a:ext cx="103632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i="1">
                <a:solidFill>
                  <a:srgbClr val="F5E3BE">
                    <a:alpha val="82000"/>
                  </a:srgbClr>
                </a:solidFill>
                <a:latin typeface="PingFang SC"/>
                <a:ea typeface="PingFang SC"/>
              </a:rPr>
              <a:t>从可交付，走向可发布</a:t>
            </a:r>
            <a:endParaRPr/>
          </a:p>
        </p:txBody>
      </p:sp>
    </p:spTree>
  </p:cSld>
</p:sld>
</file>

<file path=ppt/slides/slide56.xml><?xml version="1.0" encoding="utf-8"?>
<p:sld xmlns:p="http://schemas.openxmlformats.org/presentationml/2006/main" xmlns:a="http://schemas.openxmlformats.org/drawingml/2006/main">
  <p:cSld>
    <p:spTree>
      <p:nvGrpSpPr>
        <p:cNvPr id="639" name="" descr="&lt;Slide style={{ width: 1280, height: 720, padding: &quot;20px 72px&quot;, background: &quot;#F5E3BE&quot;, flexDirection: &quot;column&quot; }}&gt;&#10;  &lt;Box style={{ width: &quot;100%&quot;, height: 96, flexDirection: &quot;column&quot;, justifyContent: &quot;center&quot; }}&gt;&#10;    &lt;Text style={{ fontSize: 34, fontWeight: &quot;bold&quot;, color: &quot;#2A2118&quot;, fontFamily: &quot;'Songti SC', 'STSong', 'SimSun', serif&quot; }}&gt;四条路线：从可交付走向可发布&lt;/Text&gt;&#10;    &lt;Box style={{ width: 56, height: 2, background: &quot;#B3271E&quot;, marginTop: 10 }} /&gt;&#10;  &lt;/Box&gt;&#10;  &lt;Box style={{ width: &quot;100%&quot;, height: 516, flexDirection: &quot;column&quot; }}&gt;&#10;  &lt;Box style={{ width: 860, height: &quot;100%&quot;, flexDirection: &quot;column&quot;, justifyContent: &quot;center&quot; }}&gt;&#10;    &lt;Text style={{ fontSize: 18, lineHeight: 1.7, color: &quot;#2A2118&quot;, fontFamily: &quot;'PingFang SC', 'Microsoft YaHei', sans-serif&quot;, marginBottom: 14 }}&gt;① 性能与体积：WAV 转 MP3 瘦身；清理 theme_boards 冗余字段；dist 释放约 627MB。&lt;/Text&gt;&#10;    &lt;Text style={{ fontSize: 18, lineHeight: 1.7, color: &quot;#2A2118&quot;, fontFamily: &quot;'PingFang SC', 'Microsoft YaHei', sans-serif&quot;, marginBottom: 14 }}&gt;② 模块化与测试：当前以几何自检和端到端脚本为主，补 tests/ 自动化回归套件，让改动有护栏。&lt;/Text&gt;&#10;    &lt;Text style={{ fontSize: 18, lineHeight: 1.7, color: &quot;#2A2118&quot;, fontFamily: &quot;'PingFang SC', 'Microsoft YaHei', sans-serif&quot;, marginBottom: 14 }}&gt;③ 发布准备：打包流程全量验证 + 发布前敏感配置脱敏（API Key 不随产物外流）。&lt;/Text&gt;&#10;    &lt;Text style={{ fontSize: 18, lineHeight: 1.7, color: &quot;#2A2118&quot;, fontFamily: &quot;'PingFang SC', 'Microsoft YaHei', sans-serif&quot;, marginBottom: 14 }}&gt;④ 体验深化：沿「真实、克制、精致」继续打磨 3D 立体与光照，一次只推进一个改进点。&lt;/Text&gt;&#10;  &lt;/Box&gt;&#10;  &lt;/Box&gt;&#10;  &lt;Box style={{ width: &quot;100%&quot;, height: 48, flexDirection: &quot;row&quot;, alignItems: &quot;center&quot;, justifyContent: &quot;space-between&quot; }}&gt;&#10;    &lt;Text style={{ fontSize: 14, color: &quot;rgba(42,33,24,0.55)&quot;, fontFamily: &quot;'PingFang SC', 'Microsoft YaHei', sans-serif&quot; }}&gt;弈趣棋苑 · 项目开发汇报&lt;/Text&gt;&#10;    &lt;Text style={{ fontSize: 14, color: &quot;rgba(42,33,24,0.55)&quot;, fontFamily: &quot;'PingFang SC', 'Microsoft YaHei', sans-serif&quot; }}&gt;57 / 64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5E3BE"/>
          </a:solidFill>
          <a:ln/>
        </p:spPr>
        <p:txBody>
          <a:bodyPr/>
          <a:p/>
        </p:txBody>
      </p:sp>
      <p:sp>
        <p:nvSpPr>
          <p:cNvPr id="641" name="" descr="{&quot;isTemplate&quot;:true,&quot;type&quot;:&quot;text&quot;}"/>
          <p:cNvSpPr txBox="1"/>
          <p:nvPr/>
        </p:nvSpPr>
        <p:spPr>
          <a:xfrm rot="0" flipH="0" flipV="0">
            <a:off x="685800" y="400050"/>
            <a:ext cx="108204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A2118"/>
                </a:solidFill>
                <a:latin typeface="Songti SC"/>
                <a:ea typeface="Songti SC"/>
              </a:rPr>
              <a:t>四条路线：从可交付走向可发布</a:t>
            </a:r>
            <a:endParaRPr/>
          </a:p>
        </p:txBody>
      </p:sp>
      <p:sp>
        <p:nvSpPr>
          <p:cNvPr id="642" name=""/>
          <p:cNvSpPr/>
          <p:nvPr/>
        </p:nvSpPr>
        <p:spPr>
          <a:xfrm rot="0" flipH="0" flipV="0">
            <a:off x="685800" y="885825"/>
            <a:ext cx="533400" cy="19050"/>
          </a:xfrm>
          <a:prstGeom prst="rect">
            <a:avLst/>
          </a:prstGeom>
          <a:solidFill>
            <a:srgbClr val="B3271E"/>
          </a:solidFill>
          <a:ln/>
        </p:spPr>
        <p:txBody>
          <a:bodyPr/>
          <a:p/>
        </p:txBody>
      </p:sp>
      <p:sp>
        <p:nvSpPr>
          <p:cNvPr id="643" name="" descr="{&quot;isTemplate&quot;:true,&quot;type&quot;:&quot;text&quot;}"/>
          <p:cNvSpPr txBox="1"/>
          <p:nvPr/>
        </p:nvSpPr>
        <p:spPr>
          <a:xfrm rot="0" flipH="0" flipV="0">
            <a:off x="685800" y="2590800"/>
            <a:ext cx="8191500" cy="35242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1350">
                <a:solidFill>
                  <a:srgbClr val="2A2118"/>
                </a:solidFill>
                <a:latin typeface="PingFang SC"/>
                <a:ea typeface="PingFang SC"/>
              </a:rPr>
              <a:t xml:space="preserve">① </a:t>
            </a:r>
            <a:r>
              <a:rPr lang="zh-CN" sz="1350">
                <a:solidFill>
                  <a:srgbClr val="2A2118"/>
                </a:solidFill>
                <a:latin typeface="PingFang SC"/>
                <a:ea typeface="PingFang SC"/>
              </a:rPr>
              <a:t>性能与体积：</a:t>
            </a:r>
            <a:r>
              <a:rPr lang="en-US" sz="1350">
                <a:solidFill>
                  <a:srgbClr val="2A2118"/>
                </a:solidFill>
                <a:latin typeface="PingFang SC"/>
                <a:ea typeface="PingFang SC"/>
              </a:rPr>
              <a:t xml:space="preserve">WAV </a:t>
            </a:r>
            <a:r>
              <a:rPr lang="zh-CN" sz="1350">
                <a:solidFill>
                  <a:srgbClr val="2A2118"/>
                </a:solidFill>
                <a:latin typeface="PingFang SC"/>
                <a:ea typeface="PingFang SC"/>
              </a:rPr>
              <a:t>转</a:t>
            </a:r>
            <a:r>
              <a:rPr lang="en-US" sz="1350">
                <a:solidFill>
                  <a:srgbClr val="2A2118"/>
                </a:solidFill>
                <a:latin typeface="PingFang SC"/>
                <a:ea typeface="PingFang SC"/>
              </a:rPr>
              <a:t xml:space="preserve"> MP3 </a:t>
            </a:r>
            <a:r>
              <a:rPr lang="zh-CN" sz="1350">
                <a:solidFill>
                  <a:srgbClr val="2A2118"/>
                </a:solidFill>
                <a:latin typeface="PingFang SC"/>
                <a:ea typeface="PingFang SC"/>
              </a:rPr>
              <a:t>瘦身；清理</a:t>
            </a:r>
            <a:r>
              <a:rPr lang="en-US" sz="1350">
                <a:solidFill>
                  <a:srgbClr val="2A2118"/>
                </a:solidFill>
                <a:latin typeface="PingFang SC"/>
                <a:ea typeface="PingFang SC"/>
              </a:rPr>
              <a:t xml:space="preserve"> theme_boards </a:t>
            </a:r>
            <a:r>
              <a:rPr lang="zh-CN" sz="1350">
                <a:solidFill>
                  <a:srgbClr val="2A2118"/>
                </a:solidFill>
                <a:latin typeface="PingFang SC"/>
                <a:ea typeface="PingFang SC"/>
              </a:rPr>
              <a:t>冗余字段；</a:t>
            </a:r>
            <a:r>
              <a:rPr lang="en-US" sz="1350">
                <a:solidFill>
                  <a:srgbClr val="2A2118"/>
                </a:solidFill>
                <a:latin typeface="PingFang SC"/>
                <a:ea typeface="PingFang SC"/>
              </a:rPr>
              <a:t xml:space="preserve">dist </a:t>
            </a:r>
            <a:r>
              <a:rPr lang="zh-CN" sz="1350">
                <a:solidFill>
                  <a:srgbClr val="2A2118"/>
                </a:solidFill>
                <a:latin typeface="PingFang SC"/>
                <a:ea typeface="PingFang SC"/>
              </a:rPr>
              <a:t>释放约</a:t>
            </a:r>
            <a:r>
              <a:rPr lang="en-US" sz="1350">
                <a:solidFill>
                  <a:srgbClr val="2A2118"/>
                </a:solidFill>
                <a:latin typeface="PingFang SC"/>
                <a:ea typeface="PingFang SC"/>
              </a:rPr>
              <a:t xml:space="preserve"> 627MB</a:t>
            </a:r>
            <a:r>
              <a:rPr lang="zh-CN" sz="1350">
                <a:solidFill>
                  <a:srgbClr val="2A2118"/>
                </a:solidFill>
                <a:latin typeface="PingFang SC"/>
                <a:ea typeface="PingFang SC"/>
              </a:rPr>
              <a:t>。</a:t>
            </a:r>
            <a:endParaRPr/>
          </a:p>
        </p:txBody>
      </p:sp>
      <p:sp>
        <p:nvSpPr>
          <p:cNvPr id="644" name="" descr="{&quot;isTemplate&quot;:true,&quot;type&quot;:&quot;text&quot;}"/>
          <p:cNvSpPr txBox="1"/>
          <p:nvPr/>
        </p:nvSpPr>
        <p:spPr>
          <a:xfrm rot="0" flipH="0" flipV="0">
            <a:off x="685800" y="3076575"/>
            <a:ext cx="8191500" cy="35242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1350">
                <a:solidFill>
                  <a:srgbClr val="2A2118"/>
                </a:solidFill>
                <a:latin typeface="PingFang SC"/>
                <a:ea typeface="PingFang SC"/>
              </a:rPr>
              <a:t xml:space="preserve">② </a:t>
            </a:r>
            <a:r>
              <a:rPr lang="zh-CN" sz="1350">
                <a:solidFill>
                  <a:srgbClr val="2A2118"/>
                </a:solidFill>
                <a:latin typeface="PingFang SC"/>
                <a:ea typeface="PingFang SC"/>
              </a:rPr>
              <a:t>模块化与测试：当前以几何自检和端到端脚本为主，补</a:t>
            </a:r>
            <a:r>
              <a:rPr lang="en-US" sz="1350">
                <a:solidFill>
                  <a:srgbClr val="2A2118"/>
                </a:solidFill>
                <a:latin typeface="PingFang SC"/>
                <a:ea typeface="PingFang SC"/>
              </a:rPr>
              <a:t xml:space="preserve"> tests/ </a:t>
            </a:r>
            <a:r>
              <a:rPr lang="zh-CN" sz="1350">
                <a:solidFill>
                  <a:srgbClr val="2A2118"/>
                </a:solidFill>
                <a:latin typeface="PingFang SC"/>
                <a:ea typeface="PingFang SC"/>
              </a:rPr>
              <a:t>自动化回归套件，让改动有护栏。</a:t>
            </a:r>
            <a:endParaRPr/>
          </a:p>
        </p:txBody>
      </p:sp>
      <p:sp>
        <p:nvSpPr>
          <p:cNvPr id="645" name="" descr="{&quot;isTemplate&quot;:true,&quot;type&quot;:&quot;text&quot;}"/>
          <p:cNvSpPr txBox="1"/>
          <p:nvPr/>
        </p:nvSpPr>
        <p:spPr>
          <a:xfrm rot="0" flipH="0" flipV="0">
            <a:off x="685800" y="3562350"/>
            <a:ext cx="8191500" cy="35242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1350">
                <a:solidFill>
                  <a:srgbClr val="2A2118"/>
                </a:solidFill>
                <a:latin typeface="PingFang SC"/>
                <a:ea typeface="PingFang SC"/>
              </a:rPr>
              <a:t xml:space="preserve">③ </a:t>
            </a:r>
            <a:r>
              <a:rPr lang="zh-CN" sz="1350">
                <a:solidFill>
                  <a:srgbClr val="2A2118"/>
                </a:solidFill>
                <a:latin typeface="PingFang SC"/>
                <a:ea typeface="PingFang SC"/>
              </a:rPr>
              <a:t>发布准备：打包流程全量验证</a:t>
            </a:r>
            <a:r>
              <a:rPr lang="en-US" sz="1350">
                <a:solidFill>
                  <a:srgbClr val="2A2118"/>
                </a:solidFill>
                <a:latin typeface="PingFang SC"/>
                <a:ea typeface="PingFang SC"/>
              </a:rPr>
              <a:t xml:space="preserve"> + </a:t>
            </a:r>
            <a:r>
              <a:rPr lang="zh-CN" sz="1350">
                <a:solidFill>
                  <a:srgbClr val="2A2118"/>
                </a:solidFill>
                <a:latin typeface="PingFang SC"/>
                <a:ea typeface="PingFang SC"/>
              </a:rPr>
              <a:t>发布前敏感配置脱敏（</a:t>
            </a:r>
            <a:r>
              <a:rPr lang="en-US" sz="1350">
                <a:solidFill>
                  <a:srgbClr val="2A2118"/>
                </a:solidFill>
                <a:latin typeface="PingFang SC"/>
                <a:ea typeface="PingFang SC"/>
              </a:rPr>
              <a:t xml:space="preserve">API Key </a:t>
            </a:r>
            <a:r>
              <a:rPr lang="zh-CN" sz="1350">
                <a:solidFill>
                  <a:srgbClr val="2A2118"/>
                </a:solidFill>
                <a:latin typeface="PingFang SC"/>
                <a:ea typeface="PingFang SC"/>
              </a:rPr>
              <a:t>不随产物外流）。</a:t>
            </a:r>
            <a:endParaRPr/>
          </a:p>
        </p:txBody>
      </p:sp>
      <p:sp>
        <p:nvSpPr>
          <p:cNvPr id="646" name="" descr="{&quot;isTemplate&quot;:true,&quot;type&quot;:&quot;text&quot;}"/>
          <p:cNvSpPr txBox="1"/>
          <p:nvPr/>
        </p:nvSpPr>
        <p:spPr>
          <a:xfrm rot="0" flipH="0" flipV="0">
            <a:off x="685800" y="4048125"/>
            <a:ext cx="8191500" cy="35242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1350">
                <a:solidFill>
                  <a:srgbClr val="2A2118"/>
                </a:solidFill>
                <a:latin typeface="PingFang SC"/>
                <a:ea typeface="PingFang SC"/>
              </a:rPr>
              <a:t xml:space="preserve">④ </a:t>
            </a:r>
            <a:r>
              <a:rPr lang="zh-CN" sz="1350">
                <a:solidFill>
                  <a:srgbClr val="2A2118"/>
                </a:solidFill>
                <a:latin typeface="PingFang SC"/>
                <a:ea typeface="PingFang SC"/>
              </a:rPr>
              <a:t>体验深化：沿「真实、克制、精致」继续打磨</a:t>
            </a:r>
            <a:r>
              <a:rPr lang="en-US" sz="1350">
                <a:solidFill>
                  <a:srgbClr val="2A2118"/>
                </a:solidFill>
                <a:latin typeface="PingFang SC"/>
                <a:ea typeface="PingFang SC"/>
              </a:rPr>
              <a:t xml:space="preserve"> 3D </a:t>
            </a:r>
            <a:r>
              <a:rPr lang="zh-CN" sz="1350">
                <a:solidFill>
                  <a:srgbClr val="2A2118"/>
                </a:solidFill>
                <a:latin typeface="PingFang SC"/>
                <a:ea typeface="PingFang SC"/>
              </a:rPr>
              <a:t>立体与光照，一次只推进一个改进点。</a:t>
            </a:r>
            <a:endParaRPr/>
          </a:p>
        </p:txBody>
      </p:sp>
      <p:sp>
        <p:nvSpPr>
          <p:cNvPr id="647" name="" descr="{&quot;isTemplate&quot;:true,&quot;type&quot;:&quot;text&quot;}"/>
          <p:cNvSpPr txBox="1"/>
          <p:nvPr/>
        </p:nvSpPr>
        <p:spPr>
          <a:xfrm rot="0" flipH="0" flipV="0">
            <a:off x="685800" y="6172200"/>
            <a:ext cx="14478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2A2118">
                    <a:alpha val="55000"/>
                  </a:srgbClr>
                </a:solidFill>
                <a:latin typeface="PingFang SC"/>
                <a:ea typeface="PingFang SC"/>
              </a:rPr>
              <a:t>弈趣棋苑</a:t>
            </a:r>
            <a:r>
              <a:rPr lang="en-US" sz="1050">
                <a:solidFill>
                  <a:srgbClr val="2A2118">
                    <a:alpha val="55000"/>
                  </a:srgbClr>
                </a:solidFill>
                <a:latin typeface="PingFang SC"/>
                <a:ea typeface="PingFang SC"/>
              </a:rPr>
              <a:t xml:space="preserve"> · </a:t>
            </a:r>
            <a:r>
              <a:rPr lang="zh-CN" sz="1050">
                <a:solidFill>
                  <a:srgbClr val="2A2118">
                    <a:alpha val="55000"/>
                  </a:srgbClr>
                </a:solidFill>
                <a:latin typeface="PingFang SC"/>
                <a:ea typeface="PingFang SC"/>
              </a:rPr>
              <a:t>项目开发汇报</a:t>
            </a:r>
            <a:endParaRPr/>
          </a:p>
        </p:txBody>
      </p:sp>
      <p:sp>
        <p:nvSpPr>
          <p:cNvPr id="648" name="" descr="{&quot;isTemplate&quot;:true,&quot;type&quot;:&quot;text&quot;}"/>
          <p:cNvSpPr txBox="1"/>
          <p:nvPr/>
        </p:nvSpPr>
        <p:spPr>
          <a:xfrm rot="0" flipH="0" flipV="0">
            <a:off x="11049000" y="61722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2A2118">
                    <a:alpha val="55000"/>
                  </a:srgbClr>
                </a:solidFill>
                <a:latin typeface="PingFang SC"/>
                <a:ea typeface="PingFang SC"/>
              </a:rPr>
              <a:t>57 / 64</a:t>
            </a:r>
            <a:endParaRPr/>
          </a:p>
        </p:txBody>
      </p:sp>
    </p:spTree>
  </p:cSld>
</p:sld>
</file>

<file path=ppt/slides/slide57.xml><?xml version="1.0" encoding="utf-8"?>
<p:sld xmlns:p="http://schemas.openxmlformats.org/presentationml/2006/main" xmlns:a="http://schemas.openxmlformats.org/drawingml/2006/main">
  <p:cSld>
    <p:spTree>
      <p:nvGrpSpPr>
        <p:cNvPr id="649" name="" descr="&lt;Slide style={{ width: 1280, height: 720, padding: &quot;20px 72px&quot;, background: &quot;#F5E3BE&quot;, flexDirection: &quot;column&quot; }}&gt;&#10;  &lt;Box style={{ width: &quot;100%&quot;, height: 96, flexDirection: &quot;column&quot;, justifyContent: &quot;center&quot; }}&gt;&#10;    &lt;Text style={{ fontSize: 34, fontWeight: &quot;bold&quot;, color: &quot;#2A2118&quot;, fontFamily: &quot;'Songti SC', 'STSong', 'SimSun', serif&quot; }}&gt;发布检查清单&lt;/Text&gt;&#10;    &lt;Box style={{ width: 56, height: 2, background: &quot;#B3271E&quot;, marginTop: 10 }} /&gt;&#10;  &lt;/Box&gt;&#10;  &lt;Box style={{ width: &quot;100%&quot;, height: 516, flexDirection: &quot;column&quot; }}&gt;&#10;  &lt;Box style={{ width: 860, height: &quot;100%&quot;, flexDirection: &quot;column&quot;, justifyContent: &quot;center&quot; }}&gt;&#10;    &lt;Text style={{ fontSize: 18, lineHeight: 1.7, color: &quot;#2A2118&quot;, fontFamily: &quot;'PingFang SC', 'Microsoft YaHei', sans-serif&quot;, marginBottom: 14 }}&gt;安全：config/llm.ini 含真实 API Key——公开仓库前必须脱敏，绝不提交密钥。&lt;/Text&gt;&#10;    &lt;Text style={{ fontSize: 18, lineHeight: 1.7, color: &quot;#2A2118&quot;, fontFamily: &quot;'PingFang SC', 'Microsoft YaHei', sans-serif&quot;, marginBottom: 14 }}&gt;测试：补 tests/ 自动化回归；PyInstaller 打包全量验证。&lt;/Text&gt;&#10;    &lt;Text style={{ fontSize: 18, lineHeight: 1.7, color: &quot;#2A2118&quot;, fontFamily: &quot;'PingFang SC', 'Microsoft YaHei', sans-serif&quot;, marginBottom: 14 }}&gt;体积：清理 dist/、music WAV 转 MP3、删除冗余字段。&lt;/Text&gt;&#10;    &lt;Text style={{ fontSize: 18, lineHeight: 1.7, color: &quot;#2A2118&quot;, fontFamily: &quot;'PingFang SC', 'Microsoft YaHei', sans-serif&quot;, marginBottom: 14 }}&gt;文档：开发日志 / 算法讲义 / 课程报告已就位，按受众分发。&lt;/Text&gt;&#10;  &lt;/Box&gt;&#10;  &lt;/Box&gt;&#10;  &lt;Box style={{ width: &quot;100%&quot;, height: 48, flexDirection: &quot;row&quot;, alignItems: &quot;center&quot;, justifyContent: &quot;space-between&quot; }}&gt;&#10;    &lt;Text style={{ fontSize: 14, color: &quot;rgba(42,33,24,0.55)&quot;, fontFamily: &quot;'PingFang SC', 'Microsoft YaHei', sans-serif&quot; }}&gt;弈趣棋苑 · 项目开发汇报&lt;/Text&gt;&#10;    &lt;Text style={{ fontSize: 14, color: &quot;rgba(42,33,24,0.55)&quot;, fontFamily: &quot;'PingFang SC', 'Microsoft YaHei', sans-serif&quot; }}&gt;58 / 64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5E3BE"/>
          </a:solidFill>
          <a:ln/>
        </p:spPr>
        <p:txBody>
          <a:bodyPr/>
          <a:p/>
        </p:txBody>
      </p:sp>
      <p:sp>
        <p:nvSpPr>
          <p:cNvPr id="651" name="" descr="{&quot;isTemplate&quot;:true,&quot;type&quot;:&quot;text&quot;}"/>
          <p:cNvSpPr txBox="1"/>
          <p:nvPr/>
        </p:nvSpPr>
        <p:spPr>
          <a:xfrm rot="0" flipH="0" flipV="0">
            <a:off x="685800" y="400050"/>
            <a:ext cx="108204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A2118"/>
                </a:solidFill>
                <a:latin typeface="Songti SC"/>
                <a:ea typeface="Songti SC"/>
              </a:rPr>
              <a:t>发布检查清单</a:t>
            </a:r>
            <a:endParaRPr/>
          </a:p>
        </p:txBody>
      </p:sp>
      <p:sp>
        <p:nvSpPr>
          <p:cNvPr id="652" name=""/>
          <p:cNvSpPr/>
          <p:nvPr/>
        </p:nvSpPr>
        <p:spPr>
          <a:xfrm rot="0" flipH="0" flipV="0">
            <a:off x="685800" y="885825"/>
            <a:ext cx="533400" cy="19050"/>
          </a:xfrm>
          <a:prstGeom prst="rect">
            <a:avLst/>
          </a:prstGeom>
          <a:solidFill>
            <a:srgbClr val="B3271E"/>
          </a:solidFill>
          <a:ln/>
        </p:spPr>
        <p:txBody>
          <a:bodyPr/>
          <a:p/>
        </p:txBody>
      </p:sp>
      <p:sp>
        <p:nvSpPr>
          <p:cNvPr id="653" name="" descr="{&quot;isTemplate&quot;:true,&quot;type&quot;:&quot;text&quot;}"/>
          <p:cNvSpPr txBox="1"/>
          <p:nvPr/>
        </p:nvSpPr>
        <p:spPr>
          <a:xfrm rot="0" flipH="0" flipV="0">
            <a:off x="685800" y="2590800"/>
            <a:ext cx="8191500" cy="35242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350">
                <a:solidFill>
                  <a:srgbClr val="2A2118"/>
                </a:solidFill>
                <a:latin typeface="PingFang SC"/>
                <a:ea typeface="PingFang SC"/>
              </a:rPr>
              <a:t>安全：</a:t>
            </a:r>
            <a:r>
              <a:rPr lang="en-US" sz="1350">
                <a:solidFill>
                  <a:srgbClr val="2A2118"/>
                </a:solidFill>
                <a:latin typeface="PingFang SC"/>
                <a:ea typeface="PingFang SC"/>
              </a:rPr>
              <a:t xml:space="preserve">config/llm.ini </a:t>
            </a:r>
            <a:r>
              <a:rPr lang="zh-CN" sz="1350">
                <a:solidFill>
                  <a:srgbClr val="2A2118"/>
                </a:solidFill>
                <a:latin typeface="PingFang SC"/>
                <a:ea typeface="PingFang SC"/>
              </a:rPr>
              <a:t>含真实</a:t>
            </a:r>
            <a:r>
              <a:rPr lang="en-US" sz="1350">
                <a:solidFill>
                  <a:srgbClr val="2A2118"/>
                </a:solidFill>
                <a:latin typeface="PingFang SC"/>
                <a:ea typeface="PingFang SC"/>
              </a:rPr>
              <a:t xml:space="preserve"> API Key——</a:t>
            </a:r>
            <a:r>
              <a:rPr lang="zh-CN" sz="1350">
                <a:solidFill>
                  <a:srgbClr val="2A2118"/>
                </a:solidFill>
                <a:latin typeface="PingFang SC"/>
                <a:ea typeface="PingFang SC"/>
              </a:rPr>
              <a:t>公开仓库前必须脱敏，绝不提交密钥。</a:t>
            </a:r>
            <a:endParaRPr/>
          </a:p>
        </p:txBody>
      </p:sp>
      <p:sp>
        <p:nvSpPr>
          <p:cNvPr id="654" name="" descr="{&quot;isTemplate&quot;:true,&quot;type&quot;:&quot;text&quot;}"/>
          <p:cNvSpPr txBox="1"/>
          <p:nvPr/>
        </p:nvSpPr>
        <p:spPr>
          <a:xfrm rot="0" flipH="0" flipV="0">
            <a:off x="685800" y="3076575"/>
            <a:ext cx="8191500" cy="35242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350">
                <a:solidFill>
                  <a:srgbClr val="2A2118"/>
                </a:solidFill>
                <a:latin typeface="PingFang SC"/>
                <a:ea typeface="PingFang SC"/>
              </a:rPr>
              <a:t>测试：补</a:t>
            </a:r>
            <a:r>
              <a:rPr lang="en-US" sz="1350">
                <a:solidFill>
                  <a:srgbClr val="2A2118"/>
                </a:solidFill>
                <a:latin typeface="PingFang SC"/>
                <a:ea typeface="PingFang SC"/>
              </a:rPr>
              <a:t xml:space="preserve"> tests/ </a:t>
            </a:r>
            <a:r>
              <a:rPr lang="zh-CN" sz="1350">
                <a:solidFill>
                  <a:srgbClr val="2A2118"/>
                </a:solidFill>
                <a:latin typeface="PingFang SC"/>
                <a:ea typeface="PingFang SC"/>
              </a:rPr>
              <a:t>自动化回归；</a:t>
            </a:r>
            <a:r>
              <a:rPr lang="en-US" sz="1350">
                <a:solidFill>
                  <a:srgbClr val="2A2118"/>
                </a:solidFill>
                <a:latin typeface="PingFang SC"/>
                <a:ea typeface="PingFang SC"/>
              </a:rPr>
              <a:t xml:space="preserve">PyInstaller </a:t>
            </a:r>
            <a:r>
              <a:rPr lang="zh-CN" sz="1350">
                <a:solidFill>
                  <a:srgbClr val="2A2118"/>
                </a:solidFill>
                <a:latin typeface="PingFang SC"/>
                <a:ea typeface="PingFang SC"/>
              </a:rPr>
              <a:t>打包全量验证。</a:t>
            </a:r>
            <a:endParaRPr/>
          </a:p>
        </p:txBody>
      </p:sp>
      <p:sp>
        <p:nvSpPr>
          <p:cNvPr id="655" name="" descr="{&quot;isTemplate&quot;:true,&quot;type&quot;:&quot;text&quot;}"/>
          <p:cNvSpPr txBox="1"/>
          <p:nvPr/>
        </p:nvSpPr>
        <p:spPr>
          <a:xfrm rot="0" flipH="0" flipV="0">
            <a:off x="685800" y="3562350"/>
            <a:ext cx="8191500" cy="35242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350">
                <a:solidFill>
                  <a:srgbClr val="2A2118"/>
                </a:solidFill>
                <a:latin typeface="PingFang SC"/>
                <a:ea typeface="PingFang SC"/>
              </a:rPr>
              <a:t>体积：清理</a:t>
            </a:r>
            <a:r>
              <a:rPr lang="en-US" sz="1350">
                <a:solidFill>
                  <a:srgbClr val="2A2118"/>
                </a:solidFill>
                <a:latin typeface="PingFang SC"/>
                <a:ea typeface="PingFang SC"/>
              </a:rPr>
              <a:t xml:space="preserve"> dist/</a:t>
            </a:r>
            <a:r>
              <a:rPr lang="zh-CN" sz="1350">
                <a:solidFill>
                  <a:srgbClr val="2A2118"/>
                </a:solidFill>
                <a:latin typeface="PingFang SC"/>
                <a:ea typeface="PingFang SC"/>
              </a:rPr>
              <a:t>、</a:t>
            </a:r>
            <a:r>
              <a:rPr lang="en-US" sz="1350">
                <a:solidFill>
                  <a:srgbClr val="2A2118"/>
                </a:solidFill>
                <a:latin typeface="PingFang SC"/>
                <a:ea typeface="PingFang SC"/>
              </a:rPr>
              <a:t xml:space="preserve">music WAV </a:t>
            </a:r>
            <a:r>
              <a:rPr lang="zh-CN" sz="1350">
                <a:solidFill>
                  <a:srgbClr val="2A2118"/>
                </a:solidFill>
                <a:latin typeface="PingFang SC"/>
                <a:ea typeface="PingFang SC"/>
              </a:rPr>
              <a:t>转</a:t>
            </a:r>
            <a:r>
              <a:rPr lang="en-US" sz="1350">
                <a:solidFill>
                  <a:srgbClr val="2A2118"/>
                </a:solidFill>
                <a:latin typeface="PingFang SC"/>
                <a:ea typeface="PingFang SC"/>
              </a:rPr>
              <a:t xml:space="preserve"> MP3</a:t>
            </a:r>
            <a:r>
              <a:rPr lang="zh-CN" sz="1350">
                <a:solidFill>
                  <a:srgbClr val="2A2118"/>
                </a:solidFill>
                <a:latin typeface="PingFang SC"/>
                <a:ea typeface="PingFang SC"/>
              </a:rPr>
              <a:t>、删除冗余字段。</a:t>
            </a:r>
            <a:endParaRPr/>
          </a:p>
        </p:txBody>
      </p:sp>
      <p:sp>
        <p:nvSpPr>
          <p:cNvPr id="656" name="" descr="{&quot;isTemplate&quot;:true,&quot;type&quot;:&quot;text&quot;}"/>
          <p:cNvSpPr txBox="1"/>
          <p:nvPr/>
        </p:nvSpPr>
        <p:spPr>
          <a:xfrm rot="0" flipH="0" flipV="0">
            <a:off x="685800" y="4048125"/>
            <a:ext cx="8191500" cy="35242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350">
                <a:solidFill>
                  <a:srgbClr val="2A2118"/>
                </a:solidFill>
                <a:latin typeface="PingFang SC"/>
                <a:ea typeface="PingFang SC"/>
              </a:rPr>
              <a:t>文档：开发日志</a:t>
            </a:r>
            <a:r>
              <a:rPr lang="en-US" sz="1350">
                <a:solidFill>
                  <a:srgbClr val="2A2118"/>
                </a:solidFill>
                <a:latin typeface="PingFang SC"/>
                <a:ea typeface="PingFang SC"/>
              </a:rPr>
              <a:t xml:space="preserve"> / </a:t>
            </a:r>
            <a:r>
              <a:rPr lang="zh-CN" sz="1350">
                <a:solidFill>
                  <a:srgbClr val="2A2118"/>
                </a:solidFill>
                <a:latin typeface="PingFang SC"/>
                <a:ea typeface="PingFang SC"/>
              </a:rPr>
              <a:t>算法讲义</a:t>
            </a:r>
            <a:r>
              <a:rPr lang="en-US" sz="1350">
                <a:solidFill>
                  <a:srgbClr val="2A2118"/>
                </a:solidFill>
                <a:latin typeface="PingFang SC"/>
                <a:ea typeface="PingFang SC"/>
              </a:rPr>
              <a:t xml:space="preserve"> / </a:t>
            </a:r>
            <a:r>
              <a:rPr lang="zh-CN" sz="1350">
                <a:solidFill>
                  <a:srgbClr val="2A2118"/>
                </a:solidFill>
                <a:latin typeface="PingFang SC"/>
                <a:ea typeface="PingFang SC"/>
              </a:rPr>
              <a:t>课程报告已就位，按受众分发。</a:t>
            </a:r>
            <a:endParaRPr/>
          </a:p>
        </p:txBody>
      </p:sp>
      <p:sp>
        <p:nvSpPr>
          <p:cNvPr id="657" name="" descr="{&quot;isTemplate&quot;:true,&quot;type&quot;:&quot;text&quot;}"/>
          <p:cNvSpPr txBox="1"/>
          <p:nvPr/>
        </p:nvSpPr>
        <p:spPr>
          <a:xfrm rot="0" flipH="0" flipV="0">
            <a:off x="685800" y="6172200"/>
            <a:ext cx="14478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2A2118">
                    <a:alpha val="55000"/>
                  </a:srgbClr>
                </a:solidFill>
                <a:latin typeface="PingFang SC"/>
                <a:ea typeface="PingFang SC"/>
              </a:rPr>
              <a:t>弈趣棋苑</a:t>
            </a:r>
            <a:r>
              <a:rPr lang="en-US" sz="1050">
                <a:solidFill>
                  <a:srgbClr val="2A2118">
                    <a:alpha val="55000"/>
                  </a:srgbClr>
                </a:solidFill>
                <a:latin typeface="PingFang SC"/>
                <a:ea typeface="PingFang SC"/>
              </a:rPr>
              <a:t xml:space="preserve"> · </a:t>
            </a:r>
            <a:r>
              <a:rPr lang="zh-CN" sz="1050">
                <a:solidFill>
                  <a:srgbClr val="2A2118">
                    <a:alpha val="55000"/>
                  </a:srgbClr>
                </a:solidFill>
                <a:latin typeface="PingFang SC"/>
                <a:ea typeface="PingFang SC"/>
              </a:rPr>
              <a:t>项目开发汇报</a:t>
            </a:r>
            <a:endParaRPr/>
          </a:p>
        </p:txBody>
      </p:sp>
      <p:sp>
        <p:nvSpPr>
          <p:cNvPr id="658" name="" descr="{&quot;isTemplate&quot;:true,&quot;type&quot;:&quot;text&quot;}"/>
          <p:cNvSpPr txBox="1"/>
          <p:nvPr/>
        </p:nvSpPr>
        <p:spPr>
          <a:xfrm rot="0" flipH="0" flipV="0">
            <a:off x="11049000" y="61722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2A2118">
                    <a:alpha val="55000"/>
                  </a:srgbClr>
                </a:solidFill>
                <a:latin typeface="PingFang SC"/>
                <a:ea typeface="PingFang SC"/>
              </a:rPr>
              <a:t>58 / 64</a:t>
            </a:r>
            <a:endParaRPr/>
          </a:p>
        </p:txBody>
      </p:sp>
    </p:spTree>
  </p:cSld>
</p:sld>
</file>

<file path=ppt/slides/slide58.xml><?xml version="1.0" encoding="utf-8"?>
<p:sld xmlns:p="http://schemas.openxmlformats.org/presentationml/2006/main" xmlns:a="http://schemas.openxmlformats.org/drawingml/2006/main">
  <p:cSld>
    <p:spTree>
      <p:nvGrpSpPr>
        <p:cNvPr id="659" name="" descr="&lt;Slide style={{ width: 1280, height: 720, padding: &quot;20px 72px&quot;, background: &quot;#F5E3BE&quot;, flexDirection: &quot;column&quot; }}&gt;&#10;  &lt;Box style={{ width: &quot;100%&quot;, height: 96, flexDirection: &quot;column&quot;, justifyContent: &quot;center&quot; }}&gt;&#10;    &lt;Text style={{ fontSize: 34, fontWeight: &quot;bold&quot;, color: &quot;#2A2118&quot;, fontFamily: &quot;'Songti SC', 'STSong', 'SimSun', serif&quot; }}&gt;诚实交代：还没做完的部分&lt;/Text&gt;&#10;    &lt;Box style={{ width: 56, height: 2, background: &quot;#B3271E&quot;, marginTop: 10 }} /&gt;&#10;  &lt;/Box&gt;&#10;  &lt;Box style={{ width: &quot;100%&quot;, height: 516, flexDirection: &quot;column&quot; }}&gt;&#10;  &lt;Box style={{ width: 860, height: &quot;100%&quot;, flexDirection: &quot;column&quot;, justifyContent: &quot;center&quot; }}&gt;&#10;    &lt;Text style={{ fontSize: 18, lineHeight: 1.7, color: &quot;#2A2118&quot;, fontFamily: &quot;'PingFang SC', 'Microsoft YaHei', sans-serif&quot;, marginBottom: 14 }}&gt;config/llm.ini 的密钥尚未脱敏——这是发布的硬阻塞项，公开前必须处理。&lt;/Text&gt;&#10;    &lt;Text style={{ fontSize: 18, lineHeight: 1.7, color: &quot;#2A2118&quot;, fontFamily: &quot;'PingFang SC', 'Microsoft YaHei', sans-serif&quot;, marginBottom: 14 }}&gt;没有 tests/ 自动化回归，目前验证靠临时脚本；PyInstaller 打包尚未做全量验证。&lt;/Text&gt;&#10;    &lt;Text style={{ fontSize: 18, lineHeight: 1.7, color: &quot;#2A2118&quot;, fontFamily: &quot;'PingFang SC', 'Microsoft YaHei', sans-serif&quot;, marginBottom: 14 }}&gt;assets/music 里 WAV 体积偏大，瘦身没做；theme_boards.py 的 grain 字段已无实际使用，属可清理冗余。&lt;/Text&gt;&#10;  &lt;/Box&gt;&#10;  &lt;/Box&gt;&#10;  &lt;Box style={{ width: &quot;100%&quot;, height: 48, flexDirection: &quot;row&quot;, alignItems: &quot;center&quot;, justifyContent: &quot;space-between&quot; }}&gt;&#10;    &lt;Text style={{ fontSize: 14, color: &quot;rgba(42,33,24,0.55)&quot;, fontFamily: &quot;'PingFang SC', 'Microsoft YaHei', sans-serif&quot; }}&gt;弈趣棋苑 · 项目开发汇报&lt;/Text&gt;&#10;    &lt;Text style={{ fontSize: 14, color: &quot;rgba(42,33,24,0.55)&quot;, fontFamily: &quot;'PingFang SC', 'Microsoft YaHei', sans-serif&quot; }}&gt;59 / 64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5E3BE"/>
          </a:solidFill>
          <a:ln/>
        </p:spPr>
        <p:txBody>
          <a:bodyPr/>
          <a:p/>
        </p:txBody>
      </p:sp>
      <p:sp>
        <p:nvSpPr>
          <p:cNvPr id="661" name="" descr="{&quot;isTemplate&quot;:true,&quot;type&quot;:&quot;text&quot;}"/>
          <p:cNvSpPr txBox="1"/>
          <p:nvPr/>
        </p:nvSpPr>
        <p:spPr>
          <a:xfrm rot="0" flipH="0" flipV="0">
            <a:off x="685800" y="400050"/>
            <a:ext cx="108204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A2118"/>
                </a:solidFill>
                <a:latin typeface="Songti SC"/>
                <a:ea typeface="Songti SC"/>
              </a:rPr>
              <a:t>诚实交代：还没做完的部分</a:t>
            </a:r>
            <a:endParaRPr/>
          </a:p>
        </p:txBody>
      </p:sp>
      <p:sp>
        <p:nvSpPr>
          <p:cNvPr id="662" name=""/>
          <p:cNvSpPr/>
          <p:nvPr/>
        </p:nvSpPr>
        <p:spPr>
          <a:xfrm rot="0" flipH="0" flipV="0">
            <a:off x="685800" y="885825"/>
            <a:ext cx="533400" cy="19050"/>
          </a:xfrm>
          <a:prstGeom prst="rect">
            <a:avLst/>
          </a:prstGeom>
          <a:solidFill>
            <a:srgbClr val="B3271E"/>
          </a:solidFill>
          <a:ln/>
        </p:spPr>
        <p:txBody>
          <a:bodyPr/>
          <a:p/>
        </p:txBody>
      </p:sp>
      <p:sp>
        <p:nvSpPr>
          <p:cNvPr id="663" name="" descr="{&quot;isTemplate&quot;:true,&quot;type&quot;:&quot;text&quot;}"/>
          <p:cNvSpPr txBox="1"/>
          <p:nvPr/>
        </p:nvSpPr>
        <p:spPr>
          <a:xfrm rot="0" flipH="0" flipV="0">
            <a:off x="685800" y="2657475"/>
            <a:ext cx="8191500" cy="35242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1350">
                <a:solidFill>
                  <a:srgbClr val="2A2118"/>
                </a:solidFill>
                <a:latin typeface="PingFang SC"/>
                <a:ea typeface="PingFang SC"/>
              </a:rPr>
              <a:t xml:space="preserve">config/llm.ini </a:t>
            </a:r>
            <a:r>
              <a:rPr lang="zh-CN" sz="1350">
                <a:solidFill>
                  <a:srgbClr val="2A2118"/>
                </a:solidFill>
                <a:latin typeface="PingFang SC"/>
                <a:ea typeface="PingFang SC"/>
              </a:rPr>
              <a:t>的密钥尚未脱敏——这是发布的硬阻塞项，公开前必须处理。</a:t>
            </a:r>
            <a:endParaRPr/>
          </a:p>
        </p:txBody>
      </p:sp>
      <p:sp>
        <p:nvSpPr>
          <p:cNvPr id="664" name="" descr="{&quot;isTemplate&quot;:true,&quot;type&quot;:&quot;text&quot;}"/>
          <p:cNvSpPr txBox="1"/>
          <p:nvPr/>
        </p:nvSpPr>
        <p:spPr>
          <a:xfrm rot="0" flipH="0" flipV="0">
            <a:off x="685800" y="3143250"/>
            <a:ext cx="8191500" cy="35242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350">
                <a:solidFill>
                  <a:srgbClr val="2A2118"/>
                </a:solidFill>
                <a:latin typeface="PingFang SC"/>
                <a:ea typeface="PingFang SC"/>
              </a:rPr>
              <a:t>没有</a:t>
            </a:r>
            <a:r>
              <a:rPr lang="en-US" sz="1350">
                <a:solidFill>
                  <a:srgbClr val="2A2118"/>
                </a:solidFill>
                <a:latin typeface="PingFang SC"/>
                <a:ea typeface="PingFang SC"/>
              </a:rPr>
              <a:t xml:space="preserve"> tests/ </a:t>
            </a:r>
            <a:r>
              <a:rPr lang="zh-CN" sz="1350">
                <a:solidFill>
                  <a:srgbClr val="2A2118"/>
                </a:solidFill>
                <a:latin typeface="PingFang SC"/>
                <a:ea typeface="PingFang SC"/>
              </a:rPr>
              <a:t>自动化回归，目前验证靠临时脚本；</a:t>
            </a:r>
            <a:r>
              <a:rPr lang="en-US" sz="1350">
                <a:solidFill>
                  <a:srgbClr val="2A2118"/>
                </a:solidFill>
                <a:latin typeface="PingFang SC"/>
                <a:ea typeface="PingFang SC"/>
              </a:rPr>
              <a:t xml:space="preserve">PyInstaller </a:t>
            </a:r>
            <a:r>
              <a:rPr lang="zh-CN" sz="1350">
                <a:solidFill>
                  <a:srgbClr val="2A2118"/>
                </a:solidFill>
                <a:latin typeface="PingFang SC"/>
                <a:ea typeface="PingFang SC"/>
              </a:rPr>
              <a:t>打包尚未做全量验证。</a:t>
            </a:r>
            <a:endParaRPr/>
          </a:p>
        </p:txBody>
      </p:sp>
      <p:sp>
        <p:nvSpPr>
          <p:cNvPr id="665" name="" descr="{&quot;isTemplate&quot;:true,&quot;type&quot;:&quot;text&quot;}"/>
          <p:cNvSpPr txBox="1"/>
          <p:nvPr/>
        </p:nvSpPr>
        <p:spPr>
          <a:xfrm rot="0" flipH="0" flipV="0">
            <a:off x="685800" y="3629025"/>
            <a:ext cx="8191500" cy="7048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en-US" sz="1350">
                <a:solidFill>
                  <a:srgbClr val="2A2118"/>
                </a:solidFill>
                <a:latin typeface="PingFang SC"/>
                <a:ea typeface="PingFang SC"/>
              </a:rPr>
              <a:t xml:space="preserve">assets/music </a:t>
            </a:r>
            <a:r>
              <a:rPr lang="zh-CN" sz="1350">
                <a:solidFill>
                  <a:srgbClr val="2A2118"/>
                </a:solidFill>
                <a:latin typeface="PingFang SC"/>
                <a:ea typeface="PingFang SC"/>
              </a:rPr>
              <a:t>里</a:t>
            </a:r>
            <a:r>
              <a:rPr lang="en-US" sz="1350">
                <a:solidFill>
                  <a:srgbClr val="2A2118"/>
                </a:solidFill>
                <a:latin typeface="PingFang SC"/>
                <a:ea typeface="PingFang SC"/>
              </a:rPr>
              <a:t xml:space="preserve"> WAV </a:t>
            </a:r>
            <a:r>
              <a:rPr lang="zh-CN" sz="1350">
                <a:solidFill>
                  <a:srgbClr val="2A2118"/>
                </a:solidFill>
                <a:latin typeface="PingFang SC"/>
                <a:ea typeface="PingFang SC"/>
              </a:rPr>
              <a:t>体积偏大，瘦身没做；</a:t>
            </a:r>
            <a:r>
              <a:rPr lang="en-US" sz="1350">
                <a:solidFill>
                  <a:srgbClr val="2A2118"/>
                </a:solidFill>
                <a:latin typeface="PingFang SC"/>
                <a:ea typeface="PingFang SC"/>
              </a:rPr>
              <a:t xml:space="preserve">theme_boards.py </a:t>
            </a:r>
            <a:r>
              <a:rPr lang="zh-CN" sz="1350">
                <a:solidFill>
                  <a:srgbClr val="2A2118"/>
                </a:solidFill>
                <a:latin typeface="PingFang SC"/>
                <a:ea typeface="PingFang SC"/>
              </a:rPr>
              <a:t>的</a:t>
            </a:r>
            <a:r>
              <a:rPr lang="en-US" sz="1350">
                <a:solidFill>
                  <a:srgbClr val="2A2118"/>
                </a:solidFill>
                <a:latin typeface="PingFang SC"/>
                <a:ea typeface="PingFang SC"/>
              </a:rPr>
              <a:t xml:space="preserve"> grain </a:t>
            </a:r>
            <a:r>
              <a:rPr lang="zh-CN" sz="1350">
                <a:solidFill>
                  <a:srgbClr val="2A2118"/>
                </a:solidFill>
                <a:latin typeface="PingFang SC"/>
                <a:ea typeface="PingFang SC"/>
              </a:rPr>
              <a:t>字段已无实际使用，属可清理冗余。</a:t>
            </a:r>
            <a:endParaRPr/>
          </a:p>
        </p:txBody>
      </p:sp>
      <p:sp>
        <p:nvSpPr>
          <p:cNvPr id="666" name="" descr="{&quot;isTemplate&quot;:true,&quot;type&quot;:&quot;text&quot;}"/>
          <p:cNvSpPr txBox="1"/>
          <p:nvPr/>
        </p:nvSpPr>
        <p:spPr>
          <a:xfrm rot="0" flipH="0" flipV="0">
            <a:off x="685800" y="6172200"/>
            <a:ext cx="14478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2A2118">
                    <a:alpha val="55000"/>
                  </a:srgbClr>
                </a:solidFill>
                <a:latin typeface="PingFang SC"/>
                <a:ea typeface="PingFang SC"/>
              </a:rPr>
              <a:t>弈趣棋苑</a:t>
            </a:r>
            <a:r>
              <a:rPr lang="en-US" sz="1050">
                <a:solidFill>
                  <a:srgbClr val="2A2118">
                    <a:alpha val="55000"/>
                  </a:srgbClr>
                </a:solidFill>
                <a:latin typeface="PingFang SC"/>
                <a:ea typeface="PingFang SC"/>
              </a:rPr>
              <a:t xml:space="preserve"> · </a:t>
            </a:r>
            <a:r>
              <a:rPr lang="zh-CN" sz="1050">
                <a:solidFill>
                  <a:srgbClr val="2A2118">
                    <a:alpha val="55000"/>
                  </a:srgbClr>
                </a:solidFill>
                <a:latin typeface="PingFang SC"/>
                <a:ea typeface="PingFang SC"/>
              </a:rPr>
              <a:t>项目开发汇报</a:t>
            </a:r>
            <a:endParaRPr/>
          </a:p>
        </p:txBody>
      </p:sp>
      <p:sp>
        <p:nvSpPr>
          <p:cNvPr id="667" name="" descr="{&quot;isTemplate&quot;:true,&quot;type&quot;:&quot;text&quot;}"/>
          <p:cNvSpPr txBox="1"/>
          <p:nvPr/>
        </p:nvSpPr>
        <p:spPr>
          <a:xfrm rot="0" flipH="0" flipV="0">
            <a:off x="11049000" y="61722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2A2118">
                    <a:alpha val="55000"/>
                  </a:srgbClr>
                </a:solidFill>
                <a:latin typeface="PingFang SC"/>
                <a:ea typeface="PingFang SC"/>
              </a:rPr>
              <a:t>59 / 64</a:t>
            </a:r>
            <a:endParaRPr/>
          </a:p>
        </p:txBody>
      </p:sp>
    </p:spTree>
  </p:cSld>
</p:sld>
</file>

<file path=ppt/slides/slide59.xml><?xml version="1.0" encoding="utf-8"?>
<p:sld xmlns:p="http://schemas.openxmlformats.org/presentationml/2006/main" xmlns:a="http://schemas.openxmlformats.org/drawingml/2006/main">
  <p:cSld>
    <p:spTree>
      <p:nvGrpSpPr>
        <p:cNvPr id="668" name="" descr="&lt;Slide style={{ width: 1280, height: 720, padding: &quot;20px 72px&quot;, background: &quot;#F5E3BE&quot;, flexDirection: &quot;column&quot; }}&gt;&#10;  &lt;Box style={{ width: &quot;100%&quot;, height: 96, flexDirection: &quot;column&quot;, justifyContent: &quot;center&quot; }}&gt;&#10;    &lt;Text style={{ fontSize: 34, fontWeight: &quot;bold&quot;, color: &quot;#2A2118&quot;, fontFamily: &quot;'Songti SC', 'STSong', 'SimSun', serif&quot; }}&gt;最大的收获不是某行代码&lt;/Text&gt;&#10;    &lt;Box style={{ width: 56, height: 2, background: &quot;#B3271E&quot;, marginTop: 10 }} /&gt;&#10;  &lt;/Box&gt;&#10;  &lt;Box style={{ width: &quot;100%&quot;, height: 516, flexDirection: &quot;column&quot; }}&gt;&#10;  &lt;Box style={{ width: 860, height: &quot;100%&quot;, flexDirection: &quot;column&quot;, justifyContent: &quot;center&quot; }}&gt;&#10;    &lt;Text style={{ fontSize: 18, lineHeight: 1.7, color: &quot;#2A2118&quot;, fontFamily: &quot;'PingFang SC', 'Microsoft YaHei', sans-serif&quot;, marginBottom: 14 }}&gt;从「能跑」到「可维护 + 可交付」，真正长出来的能力是：每一个决定都留下依据。&lt;/Text&gt;&#10;    &lt;Text style={{ fontSize: 18, lineHeight: 1.7, color: &quot;#2A2118&quot;, fontFamily: &quot;'PingFang SC', 'Microsoft YaHei', sans-serif&quot;, marginBottom: 14 }}&gt;修改日志、设计文档、版本取证——让任意一步都能追溯。下次再有人问「这里为什么这么写」，不用翻记忆，翻文档就行。&lt;/Text&gt;&#10;  &lt;/Box&gt;&#10;  &lt;/Box&gt;&#10;  &lt;Box style={{ width: &quot;100%&quot;, height: 48, flexDirection: &quot;row&quot;, alignItems: &quot;center&quot;, justifyContent: &quot;space-between&quot; }}&gt;&#10;    &lt;Text style={{ fontSize: 14, color: &quot;rgba(42,33,24,0.55)&quot;, fontFamily: &quot;'PingFang SC', 'Microsoft YaHei', sans-serif&quot; }}&gt;弈趣棋苑 · 项目开发汇报&lt;/Text&gt;&#10;    &lt;Text style={{ fontSize: 14, color: &quot;rgba(42,33,24,0.55)&quot;, fontFamily: &quot;'PingFang SC', 'Microsoft YaHei', sans-serif&quot; }}&gt;60 / 64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5E3BE"/>
          </a:solidFill>
          <a:ln/>
        </p:spPr>
        <p:txBody>
          <a:bodyPr/>
          <a:p/>
        </p:txBody>
      </p:sp>
      <p:sp>
        <p:nvSpPr>
          <p:cNvPr id="670" name="" descr="{&quot;isTemplate&quot;:true,&quot;type&quot;:&quot;text&quot;}"/>
          <p:cNvSpPr txBox="1"/>
          <p:nvPr/>
        </p:nvSpPr>
        <p:spPr>
          <a:xfrm rot="0" flipH="0" flipV="0">
            <a:off x="685800" y="400050"/>
            <a:ext cx="108204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A2118"/>
                </a:solidFill>
                <a:latin typeface="Songti SC"/>
                <a:ea typeface="Songti SC"/>
              </a:rPr>
              <a:t>最大的收获不是某行代码</a:t>
            </a:r>
            <a:endParaRPr/>
          </a:p>
        </p:txBody>
      </p:sp>
      <p:sp>
        <p:nvSpPr>
          <p:cNvPr id="671" name=""/>
          <p:cNvSpPr/>
          <p:nvPr/>
        </p:nvSpPr>
        <p:spPr>
          <a:xfrm rot="0" flipH="0" flipV="0">
            <a:off x="685800" y="885825"/>
            <a:ext cx="533400" cy="19050"/>
          </a:xfrm>
          <a:prstGeom prst="rect">
            <a:avLst/>
          </a:prstGeom>
          <a:solidFill>
            <a:srgbClr val="B3271E"/>
          </a:solidFill>
          <a:ln/>
        </p:spPr>
        <p:txBody>
          <a:bodyPr/>
          <a:p/>
        </p:txBody>
      </p:sp>
      <p:sp>
        <p:nvSpPr>
          <p:cNvPr id="672" name="" descr="{&quot;isTemplate&quot;:true,&quot;type&quot;:&quot;text&quot;}"/>
          <p:cNvSpPr txBox="1"/>
          <p:nvPr/>
        </p:nvSpPr>
        <p:spPr>
          <a:xfrm rot="0" flipH="0" flipV="0">
            <a:off x="685800" y="2905125"/>
            <a:ext cx="8191500" cy="35242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350">
                <a:solidFill>
                  <a:srgbClr val="2A2118"/>
                </a:solidFill>
                <a:latin typeface="PingFang SC"/>
                <a:ea typeface="PingFang SC"/>
              </a:rPr>
              <a:t>从「能跑」到「可维护</a:t>
            </a:r>
            <a:r>
              <a:rPr lang="en-US" sz="1350">
                <a:solidFill>
                  <a:srgbClr val="2A2118"/>
                </a:solidFill>
                <a:latin typeface="PingFang SC"/>
                <a:ea typeface="PingFang SC"/>
              </a:rPr>
              <a:t xml:space="preserve"> + </a:t>
            </a:r>
            <a:r>
              <a:rPr lang="zh-CN" sz="1350">
                <a:solidFill>
                  <a:srgbClr val="2A2118"/>
                </a:solidFill>
                <a:latin typeface="PingFang SC"/>
                <a:ea typeface="PingFang SC"/>
              </a:rPr>
              <a:t>可交付」，真正长出来的能力是：每一个决定都留下依据。</a:t>
            </a:r>
            <a:endParaRPr/>
          </a:p>
        </p:txBody>
      </p:sp>
      <p:sp>
        <p:nvSpPr>
          <p:cNvPr id="673" name="" descr="{&quot;isTemplate&quot;:true,&quot;type&quot;:&quot;text&quot;}"/>
          <p:cNvSpPr txBox="1"/>
          <p:nvPr/>
        </p:nvSpPr>
        <p:spPr>
          <a:xfrm rot="0" flipH="0" flipV="0">
            <a:off x="685800" y="3390900"/>
            <a:ext cx="8191500" cy="7048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350">
                <a:solidFill>
                  <a:srgbClr val="2A2118"/>
                </a:solidFill>
                <a:latin typeface="PingFang SC"/>
                <a:ea typeface="PingFang SC"/>
              </a:rPr>
              <a:t>修改日志、设计文档、版本取证——让任意一步都能追溯。下次再有人问「这里为什么这么写」，不用翻记忆，翻文档就行。</a:t>
            </a:r>
            <a:endParaRPr/>
          </a:p>
        </p:txBody>
      </p:sp>
      <p:sp>
        <p:nvSpPr>
          <p:cNvPr id="674" name="" descr="{&quot;isTemplate&quot;:true,&quot;type&quot;:&quot;text&quot;}"/>
          <p:cNvSpPr txBox="1"/>
          <p:nvPr/>
        </p:nvSpPr>
        <p:spPr>
          <a:xfrm rot="0" flipH="0" flipV="0">
            <a:off x="685800" y="6172200"/>
            <a:ext cx="14478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2A2118">
                    <a:alpha val="55000"/>
                  </a:srgbClr>
                </a:solidFill>
                <a:latin typeface="PingFang SC"/>
                <a:ea typeface="PingFang SC"/>
              </a:rPr>
              <a:t>弈趣棋苑</a:t>
            </a:r>
            <a:r>
              <a:rPr lang="en-US" sz="1050">
                <a:solidFill>
                  <a:srgbClr val="2A2118">
                    <a:alpha val="55000"/>
                  </a:srgbClr>
                </a:solidFill>
                <a:latin typeface="PingFang SC"/>
                <a:ea typeface="PingFang SC"/>
              </a:rPr>
              <a:t xml:space="preserve"> · </a:t>
            </a:r>
            <a:r>
              <a:rPr lang="zh-CN" sz="1050">
                <a:solidFill>
                  <a:srgbClr val="2A2118">
                    <a:alpha val="55000"/>
                  </a:srgbClr>
                </a:solidFill>
                <a:latin typeface="PingFang SC"/>
                <a:ea typeface="PingFang SC"/>
              </a:rPr>
              <a:t>项目开发汇报</a:t>
            </a:r>
            <a:endParaRPr/>
          </a:p>
        </p:txBody>
      </p:sp>
      <p:sp>
        <p:nvSpPr>
          <p:cNvPr id="675" name="" descr="{&quot;isTemplate&quot;:true,&quot;type&quot;:&quot;text&quot;}"/>
          <p:cNvSpPr txBox="1"/>
          <p:nvPr/>
        </p:nvSpPr>
        <p:spPr>
          <a:xfrm rot="0" flipH="0" flipV="0">
            <a:off x="11049000" y="61722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2A2118">
                    <a:alpha val="55000"/>
                  </a:srgbClr>
                </a:solidFill>
                <a:latin typeface="PingFang SC"/>
                <a:ea typeface="PingFang SC"/>
              </a:rPr>
              <a:t>60 / 64</a:t>
            </a:r>
            <a:endParaRPr/>
          </a:p>
        </p:txBody>
      </p:sp>
    </p:spTree>
  </p:cSld>
</p:sld>
</file>

<file path=ppt/slides/slide60.xml><?xml version="1.0" encoding="utf-8"?>
<p:sld xmlns:p="http://schemas.openxmlformats.org/presentationml/2006/main" xmlns:a="http://schemas.openxmlformats.org/drawingml/2006/main">
  <p:cSld>
    <p:spTree>
      <p:nvGrpSpPr>
        <p:cNvPr id="691" name="" descr="&lt;Slide style={{ width: 1280, height: 720, padding: &quot;20px 72px&quot;, background: &quot;#F5E3BE&quot;, flexDirection: &quot;column&quot; }}&gt;&#10;  &lt;Box style={{ width: &quot;100%&quot;, height: 96, flexDirection: &quot;column&quot;, justifyContent: &quot;center&quot; }}&gt;&#10;    &lt;Text style={{ fontSize: 34, fontWeight: &quot;bold&quot;, color: &quot;#2A2118&quot;, fontFamily: &quot;'Songti SC', 'STSong', 'SimSun', serif&quot; }}&gt;深讲一例 · 棋子「丝光」这一层&lt;/Text&gt;&#10;    &lt;Box style={{ width: 56, height: 2, background: &quot;#B3271E&quot;, marginTop: 10 }} /&gt;&#10;  &lt;/Box&gt;&#10;  &lt;Box style={{ width: &quot;100%&quot;, height: 516, flexDirection: &quot;column&quot; }}&gt;&#10;  &lt;Box style={{ width: 860, height: &quot;100%&quot;, flexDirection: &quot;column&quot;, justifyContent: &quot;center&quot; }}&gt;&#10;    &lt;Text style={{ fontSize: 18, lineHeight: 1.7, color: &quot;#2A2118&quot;, fontFamily: &quot;'PingFang SC', 'Microsoft YaHei', sans-serif&quot;, marginBottom: 14 }}&gt;丝光是木面唯一的各向异性高光，它决定棋子是「木头」还是「塑料」。它被限定在左上象限、避开中心字区，宽度约 (10+30g)。&lt;/Text&gt;&#10;    &lt;Text style={{ fontSize: 18, lineHeight: 1.7, color: &quot;#2A2118&quot;, fontFamily: &quot;'PingFang SC', 'Microsoft YaHei', sans-serif&quot;, marginBottom: 14 }}&gt;过宽像金属包边，过亮像玻璃；参数上限是反复在实机截图里调出来的，不是公式算的。这一层对了，木头感才立得住。&lt;/Text&gt;&#10;  &lt;/Box&gt;&#10;  &lt;/Box&gt;&#10;  &lt;Box style={{ width: &quot;100%&quot;, height: 48, flexDirection: &quot;row&quot;, alignItems: &quot;center&quot;, justifyContent: &quot;space-between&quot; }}&gt;&#10;    &lt;Text style={{ fontSize: 14, color: &quot;rgba(42,33,24,0.55)&quot;, fontFamily: &quot;'PingFang SC', 'Microsoft YaHei', sans-serif&quot; }}&gt;弈趣棋苑 · 项目开发汇报&lt;/Text&gt;&#10;    &lt;Text style={{ fontSize: 14, color: &quot;rgba(42,33,24,0.55)&quot;, fontFamily: &quot;'PingFang SC', 'Microsoft YaHei', sans-serif&quot; }}&gt;61 / 64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5E3BE"/>
          </a:solidFill>
          <a:ln/>
        </p:spPr>
        <p:txBody>
          <a:bodyPr/>
          <a:p/>
        </p:txBody>
      </p:sp>
      <p:sp>
        <p:nvSpPr>
          <p:cNvPr id="693" name="" descr="{&quot;isTemplate&quot;:true,&quot;type&quot;:&quot;text&quot;}"/>
          <p:cNvSpPr txBox="1"/>
          <p:nvPr/>
        </p:nvSpPr>
        <p:spPr>
          <a:xfrm rot="0" flipH="0" flipV="0">
            <a:off x="685800" y="400050"/>
            <a:ext cx="108204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A2118"/>
                </a:solidFill>
                <a:latin typeface="Songti SC"/>
                <a:ea typeface="Songti SC"/>
              </a:rPr>
              <a:t>深讲一例</a:t>
            </a:r>
            <a:r>
              <a:rPr lang="en-US" sz="2550" b="1">
                <a:solidFill>
                  <a:srgbClr val="2A2118"/>
                </a:solidFill>
                <a:latin typeface="Songti SC"/>
                <a:ea typeface="Songti SC"/>
              </a:rPr>
              <a:t xml:space="preserve"> · </a:t>
            </a:r>
            <a:r>
              <a:rPr lang="zh-CN" sz="2550" b="1">
                <a:solidFill>
                  <a:srgbClr val="2A2118"/>
                </a:solidFill>
                <a:latin typeface="Songti SC"/>
                <a:ea typeface="Songti SC"/>
              </a:rPr>
              <a:t>棋子「丝光」这一层</a:t>
            </a:r>
            <a:endParaRPr/>
          </a:p>
        </p:txBody>
      </p:sp>
      <p:sp>
        <p:nvSpPr>
          <p:cNvPr id="694" name=""/>
          <p:cNvSpPr/>
          <p:nvPr/>
        </p:nvSpPr>
        <p:spPr>
          <a:xfrm rot="0" flipH="0" flipV="0">
            <a:off x="685800" y="885825"/>
            <a:ext cx="533400" cy="19050"/>
          </a:xfrm>
          <a:prstGeom prst="rect">
            <a:avLst/>
          </a:prstGeom>
          <a:solidFill>
            <a:srgbClr val="B3271E"/>
          </a:solidFill>
          <a:ln/>
        </p:spPr>
        <p:txBody>
          <a:bodyPr/>
          <a:p/>
        </p:txBody>
      </p:sp>
      <p:sp>
        <p:nvSpPr>
          <p:cNvPr id="695" name="" descr="{&quot;isTemplate&quot;:true,&quot;type&quot;:&quot;text&quot;}"/>
          <p:cNvSpPr txBox="1"/>
          <p:nvPr/>
        </p:nvSpPr>
        <p:spPr>
          <a:xfrm rot="0" flipH="0" flipV="0">
            <a:off x="685800" y="2724150"/>
            <a:ext cx="8191500" cy="7048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350">
                <a:solidFill>
                  <a:srgbClr val="2A2118"/>
                </a:solidFill>
                <a:latin typeface="PingFang SC"/>
                <a:ea typeface="PingFang SC"/>
              </a:rPr>
              <a:t>丝光是木面唯一的各向异性高光，它决定棋子是「木头」还是「塑料」。它被限定在左上象限、避开中心字区，宽度约</a:t>
            </a:r>
            <a:r>
              <a:rPr lang="en-US" sz="1350">
                <a:solidFill>
                  <a:srgbClr val="2A2118"/>
                </a:solidFill>
                <a:latin typeface="PingFang SC"/>
                <a:ea typeface="PingFang SC"/>
              </a:rPr>
              <a:t xml:space="preserve"> (10+30g)</a:t>
            </a:r>
            <a:r>
              <a:rPr lang="zh-CN" sz="1350">
                <a:solidFill>
                  <a:srgbClr val="2A2118"/>
                </a:solidFill>
                <a:latin typeface="PingFang SC"/>
                <a:ea typeface="PingFang SC"/>
              </a:rPr>
              <a:t>。</a:t>
            </a:r>
            <a:endParaRPr/>
          </a:p>
        </p:txBody>
      </p:sp>
      <p:sp>
        <p:nvSpPr>
          <p:cNvPr id="696" name="" descr="{&quot;isTemplate&quot;:true,&quot;type&quot;:&quot;text&quot;}"/>
          <p:cNvSpPr txBox="1"/>
          <p:nvPr/>
        </p:nvSpPr>
        <p:spPr>
          <a:xfrm rot="0" flipH="0" flipV="0">
            <a:off x="685800" y="3562350"/>
            <a:ext cx="8191500" cy="7048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350">
                <a:solidFill>
                  <a:srgbClr val="2A2118"/>
                </a:solidFill>
                <a:latin typeface="PingFang SC"/>
                <a:ea typeface="PingFang SC"/>
              </a:rPr>
              <a:t>过宽像金属包边，过亮像玻璃；参数上限是反复在实机截图里调出来的，不是公式算的。这一层对了，木头感才立得住。</a:t>
            </a:r>
            <a:endParaRPr/>
          </a:p>
        </p:txBody>
      </p:sp>
      <p:sp>
        <p:nvSpPr>
          <p:cNvPr id="697" name="" descr="{&quot;isTemplate&quot;:true,&quot;type&quot;:&quot;text&quot;}"/>
          <p:cNvSpPr txBox="1"/>
          <p:nvPr/>
        </p:nvSpPr>
        <p:spPr>
          <a:xfrm rot="0" flipH="0" flipV="0">
            <a:off x="685800" y="6172200"/>
            <a:ext cx="14478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2A2118">
                    <a:alpha val="55000"/>
                  </a:srgbClr>
                </a:solidFill>
                <a:latin typeface="PingFang SC"/>
                <a:ea typeface="PingFang SC"/>
              </a:rPr>
              <a:t>弈趣棋苑</a:t>
            </a:r>
            <a:r>
              <a:rPr lang="en-US" sz="1050">
                <a:solidFill>
                  <a:srgbClr val="2A2118">
                    <a:alpha val="55000"/>
                  </a:srgbClr>
                </a:solidFill>
                <a:latin typeface="PingFang SC"/>
                <a:ea typeface="PingFang SC"/>
              </a:rPr>
              <a:t xml:space="preserve"> · </a:t>
            </a:r>
            <a:r>
              <a:rPr lang="zh-CN" sz="1050">
                <a:solidFill>
                  <a:srgbClr val="2A2118">
                    <a:alpha val="55000"/>
                  </a:srgbClr>
                </a:solidFill>
                <a:latin typeface="PingFang SC"/>
                <a:ea typeface="PingFang SC"/>
              </a:rPr>
              <a:t>项目开发汇报</a:t>
            </a:r>
            <a:endParaRPr/>
          </a:p>
        </p:txBody>
      </p:sp>
      <p:sp>
        <p:nvSpPr>
          <p:cNvPr id="698" name="" descr="{&quot;isTemplate&quot;:true,&quot;type&quot;:&quot;text&quot;}"/>
          <p:cNvSpPr txBox="1"/>
          <p:nvPr/>
        </p:nvSpPr>
        <p:spPr>
          <a:xfrm rot="0" flipH="0" flipV="0">
            <a:off x="11049000" y="61722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2A2118">
                    <a:alpha val="55000"/>
                  </a:srgbClr>
                </a:solidFill>
                <a:latin typeface="PingFang SC"/>
                <a:ea typeface="PingFang SC"/>
              </a:rPr>
              <a:t>61 / 64</a:t>
            </a:r>
            <a:endParaRPr/>
          </a:p>
        </p:txBody>
      </p:sp>
    </p:spTree>
  </p:cSld>
</p:sld>
</file>

<file path=ppt/slides/slide61.xml><?xml version="1.0" encoding="utf-8"?>
<p:sld xmlns:p="http://schemas.openxmlformats.org/presentationml/2006/main" xmlns:a="http://schemas.openxmlformats.org/drawingml/2006/main">
  <p:cSld>
    <p:spTree>
      <p:nvGrpSpPr>
        <p:cNvPr id="699" name="" descr="&lt;Slide style={{ width: 1280, height: 720, padding: &quot;20px 72px&quot;, background: &quot;#F5E3BE&quot;, flexDirection: &quot;column&quot; }}&gt;&#10;  &lt;Box style={{ width: &quot;100%&quot;, height: 96, flexDirection: &quot;column&quot;, justifyContent: &quot;center&quot; }}&gt;&#10;    &lt;Text style={{ fontSize: 34, fontWeight: &quot;bold&quot;, color: &quot;#2A2118&quot;, fontFamily: &quot;'Songti SC', 'STSong', 'SimSun', serif&quot; }}&gt;回望&lt;/Text&gt;&#10;    &lt;Box style={{ width: 56, height: 2, background: &quot;#B3271E&quot;, marginTop: 10 }} /&gt;&#10;  &lt;/Box&gt;&#10;  &lt;Box style={{ width: &quot;100%&quot;, height: 516, flexDirection: &quot;column&quot; }}&gt;&#10;  &lt;Box style={{ flexDirection: &quot;column&quot;, height: &quot;100%&quot;, justifyContent: &quot;center&quot;, alignItems: &quot;center&quot; }}&gt;&#10;    &lt;Text style={{ fontSize: 40, fontWeight: &quot;bold&quot;, lineHeight: 1.45, color: &quot;#2A2118&quot;, fontFamily: &quot;'Songti SC', 'STSong', 'SimSun', serif&quot;, textAlign: &quot;center&quot;, width: 920 }}&gt;棋盘上每一步都可回退，&lt;br /&gt;工程上每一个决定都要留下依据。&lt;/Text&gt;&#10;  &lt;/Box&gt;&#10;  &lt;/Box&gt;&#10;  &lt;Box style={{ width: &quot;100%&quot;, height: 48, flexDirection: &quot;row&quot;, alignItems: &quot;center&quot;, justifyContent: &quot;space-between&quot; }}&gt;&#10;    &lt;Text style={{ fontSize: 14, color: &quot;rgba(42,33,24,0.55)&quot;, fontFamily: &quot;'PingFang SC', 'Microsoft YaHei', sans-serif&quot; }}&gt;弈趣棋苑 · 项目开发汇报&lt;/Text&gt;&#10;    &lt;Text style={{ fontSize: 14, color: &quot;rgba(42,33,24,0.55)&quot;, fontFamily: &quot;'PingFang SC', 'Microsoft YaHei', sans-serif&quot; }}&gt;62 / 64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5E3BE"/>
          </a:solidFill>
          <a:ln/>
        </p:spPr>
        <p:txBody>
          <a:bodyPr/>
          <a:p/>
        </p:txBody>
      </p:sp>
      <p:sp>
        <p:nvSpPr>
          <p:cNvPr id="701" name="" descr="{&quot;isTemplate&quot;:true,&quot;type&quot;:&quot;text&quot;}"/>
          <p:cNvSpPr txBox="1"/>
          <p:nvPr/>
        </p:nvSpPr>
        <p:spPr>
          <a:xfrm rot="0" flipH="0" flipV="0">
            <a:off x="685800" y="400050"/>
            <a:ext cx="108204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A2118"/>
                </a:solidFill>
                <a:latin typeface="Songti SC"/>
                <a:ea typeface="Songti SC"/>
              </a:rPr>
              <a:t>回望</a:t>
            </a:r>
            <a:endParaRPr/>
          </a:p>
        </p:txBody>
      </p:sp>
      <p:sp>
        <p:nvSpPr>
          <p:cNvPr id="702" name=""/>
          <p:cNvSpPr/>
          <p:nvPr/>
        </p:nvSpPr>
        <p:spPr>
          <a:xfrm rot="0" flipH="0" flipV="0">
            <a:off x="685800" y="885825"/>
            <a:ext cx="533400" cy="19050"/>
          </a:xfrm>
          <a:prstGeom prst="rect">
            <a:avLst/>
          </a:prstGeom>
          <a:solidFill>
            <a:srgbClr val="B3271E"/>
          </a:solidFill>
          <a:ln/>
        </p:spPr>
        <p:txBody>
          <a:bodyPr/>
          <a:p/>
        </p:txBody>
      </p:sp>
      <p:sp>
        <p:nvSpPr>
          <p:cNvPr id="703" name="" descr="{&quot;isTemplate&quot;:true,&quot;type&quot;:&quot;text&quot;}"/>
          <p:cNvSpPr txBox="1"/>
          <p:nvPr/>
        </p:nvSpPr>
        <p:spPr>
          <a:xfrm rot="0" flipH="0" flipV="0">
            <a:off x="1714500" y="2895600"/>
            <a:ext cx="8763000" cy="1333500"/>
          </a:xfrm>
          <a:prstGeom prst="rect"/>
        </p:spPr>
        <p:txBody>
          <a:bodyPr wrap="none" lIns="0" tIns="0" rIns="0" bIns="0"/>
          <a:p>
            <a:pPr algn="ctr">
              <a:lnSpc>
                <a:spcPct val="145000"/>
              </a:lnSpc>
            </a:pPr>
            <a:r>
              <a:rPr lang="zh-CN" sz="3000" b="1">
                <a:solidFill>
                  <a:srgbClr val="2A2118"/>
                </a:solidFill>
                <a:latin typeface="Songti SC"/>
                <a:ea typeface="Songti SC"/>
              </a:rPr>
              <a:t>棋盘上每一步都可回退，</a:t>
            </a:r>
            <a:endParaRPr/>
          </a:p>
          <a:p>
            <a:pPr algn="ctr">
              <a:lnSpc>
                <a:spcPct val="145000"/>
              </a:lnSpc>
            </a:pPr>
            <a:r>
              <a:rPr lang="zh-CN" sz="3000" b="1">
                <a:solidFill>
                  <a:srgbClr val="2A2118"/>
                </a:solidFill>
                <a:latin typeface="Songti SC"/>
                <a:ea typeface="Songti SC"/>
              </a:rPr>
              <a:t>工程上每一个决定都要留下依据。</a:t>
            </a:r>
            <a:endParaRPr/>
          </a:p>
        </p:txBody>
      </p:sp>
      <p:sp>
        <p:nvSpPr>
          <p:cNvPr id="704" name="" descr="{&quot;isTemplate&quot;:true,&quot;type&quot;:&quot;text&quot;}"/>
          <p:cNvSpPr txBox="1"/>
          <p:nvPr/>
        </p:nvSpPr>
        <p:spPr>
          <a:xfrm rot="0" flipH="0" flipV="0">
            <a:off x="685800" y="6172200"/>
            <a:ext cx="14478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2A2118">
                    <a:alpha val="55000"/>
                  </a:srgbClr>
                </a:solidFill>
                <a:latin typeface="PingFang SC"/>
                <a:ea typeface="PingFang SC"/>
              </a:rPr>
              <a:t>弈趣棋苑</a:t>
            </a:r>
            <a:r>
              <a:rPr lang="en-US" sz="1050">
                <a:solidFill>
                  <a:srgbClr val="2A2118">
                    <a:alpha val="55000"/>
                  </a:srgbClr>
                </a:solidFill>
                <a:latin typeface="PingFang SC"/>
                <a:ea typeface="PingFang SC"/>
              </a:rPr>
              <a:t xml:space="preserve"> · </a:t>
            </a:r>
            <a:r>
              <a:rPr lang="zh-CN" sz="1050">
                <a:solidFill>
                  <a:srgbClr val="2A2118">
                    <a:alpha val="55000"/>
                  </a:srgbClr>
                </a:solidFill>
                <a:latin typeface="PingFang SC"/>
                <a:ea typeface="PingFang SC"/>
              </a:rPr>
              <a:t>项目开发汇报</a:t>
            </a:r>
            <a:endParaRPr/>
          </a:p>
        </p:txBody>
      </p:sp>
      <p:sp>
        <p:nvSpPr>
          <p:cNvPr id="705" name="" descr="{&quot;isTemplate&quot;:true,&quot;type&quot;:&quot;text&quot;}"/>
          <p:cNvSpPr txBox="1"/>
          <p:nvPr/>
        </p:nvSpPr>
        <p:spPr>
          <a:xfrm rot="0" flipH="0" flipV="0">
            <a:off x="11049000" y="61722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2A2118">
                    <a:alpha val="55000"/>
                  </a:srgbClr>
                </a:solidFill>
                <a:latin typeface="PingFang SC"/>
                <a:ea typeface="PingFang SC"/>
              </a:rPr>
              <a:t>62 / 64</a:t>
            </a:r>
            <a:endParaRPr/>
          </a:p>
        </p:txBody>
      </p:sp>
    </p:spTree>
  </p:cSld>
</p:sld>
</file>

<file path=ppt/slides/slide62.xml><?xml version="1.0" encoding="utf-8"?>
<p:sld xmlns:p="http://schemas.openxmlformats.org/presentationml/2006/main" xmlns:a="http://schemas.openxmlformats.org/drawingml/2006/main">
  <p:cSld>
    <p:spTree>
      <p:nvGrpSpPr>
        <p:cNvPr id="706" name="" descr="&lt;Slide style={{ width: 1280, height: 720, padding: &quot;20px 72px&quot;, background: &quot;#F5E3BE&quot;, flexDirection: &quot;column&quot; }}&gt;&#10;  &lt;Box style={{ width: &quot;100%&quot;, height: 96, flexDirection: &quot;column&quot;, justifyContent: &quot;center&quot; }}&gt;&#10;    &lt;Text style={{ fontSize: 34, fontWeight: &quot;bold&quot;, color: &quot;#2A2118&quot;, fontFamily: &quot;'Songti SC', 'STSong', 'SimSun', serif&quot; }}&gt;一份独立的工程练习&lt;/Text&gt;&#10;    &lt;Box style={{ width: 56, height: 2, background: &quot;#B3271E&quot;, marginTop: 10 }} /&gt;&#10;  &lt;/Box&gt;&#10;  &lt;Box style={{ width: &quot;100%&quot;, height: 516, flexDirection: &quot;column&quot; }}&gt;&#10;  &lt;Box style={{ width: 860, height: &quot;100%&quot;, flexDirection: &quot;column&quot;, justifyContent: &quot;center&quot; }}&gt;&#10;    &lt;Text style={{ fontSize: 18, lineHeight: 1.7, color: &quot;#2A2118&quot;, fontFamily: &quot;'PingFang SC', 'Microsoft YaHei', sans-serif&quot;, marginBottom: 14 }}&gt;弈趣棋苑是个人独立开发的棋类合集，没有团队、没有外部框架，算法实现文档与讲义都自己写。&lt;/Text&gt;&#10;    &lt;Text style={{ fontSize: 18, lineHeight: 1.7, color: &quot;#2A2118&quot;, fontFamily: &quot;'PingFang SC', 'Microsoft YaHei', sans-serif&quot;, marginBottom: 14 }}&gt;它不追求炫技，追求的是：打开能玩、看着舒服、每一步都讲得清道理。谢谢看到这里。&lt;/Text&gt;&#10;  &lt;/Box&gt;&#10;  &lt;/Box&gt;&#10;  &lt;Box style={{ width: &quot;100%&quot;, height: 48, flexDirection: &quot;row&quot;, alignItems: &quot;center&quot;, justifyContent: &quot;space-between&quot; }}&gt;&#10;    &lt;Text style={{ fontSize: 14, color: &quot;rgba(42,33,24,0.55)&quot;, fontFamily: &quot;'PingFang SC', 'Microsoft YaHei', sans-serif&quot; }}&gt;弈趣棋苑 · 项目开发汇报&lt;/Text&gt;&#10;    &lt;Text style={{ fontSize: 14, color: &quot;rgba(42,33,24,0.55)&quot;, fontFamily: &quot;'PingFang SC', 'Microsoft YaHei', sans-serif&quot; }}&gt;63 / 64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5E3BE"/>
          </a:solidFill>
          <a:ln/>
        </p:spPr>
        <p:txBody>
          <a:bodyPr/>
          <a:p/>
        </p:txBody>
      </p:sp>
      <p:sp>
        <p:nvSpPr>
          <p:cNvPr id="708" name="" descr="{&quot;isTemplate&quot;:true,&quot;type&quot;:&quot;text&quot;}"/>
          <p:cNvSpPr txBox="1"/>
          <p:nvPr/>
        </p:nvSpPr>
        <p:spPr>
          <a:xfrm rot="0" flipH="0" flipV="0">
            <a:off x="685800" y="400050"/>
            <a:ext cx="108204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A2118"/>
                </a:solidFill>
                <a:latin typeface="Songti SC"/>
                <a:ea typeface="Songti SC"/>
              </a:rPr>
              <a:t>一份独立的工程练习</a:t>
            </a:r>
            <a:endParaRPr/>
          </a:p>
        </p:txBody>
      </p:sp>
      <p:sp>
        <p:nvSpPr>
          <p:cNvPr id="709" name=""/>
          <p:cNvSpPr/>
          <p:nvPr/>
        </p:nvSpPr>
        <p:spPr>
          <a:xfrm rot="0" flipH="0" flipV="0">
            <a:off x="685800" y="885825"/>
            <a:ext cx="533400" cy="19050"/>
          </a:xfrm>
          <a:prstGeom prst="rect">
            <a:avLst/>
          </a:prstGeom>
          <a:solidFill>
            <a:srgbClr val="B3271E"/>
          </a:solidFill>
          <a:ln/>
        </p:spPr>
        <p:txBody>
          <a:bodyPr/>
          <a:p/>
        </p:txBody>
      </p:sp>
      <p:sp>
        <p:nvSpPr>
          <p:cNvPr id="710" name="" descr="{&quot;isTemplate&quot;:true,&quot;type&quot;:&quot;text&quot;}"/>
          <p:cNvSpPr txBox="1"/>
          <p:nvPr/>
        </p:nvSpPr>
        <p:spPr>
          <a:xfrm rot="0" flipH="0" flipV="0">
            <a:off x="685800" y="3076575"/>
            <a:ext cx="8191500" cy="35242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350">
                <a:solidFill>
                  <a:srgbClr val="2A2118"/>
                </a:solidFill>
                <a:latin typeface="PingFang SC"/>
                <a:ea typeface="PingFang SC"/>
              </a:rPr>
              <a:t>弈趣棋苑是个人独立开发的棋类合集，没有团队、没有外部框架，算法实现文档与讲义都自己写。</a:t>
            </a:r>
            <a:endParaRPr/>
          </a:p>
        </p:txBody>
      </p:sp>
      <p:sp>
        <p:nvSpPr>
          <p:cNvPr id="711" name="" descr="{&quot;isTemplate&quot;:true,&quot;type&quot;:&quot;text&quot;}"/>
          <p:cNvSpPr txBox="1"/>
          <p:nvPr/>
        </p:nvSpPr>
        <p:spPr>
          <a:xfrm rot="0" flipH="0" flipV="0">
            <a:off x="685800" y="3562350"/>
            <a:ext cx="8191500" cy="35242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350">
                <a:solidFill>
                  <a:srgbClr val="2A2118"/>
                </a:solidFill>
                <a:latin typeface="PingFang SC"/>
                <a:ea typeface="PingFang SC"/>
              </a:rPr>
              <a:t>它不追求炫技，追求的是：打开能玩、看着舒服、每一步都讲得清道理。谢谢看到这里。</a:t>
            </a:r>
            <a:endParaRPr/>
          </a:p>
        </p:txBody>
      </p:sp>
      <p:sp>
        <p:nvSpPr>
          <p:cNvPr id="712" name="" descr="{&quot;isTemplate&quot;:true,&quot;type&quot;:&quot;text&quot;}"/>
          <p:cNvSpPr txBox="1"/>
          <p:nvPr/>
        </p:nvSpPr>
        <p:spPr>
          <a:xfrm rot="0" flipH="0" flipV="0">
            <a:off x="685800" y="6172200"/>
            <a:ext cx="14478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2A2118">
                    <a:alpha val="55000"/>
                  </a:srgbClr>
                </a:solidFill>
                <a:latin typeface="PingFang SC"/>
                <a:ea typeface="PingFang SC"/>
              </a:rPr>
              <a:t>弈趣棋苑</a:t>
            </a:r>
            <a:r>
              <a:rPr lang="en-US" sz="1050">
                <a:solidFill>
                  <a:srgbClr val="2A2118">
                    <a:alpha val="55000"/>
                  </a:srgbClr>
                </a:solidFill>
                <a:latin typeface="PingFang SC"/>
                <a:ea typeface="PingFang SC"/>
              </a:rPr>
              <a:t xml:space="preserve"> · </a:t>
            </a:r>
            <a:r>
              <a:rPr lang="zh-CN" sz="1050">
                <a:solidFill>
                  <a:srgbClr val="2A2118">
                    <a:alpha val="55000"/>
                  </a:srgbClr>
                </a:solidFill>
                <a:latin typeface="PingFang SC"/>
                <a:ea typeface="PingFang SC"/>
              </a:rPr>
              <a:t>项目开发汇报</a:t>
            </a:r>
            <a:endParaRPr/>
          </a:p>
        </p:txBody>
      </p:sp>
      <p:sp>
        <p:nvSpPr>
          <p:cNvPr id="713" name="" descr="{&quot;isTemplate&quot;:true,&quot;type&quot;:&quot;text&quot;}"/>
          <p:cNvSpPr txBox="1"/>
          <p:nvPr/>
        </p:nvSpPr>
        <p:spPr>
          <a:xfrm rot="0" flipH="0" flipV="0">
            <a:off x="11049000" y="61722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2A2118">
                    <a:alpha val="55000"/>
                  </a:srgbClr>
                </a:solidFill>
                <a:latin typeface="PingFang SC"/>
                <a:ea typeface="PingFang SC"/>
              </a:rPr>
              <a:t>63 / 64</a:t>
            </a:r>
            <a:endParaRPr/>
          </a:p>
        </p:txBody>
      </p:sp>
    </p:spTree>
  </p:cSld>
</p:sld>
</file>

<file path=ppt/slides/slide6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714" name="" descr="&lt;Slide style={{ width: 1280, height: 720, position: &quot;relative&quot;, padding: &quot;0px&quot;, background: &quot;#2A2118&quot;, overflow: &quot;hidden&quot; }}&gt;&#10;  &lt;Image src=&quot;assets/wood_dark_flip.jpg&quot; style={{ position: &quot;absolute&quot;, top: 0, left: 0, width: 1280, height: 720, objectFit: &quot;cover&quot; }} /&gt;&#10;  &lt;Box style={{ position: &quot;absolute&quot;, top: 0, left: 0, width: 1280, height: 720, background: &quot;linear-gradient(270deg, rgba(42,33,24,0.95) 0%, rgba(42,33,24,0.78) 46%, rgba(42,33,24,0.22) 76%, rgba(42,33,24,0.08) 100%)&quot; }} /&gt;&#10;  &lt;Box style={{ position: &quot;absolute&quot;, left: 96, top: 0, height: 720, flexDirection: &quot;column&quot;, justifyContent: &quot;center&quot;, gap: 26 }}&gt;&#10;    &lt;Box style={{ width: 46, height: 3, background: &quot;#B3271E&quot; }} /&gt;&#10;    &lt;Text style={{ fontSize: 60, fontWeight: &quot;bold&quot;, lineHeight: 1.25, color: &quot;#F5E3BE&quot;, fontFamily: &quot;'Songti SC', 'STSong', 'SimSun', serif&quot; }}&gt;棋盘上每一步都可回退，&lt;br /&gt;工程上每一个决定都要留下依据。&lt;/Text&gt;&#10;    &lt;Text style={{ fontSize: 22, color: &quot;rgba(245,227,190,0.78)&quot;, fontFamily: &quot;'PingFang SC', 'Microsoft YaHei', sans-serif&quot;, letterSpacing: 2 }}&gt;谢 谢 观 看&lt;/Text&gt;&#10;  &lt;/Box&gt;&#10;  &lt;Box style={{ position: &quot;absolute&quot;, right: 70, bottom: 54, flexDirection: &quot;row&quot;, alignItems: &quot;center&quot;, gap: 16 }}&gt;&#10;    &lt;Box style={{ flexDirection: &quot;column&quot;, gap: 4, alignItems: &quot;flex-end&quot; }}&gt;&#10;      &lt;Text style={{ fontSize: 16, color: &quot;rgba(245,227,190,0.80)&quot;, fontFamily: &quot;'PingFang SC', 'Microsoft YaHei', sans-serif&quot; }}&gt;弈趣棋苑 · 项目开发汇报&lt;/Text&gt;&#10;      &lt;Text style={{ fontSize: 14, color: &quot;rgba(245,227,190,0.48)&quot;, fontFamily: &quot;'PingFang SC', 'Microsoft YaHei', sans-serif&quot; }}&gt;个人独立开发 · 2026&lt;/Text&gt;&#10;    &lt;/Box&gt;&#10;    &lt;Box style={{ width: 46, height: 46, borderRadius: 6, background: &quot;#B3271E&quot;, justifyContent: &quot;center&quot;, alignItems: &quot;center&quot; }}&gt;&#10;      &lt;Text style={{ fontSize: 24, fontWeight: &quot;bold&quot;, color: &quot;#F5E3BE&quot;, fontFamily: &quot;'Songti SC', 'STSong', 'SimSun', serif&quot; }}&gt;弈&lt;/Text&gt;&#10;    &lt;/Box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2A2118"/>
          </a:solidFill>
          <a:ln/>
        </p:spPr>
        <p:txBody>
          <a:bodyPr/>
          <a:p/>
        </p:txBody>
      </p:sp>
      <p:pic>
        <p:nvPicPr>
          <p:cNvPr id="716" name="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  <p:sp>
        <p:nvSpPr>
          <p:cNvPr id="71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2A2118">
                  <a:alpha val="95000"/>
                </a:srgbClr>
              </a:gs>
              <a:gs pos="46000">
                <a:srgbClr val="2A2118">
                  <a:alpha val="78000"/>
                </a:srgbClr>
              </a:gs>
              <a:gs pos="76000">
                <a:srgbClr val="2A2118">
                  <a:alpha val="22000"/>
                </a:srgbClr>
              </a:gs>
              <a:gs pos="100000">
                <a:srgbClr val="2A2118">
                  <a:alpha val="8000"/>
                </a:srgbClr>
              </a:gs>
            </a:gsLst>
            <a:lin ang="10800000" scaled="1"/>
          </a:gradFill>
          <a:ln/>
        </p:spPr>
        <p:txBody>
          <a:bodyPr/>
          <a:p/>
        </p:txBody>
      </p:sp>
      <p:sp>
        <p:nvSpPr>
          <p:cNvPr id="718" name=""/>
          <p:cNvSpPr/>
          <p:nvPr/>
        </p:nvSpPr>
        <p:spPr>
          <a:xfrm rot="0" flipH="0" flipV="0">
            <a:off x="914400" y="2181225"/>
            <a:ext cx="438150" cy="28575"/>
          </a:xfrm>
          <a:prstGeom prst="rect">
            <a:avLst/>
          </a:prstGeom>
          <a:solidFill>
            <a:srgbClr val="B3271E"/>
          </a:solidFill>
          <a:ln/>
        </p:spPr>
        <p:txBody>
          <a:bodyPr/>
          <a:p/>
        </p:txBody>
      </p:sp>
      <p:sp>
        <p:nvSpPr>
          <p:cNvPr id="719" name="" descr="{&quot;isTemplate&quot;:true,&quot;type&quot;:&quot;text&quot;}"/>
          <p:cNvSpPr txBox="1"/>
          <p:nvPr/>
        </p:nvSpPr>
        <p:spPr>
          <a:xfrm rot="0" flipH="0" flipV="0">
            <a:off x="914400" y="2457450"/>
            <a:ext cx="8572500" cy="1714500"/>
          </a:xfrm>
          <a:prstGeom prst="rect"/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zh-CN" sz="4500" b="1">
                <a:solidFill>
                  <a:srgbClr val="F5E3BE"/>
                </a:solidFill>
                <a:latin typeface="Songti SC"/>
                <a:ea typeface="Songti SC"/>
              </a:rPr>
              <a:t>棋盘上每一步都可回退，</a:t>
            </a:r>
            <a:endParaRPr/>
          </a:p>
          <a:p>
            <a:pPr>
              <a:lnSpc>
                <a:spcPct val="125000"/>
              </a:lnSpc>
            </a:pPr>
            <a:r>
              <a:rPr lang="zh-CN" sz="4500" b="1">
                <a:solidFill>
                  <a:srgbClr val="F5E3BE"/>
                </a:solidFill>
                <a:latin typeface="Songti SC"/>
                <a:ea typeface="Songti SC"/>
              </a:rPr>
              <a:t>工程上每一个决定都要留下依据。</a:t>
            </a:r>
            <a:endParaRPr/>
          </a:p>
        </p:txBody>
      </p:sp>
      <p:sp>
        <p:nvSpPr>
          <p:cNvPr id="720" name="" descr="{&quot;isTemplate&quot;:true,&quot;type&quot;:&quot;text&quot;}"/>
          <p:cNvSpPr txBox="1"/>
          <p:nvPr/>
        </p:nvSpPr>
        <p:spPr>
          <a:xfrm rot="0" flipH="0" flipV="0">
            <a:off x="914400" y="4419600"/>
            <a:ext cx="85725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spc="150">
                <a:solidFill>
                  <a:srgbClr val="F5E3BE">
                    <a:alpha val="78000"/>
                  </a:srgbClr>
                </a:solidFill>
                <a:latin typeface="PingFang SC"/>
                <a:ea typeface="PingFang SC"/>
              </a:rPr>
              <a:t>谢</a:t>
            </a:r>
            <a:r>
              <a:rPr lang="en-US" sz="1650" spc="150">
                <a:solidFill>
                  <a:srgbClr val="F5E3BE">
                    <a:alpha val="78000"/>
                  </a:srgbClr>
                </a:solidFill>
                <a:latin typeface="PingFang SC"/>
                <a:ea typeface="PingFang SC"/>
              </a:rPr>
              <a:t xml:space="preserve"> </a:t>
            </a:r>
            <a:r>
              <a:rPr lang="zh-CN" sz="1650" spc="150">
                <a:solidFill>
                  <a:srgbClr val="F5E3BE">
                    <a:alpha val="78000"/>
                  </a:srgbClr>
                </a:solidFill>
                <a:latin typeface="PingFang SC"/>
                <a:ea typeface="PingFang SC"/>
              </a:rPr>
              <a:t>谢</a:t>
            </a:r>
            <a:r>
              <a:rPr lang="en-US" sz="1650" spc="150">
                <a:solidFill>
                  <a:srgbClr val="F5E3BE">
                    <a:alpha val="78000"/>
                  </a:srgbClr>
                </a:solidFill>
                <a:latin typeface="PingFang SC"/>
                <a:ea typeface="PingFang SC"/>
              </a:rPr>
              <a:t xml:space="preserve"> </a:t>
            </a:r>
            <a:r>
              <a:rPr lang="zh-CN" sz="1650" spc="150">
                <a:solidFill>
                  <a:srgbClr val="F5E3BE">
                    <a:alpha val="78000"/>
                  </a:srgbClr>
                </a:solidFill>
                <a:latin typeface="PingFang SC"/>
                <a:ea typeface="PingFang SC"/>
              </a:rPr>
              <a:t>观</a:t>
            </a:r>
            <a:r>
              <a:rPr lang="en-US" sz="1650" spc="150">
                <a:solidFill>
                  <a:srgbClr val="F5E3BE">
                    <a:alpha val="78000"/>
                  </a:srgbClr>
                </a:solidFill>
                <a:latin typeface="PingFang SC"/>
                <a:ea typeface="PingFang SC"/>
              </a:rPr>
              <a:t xml:space="preserve"> </a:t>
            </a:r>
            <a:r>
              <a:rPr lang="zh-CN" sz="1650" spc="150">
                <a:solidFill>
                  <a:srgbClr val="F5E3BE">
                    <a:alpha val="78000"/>
                  </a:srgbClr>
                </a:solidFill>
                <a:latin typeface="PingFang SC"/>
                <a:ea typeface="PingFang SC"/>
              </a:rPr>
              <a:t>看</a:t>
            </a:r>
            <a:endParaRPr/>
          </a:p>
        </p:txBody>
      </p:sp>
      <p:sp>
        <p:nvSpPr>
          <p:cNvPr id="721" name="" descr="{&quot;isTemplate&quot;:true,&quot;type&quot;:&quot;text&quot;}"/>
          <p:cNvSpPr txBox="1"/>
          <p:nvPr/>
        </p:nvSpPr>
        <p:spPr>
          <a:xfrm rot="0" flipH="0" flipV="0">
            <a:off x="9277350" y="5934075"/>
            <a:ext cx="16573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F5E3BE">
                    <a:alpha val="80000"/>
                  </a:srgbClr>
                </a:solidFill>
                <a:latin typeface="PingFang SC"/>
                <a:ea typeface="PingFang SC"/>
              </a:rPr>
              <a:t>弈趣棋苑</a:t>
            </a:r>
            <a:r>
              <a:rPr lang="en-US" sz="1200">
                <a:solidFill>
                  <a:srgbClr val="F5E3BE">
                    <a:alpha val="80000"/>
                  </a:srgbClr>
                </a:solidFill>
                <a:latin typeface="PingFang SC"/>
                <a:ea typeface="PingFang SC"/>
              </a:rPr>
              <a:t xml:space="preserve"> · </a:t>
            </a:r>
            <a:r>
              <a:rPr lang="zh-CN" sz="1200">
                <a:solidFill>
                  <a:srgbClr val="F5E3BE">
                    <a:alpha val="80000"/>
                  </a:srgbClr>
                </a:solidFill>
                <a:latin typeface="PingFang SC"/>
                <a:ea typeface="PingFang SC"/>
              </a:rPr>
              <a:t>项目开发汇报</a:t>
            </a:r>
            <a:endParaRPr/>
          </a:p>
        </p:txBody>
      </p:sp>
      <p:sp>
        <p:nvSpPr>
          <p:cNvPr id="722" name="" descr="{&quot;isTemplate&quot;:true,&quot;type&quot;:&quot;text&quot;}"/>
          <p:cNvSpPr txBox="1"/>
          <p:nvPr/>
        </p:nvSpPr>
        <p:spPr>
          <a:xfrm rot="0" flipH="0" flipV="0">
            <a:off x="9705975" y="6162675"/>
            <a:ext cx="12287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F5E3BE">
                    <a:alpha val="48000"/>
                  </a:srgbClr>
                </a:solidFill>
                <a:latin typeface="PingFang SC"/>
                <a:ea typeface="PingFang SC"/>
              </a:rPr>
              <a:t>个人独立开发</a:t>
            </a:r>
            <a:r>
              <a:rPr lang="en-US" sz="1050">
                <a:solidFill>
                  <a:srgbClr val="F5E3BE">
                    <a:alpha val="48000"/>
                  </a:srgbClr>
                </a:solidFill>
                <a:latin typeface="PingFang SC"/>
                <a:ea typeface="PingFang SC"/>
              </a:rPr>
              <a:t xml:space="preserve"> · 2026</a:t>
            </a:r>
            <a:endParaRPr/>
          </a:p>
        </p:txBody>
      </p:sp>
      <p:sp>
        <p:nvSpPr>
          <p:cNvPr id="723" name=""/>
          <p:cNvSpPr/>
          <p:nvPr/>
        </p:nvSpPr>
        <p:spPr>
          <a:xfrm rot="0" flipH="0" flipV="0">
            <a:off x="11087100" y="5905500"/>
            <a:ext cx="438150" cy="438150"/>
          </a:xfrm>
          <a:prstGeom prst="roundRect">
            <a:avLst>
              <a:gd name="adj" fmla="val 13043"/>
            </a:avLst>
          </a:prstGeom>
          <a:solidFill>
            <a:srgbClr val="B3271E"/>
          </a:solidFill>
          <a:ln/>
        </p:spPr>
        <p:txBody>
          <a:bodyPr/>
          <a:p/>
        </p:txBody>
      </p:sp>
      <p:sp>
        <p:nvSpPr>
          <p:cNvPr id="724" name="" descr="{&quot;isTemplate&quot;:true,&quot;type&quot;:&quot;text&quot;}"/>
          <p:cNvSpPr txBox="1"/>
          <p:nvPr/>
        </p:nvSpPr>
        <p:spPr>
          <a:xfrm rot="0" flipH="0" flipV="0">
            <a:off x="11191875" y="5991225"/>
            <a:ext cx="2286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F5E3BE"/>
                </a:solidFill>
                <a:latin typeface="Songti SC"/>
                <a:ea typeface="Songti SC"/>
              </a:rPr>
              <a:t>弈</a:t>
            </a:r>
            <a:endParaRPr/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Tencent office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2026-10-07T21:54:19Z</dcterms:created>
  <dcterms:modified xsi:type="dcterms:W3CDTF">2026-10-07T21:54:19Z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{"AIGC":{"Label":"1","ContentProducer":"00119111010856365494821B355","ProduceID":"01a1169a10777f309afbebb3fd00d6a4","ReservedCode1":"","ContentPropagator":"00119111010856365494821B355","PropagateID":"01a1169a10777f309afbebb3fd00d6a4","ReservedCode2":""}}</vt:lpwstr>
  </property>
</Properties>
</file>